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4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rot="5400000">
            <a:off x="731520" y="640080"/>
            <a:ext cx="685800" cy="685800"/>
          </a:xfrm>
          <a:prstGeom prst="homePlat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2698" y="763524"/>
            <a:ext cx="123444" cy="384048"/>
          </a:xfrm>
          <a:prstGeom prst="rect">
            <a:avLst/>
          </a:prstGeom>
          <a:solidFill>
            <a:srgbClr val="124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2396" y="893826"/>
            <a:ext cx="384048" cy="123444"/>
          </a:xfrm>
          <a:prstGeom prst="rect">
            <a:avLst/>
          </a:prstGeom>
          <a:solidFill>
            <a:srgbClr val="124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00200" y="71323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MediShield 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Multi-agent claims intake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E6E8"/>
                </a:solidFill>
                <a:latin typeface="Calibri"/>
              </a:rPr>
              <a:t>Documents read, verified and decided in minutes, with a human in the loop for anything uncertain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FC9CD"/>
                </a:solidFill>
                <a:latin typeface="Calibri"/>
              </a:rPr>
              <a:t>AI Engineering Bootcamp capstone · Assignment 02</a:t>
            </a:r>
          </a:p>
          <a:p>
            <a:pPr algn="l"/>
            <a:r>
              <a:rPr sz="1400" b="0">
                <a:solidFill>
                  <a:srgbClr val="9FC9CD"/>
                </a:solidFill>
                <a:latin typeface="Calibri"/>
              </a:rPr>
              <a:t>Live: d3064azeabhrfe.cloudfront.net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Manual intake is slow, costly and error-prone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560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85,000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documents a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1752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claim forms, IDs, discharge summaries, prescriptions, amendments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828800"/>
            <a:ext cx="2560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01168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4.2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974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per claim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01752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120 reviewers sort, check and route by hand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828800"/>
            <a:ext cx="2560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1168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$18.4M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974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a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01752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about $18 of processing per document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39" y="1828800"/>
            <a:ext cx="2560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39" y="201168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C0392B"/>
                </a:solidFill>
                <a:latin typeface="Calibri"/>
              </a:rPr>
              <a:t>12%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6974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re-processed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39" y="301752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plus 3 open regulatory audits on KYC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5720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F2D3D"/>
                </a:solidFill>
                <a:latin typeface="Calibri"/>
              </a:rPr>
              <a:t>Goal: classify every document, extract and verify the data, check coverage and fraud, and return Approve / Reject / Escalate with a justification, within minutes, safely.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Seven agents, one decision engine, a human where it matters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entagon 7"/>
          <p:cNvSpPr/>
          <p:nvPr/>
        </p:nvSpPr>
        <p:spPr>
          <a:xfrm>
            <a:off x="640080" y="1920240"/>
            <a:ext cx="1517904" cy="868680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Upload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1517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6B7A"/>
                </a:solidFill>
                <a:latin typeface="Calibri"/>
              </a:rPr>
              <a:t>PNG · JPEG · PDF · TIFF</a:t>
            </a:r>
          </a:p>
        </p:txBody>
      </p:sp>
      <p:sp>
        <p:nvSpPr>
          <p:cNvPr id="10" name="Chevron 9"/>
          <p:cNvSpPr/>
          <p:nvPr/>
        </p:nvSpPr>
        <p:spPr>
          <a:xfrm>
            <a:off x="2249424" y="1920240"/>
            <a:ext cx="1517904" cy="868680"/>
          </a:xfrm>
          <a:prstGeom prst="chevron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9424" y="2926080"/>
            <a:ext cx="1517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6B7A"/>
                </a:solidFill>
                <a:latin typeface="Calibri"/>
              </a:rPr>
              <a:t>local OCR + classifier</a:t>
            </a:r>
          </a:p>
        </p:txBody>
      </p:sp>
      <p:sp>
        <p:nvSpPr>
          <p:cNvPr id="12" name="Chevron 11"/>
          <p:cNvSpPr/>
          <p:nvPr/>
        </p:nvSpPr>
        <p:spPr>
          <a:xfrm>
            <a:off x="3858768" y="1920240"/>
            <a:ext cx="1517904" cy="868680"/>
          </a:xfrm>
          <a:prstGeom prst="chevron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Extract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8" y="2926080"/>
            <a:ext cx="1517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6B7A"/>
                </a:solidFill>
                <a:latin typeface="Calibri"/>
              </a:rPr>
              <a:t>fields grounded on the page</a:t>
            </a:r>
          </a:p>
        </p:txBody>
      </p:sp>
      <p:sp>
        <p:nvSpPr>
          <p:cNvPr id="14" name="Chevron 13"/>
          <p:cNvSpPr/>
          <p:nvPr/>
        </p:nvSpPr>
        <p:spPr>
          <a:xfrm>
            <a:off x="5468112" y="1920240"/>
            <a:ext cx="1517904" cy="868680"/>
          </a:xfrm>
          <a:prstGeom prst="chevron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2926080"/>
            <a:ext cx="1517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6B7A"/>
                </a:solidFill>
                <a:latin typeface="Calibri"/>
              </a:rPr>
              <a:t>KYC · claims · policy RAG</a:t>
            </a:r>
          </a:p>
        </p:txBody>
      </p:sp>
      <p:sp>
        <p:nvSpPr>
          <p:cNvPr id="16" name="Chevron 15"/>
          <p:cNvSpPr/>
          <p:nvPr/>
        </p:nvSpPr>
        <p:spPr>
          <a:xfrm>
            <a:off x="7077456" y="1920240"/>
            <a:ext cx="1517904" cy="868680"/>
          </a:xfrm>
          <a:prstGeom prst="chevron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Fraud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7456" y="2926080"/>
            <a:ext cx="1517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6B7A"/>
                </a:solidFill>
                <a:latin typeface="Calibri"/>
              </a:rPr>
              <a:t>history + anomalies</a:t>
            </a:r>
          </a:p>
        </p:txBody>
      </p:sp>
      <p:sp>
        <p:nvSpPr>
          <p:cNvPr id="18" name="Chevron 17"/>
          <p:cNvSpPr/>
          <p:nvPr/>
        </p:nvSpPr>
        <p:spPr>
          <a:xfrm>
            <a:off x="8686800" y="1920240"/>
            <a:ext cx="1517904" cy="868680"/>
          </a:xfrm>
          <a:prstGeom prst="chevron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926080"/>
            <a:ext cx="1517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6B7A"/>
                </a:solidFill>
                <a:latin typeface="Calibri"/>
              </a:rPr>
              <a:t>rules + justification</a:t>
            </a:r>
          </a:p>
        </p:txBody>
      </p:sp>
      <p:sp>
        <p:nvSpPr>
          <p:cNvPr id="20" name="Chevron 19"/>
          <p:cNvSpPr/>
          <p:nvPr/>
        </p:nvSpPr>
        <p:spPr>
          <a:xfrm>
            <a:off x="10296144" y="1920240"/>
            <a:ext cx="1517904" cy="868680"/>
          </a:xfrm>
          <a:prstGeom prst="chevron">
            <a:avLst/>
          </a:prstGeom>
          <a:solidFill>
            <a:srgbClr val="D68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6144" y="2926080"/>
            <a:ext cx="1517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6B7A"/>
                </a:solidFill>
                <a:latin typeface="Calibri"/>
              </a:rPr>
              <a:t>four-eyes over $10k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77639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1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2062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2424D"/>
                </a:solidFill>
                <a:latin typeface="Calibri"/>
              </a:rPr>
              <a:t>Models read, rules decide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0916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Claude reads documents and writes explanations; a versioned rule file decides. An injected "APPROVE" can't decide a case.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977639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1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42062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2424D"/>
                </a:solidFill>
                <a:latin typeface="Calibri"/>
              </a:rPr>
              <a:t>Evidence, not opinion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70916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Confidence comes from grounding, agent agreement and image quality, then is calibrated. Uncertain → human.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59" y="3977639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1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9" y="42062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2424D"/>
                </a:solidFill>
                <a:latin typeface="Calibri"/>
              </a:rPr>
              <a:t>Every step auditable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9" y="470916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Hash-chained audit log, per-agent outputs in the UI, PDF case report.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A case-management product for the operations team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5394960" cy="3499434"/>
          </a:xfrm>
          <a:prstGeom prst="rect">
            <a:avLst/>
          </a:prstGeom>
          <a:ln>
            <a:solidFill>
              <a:srgbClr val="D8E4E7"/>
            </a:solidFill>
          </a:ln>
        </p:spPr>
      </p:pic>
      <p:pic>
        <p:nvPicPr>
          <p:cNvPr id="9" name="Picture 8" descr="case-detail.png"/>
          <p:cNvPicPr>
            <a:picLocks noChangeAspect="1"/>
          </p:cNvPicPr>
          <p:nvPr/>
        </p:nvPicPr>
        <p:blipFill>
          <a:blip r:embed="rId3"/>
          <a:srcRect b="28249"/>
          <a:stretch>
            <a:fillRect/>
          </a:stretch>
        </p:blipFill>
        <p:spPr>
          <a:xfrm>
            <a:off x="6172200" y="1600200"/>
            <a:ext cx="5394960" cy="3520440"/>
          </a:xfrm>
          <a:prstGeom prst="rect">
            <a:avLst/>
          </a:prstGeom>
          <a:ln>
            <a:solidFill>
              <a:srgbClr val="D8E4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2578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Dashboard: status, decision, confidence, fraud risk, live KPIs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52578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Case detail: live pipeline, evidence boxes on the page, per-agent panels, decision and override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Serverless on AWS, agents on Bedrock AgentCore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659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D3D"/>
                </a:solidFill>
                <a:latin typeface="Calibri"/>
              </a:rPr>
              <a:t>Next.js 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CloudFront + S3</a:t>
            </a:r>
          </a:p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6 workspaces + assistant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82880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19659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D3D"/>
                </a:solidFill>
                <a:latin typeface="Calibri"/>
              </a:rPr>
              <a:t>FastAPI on Lambda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33172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JWT · 5 roles · uploads</a:t>
            </a:r>
          </a:p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to S3 with signed forms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1600200"/>
            <a:ext cx="4754880" cy="1600200"/>
          </a:xfrm>
          <a:prstGeom prst="roundRect">
            <a:avLst>
              <a:gd name="adj" fmla="val 8000"/>
            </a:avLst>
          </a:prstGeom>
          <a:solidFill>
            <a:srgbClr val="12424D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17373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AgentCore Runtime: case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103120"/>
            <a:ext cx="43891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1F2F3"/>
                </a:solidFill>
                <a:latin typeface="Calibri"/>
              </a:rPr>
              <a:t>LangGraph: perceive → classify → KYC · claims · policy RAG, with fraud in parallel → decide → human review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3429000"/>
            <a:ext cx="4754880" cy="1325880"/>
          </a:xfrm>
          <a:prstGeom prst="roundRect">
            <a:avLst>
              <a:gd name="adj" fmla="val 8000"/>
            </a:avLst>
          </a:prstGeom>
          <a:solidFill>
            <a:srgbClr val="12424D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35661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AgentCore Runtime: role-aware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931920"/>
            <a:ext cx="4389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1F2F3"/>
                </a:solidFill>
                <a:latin typeface="Calibri"/>
              </a:rPr>
              <a:t>router → access check → tools → answer with [n] citations · AgentCore Memory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5760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7947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D3D"/>
                </a:solidFill>
                <a:latin typeface="Calibri"/>
              </a:rPr>
              <a:t>DynamoDB ·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16052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cases · audit chain · spend</a:t>
            </a:r>
          </a:p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ledger · documents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365760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37947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D3D"/>
                </a:solidFill>
                <a:latin typeface="Calibri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416052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Sonnet 5.5: read, reason, write</a:t>
            </a:r>
          </a:p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Opus 5.5: retries, tamper check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6560" y="4983480"/>
            <a:ext cx="47548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0" y="512064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D3D"/>
                </a:solidFill>
                <a:latin typeface="Calibri"/>
              </a:rPr>
              <a:t>Local models, no API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5486400"/>
            <a:ext cx="4389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RapidOCR (OCR) · bge-small + BM25 → RRF → jina reranker in Qdrant · ELA + typography forensics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17520" y="2423160"/>
            <a:ext cx="640080" cy="0"/>
          </a:xfrm>
          <a:prstGeom prst="line">
            <a:avLst/>
          </a:prstGeom>
          <a:ln w="25400">
            <a:solidFill>
              <a:srgbClr val="0F7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35040" y="2286000"/>
            <a:ext cx="731520" cy="0"/>
          </a:xfrm>
          <a:prstGeom prst="line">
            <a:avLst/>
          </a:prstGeom>
          <a:ln w="25400">
            <a:solidFill>
              <a:srgbClr val="0F7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35040" y="2651760"/>
            <a:ext cx="731520" cy="1371600"/>
          </a:xfrm>
          <a:prstGeom prst="line">
            <a:avLst/>
          </a:prstGeom>
          <a:ln w="25400">
            <a:solidFill>
              <a:srgbClr val="0F7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" y="507492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One CloudFormation stack · ARM64 image built by CodeBuild · secrets in SSM</a:t>
            </a:r>
          </a:p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Pay-per-use only: about $1.25/month idle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RESULTS · HELD-OUT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Measured on data the system never saw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745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8036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6 document types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69164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8745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6032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claim-field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88036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ICD · CPT · amounts · provider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9164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745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policy retrieval R@3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88036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right clause in the top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39" y="169164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39" y="18745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56032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decisions (visible labels)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39" y="288036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96.2% on all labels*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703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88620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$0.08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57200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model cost per case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89204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≈ $0.02 per document vs ≈ $18 manual**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29000" y="3703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0" y="388620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57200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unseen generator seed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89204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99.4% with tampering drawn 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3703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388620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2E8B57"/>
                </a:solidFill>
                <a:latin typeface="Calibr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457200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prompt-injection flips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489204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7 adversarial documents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39" y="3703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39" y="388620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2E8B57"/>
                </a:solidFill>
                <a:latin typeface="Calibri"/>
              </a:rPr>
              <a:t>21 / 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39" y="457200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quality gates in CI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39" y="489204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accuracy · safety · cost thresholds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7150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* The instructors' generator records a few labels it never draws (e.g. 'tampered' IDs); no system can see those.   ** Model spend only; escalated cases still get human review.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SAFETY AND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Built for a regulated business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1965960"/>
            <a:ext cx="256032" cy="256032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8928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Roles and four-eyes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58568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One permission matrix for API, UI and assistant. Overrides over $10k need a second senior reviewer; nobody approves their 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1965960"/>
            <a:ext cx="256032" cy="256032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8928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Tamper-evident audit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258568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Every view, override, report and blocked question is hash-chained; edits or deletions are located.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5468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256032" cy="256032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355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Injection-proof decisions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721608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Document text is data. Rules decide over grounded facts; red team: 0 flips, poisoned policy held.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15468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3429000"/>
            <a:ext cx="256032" cy="256032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3355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Identity and tampering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721608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Expiry at the date of service, typography forensics, ELA heatmap, two-model visual agreement.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61772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4892040"/>
            <a:ext cx="256032" cy="256032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481888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PHI protection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184648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Redacted from logs, traces and assistant memory; images never leave for tracing.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61772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46520" y="4892040"/>
            <a:ext cx="256032" cy="256032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481888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Cost guardrails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5184648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Hard model-spend and daily caps across all agents, AWS budget alert, pay-per-use services only.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ROLE-AWARE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Ask the system, within your role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00200"/>
            <a:ext cx="5806440" cy="3766339"/>
          </a:xfrm>
          <a:prstGeom prst="rect">
            <a:avLst/>
          </a:prstGeom>
          <a:ln>
            <a:solidFill>
              <a:srgbClr val="D8E4E7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008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Answers with citations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Policy clause and page, case evidence, audit entries, each as a numbered link.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157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Blocked by role, at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81528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Policy search, case tools and a per-role read-only SQL database enforce access; the model never sees what you may 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3989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Remembers, privately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05656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Follow-ups and per-user memory on AgentCore Memory; health data redacted; one-click clear.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6402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7F8A"/>
                </a:solidFill>
                <a:latin typeface="Calibri"/>
              </a:rPr>
              <a:t>100% on 35 labelled questions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29784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refusals, routing, facts, citations · red team 10 attacks, 0 failures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Beyond the brief: a platform, not a demo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37360"/>
            <a:ext cx="53492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73152" cy="1417320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1168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F2D3D"/>
                </a:solidFill>
                <a:latin typeface="Calibri"/>
              </a:rPr>
              <a:t>MCP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Claude Desktop and Claude Code use MediShield as tools: coverage checks, cases, review queue and the assistant, under the caller's own role, every call audited. Runs inside the API Lambda: $0 extra.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3492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73152" cy="1417320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01168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F2D3D"/>
                </a:solidFill>
                <a:latin typeface="Calibri"/>
              </a:rPr>
              <a:t>AI quality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51460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How often reviewers keep or override the AI, which rules they disagree with, AI → final transitions and time to final. From recorded data: no model calls.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31920"/>
            <a:ext cx="53492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73152" cy="1417320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20624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F2D3D"/>
                </a:solidFill>
                <a:latin typeface="Calibri"/>
              </a:rPr>
              <a:t>Policy upload, no code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0916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An admin uploads a new policy PDF; a pay-per-use Docling Lambda parses the exclusion table and clauses; new cases and chats use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931920"/>
            <a:ext cx="53492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4206240"/>
            <a:ext cx="73152" cy="1417320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20624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F2D3D"/>
                </a:solidFill>
                <a:latin typeface="Calibri"/>
              </a:rPr>
              <a:t>Email intake + case copilot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70916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Cases from allow-listed senders' email (SES, off until a domain is set), and an "Ask about this case" panel scoped to the open case.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Every optimisation was measured before it shipped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91640"/>
          <a:ext cx="10881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3657600"/>
                <a:gridCol w="2103120"/>
              </a:tblGrid>
              <a:tr h="57476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0F7F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Measured effect</a:t>
                      </a:r>
                    </a:p>
                  </a:txBody>
                  <a:tcPr anchor="ctr">
                    <a:solidFill>
                      <a:srgbClr val="0F7F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>
                    <a:solidFill>
                      <a:srgbClr val="0F7F8A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OCR first: vision model only when OCR isn't enough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−25% cost per case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Sonnet instead of Opus for policy and fraud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−36% cost per case ($0.13 → $0.08)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identical decisions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7× smaller reranker (fits the 2 GB AgentCore image)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MRR 0.963 → 1.000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Fraud check beside the specialists; length-sorted batching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index build 4.4 s → 1.8 s, search 0.5 s → 0.14 s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Lazy imports + keep-warm ping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sign-in ≈ 15 s → under 1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Text-only extraction (tested, rejected)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−4% cost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C0392B"/>
                          </a:solidFill>
                          <a:latin typeface="Calibri"/>
                        </a:rPr>
                        <a:t>−4 pts → not shipped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DEMO · ABOUT 7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What the demo shows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691640"/>
            <a:ext cx="3017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D3D"/>
                </a:solidFill>
                <a:latin typeface="Calibri"/>
              </a:rPr>
              <a:t>Submit a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691640"/>
            <a:ext cx="7315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B7A"/>
                </a:solidFill>
                <a:latin typeface="Calibri"/>
              </a:rPr>
              <a:t>Five documents uploaded; the pipeline lights up agent by agent.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560320"/>
            <a:ext cx="548640" cy="548640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560320"/>
            <a:ext cx="3017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D3D"/>
                </a:solidFill>
                <a:latin typeface="Calibri"/>
              </a:rPr>
              <a:t>Read the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60320"/>
            <a:ext cx="7315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B7A"/>
                </a:solidFill>
                <a:latin typeface="Calibri"/>
              </a:rPr>
              <a:t>Rejected: CPT 17000 excluded (cosmetic), cited to the policy page; evidence boxes on the claim.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429000"/>
            <a:ext cx="548640" cy="548640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429000"/>
            <a:ext cx="3017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D3D"/>
                </a:solidFill>
                <a:latin typeface="Calibri"/>
              </a:rPr>
              <a:t>Human in the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429000"/>
            <a:ext cx="7315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B7A"/>
                </a:solidFill>
                <a:latin typeface="Calibri"/>
              </a:rPr>
              <a:t>A $18,900 escalation: reviewer requests an override, senior approves, audit chain verifies.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297679"/>
            <a:ext cx="548640" cy="548640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297679"/>
            <a:ext cx="3017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D3D"/>
                </a:solidFill>
                <a:latin typeface="Calibri"/>
              </a:rPr>
              <a:t>Ask the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297679"/>
            <a:ext cx="7315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B7A"/>
                </a:solidFill>
                <a:latin typeface="Calibri"/>
              </a:rPr>
              <a:t>Coverage with citations, a follow-up from memory, then a blocked request for the audit trail.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5166360"/>
            <a:ext cx="548640" cy="548640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66360"/>
            <a:ext cx="3017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D3D"/>
                </a:solidFill>
                <a:latin typeface="Calibri"/>
              </a:rPr>
              <a:t>Prove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166360"/>
            <a:ext cx="7315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B7A"/>
                </a:solidFill>
                <a:latin typeface="Calibri"/>
              </a:rPr>
              <a:t>Insights scorecard and calibration; red-team and quality-gate results; AWS cost ≈ $1.25/month idle.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989320"/>
            <a:ext cx="10881360" cy="384048"/>
          </a:xfrm>
          <a:prstGeom prst="roundRect">
            <a:avLst>
              <a:gd name="adj" fmla="val 8000"/>
            </a:avLst>
          </a:prstGeom>
          <a:solidFill>
            <a:srgbClr val="E1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0350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2424D"/>
                </a:solidFill>
                <a:latin typeface="Calibri"/>
              </a:rPr>
              <a:t>Live: d3064azeabhrfe.cloudfront.net   ·   Code, evaluation report and design decisions: in the GitHub repository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
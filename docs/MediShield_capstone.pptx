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Raghav Bansal, the Solution Owner for MediShield's claims-intake automation. In the next ten minutes I'll show you the problem we have today, the idea behind the fix, proof that it works, and the one decision I need from you. Then you'll see it running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problem. Every month 85,000 documents arrive, and 120 people read every one by hand. A claim waits 4.2 days, and the handling costs 18.4 million dollars a year, about 18 dollars a document. It's not just slow. One in eight documents is handled twice, we have three open audits on identity checks, and when someone asks why a claim was rejected, nobody can show exactly how the decision was made.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in one sentence: software does the reading, people keep the judgement. Picture a mailroom with seven specialist clerks, each one an AI agent. One identifies the document, one checks identity and tampering, one checks medical codes and amounts, one checks the policy, one looks for fraud. The important part: the AI never decides. It reports facts, and a written rulebook turns them into Approve, Reject or Escalate. Same facts, same answer, every time. Anything uncertain goes to a person, and a big override needs a second signature. It reads Spanish and Hindi as well as English, takes claims by email, and staff can ask it questions and get the policy page cited back.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a claim flows. Documents come in at the top and are read by an OCR engine inside our own environment, at no cost. The classifier identifies each document from its printed title, and only asks the AI vision model when that isn't clear. Then the four specialists run at the same time: identity, claims, policy and fraud. Everything lands in the decision engine, where the rulebook decides. Escalations go to a reviewer; large overrides need a second signature. On the right is what wraps every case: the web app, the assistant, the tamper-proof audit trail, tracing of every AI call with its cost, and the platform: serverless on AWS, one stack, about a dollar a month idle.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it work? I tested it on 78 documents it had never seen. It identified every document correctly, read every required claim field correctly, and found the right policy clause with the page number every time. Decisions were 100 percent correct where the evidence is on the page, 96 percent counting a few test labels that were never drawn on the documents. Each claim costs about 8 cents in AI, against 18 dollars by hand, and takes about a minute. Spanish and Hindi: 80 documents, all identified correctly, 95 to 100 percent decided correctly. Whole claims, all five documents together: 88 percent. One honest note: this is a labelled test set. Real scans come in the pilot.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it safe? Each role sees only its own data, enforced where the data is read, so a submitter can't talk the assistant into showing the audit trail. Overrides over ten thousand dollars need a senior's second signature, and nobody approves their own request. Every action goes into a tamper-proof logbook: each entry is chained to the one before, so edits show. Documents with hidden 'approve this' instructions: seven attacks, zero decisions changed. A second, independent AI grades every assistant answer, and it caught all three wrong answers I planted. Spending is capped in code, and patient details are stripped from logs.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What's next? I'm not asking to switch this on for everyone. Stage one is a shadow pilot: it runs beside one reviewer team on real scans, and its decisions are compared, never used. We move on at 95 percent agreement. Stage two is assisted: the system recommends, a person confirms. We move on when overrides drop below 5 percent. Stage three, clean claims go straight through; escalations always stay human. Three things are still to prove, and the pilot proves them: real scans, subtle forged IDs, and a privacy review of the AI provider. What I need today: a pilot team and an owner, approval for the privacy review, and scoping of single sign-on. Now let me show you it working.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every deliverable and every bonus item in the brief is done, plus the extras operations will ask for.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each optimisation was A/B tested on the development split; the one that cost accuracy was rejected.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how it runs and how it's kept safe to change.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Pentagon 1"/>
          <p:cNvSpPr/>
          <p:nvPr/>
        </p:nvSpPr>
        <p:spPr>
          <a:xfrm rot="5400000">
            <a:off x="731520" y="640080"/>
            <a:ext cx="685800" cy="685800"/>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12698" y="763524"/>
            <a:ext cx="123444" cy="38404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82396" y="893826"/>
            <a:ext cx="384048" cy="123444"/>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00200" y="713232"/>
            <a:ext cx="5486400" cy="548640"/>
          </a:xfrm>
          <a:prstGeom prst="rect">
            <a:avLst/>
          </a:prstGeom>
          <a:noFill/>
        </p:spPr>
        <p:txBody>
          <a:bodyPr wrap="square" anchor="t" lIns="0" rIns="0" tIns="0" bIns="0">
            <a:spAutoFit/>
          </a:bodyPr>
          <a:lstStyle/>
          <a:p>
            <a:pPr algn="l"/>
            <a:r>
              <a:rPr sz="2200" b="1">
                <a:solidFill>
                  <a:srgbClr val="F8FAFC"/>
                </a:solidFill>
                <a:latin typeface="Calibri"/>
              </a:rPr>
              <a:t>MediShield Health</a:t>
            </a:r>
          </a:p>
        </p:txBody>
      </p:sp>
      <p:sp>
        <p:nvSpPr>
          <p:cNvPr id="6" name="TextBox 5"/>
          <p:cNvSpPr txBox="1"/>
          <p:nvPr/>
        </p:nvSpPr>
        <p:spPr>
          <a:xfrm>
            <a:off x="731520" y="2103120"/>
            <a:ext cx="10789920" cy="1097280"/>
          </a:xfrm>
          <a:prstGeom prst="rect">
            <a:avLst/>
          </a:prstGeom>
          <a:noFill/>
        </p:spPr>
        <p:txBody>
          <a:bodyPr wrap="square" anchor="t" lIns="0" rIns="0" tIns="0" bIns="0">
            <a:spAutoFit/>
          </a:bodyPr>
          <a:lstStyle/>
          <a:p>
            <a:pPr algn="l"/>
            <a:r>
              <a:rPr sz="5000" b="1">
                <a:solidFill>
                  <a:srgbClr val="F8FAFC"/>
                </a:solidFill>
                <a:latin typeface="Calibri"/>
              </a:rPr>
              <a:t>Claims decisions in a minute, not days</a:t>
            </a:r>
          </a:p>
        </p:txBody>
      </p:sp>
      <p:sp>
        <p:nvSpPr>
          <p:cNvPr id="7" name="TextBox 6"/>
          <p:cNvSpPr txBox="1"/>
          <p:nvPr/>
        </p:nvSpPr>
        <p:spPr>
          <a:xfrm>
            <a:off x="731520" y="3200400"/>
            <a:ext cx="10515600" cy="914400"/>
          </a:xfrm>
          <a:prstGeom prst="rect">
            <a:avLst/>
          </a:prstGeom>
          <a:noFill/>
        </p:spPr>
        <p:txBody>
          <a:bodyPr wrap="square" anchor="t" lIns="0" rIns="0" tIns="0" bIns="0">
            <a:spAutoFit/>
          </a:bodyPr>
          <a:lstStyle/>
          <a:p>
            <a:pPr algn="l"/>
            <a:r>
              <a:rPr sz="2400" b="0">
                <a:solidFill>
                  <a:srgbClr val="CBD5E1"/>
                </a:solidFill>
                <a:latin typeface="Calibri"/>
              </a:rPr>
              <a:t>How we automated claims intake, what it costs, how well it works, and what I'm asking for</a:t>
            </a:r>
          </a:p>
        </p:txBody>
      </p:sp>
      <p:sp>
        <p:nvSpPr>
          <p:cNvPr id="8" name="TextBox 7"/>
          <p:cNvSpPr txBox="1"/>
          <p:nvPr/>
        </p:nvSpPr>
        <p:spPr>
          <a:xfrm>
            <a:off x="731520" y="5669280"/>
            <a:ext cx="10515600" cy="731520"/>
          </a:xfrm>
          <a:prstGeom prst="rect">
            <a:avLst/>
          </a:prstGeom>
          <a:noFill/>
        </p:spPr>
        <p:txBody>
          <a:bodyPr wrap="square" anchor="t" lIns="0" rIns="0" tIns="0" bIns="0">
            <a:spAutoFit/>
          </a:bodyPr>
          <a:lstStyle/>
          <a:p>
            <a:pPr algn="l"/>
            <a:r>
              <a:rPr sz="1400" b="0">
                <a:solidFill>
                  <a:srgbClr val="94A3B8"/>
                </a:solidFill>
                <a:latin typeface="Calibri"/>
              </a:rPr>
              <a:t>Raghav Bansal · Solution Owner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THE PROBLEM TODAY</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Every claim waits for a person to read five documents</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2</a:t>
            </a:r>
          </a:p>
        </p:txBody>
      </p:sp>
      <p:sp>
        <p:nvSpPr>
          <p:cNvPr id="10" name="Rounded Rectangle 9"/>
          <p:cNvSpPr/>
          <p:nvPr/>
        </p:nvSpPr>
        <p:spPr>
          <a:xfrm>
            <a:off x="640080" y="1783080"/>
            <a:ext cx="2560320" cy="21031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65960"/>
            <a:ext cx="2103120" cy="731520"/>
          </a:xfrm>
          <a:prstGeom prst="rect">
            <a:avLst/>
          </a:prstGeom>
          <a:noFill/>
        </p:spPr>
        <p:txBody>
          <a:bodyPr wrap="square" anchor="t" lIns="0" rIns="0" tIns="0" bIns="0">
            <a:spAutoFit/>
          </a:bodyPr>
          <a:lstStyle/>
          <a:p>
            <a:pPr algn="l"/>
            <a:r>
              <a:rPr sz="3400" b="1">
                <a:solidFill>
                  <a:srgbClr val="2DD4BF"/>
                </a:solidFill>
                <a:latin typeface="Calibri"/>
              </a:rPr>
              <a:t>85,000</a:t>
            </a:r>
          </a:p>
        </p:txBody>
      </p:sp>
      <p:sp>
        <p:nvSpPr>
          <p:cNvPr id="12" name="TextBox 11"/>
          <p:cNvSpPr txBox="1"/>
          <p:nvPr/>
        </p:nvSpPr>
        <p:spPr>
          <a:xfrm>
            <a:off x="868680" y="2651760"/>
            <a:ext cx="2103120" cy="457200"/>
          </a:xfrm>
          <a:prstGeom prst="rect">
            <a:avLst/>
          </a:prstGeom>
          <a:noFill/>
        </p:spPr>
        <p:txBody>
          <a:bodyPr wrap="square" anchor="t" lIns="0" rIns="0" tIns="0" bIns="0">
            <a:spAutoFit/>
          </a:bodyPr>
          <a:lstStyle/>
          <a:p>
            <a:pPr algn="l"/>
            <a:r>
              <a:rPr sz="1400" b="1">
                <a:solidFill>
                  <a:srgbClr val="F8FAFC"/>
                </a:solidFill>
                <a:latin typeface="Calibri"/>
              </a:rPr>
              <a:t>documents a month</a:t>
            </a:r>
          </a:p>
        </p:txBody>
      </p:sp>
      <p:sp>
        <p:nvSpPr>
          <p:cNvPr id="13" name="TextBox 12"/>
          <p:cNvSpPr txBox="1"/>
          <p:nvPr/>
        </p:nvSpPr>
        <p:spPr>
          <a:xfrm>
            <a:off x="868680" y="2971800"/>
            <a:ext cx="2103120" cy="822960"/>
          </a:xfrm>
          <a:prstGeom prst="rect">
            <a:avLst/>
          </a:prstGeom>
          <a:noFill/>
        </p:spPr>
        <p:txBody>
          <a:bodyPr wrap="square" anchor="t" lIns="0" rIns="0" tIns="0" bIns="0">
            <a:spAutoFit/>
          </a:bodyPr>
          <a:lstStyle/>
          <a:p>
            <a:pPr algn="l"/>
            <a:r>
              <a:rPr sz="1100" b="0">
                <a:solidFill>
                  <a:srgbClr val="94A3B8"/>
                </a:solidFill>
                <a:latin typeface="Calibri"/>
              </a:rPr>
              <a:t>claim forms, ID cards, discharge summaries, prescriptions, amendments</a:t>
            </a:r>
          </a:p>
        </p:txBody>
      </p:sp>
      <p:sp>
        <p:nvSpPr>
          <p:cNvPr id="14" name="Rounded Rectangle 13"/>
          <p:cNvSpPr/>
          <p:nvPr/>
        </p:nvSpPr>
        <p:spPr>
          <a:xfrm>
            <a:off x="3429000" y="1783080"/>
            <a:ext cx="2560320" cy="21031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1965960"/>
            <a:ext cx="2103120" cy="731520"/>
          </a:xfrm>
          <a:prstGeom prst="rect">
            <a:avLst/>
          </a:prstGeom>
          <a:noFill/>
        </p:spPr>
        <p:txBody>
          <a:bodyPr wrap="square" anchor="t" lIns="0" rIns="0" tIns="0" bIns="0">
            <a:spAutoFit/>
          </a:bodyPr>
          <a:lstStyle/>
          <a:p>
            <a:pPr algn="l"/>
            <a:r>
              <a:rPr sz="3400" b="1">
                <a:solidFill>
                  <a:srgbClr val="2DD4BF"/>
                </a:solidFill>
                <a:latin typeface="Calibri"/>
              </a:rPr>
              <a:t>120</a:t>
            </a:r>
          </a:p>
        </p:txBody>
      </p:sp>
      <p:sp>
        <p:nvSpPr>
          <p:cNvPr id="16" name="TextBox 15"/>
          <p:cNvSpPr txBox="1"/>
          <p:nvPr/>
        </p:nvSpPr>
        <p:spPr>
          <a:xfrm>
            <a:off x="3657600" y="2651760"/>
            <a:ext cx="2103120" cy="457200"/>
          </a:xfrm>
          <a:prstGeom prst="rect">
            <a:avLst/>
          </a:prstGeom>
          <a:noFill/>
        </p:spPr>
        <p:txBody>
          <a:bodyPr wrap="square" anchor="t" lIns="0" rIns="0" tIns="0" bIns="0">
            <a:spAutoFit/>
          </a:bodyPr>
          <a:lstStyle/>
          <a:p>
            <a:pPr algn="l"/>
            <a:r>
              <a:rPr sz="1400" b="1">
                <a:solidFill>
                  <a:srgbClr val="F8FAFC"/>
                </a:solidFill>
                <a:latin typeface="Calibri"/>
              </a:rPr>
              <a:t>people reading them</a:t>
            </a:r>
          </a:p>
        </p:txBody>
      </p:sp>
      <p:sp>
        <p:nvSpPr>
          <p:cNvPr id="17" name="TextBox 16"/>
          <p:cNvSpPr txBox="1"/>
          <p:nvPr/>
        </p:nvSpPr>
        <p:spPr>
          <a:xfrm>
            <a:off x="3657600" y="2971800"/>
            <a:ext cx="2103120" cy="822960"/>
          </a:xfrm>
          <a:prstGeom prst="rect">
            <a:avLst/>
          </a:prstGeom>
          <a:noFill/>
        </p:spPr>
        <p:txBody>
          <a:bodyPr wrap="square" anchor="t" lIns="0" rIns="0" tIns="0" bIns="0">
            <a:spAutoFit/>
          </a:bodyPr>
          <a:lstStyle/>
          <a:p>
            <a:pPr algn="l"/>
            <a:r>
              <a:rPr sz="1100" b="0">
                <a:solidFill>
                  <a:srgbClr val="94A3B8"/>
                </a:solidFill>
                <a:latin typeface="Calibri"/>
              </a:rPr>
              <a:t>sorting, checking and routing by hand</a:t>
            </a:r>
          </a:p>
        </p:txBody>
      </p:sp>
      <p:sp>
        <p:nvSpPr>
          <p:cNvPr id="18" name="Rounded Rectangle 17"/>
          <p:cNvSpPr/>
          <p:nvPr/>
        </p:nvSpPr>
        <p:spPr>
          <a:xfrm>
            <a:off x="6217920" y="1783080"/>
            <a:ext cx="2560320" cy="21031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1965960"/>
            <a:ext cx="2103120" cy="731520"/>
          </a:xfrm>
          <a:prstGeom prst="rect">
            <a:avLst/>
          </a:prstGeom>
          <a:noFill/>
        </p:spPr>
        <p:txBody>
          <a:bodyPr wrap="square" anchor="t" lIns="0" rIns="0" tIns="0" bIns="0">
            <a:spAutoFit/>
          </a:bodyPr>
          <a:lstStyle/>
          <a:p>
            <a:pPr algn="l"/>
            <a:r>
              <a:rPr sz="3400" b="1">
                <a:solidFill>
                  <a:srgbClr val="2DD4BF"/>
                </a:solidFill>
                <a:latin typeface="Calibri"/>
              </a:rPr>
              <a:t>4.2 days</a:t>
            </a:r>
          </a:p>
        </p:txBody>
      </p:sp>
      <p:sp>
        <p:nvSpPr>
          <p:cNvPr id="20" name="TextBox 19"/>
          <p:cNvSpPr txBox="1"/>
          <p:nvPr/>
        </p:nvSpPr>
        <p:spPr>
          <a:xfrm>
            <a:off x="6446520" y="2651760"/>
            <a:ext cx="2103120" cy="457200"/>
          </a:xfrm>
          <a:prstGeom prst="rect">
            <a:avLst/>
          </a:prstGeom>
          <a:noFill/>
        </p:spPr>
        <p:txBody>
          <a:bodyPr wrap="square" anchor="t" lIns="0" rIns="0" tIns="0" bIns="0">
            <a:spAutoFit/>
          </a:bodyPr>
          <a:lstStyle/>
          <a:p>
            <a:pPr algn="l"/>
            <a:r>
              <a:rPr sz="1400" b="1">
                <a:solidFill>
                  <a:srgbClr val="F8FAFC"/>
                </a:solidFill>
                <a:latin typeface="Calibri"/>
              </a:rPr>
              <a:t>per claim</a:t>
            </a:r>
          </a:p>
        </p:txBody>
      </p:sp>
      <p:sp>
        <p:nvSpPr>
          <p:cNvPr id="21" name="TextBox 20"/>
          <p:cNvSpPr txBox="1"/>
          <p:nvPr/>
        </p:nvSpPr>
        <p:spPr>
          <a:xfrm>
            <a:off x="6446520" y="2971800"/>
            <a:ext cx="2103120" cy="822960"/>
          </a:xfrm>
          <a:prstGeom prst="rect">
            <a:avLst/>
          </a:prstGeom>
          <a:noFill/>
        </p:spPr>
        <p:txBody>
          <a:bodyPr wrap="square" anchor="t" lIns="0" rIns="0" tIns="0" bIns="0">
            <a:spAutoFit/>
          </a:bodyPr>
          <a:lstStyle/>
          <a:p>
            <a:pPr algn="l"/>
            <a:r>
              <a:rPr sz="1100" b="0">
                <a:solidFill>
                  <a:srgbClr val="94A3B8"/>
                </a:solidFill>
                <a:latin typeface="Calibri"/>
              </a:rPr>
              <a:t>a member waits almost a week for an answer</a:t>
            </a:r>
          </a:p>
        </p:txBody>
      </p:sp>
      <p:sp>
        <p:nvSpPr>
          <p:cNvPr id="22" name="Rounded Rectangle 21"/>
          <p:cNvSpPr/>
          <p:nvPr/>
        </p:nvSpPr>
        <p:spPr>
          <a:xfrm>
            <a:off x="9006839" y="1783080"/>
            <a:ext cx="2560320" cy="21031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35439" y="1965960"/>
            <a:ext cx="2103120" cy="731520"/>
          </a:xfrm>
          <a:prstGeom prst="rect">
            <a:avLst/>
          </a:prstGeom>
          <a:noFill/>
        </p:spPr>
        <p:txBody>
          <a:bodyPr wrap="square" anchor="t" lIns="0" rIns="0" tIns="0" bIns="0">
            <a:spAutoFit/>
          </a:bodyPr>
          <a:lstStyle/>
          <a:p>
            <a:pPr algn="l"/>
            <a:r>
              <a:rPr sz="3400" b="1">
                <a:solidFill>
                  <a:srgbClr val="F87171"/>
                </a:solidFill>
                <a:latin typeface="Calibri"/>
              </a:rPr>
              <a:t>$18.4M</a:t>
            </a:r>
          </a:p>
        </p:txBody>
      </p:sp>
      <p:sp>
        <p:nvSpPr>
          <p:cNvPr id="24" name="TextBox 23"/>
          <p:cNvSpPr txBox="1"/>
          <p:nvPr/>
        </p:nvSpPr>
        <p:spPr>
          <a:xfrm>
            <a:off x="9235439" y="2651760"/>
            <a:ext cx="2103120" cy="457200"/>
          </a:xfrm>
          <a:prstGeom prst="rect">
            <a:avLst/>
          </a:prstGeom>
          <a:noFill/>
        </p:spPr>
        <p:txBody>
          <a:bodyPr wrap="square" anchor="t" lIns="0" rIns="0" tIns="0" bIns="0">
            <a:spAutoFit/>
          </a:bodyPr>
          <a:lstStyle/>
          <a:p>
            <a:pPr algn="l"/>
            <a:r>
              <a:rPr sz="1400" b="1">
                <a:solidFill>
                  <a:srgbClr val="F8FAFC"/>
                </a:solidFill>
                <a:latin typeface="Calibri"/>
              </a:rPr>
              <a:t>a year</a:t>
            </a:r>
          </a:p>
        </p:txBody>
      </p:sp>
      <p:sp>
        <p:nvSpPr>
          <p:cNvPr id="25" name="TextBox 24"/>
          <p:cNvSpPr txBox="1"/>
          <p:nvPr/>
        </p:nvSpPr>
        <p:spPr>
          <a:xfrm>
            <a:off x="9235439" y="2971800"/>
            <a:ext cx="2103120" cy="822960"/>
          </a:xfrm>
          <a:prstGeom prst="rect">
            <a:avLst/>
          </a:prstGeom>
          <a:noFill/>
        </p:spPr>
        <p:txBody>
          <a:bodyPr wrap="square" anchor="t" lIns="0" rIns="0" tIns="0" bIns="0">
            <a:spAutoFit/>
          </a:bodyPr>
          <a:lstStyle/>
          <a:p>
            <a:pPr algn="l"/>
            <a:r>
              <a:rPr sz="1100" b="0">
                <a:solidFill>
                  <a:srgbClr val="94A3B8"/>
                </a:solidFill>
                <a:latin typeface="Calibri"/>
              </a:rPr>
              <a:t>about $18 of handling for every document</a:t>
            </a:r>
          </a:p>
        </p:txBody>
      </p:sp>
      <p:sp>
        <p:nvSpPr>
          <p:cNvPr id="26" name="Rounded Rectangle 25"/>
          <p:cNvSpPr/>
          <p:nvPr/>
        </p:nvSpPr>
        <p:spPr>
          <a:xfrm>
            <a:off x="640080" y="4297680"/>
            <a:ext cx="10881360" cy="1417320"/>
          </a:xfrm>
          <a:prstGeom prst="roundRect">
            <a:avLst>
              <a:gd name="adj" fmla="val 8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480560"/>
            <a:ext cx="10424160" cy="365760"/>
          </a:xfrm>
          <a:prstGeom prst="rect">
            <a:avLst/>
          </a:prstGeom>
          <a:noFill/>
        </p:spPr>
        <p:txBody>
          <a:bodyPr wrap="square" anchor="t" lIns="0" rIns="0" tIns="0" bIns="0">
            <a:spAutoFit/>
          </a:bodyPr>
          <a:lstStyle/>
          <a:p>
            <a:pPr algn="l"/>
            <a:r>
              <a:rPr sz="1200" b="1">
                <a:solidFill>
                  <a:srgbClr val="2DD4BF"/>
                </a:solidFill>
                <a:latin typeface="Calibri"/>
              </a:rPr>
              <a:t>WHAT GOES WRONG</a:t>
            </a:r>
          </a:p>
        </p:txBody>
      </p:sp>
      <p:sp>
        <p:nvSpPr>
          <p:cNvPr id="28" name="TextBox 27"/>
          <p:cNvSpPr txBox="1"/>
          <p:nvPr/>
        </p:nvSpPr>
        <p:spPr>
          <a:xfrm>
            <a:off x="914400" y="4846320"/>
            <a:ext cx="10424160" cy="822960"/>
          </a:xfrm>
          <a:prstGeom prst="rect">
            <a:avLst/>
          </a:prstGeom>
          <a:noFill/>
        </p:spPr>
        <p:txBody>
          <a:bodyPr wrap="square" anchor="t" lIns="0" rIns="0" tIns="0" bIns="0">
            <a:spAutoFit/>
          </a:bodyPr>
          <a:lstStyle/>
          <a:p>
            <a:pPr algn="l"/>
            <a:r>
              <a:rPr sz="1700" b="0">
                <a:solidFill>
                  <a:srgbClr val="F8FAFC"/>
                </a:solidFill>
                <a:latin typeface="Calibri"/>
              </a:rPr>
              <a:t>Slow answers for members. 12% of documents handled twice. Three open regulatory audits on identity checks. And when a decision is questioned, nobody can show exactly why it was made.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THE IDEA</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Software reads. A rulebook decides. People judge.</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3</a:t>
            </a:r>
          </a:p>
        </p:txBody>
      </p:sp>
      <p:sp>
        <p:nvSpPr>
          <p:cNvPr id="10" name="Rounded Rectangle 9"/>
          <p:cNvSpPr/>
          <p:nvPr/>
        </p:nvSpPr>
        <p:spPr>
          <a:xfrm>
            <a:off x="640080" y="1783080"/>
            <a:ext cx="3474720" cy="310896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57400"/>
            <a:ext cx="54864" cy="256032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2011680"/>
            <a:ext cx="2926080" cy="457200"/>
          </a:xfrm>
          <a:prstGeom prst="rect">
            <a:avLst/>
          </a:prstGeom>
          <a:noFill/>
        </p:spPr>
        <p:txBody>
          <a:bodyPr wrap="square" anchor="t" lIns="0" rIns="0" tIns="0" bIns="0">
            <a:spAutoFit/>
          </a:bodyPr>
          <a:lstStyle/>
          <a:p>
            <a:pPr algn="l"/>
            <a:r>
              <a:rPr sz="2000" b="1">
                <a:solidFill>
                  <a:srgbClr val="2DD4BF"/>
                </a:solidFill>
                <a:latin typeface="Calibri"/>
              </a:rPr>
              <a:t>1 · Software reads</a:t>
            </a:r>
          </a:p>
        </p:txBody>
      </p:sp>
      <p:sp>
        <p:nvSpPr>
          <p:cNvPr id="13" name="TextBox 12"/>
          <p:cNvSpPr txBox="1"/>
          <p:nvPr/>
        </p:nvSpPr>
        <p:spPr>
          <a:xfrm>
            <a:off x="960120" y="2606040"/>
            <a:ext cx="2926080" cy="2194560"/>
          </a:xfrm>
          <a:prstGeom prst="rect">
            <a:avLst/>
          </a:prstGeom>
          <a:noFill/>
        </p:spPr>
        <p:txBody>
          <a:bodyPr wrap="square" anchor="t" lIns="0" rIns="0" tIns="0" bIns="0">
            <a:spAutoFit/>
          </a:bodyPr>
          <a:lstStyle/>
          <a:p>
            <a:pPr algn="l"/>
            <a:r>
              <a:rPr sz="1500" b="0">
                <a:solidFill>
                  <a:srgbClr val="CBD5E1"/>
                </a:solidFill>
                <a:latin typeface="Calibri"/>
              </a:rPr>
              <a:t>Seven specialist 'clerks', each an AI agent: one identifies the document, one checks identity, one checks medical codes and amounts, one checks the policy, one looks for fraud.</a:t>
            </a:r>
          </a:p>
        </p:txBody>
      </p:sp>
      <p:sp>
        <p:nvSpPr>
          <p:cNvPr id="14" name="Rounded Rectangle 13"/>
          <p:cNvSpPr/>
          <p:nvPr/>
        </p:nvSpPr>
        <p:spPr>
          <a:xfrm>
            <a:off x="4343400" y="1783080"/>
            <a:ext cx="3474720" cy="310896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2057400"/>
            <a:ext cx="54864" cy="256032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011680"/>
            <a:ext cx="2926080" cy="457200"/>
          </a:xfrm>
          <a:prstGeom prst="rect">
            <a:avLst/>
          </a:prstGeom>
          <a:noFill/>
        </p:spPr>
        <p:txBody>
          <a:bodyPr wrap="square" anchor="t" lIns="0" rIns="0" tIns="0" bIns="0">
            <a:spAutoFit/>
          </a:bodyPr>
          <a:lstStyle/>
          <a:p>
            <a:pPr algn="l"/>
            <a:r>
              <a:rPr sz="2000" b="1">
                <a:solidFill>
                  <a:srgbClr val="FBBF24"/>
                </a:solidFill>
                <a:latin typeface="Calibri"/>
              </a:rPr>
              <a:t>2 · A rulebook decides</a:t>
            </a:r>
          </a:p>
        </p:txBody>
      </p:sp>
      <p:sp>
        <p:nvSpPr>
          <p:cNvPr id="17" name="TextBox 16"/>
          <p:cNvSpPr txBox="1"/>
          <p:nvPr/>
        </p:nvSpPr>
        <p:spPr>
          <a:xfrm>
            <a:off x="4663440" y="2606040"/>
            <a:ext cx="2926080" cy="2194560"/>
          </a:xfrm>
          <a:prstGeom prst="rect">
            <a:avLst/>
          </a:prstGeom>
          <a:noFill/>
        </p:spPr>
        <p:txBody>
          <a:bodyPr wrap="square" anchor="t" lIns="0" rIns="0" tIns="0" bIns="0">
            <a:spAutoFit/>
          </a:bodyPr>
          <a:lstStyle/>
          <a:p>
            <a:pPr algn="l"/>
            <a:r>
              <a:rPr sz="1500" b="0">
                <a:solidFill>
                  <a:srgbClr val="CBD5E1"/>
                </a:solidFill>
                <a:latin typeface="Calibri"/>
              </a:rPr>
              <a:t>The AI never decides. It reports facts. A written rulebook turns those facts into Approve, Reject or Escalate, so the same facts always give the same answer.</a:t>
            </a:r>
          </a:p>
        </p:txBody>
      </p:sp>
      <p:sp>
        <p:nvSpPr>
          <p:cNvPr id="18" name="Rounded Rectangle 17"/>
          <p:cNvSpPr/>
          <p:nvPr/>
        </p:nvSpPr>
        <p:spPr>
          <a:xfrm>
            <a:off x="8046719" y="1783080"/>
            <a:ext cx="3474720" cy="310896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19" y="2057400"/>
            <a:ext cx="54864" cy="2560320"/>
          </a:xfrm>
          <a:prstGeom prst="rect">
            <a:avLst/>
          </a:prstGeom>
          <a:solidFill>
            <a:srgbClr val="4AD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59" y="2011680"/>
            <a:ext cx="2926080" cy="457200"/>
          </a:xfrm>
          <a:prstGeom prst="rect">
            <a:avLst/>
          </a:prstGeom>
          <a:noFill/>
        </p:spPr>
        <p:txBody>
          <a:bodyPr wrap="square" anchor="t" lIns="0" rIns="0" tIns="0" bIns="0">
            <a:spAutoFit/>
          </a:bodyPr>
          <a:lstStyle/>
          <a:p>
            <a:pPr algn="l"/>
            <a:r>
              <a:rPr sz="2000" b="1">
                <a:solidFill>
                  <a:srgbClr val="4ADE80"/>
                </a:solidFill>
                <a:latin typeface="Calibri"/>
              </a:rPr>
              <a:t>3 · People handle doubt</a:t>
            </a:r>
          </a:p>
        </p:txBody>
      </p:sp>
      <p:sp>
        <p:nvSpPr>
          <p:cNvPr id="21" name="TextBox 20"/>
          <p:cNvSpPr txBox="1"/>
          <p:nvPr/>
        </p:nvSpPr>
        <p:spPr>
          <a:xfrm>
            <a:off x="8366759" y="2606040"/>
            <a:ext cx="2926080" cy="2194560"/>
          </a:xfrm>
          <a:prstGeom prst="rect">
            <a:avLst/>
          </a:prstGeom>
          <a:noFill/>
        </p:spPr>
        <p:txBody>
          <a:bodyPr wrap="square" anchor="t" lIns="0" rIns="0" tIns="0" bIns="0">
            <a:spAutoFit/>
          </a:bodyPr>
          <a:lstStyle/>
          <a:p>
            <a:pPr algn="l"/>
            <a:r>
              <a:rPr sz="1500" b="0">
                <a:solidFill>
                  <a:srgbClr val="CBD5E1"/>
                </a:solidFill>
                <a:latin typeface="Calibri"/>
              </a:rPr>
              <a:t>Anything uncertain goes to a reviewer. A big override needs a second signature from a senior reviewer. Every click is written to a tamper-proof logbook.</a:t>
            </a:r>
          </a:p>
        </p:txBody>
      </p:sp>
      <p:sp>
        <p:nvSpPr>
          <p:cNvPr id="22" name="Rounded Rectangle 21"/>
          <p:cNvSpPr/>
          <p:nvPr/>
        </p:nvSpPr>
        <p:spPr>
          <a:xfrm>
            <a:off x="640080" y="5166360"/>
            <a:ext cx="10881360" cy="914400"/>
          </a:xfrm>
          <a:prstGeom prst="roundRect">
            <a:avLst>
              <a:gd name="adj" fmla="val 8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5285232"/>
            <a:ext cx="10424160" cy="731520"/>
          </a:xfrm>
          <a:prstGeom prst="rect">
            <a:avLst/>
          </a:prstGeom>
          <a:noFill/>
        </p:spPr>
        <p:txBody>
          <a:bodyPr wrap="square" anchor="t" lIns="0" rIns="0" tIns="0" bIns="0">
            <a:spAutoFit/>
          </a:bodyPr>
          <a:lstStyle/>
          <a:p>
            <a:pPr algn="l"/>
            <a:r>
              <a:rPr sz="1500" b="0">
                <a:solidFill>
                  <a:srgbClr val="F8FAFC"/>
                </a:solidFill>
                <a:latin typeface="Calibri"/>
              </a:rPr>
              <a:t>Works on documents in English, Spanish and Hindi.  ·  Accepts claims by web upload or by email.  ·  Answers staff questions in plain English, with the policy page cited.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pic>
        <p:nvPicPr>
          <p:cNvPr id="2" name="Picture 1" descr="claim_flow.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DOES IT WORK?</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Tested on documents it had never seen</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5</a:t>
            </a:r>
          </a:p>
        </p:txBody>
      </p:sp>
      <p:sp>
        <p:nvSpPr>
          <p:cNvPr id="10" name="Rounded Rectangle 9"/>
          <p:cNvSpPr/>
          <p:nvPr/>
        </p:nvSpPr>
        <p:spPr>
          <a:xfrm>
            <a:off x="640080" y="1737360"/>
            <a:ext cx="3474720" cy="16459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920240"/>
            <a:ext cx="3017520" cy="731520"/>
          </a:xfrm>
          <a:prstGeom prst="rect">
            <a:avLst/>
          </a:prstGeom>
          <a:noFill/>
        </p:spPr>
        <p:txBody>
          <a:bodyPr wrap="square" anchor="t" lIns="0" rIns="0" tIns="0" bIns="0">
            <a:spAutoFit/>
          </a:bodyPr>
          <a:lstStyle/>
          <a:p>
            <a:pPr algn="l"/>
            <a:r>
              <a:rPr sz="3400" b="1">
                <a:solidFill>
                  <a:srgbClr val="2DD4BF"/>
                </a:solidFill>
                <a:latin typeface="Calibri"/>
              </a:rPr>
              <a:t>100%</a:t>
            </a:r>
          </a:p>
        </p:txBody>
      </p:sp>
      <p:sp>
        <p:nvSpPr>
          <p:cNvPr id="12" name="TextBox 11"/>
          <p:cNvSpPr txBox="1"/>
          <p:nvPr/>
        </p:nvSpPr>
        <p:spPr>
          <a:xfrm>
            <a:off x="868680" y="2606040"/>
            <a:ext cx="3017520" cy="457200"/>
          </a:xfrm>
          <a:prstGeom prst="rect">
            <a:avLst/>
          </a:prstGeom>
          <a:noFill/>
        </p:spPr>
        <p:txBody>
          <a:bodyPr wrap="square" anchor="t" lIns="0" rIns="0" tIns="0" bIns="0">
            <a:spAutoFit/>
          </a:bodyPr>
          <a:lstStyle/>
          <a:p>
            <a:pPr algn="l"/>
            <a:r>
              <a:rPr sz="1400" b="1">
                <a:solidFill>
                  <a:srgbClr val="F8FAFC"/>
                </a:solidFill>
                <a:latin typeface="Calibri"/>
              </a:rPr>
              <a:t>documents identified correctly</a:t>
            </a:r>
          </a:p>
        </p:txBody>
      </p:sp>
      <p:sp>
        <p:nvSpPr>
          <p:cNvPr id="13" name="TextBox 12"/>
          <p:cNvSpPr txBox="1"/>
          <p:nvPr/>
        </p:nvSpPr>
        <p:spPr>
          <a:xfrm>
            <a:off x="868680" y="2926080"/>
            <a:ext cx="3017520" cy="365760"/>
          </a:xfrm>
          <a:prstGeom prst="rect">
            <a:avLst/>
          </a:prstGeom>
          <a:noFill/>
        </p:spPr>
        <p:txBody>
          <a:bodyPr wrap="square" anchor="t" lIns="0" rIns="0" tIns="0" bIns="0">
            <a:spAutoFit/>
          </a:bodyPr>
          <a:lstStyle/>
          <a:p>
            <a:pPr algn="l"/>
            <a:r>
              <a:rPr sz="1100" b="0">
                <a:solidFill>
                  <a:srgbClr val="94A3B8"/>
                </a:solidFill>
                <a:latin typeface="Calibri"/>
              </a:rPr>
              <a:t>78 documents, 6 types</a:t>
            </a:r>
          </a:p>
        </p:txBody>
      </p:sp>
      <p:sp>
        <p:nvSpPr>
          <p:cNvPr id="14" name="Rounded Rectangle 13"/>
          <p:cNvSpPr/>
          <p:nvPr/>
        </p:nvSpPr>
        <p:spPr>
          <a:xfrm>
            <a:off x="4343400" y="1737360"/>
            <a:ext cx="3474720" cy="16459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0" y="1920240"/>
            <a:ext cx="3017520" cy="731520"/>
          </a:xfrm>
          <a:prstGeom prst="rect">
            <a:avLst/>
          </a:prstGeom>
          <a:noFill/>
        </p:spPr>
        <p:txBody>
          <a:bodyPr wrap="square" anchor="t" lIns="0" rIns="0" tIns="0" bIns="0">
            <a:spAutoFit/>
          </a:bodyPr>
          <a:lstStyle/>
          <a:p>
            <a:pPr algn="l"/>
            <a:r>
              <a:rPr sz="3400" b="1">
                <a:solidFill>
                  <a:srgbClr val="2DD4BF"/>
                </a:solidFill>
                <a:latin typeface="Calibri"/>
              </a:rPr>
              <a:t>100%</a:t>
            </a:r>
          </a:p>
        </p:txBody>
      </p:sp>
      <p:sp>
        <p:nvSpPr>
          <p:cNvPr id="16" name="TextBox 15"/>
          <p:cNvSpPr txBox="1"/>
          <p:nvPr/>
        </p:nvSpPr>
        <p:spPr>
          <a:xfrm>
            <a:off x="4572000" y="2606040"/>
            <a:ext cx="3017520" cy="457200"/>
          </a:xfrm>
          <a:prstGeom prst="rect">
            <a:avLst/>
          </a:prstGeom>
          <a:noFill/>
        </p:spPr>
        <p:txBody>
          <a:bodyPr wrap="square" anchor="t" lIns="0" rIns="0" tIns="0" bIns="0">
            <a:spAutoFit/>
          </a:bodyPr>
          <a:lstStyle/>
          <a:p>
            <a:pPr algn="l"/>
            <a:r>
              <a:rPr sz="1400" b="1">
                <a:solidFill>
                  <a:srgbClr val="F8FAFC"/>
                </a:solidFill>
                <a:latin typeface="Calibri"/>
              </a:rPr>
              <a:t>claim fields read correctly</a:t>
            </a:r>
          </a:p>
        </p:txBody>
      </p:sp>
      <p:sp>
        <p:nvSpPr>
          <p:cNvPr id="17" name="TextBox 16"/>
          <p:cNvSpPr txBox="1"/>
          <p:nvPr/>
        </p:nvSpPr>
        <p:spPr>
          <a:xfrm>
            <a:off x="4572000" y="2926080"/>
            <a:ext cx="3017520" cy="365760"/>
          </a:xfrm>
          <a:prstGeom prst="rect">
            <a:avLst/>
          </a:prstGeom>
          <a:noFill/>
        </p:spPr>
        <p:txBody>
          <a:bodyPr wrap="square" anchor="t" lIns="0" rIns="0" tIns="0" bIns="0">
            <a:spAutoFit/>
          </a:bodyPr>
          <a:lstStyle/>
          <a:p>
            <a:pPr algn="l"/>
            <a:r>
              <a:rPr sz="1100" b="0">
                <a:solidFill>
                  <a:srgbClr val="94A3B8"/>
                </a:solidFill>
                <a:latin typeface="Calibri"/>
              </a:rPr>
              <a:t>codes, amounts, provider</a:t>
            </a:r>
          </a:p>
        </p:txBody>
      </p:sp>
      <p:sp>
        <p:nvSpPr>
          <p:cNvPr id="18" name="Rounded Rectangle 17"/>
          <p:cNvSpPr/>
          <p:nvPr/>
        </p:nvSpPr>
        <p:spPr>
          <a:xfrm>
            <a:off x="8046719" y="1737360"/>
            <a:ext cx="3474720" cy="16459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19" y="1920240"/>
            <a:ext cx="3017520" cy="731520"/>
          </a:xfrm>
          <a:prstGeom prst="rect">
            <a:avLst/>
          </a:prstGeom>
          <a:noFill/>
        </p:spPr>
        <p:txBody>
          <a:bodyPr wrap="square" anchor="t" lIns="0" rIns="0" tIns="0" bIns="0">
            <a:spAutoFit/>
          </a:bodyPr>
          <a:lstStyle/>
          <a:p>
            <a:pPr algn="l"/>
            <a:r>
              <a:rPr sz="3400" b="1">
                <a:solidFill>
                  <a:srgbClr val="2DD4BF"/>
                </a:solidFill>
                <a:latin typeface="Calibri"/>
              </a:rPr>
              <a:t>100%</a:t>
            </a:r>
          </a:p>
        </p:txBody>
      </p:sp>
      <p:sp>
        <p:nvSpPr>
          <p:cNvPr id="20" name="TextBox 19"/>
          <p:cNvSpPr txBox="1"/>
          <p:nvPr/>
        </p:nvSpPr>
        <p:spPr>
          <a:xfrm>
            <a:off x="8275319" y="2606040"/>
            <a:ext cx="3017520" cy="457200"/>
          </a:xfrm>
          <a:prstGeom prst="rect">
            <a:avLst/>
          </a:prstGeom>
          <a:noFill/>
        </p:spPr>
        <p:txBody>
          <a:bodyPr wrap="square" anchor="t" lIns="0" rIns="0" tIns="0" bIns="0">
            <a:spAutoFit/>
          </a:bodyPr>
          <a:lstStyle/>
          <a:p>
            <a:pPr algn="l"/>
            <a:r>
              <a:rPr sz="1400" b="1">
                <a:solidFill>
                  <a:srgbClr val="F8FAFC"/>
                </a:solidFill>
                <a:latin typeface="Calibri"/>
              </a:rPr>
              <a:t>right policy clause found</a:t>
            </a:r>
          </a:p>
        </p:txBody>
      </p:sp>
      <p:sp>
        <p:nvSpPr>
          <p:cNvPr id="21" name="TextBox 20"/>
          <p:cNvSpPr txBox="1"/>
          <p:nvPr/>
        </p:nvSpPr>
        <p:spPr>
          <a:xfrm>
            <a:off x="8275319" y="2926080"/>
            <a:ext cx="3017520" cy="365760"/>
          </a:xfrm>
          <a:prstGeom prst="rect">
            <a:avLst/>
          </a:prstGeom>
          <a:noFill/>
        </p:spPr>
        <p:txBody>
          <a:bodyPr wrap="square" anchor="t" lIns="0" rIns="0" tIns="0" bIns="0">
            <a:spAutoFit/>
          </a:bodyPr>
          <a:lstStyle/>
          <a:p>
            <a:pPr algn="l"/>
            <a:r>
              <a:rPr sz="1100" b="0">
                <a:solidFill>
                  <a:srgbClr val="94A3B8"/>
                </a:solidFill>
                <a:latin typeface="Calibri"/>
              </a:rPr>
              <a:t>with the page number</a:t>
            </a:r>
          </a:p>
        </p:txBody>
      </p:sp>
      <p:sp>
        <p:nvSpPr>
          <p:cNvPr id="22" name="Rounded Rectangle 21"/>
          <p:cNvSpPr/>
          <p:nvPr/>
        </p:nvSpPr>
        <p:spPr>
          <a:xfrm>
            <a:off x="640080" y="3566160"/>
            <a:ext cx="3474720" cy="16459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749040"/>
            <a:ext cx="3017520" cy="731520"/>
          </a:xfrm>
          <a:prstGeom prst="rect">
            <a:avLst/>
          </a:prstGeom>
          <a:noFill/>
        </p:spPr>
        <p:txBody>
          <a:bodyPr wrap="square" anchor="t" lIns="0" rIns="0" tIns="0" bIns="0">
            <a:spAutoFit/>
          </a:bodyPr>
          <a:lstStyle/>
          <a:p>
            <a:pPr algn="l"/>
            <a:r>
              <a:rPr sz="3400" b="1">
                <a:solidFill>
                  <a:srgbClr val="2DD4BF"/>
                </a:solidFill>
                <a:latin typeface="Calibri"/>
              </a:rPr>
              <a:t>100%</a:t>
            </a:r>
          </a:p>
        </p:txBody>
      </p:sp>
      <p:sp>
        <p:nvSpPr>
          <p:cNvPr id="24" name="TextBox 23"/>
          <p:cNvSpPr txBox="1"/>
          <p:nvPr/>
        </p:nvSpPr>
        <p:spPr>
          <a:xfrm>
            <a:off x="868680" y="4434840"/>
            <a:ext cx="3017520" cy="457200"/>
          </a:xfrm>
          <a:prstGeom prst="rect">
            <a:avLst/>
          </a:prstGeom>
          <a:noFill/>
        </p:spPr>
        <p:txBody>
          <a:bodyPr wrap="square" anchor="t" lIns="0" rIns="0" tIns="0" bIns="0">
            <a:spAutoFit/>
          </a:bodyPr>
          <a:lstStyle/>
          <a:p>
            <a:pPr algn="l"/>
            <a:r>
              <a:rPr sz="1400" b="1">
                <a:solidFill>
                  <a:srgbClr val="F8FAFC"/>
                </a:solidFill>
                <a:latin typeface="Calibri"/>
              </a:rPr>
              <a:t>decisions correct</a:t>
            </a:r>
          </a:p>
        </p:txBody>
      </p:sp>
      <p:sp>
        <p:nvSpPr>
          <p:cNvPr id="25" name="TextBox 24"/>
          <p:cNvSpPr txBox="1"/>
          <p:nvPr/>
        </p:nvSpPr>
        <p:spPr>
          <a:xfrm>
            <a:off x="868680" y="4754880"/>
            <a:ext cx="3017520" cy="365760"/>
          </a:xfrm>
          <a:prstGeom prst="rect">
            <a:avLst/>
          </a:prstGeom>
          <a:noFill/>
        </p:spPr>
        <p:txBody>
          <a:bodyPr wrap="square" anchor="t" lIns="0" rIns="0" tIns="0" bIns="0">
            <a:spAutoFit/>
          </a:bodyPr>
          <a:lstStyle/>
          <a:p>
            <a:pPr algn="l"/>
            <a:r>
              <a:rPr sz="1100" b="0">
                <a:solidFill>
                  <a:srgbClr val="94A3B8"/>
                </a:solidFill>
                <a:latin typeface="Calibri"/>
              </a:rPr>
              <a:t>96.2% counting labels not drawn on the page*</a:t>
            </a:r>
          </a:p>
        </p:txBody>
      </p:sp>
      <p:sp>
        <p:nvSpPr>
          <p:cNvPr id="26" name="Rounded Rectangle 25"/>
          <p:cNvSpPr/>
          <p:nvPr/>
        </p:nvSpPr>
        <p:spPr>
          <a:xfrm>
            <a:off x="4343400" y="3566160"/>
            <a:ext cx="3474720" cy="16459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3749040"/>
            <a:ext cx="3017520" cy="731520"/>
          </a:xfrm>
          <a:prstGeom prst="rect">
            <a:avLst/>
          </a:prstGeom>
          <a:noFill/>
        </p:spPr>
        <p:txBody>
          <a:bodyPr wrap="square" anchor="t" lIns="0" rIns="0" tIns="0" bIns="0">
            <a:spAutoFit/>
          </a:bodyPr>
          <a:lstStyle/>
          <a:p>
            <a:pPr algn="l"/>
            <a:r>
              <a:rPr sz="3400" b="1">
                <a:solidFill>
                  <a:srgbClr val="2DD4BF"/>
                </a:solidFill>
                <a:latin typeface="Calibri"/>
              </a:rPr>
              <a:t>$0.08</a:t>
            </a:r>
          </a:p>
        </p:txBody>
      </p:sp>
      <p:sp>
        <p:nvSpPr>
          <p:cNvPr id="28" name="TextBox 27"/>
          <p:cNvSpPr txBox="1"/>
          <p:nvPr/>
        </p:nvSpPr>
        <p:spPr>
          <a:xfrm>
            <a:off x="4572000" y="4434840"/>
            <a:ext cx="3017520" cy="457200"/>
          </a:xfrm>
          <a:prstGeom prst="rect">
            <a:avLst/>
          </a:prstGeom>
          <a:noFill/>
        </p:spPr>
        <p:txBody>
          <a:bodyPr wrap="square" anchor="t" lIns="0" rIns="0" tIns="0" bIns="0">
            <a:spAutoFit/>
          </a:bodyPr>
          <a:lstStyle/>
          <a:p>
            <a:pPr algn="l"/>
            <a:r>
              <a:rPr sz="1400" b="1">
                <a:solidFill>
                  <a:srgbClr val="F8FAFC"/>
                </a:solidFill>
                <a:latin typeface="Calibri"/>
              </a:rPr>
              <a:t>per claim in AI cost</a:t>
            </a:r>
          </a:p>
        </p:txBody>
      </p:sp>
      <p:sp>
        <p:nvSpPr>
          <p:cNvPr id="29" name="TextBox 28"/>
          <p:cNvSpPr txBox="1"/>
          <p:nvPr/>
        </p:nvSpPr>
        <p:spPr>
          <a:xfrm>
            <a:off x="4572000" y="4754880"/>
            <a:ext cx="3017520" cy="365760"/>
          </a:xfrm>
          <a:prstGeom prst="rect">
            <a:avLst/>
          </a:prstGeom>
          <a:noFill/>
        </p:spPr>
        <p:txBody>
          <a:bodyPr wrap="square" anchor="t" lIns="0" rIns="0" tIns="0" bIns="0">
            <a:spAutoFit/>
          </a:bodyPr>
          <a:lstStyle/>
          <a:p>
            <a:pPr algn="l"/>
            <a:r>
              <a:rPr sz="1100" b="0">
                <a:solidFill>
                  <a:srgbClr val="94A3B8"/>
                </a:solidFill>
                <a:latin typeface="Calibri"/>
              </a:rPr>
              <a:t>vs ≈ $18 per document by hand</a:t>
            </a:r>
          </a:p>
        </p:txBody>
      </p:sp>
      <p:sp>
        <p:nvSpPr>
          <p:cNvPr id="30" name="Rounded Rectangle 29"/>
          <p:cNvSpPr/>
          <p:nvPr/>
        </p:nvSpPr>
        <p:spPr>
          <a:xfrm>
            <a:off x="8046719" y="3566160"/>
            <a:ext cx="3474720" cy="164592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319" y="3749040"/>
            <a:ext cx="3017520" cy="731520"/>
          </a:xfrm>
          <a:prstGeom prst="rect">
            <a:avLst/>
          </a:prstGeom>
          <a:noFill/>
        </p:spPr>
        <p:txBody>
          <a:bodyPr wrap="square" anchor="t" lIns="0" rIns="0" tIns="0" bIns="0">
            <a:spAutoFit/>
          </a:bodyPr>
          <a:lstStyle/>
          <a:p>
            <a:pPr algn="l"/>
            <a:r>
              <a:rPr sz="3400" b="1">
                <a:solidFill>
                  <a:srgbClr val="2DD4BF"/>
                </a:solidFill>
                <a:latin typeface="Calibri"/>
              </a:rPr>
              <a:t>≈ 1 min</a:t>
            </a:r>
          </a:p>
        </p:txBody>
      </p:sp>
      <p:sp>
        <p:nvSpPr>
          <p:cNvPr id="32" name="TextBox 31"/>
          <p:cNvSpPr txBox="1"/>
          <p:nvPr/>
        </p:nvSpPr>
        <p:spPr>
          <a:xfrm>
            <a:off x="8275319" y="4434840"/>
            <a:ext cx="3017520" cy="457200"/>
          </a:xfrm>
          <a:prstGeom prst="rect">
            <a:avLst/>
          </a:prstGeom>
          <a:noFill/>
        </p:spPr>
        <p:txBody>
          <a:bodyPr wrap="square" anchor="t" lIns="0" rIns="0" tIns="0" bIns="0">
            <a:spAutoFit/>
          </a:bodyPr>
          <a:lstStyle/>
          <a:p>
            <a:pPr algn="l"/>
            <a:r>
              <a:rPr sz="1400" b="1">
                <a:solidFill>
                  <a:srgbClr val="F8FAFC"/>
                </a:solidFill>
                <a:latin typeface="Calibri"/>
              </a:rPr>
              <a:t>per claim, live on AWS</a:t>
            </a:r>
          </a:p>
        </p:txBody>
      </p:sp>
      <p:sp>
        <p:nvSpPr>
          <p:cNvPr id="33" name="TextBox 32"/>
          <p:cNvSpPr txBox="1"/>
          <p:nvPr/>
        </p:nvSpPr>
        <p:spPr>
          <a:xfrm>
            <a:off x="8275319" y="4754880"/>
            <a:ext cx="3017520" cy="365760"/>
          </a:xfrm>
          <a:prstGeom prst="rect">
            <a:avLst/>
          </a:prstGeom>
          <a:noFill/>
        </p:spPr>
        <p:txBody>
          <a:bodyPr wrap="square" anchor="t" lIns="0" rIns="0" tIns="0" bIns="0">
            <a:spAutoFit/>
          </a:bodyPr>
          <a:lstStyle/>
          <a:p>
            <a:pPr algn="l"/>
            <a:r>
              <a:rPr sz="1100" b="0">
                <a:solidFill>
                  <a:srgbClr val="94A3B8"/>
                </a:solidFill>
                <a:latin typeface="Calibri"/>
              </a:rPr>
              <a:t>today: 4.2 days</a:t>
            </a:r>
          </a:p>
        </p:txBody>
      </p:sp>
      <p:sp>
        <p:nvSpPr>
          <p:cNvPr id="34" name="Rounded Rectangle 33"/>
          <p:cNvSpPr/>
          <p:nvPr/>
        </p:nvSpPr>
        <p:spPr>
          <a:xfrm>
            <a:off x="640080" y="5440680"/>
            <a:ext cx="10881360" cy="658368"/>
          </a:xfrm>
          <a:prstGeom prst="roundRect">
            <a:avLst>
              <a:gd name="adj" fmla="val 8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4400" y="5559552"/>
            <a:ext cx="10424160" cy="457200"/>
          </a:xfrm>
          <a:prstGeom prst="rect">
            <a:avLst/>
          </a:prstGeom>
          <a:noFill/>
        </p:spPr>
        <p:txBody>
          <a:bodyPr wrap="square" anchor="t" lIns="0" rIns="0" tIns="0" bIns="0">
            <a:spAutoFit/>
          </a:bodyPr>
          <a:lstStyle/>
          <a:p>
            <a:pPr algn="l"/>
            <a:r>
              <a:rPr sz="1500" b="0">
                <a:solidFill>
                  <a:srgbClr val="F8FAFC"/>
                </a:solidFill>
                <a:latin typeface="Calibri"/>
              </a:rPr>
              <a:t>Spanish and Hindi: 80 documents, 100% identified correctly, 95%–100% decided correctly.   Whole claims (all five documents): 88.2% correct.</a:t>
            </a:r>
          </a:p>
        </p:txBody>
      </p:sp>
      <p:sp>
        <p:nvSpPr>
          <p:cNvPr id="36" name="TextBox 35"/>
          <p:cNvSpPr txBox="1"/>
          <p:nvPr/>
        </p:nvSpPr>
        <p:spPr>
          <a:xfrm>
            <a:off x="640080" y="6144768"/>
            <a:ext cx="10881360" cy="274320"/>
          </a:xfrm>
          <a:prstGeom prst="rect">
            <a:avLst/>
          </a:prstGeom>
          <a:noFill/>
        </p:spPr>
        <p:txBody>
          <a:bodyPr wrap="square" anchor="t" lIns="0" rIns="0" tIns="0" bIns="0">
            <a:spAutoFit/>
          </a:bodyPr>
          <a:lstStyle/>
          <a:p>
            <a:pPr algn="l"/>
            <a:r>
              <a:rPr sz="1100" b="0">
                <a:solidFill>
                  <a:srgbClr val="94A3B8"/>
                </a:solidFill>
                <a:latin typeface="Calibri"/>
              </a:rPr>
              <a:t>* Measured on a labelled test set the system never saw during development. The pilot confirms this on real scans.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IS IT SAFE?</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Safety was built in, not bolted on</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6</a:t>
            </a:r>
          </a:p>
        </p:txBody>
      </p:sp>
      <p:sp>
        <p:nvSpPr>
          <p:cNvPr id="10" name="Rounded Rectangle 9"/>
          <p:cNvSpPr/>
          <p:nvPr/>
        </p:nvSpPr>
        <p:spPr>
          <a:xfrm>
            <a:off x="640080" y="1783080"/>
            <a:ext cx="347472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011680"/>
            <a:ext cx="3017520" cy="457200"/>
          </a:xfrm>
          <a:prstGeom prst="rect">
            <a:avLst/>
          </a:prstGeom>
          <a:noFill/>
        </p:spPr>
        <p:txBody>
          <a:bodyPr wrap="square" anchor="t" lIns="0" rIns="0" tIns="0" bIns="0">
            <a:spAutoFit/>
          </a:bodyPr>
          <a:lstStyle/>
          <a:p>
            <a:pPr algn="l"/>
            <a:r>
              <a:rPr sz="1600" b="1">
                <a:solidFill>
                  <a:srgbClr val="F8FAFC"/>
                </a:solidFill>
                <a:latin typeface="Calibri"/>
              </a:rPr>
              <a:t>Each role sees only its data</a:t>
            </a:r>
          </a:p>
        </p:txBody>
      </p:sp>
      <p:sp>
        <p:nvSpPr>
          <p:cNvPr id="13" name="TextBox 12"/>
          <p:cNvSpPr txBox="1"/>
          <p:nvPr/>
        </p:nvSpPr>
        <p:spPr>
          <a:xfrm>
            <a:off x="914400" y="2514600"/>
            <a:ext cx="3017520" cy="1051559"/>
          </a:xfrm>
          <a:prstGeom prst="rect">
            <a:avLst/>
          </a:prstGeom>
          <a:noFill/>
        </p:spPr>
        <p:txBody>
          <a:bodyPr wrap="square" anchor="t" lIns="0" rIns="0" tIns="0" bIns="0">
            <a:spAutoFit/>
          </a:bodyPr>
          <a:lstStyle/>
          <a:p>
            <a:pPr algn="l"/>
            <a:r>
              <a:rPr sz="1400" b="0">
                <a:solidFill>
                  <a:srgbClr val="CBD5E1"/>
                </a:solidFill>
                <a:latin typeface="Calibri"/>
              </a:rPr>
              <a:t>Enforced where data is read, not just hidden on screen. The assistant too.</a:t>
            </a:r>
          </a:p>
        </p:txBody>
      </p:sp>
      <p:sp>
        <p:nvSpPr>
          <p:cNvPr id="14" name="Rounded Rectangle 13"/>
          <p:cNvSpPr/>
          <p:nvPr/>
        </p:nvSpPr>
        <p:spPr>
          <a:xfrm>
            <a:off x="4343400" y="1783080"/>
            <a:ext cx="347472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011680"/>
            <a:ext cx="3017520" cy="457200"/>
          </a:xfrm>
          <a:prstGeom prst="rect">
            <a:avLst/>
          </a:prstGeom>
          <a:noFill/>
        </p:spPr>
        <p:txBody>
          <a:bodyPr wrap="square" anchor="t" lIns="0" rIns="0" tIns="0" bIns="0">
            <a:spAutoFit/>
          </a:bodyPr>
          <a:lstStyle/>
          <a:p>
            <a:pPr algn="l"/>
            <a:r>
              <a:rPr sz="1600" b="1">
                <a:solidFill>
                  <a:srgbClr val="F8FAFC"/>
                </a:solidFill>
                <a:latin typeface="Calibri"/>
              </a:rPr>
              <a:t>Two signatures over $10,000</a:t>
            </a:r>
          </a:p>
        </p:txBody>
      </p:sp>
      <p:sp>
        <p:nvSpPr>
          <p:cNvPr id="17" name="TextBox 16"/>
          <p:cNvSpPr txBox="1"/>
          <p:nvPr/>
        </p:nvSpPr>
        <p:spPr>
          <a:xfrm>
            <a:off x="4617720" y="2514600"/>
            <a:ext cx="3017520" cy="1051559"/>
          </a:xfrm>
          <a:prstGeom prst="rect">
            <a:avLst/>
          </a:prstGeom>
          <a:noFill/>
        </p:spPr>
        <p:txBody>
          <a:bodyPr wrap="square" anchor="t" lIns="0" rIns="0" tIns="0" bIns="0">
            <a:spAutoFit/>
          </a:bodyPr>
          <a:lstStyle/>
          <a:p>
            <a:pPr algn="l"/>
            <a:r>
              <a:rPr sz="1400" b="0">
                <a:solidFill>
                  <a:srgbClr val="CBD5E1"/>
                </a:solidFill>
                <a:latin typeface="Calibri"/>
              </a:rPr>
              <a:t>Over $10,000 a senior reviewer must approve. Nobody approves their own request.</a:t>
            </a:r>
          </a:p>
        </p:txBody>
      </p:sp>
      <p:sp>
        <p:nvSpPr>
          <p:cNvPr id="18" name="Rounded Rectangle 17"/>
          <p:cNvSpPr/>
          <p:nvPr/>
        </p:nvSpPr>
        <p:spPr>
          <a:xfrm>
            <a:off x="8046719" y="1783080"/>
            <a:ext cx="347472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19"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39" y="2011680"/>
            <a:ext cx="3017520" cy="457200"/>
          </a:xfrm>
          <a:prstGeom prst="rect">
            <a:avLst/>
          </a:prstGeom>
          <a:noFill/>
        </p:spPr>
        <p:txBody>
          <a:bodyPr wrap="square" anchor="t" lIns="0" rIns="0" tIns="0" bIns="0">
            <a:spAutoFit/>
          </a:bodyPr>
          <a:lstStyle/>
          <a:p>
            <a:pPr algn="l"/>
            <a:r>
              <a:rPr sz="1600" b="1">
                <a:solidFill>
                  <a:srgbClr val="F8FAFC"/>
                </a:solidFill>
                <a:latin typeface="Calibri"/>
              </a:rPr>
              <a:t>A tamper-proof logbook</a:t>
            </a:r>
          </a:p>
        </p:txBody>
      </p:sp>
      <p:sp>
        <p:nvSpPr>
          <p:cNvPr id="21" name="TextBox 20"/>
          <p:cNvSpPr txBox="1"/>
          <p:nvPr/>
        </p:nvSpPr>
        <p:spPr>
          <a:xfrm>
            <a:off x="8321039" y="2514600"/>
            <a:ext cx="3017520" cy="1051559"/>
          </a:xfrm>
          <a:prstGeom prst="rect">
            <a:avLst/>
          </a:prstGeom>
          <a:noFill/>
        </p:spPr>
        <p:txBody>
          <a:bodyPr wrap="square" anchor="t" lIns="0" rIns="0" tIns="0" bIns="0">
            <a:spAutoFit/>
          </a:bodyPr>
          <a:lstStyle/>
          <a:p>
            <a:pPr algn="l"/>
            <a:r>
              <a:rPr sz="1400" b="0">
                <a:solidFill>
                  <a:srgbClr val="CBD5E1"/>
                </a:solidFill>
                <a:latin typeface="Calibri"/>
              </a:rPr>
              <a:t>Every login, view, decision and override is chained; an edit or deletion shows.</a:t>
            </a:r>
          </a:p>
        </p:txBody>
      </p:sp>
      <p:sp>
        <p:nvSpPr>
          <p:cNvPr id="22" name="Rounded Rectangle 21"/>
          <p:cNvSpPr/>
          <p:nvPr/>
        </p:nvSpPr>
        <p:spPr>
          <a:xfrm>
            <a:off x="640080" y="3886200"/>
            <a:ext cx="347472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114800"/>
            <a:ext cx="3017520" cy="457200"/>
          </a:xfrm>
          <a:prstGeom prst="rect">
            <a:avLst/>
          </a:prstGeom>
          <a:noFill/>
        </p:spPr>
        <p:txBody>
          <a:bodyPr wrap="square" anchor="t" lIns="0" rIns="0" tIns="0" bIns="0">
            <a:spAutoFit/>
          </a:bodyPr>
          <a:lstStyle/>
          <a:p>
            <a:pPr algn="l"/>
            <a:r>
              <a:rPr sz="1600" b="1">
                <a:solidFill>
                  <a:srgbClr val="F8FAFC"/>
                </a:solidFill>
                <a:latin typeface="Calibri"/>
              </a:rPr>
              <a:t>Hidden instructions fail</a:t>
            </a:r>
          </a:p>
        </p:txBody>
      </p:sp>
      <p:sp>
        <p:nvSpPr>
          <p:cNvPr id="25" name="TextBox 24"/>
          <p:cNvSpPr txBox="1"/>
          <p:nvPr/>
        </p:nvSpPr>
        <p:spPr>
          <a:xfrm>
            <a:off x="914400" y="4617720"/>
            <a:ext cx="3017520" cy="1051559"/>
          </a:xfrm>
          <a:prstGeom prst="rect">
            <a:avLst/>
          </a:prstGeom>
          <a:noFill/>
        </p:spPr>
        <p:txBody>
          <a:bodyPr wrap="square" anchor="t" lIns="0" rIns="0" tIns="0" bIns="0">
            <a:spAutoFit/>
          </a:bodyPr>
          <a:lstStyle/>
          <a:p>
            <a:pPr algn="l"/>
            <a:r>
              <a:rPr sz="1400" b="0">
                <a:solidFill>
                  <a:srgbClr val="CBD5E1"/>
                </a:solidFill>
                <a:latin typeface="Calibri"/>
              </a:rPr>
              <a:t>7 attack documents hid 'approve this' instructions. Decisions changed: 0.</a:t>
            </a:r>
          </a:p>
        </p:txBody>
      </p:sp>
      <p:sp>
        <p:nvSpPr>
          <p:cNvPr id="26" name="Rounded Rectangle 25"/>
          <p:cNvSpPr/>
          <p:nvPr/>
        </p:nvSpPr>
        <p:spPr>
          <a:xfrm>
            <a:off x="4343400" y="3886200"/>
            <a:ext cx="347472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43400"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4114800"/>
            <a:ext cx="3017520" cy="457200"/>
          </a:xfrm>
          <a:prstGeom prst="rect">
            <a:avLst/>
          </a:prstGeom>
          <a:noFill/>
        </p:spPr>
        <p:txBody>
          <a:bodyPr wrap="square" anchor="t" lIns="0" rIns="0" tIns="0" bIns="0">
            <a:spAutoFit/>
          </a:bodyPr>
          <a:lstStyle/>
          <a:p>
            <a:pPr algn="l"/>
            <a:r>
              <a:rPr sz="1600" b="1">
                <a:solidFill>
                  <a:srgbClr val="F8FAFC"/>
                </a:solidFill>
                <a:latin typeface="Calibri"/>
              </a:rPr>
              <a:t>A second AI checks the first</a:t>
            </a:r>
          </a:p>
        </p:txBody>
      </p:sp>
      <p:sp>
        <p:nvSpPr>
          <p:cNvPr id="29" name="TextBox 28"/>
          <p:cNvSpPr txBox="1"/>
          <p:nvPr/>
        </p:nvSpPr>
        <p:spPr>
          <a:xfrm>
            <a:off x="4617720" y="4617720"/>
            <a:ext cx="3017520" cy="1051559"/>
          </a:xfrm>
          <a:prstGeom prst="rect">
            <a:avLst/>
          </a:prstGeom>
          <a:noFill/>
        </p:spPr>
        <p:txBody>
          <a:bodyPr wrap="square" anchor="t" lIns="0" rIns="0" tIns="0" bIns="0">
            <a:spAutoFit/>
          </a:bodyPr>
          <a:lstStyle/>
          <a:p>
            <a:pPr algn="l"/>
            <a:r>
              <a:rPr sz="1400" b="0">
                <a:solidFill>
                  <a:srgbClr val="CBD5E1"/>
                </a:solidFill>
                <a:latin typeface="Calibri"/>
              </a:rPr>
              <a:t>A second model grades every assistant answer; it caught 3 of 3 planted wrong answers.</a:t>
            </a:r>
          </a:p>
        </p:txBody>
      </p:sp>
      <p:sp>
        <p:nvSpPr>
          <p:cNvPr id="30" name="Rounded Rectangle 29"/>
          <p:cNvSpPr/>
          <p:nvPr/>
        </p:nvSpPr>
        <p:spPr>
          <a:xfrm>
            <a:off x="8046719" y="3886200"/>
            <a:ext cx="347472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6719"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39" y="4114800"/>
            <a:ext cx="3017520" cy="457200"/>
          </a:xfrm>
          <a:prstGeom prst="rect">
            <a:avLst/>
          </a:prstGeom>
          <a:noFill/>
        </p:spPr>
        <p:txBody>
          <a:bodyPr wrap="square" anchor="t" lIns="0" rIns="0" tIns="0" bIns="0">
            <a:spAutoFit/>
          </a:bodyPr>
          <a:lstStyle/>
          <a:p>
            <a:pPr algn="l"/>
            <a:r>
              <a:rPr sz="1600" b="1">
                <a:solidFill>
                  <a:srgbClr val="F8FAFC"/>
                </a:solidFill>
                <a:latin typeface="Calibri"/>
              </a:rPr>
              <a:t>Capped spend, private data</a:t>
            </a:r>
          </a:p>
        </p:txBody>
      </p:sp>
      <p:sp>
        <p:nvSpPr>
          <p:cNvPr id="33" name="TextBox 32"/>
          <p:cNvSpPr txBox="1"/>
          <p:nvPr/>
        </p:nvSpPr>
        <p:spPr>
          <a:xfrm>
            <a:off x="8321039" y="4617720"/>
            <a:ext cx="3017520" cy="1051559"/>
          </a:xfrm>
          <a:prstGeom prst="rect">
            <a:avLst/>
          </a:prstGeom>
          <a:noFill/>
        </p:spPr>
        <p:txBody>
          <a:bodyPr wrap="square" anchor="t" lIns="0" rIns="0" tIns="0" bIns="0">
            <a:spAutoFit/>
          </a:bodyPr>
          <a:lstStyle/>
          <a:p>
            <a:pPr algn="l"/>
            <a:r>
              <a:rPr sz="1400" b="0">
                <a:solidFill>
                  <a:srgbClr val="CBD5E1"/>
                </a:solidFill>
                <a:latin typeface="Calibri"/>
              </a:rPr>
              <a:t>AI spending is capped in code. Patient details are removed from logs and traces.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WHAT'S NEXT</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Earn trust in three stages</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7</a:t>
            </a:r>
          </a:p>
        </p:txBody>
      </p:sp>
      <p:sp>
        <p:nvSpPr>
          <p:cNvPr id="10" name="Rounded Rectangle 9"/>
          <p:cNvSpPr/>
          <p:nvPr/>
        </p:nvSpPr>
        <p:spPr>
          <a:xfrm>
            <a:off x="640080" y="1783080"/>
            <a:ext cx="3474720" cy="228600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965960"/>
            <a:ext cx="2926080" cy="411480"/>
          </a:xfrm>
          <a:prstGeom prst="rect">
            <a:avLst/>
          </a:prstGeom>
          <a:noFill/>
        </p:spPr>
        <p:txBody>
          <a:bodyPr wrap="square" anchor="t" lIns="0" rIns="0" tIns="0" bIns="0">
            <a:spAutoFit/>
          </a:bodyPr>
          <a:lstStyle/>
          <a:p>
            <a:pPr algn="l"/>
            <a:r>
              <a:rPr sz="2000" b="1">
                <a:solidFill>
                  <a:srgbClr val="2DD4BF"/>
                </a:solidFill>
                <a:latin typeface="Calibri"/>
              </a:rPr>
              <a:t>1 · Shadow pilot</a:t>
            </a:r>
          </a:p>
        </p:txBody>
      </p:sp>
      <p:sp>
        <p:nvSpPr>
          <p:cNvPr id="12" name="TextBox 11"/>
          <p:cNvSpPr txBox="1"/>
          <p:nvPr/>
        </p:nvSpPr>
        <p:spPr>
          <a:xfrm>
            <a:off x="914400" y="2468880"/>
            <a:ext cx="2926080" cy="914400"/>
          </a:xfrm>
          <a:prstGeom prst="rect">
            <a:avLst/>
          </a:prstGeom>
          <a:noFill/>
        </p:spPr>
        <p:txBody>
          <a:bodyPr wrap="square" anchor="t" lIns="0" rIns="0" tIns="0" bIns="0">
            <a:spAutoFit/>
          </a:bodyPr>
          <a:lstStyle/>
          <a:p>
            <a:pPr algn="l"/>
            <a:r>
              <a:rPr sz="1500" b="0">
                <a:solidFill>
                  <a:srgbClr val="CBD5E1"/>
                </a:solidFill>
                <a:latin typeface="Calibri"/>
              </a:rPr>
              <a:t>Runs beside one team on real scans. Its decisions are compared, never used.</a:t>
            </a:r>
          </a:p>
        </p:txBody>
      </p:sp>
      <p:sp>
        <p:nvSpPr>
          <p:cNvPr id="13" name="TextBox 12"/>
          <p:cNvSpPr txBox="1"/>
          <p:nvPr/>
        </p:nvSpPr>
        <p:spPr>
          <a:xfrm>
            <a:off x="914400" y="3429000"/>
            <a:ext cx="2926080" cy="548640"/>
          </a:xfrm>
          <a:prstGeom prst="rect">
            <a:avLst/>
          </a:prstGeom>
          <a:noFill/>
        </p:spPr>
        <p:txBody>
          <a:bodyPr wrap="square" anchor="t" lIns="0" rIns="0" tIns="0" bIns="0">
            <a:spAutoFit/>
          </a:bodyPr>
          <a:lstStyle/>
          <a:p>
            <a:pPr algn="l"/>
            <a:r>
              <a:rPr sz="1300" b="1">
                <a:solidFill>
                  <a:srgbClr val="4ADE80"/>
                </a:solidFill>
                <a:latin typeface="Calibri"/>
              </a:rPr>
              <a:t>Move on at ≥ 95% agreement with reviewers</a:t>
            </a:r>
          </a:p>
        </p:txBody>
      </p:sp>
      <p:sp>
        <p:nvSpPr>
          <p:cNvPr id="14" name="Rounded Rectangle 13"/>
          <p:cNvSpPr/>
          <p:nvPr/>
        </p:nvSpPr>
        <p:spPr>
          <a:xfrm>
            <a:off x="4343400" y="1783080"/>
            <a:ext cx="3474720" cy="228600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17720" y="1965960"/>
            <a:ext cx="2926080" cy="411480"/>
          </a:xfrm>
          <a:prstGeom prst="rect">
            <a:avLst/>
          </a:prstGeom>
          <a:noFill/>
        </p:spPr>
        <p:txBody>
          <a:bodyPr wrap="square" anchor="t" lIns="0" rIns="0" tIns="0" bIns="0">
            <a:spAutoFit/>
          </a:bodyPr>
          <a:lstStyle/>
          <a:p>
            <a:pPr algn="l"/>
            <a:r>
              <a:rPr sz="2000" b="1">
                <a:solidFill>
                  <a:srgbClr val="2DD4BF"/>
                </a:solidFill>
                <a:latin typeface="Calibri"/>
              </a:rPr>
              <a:t>2 · Assisted</a:t>
            </a:r>
          </a:p>
        </p:txBody>
      </p:sp>
      <p:sp>
        <p:nvSpPr>
          <p:cNvPr id="16" name="TextBox 15"/>
          <p:cNvSpPr txBox="1"/>
          <p:nvPr/>
        </p:nvSpPr>
        <p:spPr>
          <a:xfrm>
            <a:off x="4617720" y="2468880"/>
            <a:ext cx="2926080" cy="914400"/>
          </a:xfrm>
          <a:prstGeom prst="rect">
            <a:avLst/>
          </a:prstGeom>
          <a:noFill/>
        </p:spPr>
        <p:txBody>
          <a:bodyPr wrap="square" anchor="t" lIns="0" rIns="0" tIns="0" bIns="0">
            <a:spAutoFit/>
          </a:bodyPr>
          <a:lstStyle/>
          <a:p>
            <a:pPr algn="l"/>
            <a:r>
              <a:rPr sz="1500" b="0">
                <a:solidFill>
                  <a:srgbClr val="CBD5E1"/>
                </a:solidFill>
                <a:latin typeface="Calibri"/>
              </a:rPr>
              <a:t>The system recommends; a person confirms every decision.</a:t>
            </a:r>
          </a:p>
        </p:txBody>
      </p:sp>
      <p:sp>
        <p:nvSpPr>
          <p:cNvPr id="17" name="TextBox 16"/>
          <p:cNvSpPr txBox="1"/>
          <p:nvPr/>
        </p:nvSpPr>
        <p:spPr>
          <a:xfrm>
            <a:off x="4617720" y="3429000"/>
            <a:ext cx="2926080" cy="548640"/>
          </a:xfrm>
          <a:prstGeom prst="rect">
            <a:avLst/>
          </a:prstGeom>
          <a:noFill/>
        </p:spPr>
        <p:txBody>
          <a:bodyPr wrap="square" anchor="t" lIns="0" rIns="0" tIns="0" bIns="0">
            <a:spAutoFit/>
          </a:bodyPr>
          <a:lstStyle/>
          <a:p>
            <a:pPr algn="l"/>
            <a:r>
              <a:rPr sz="1300" b="1">
                <a:solidFill>
                  <a:srgbClr val="4ADE80"/>
                </a:solidFill>
                <a:latin typeface="Calibri"/>
              </a:rPr>
              <a:t>Move on when overrides fall below 5%</a:t>
            </a:r>
          </a:p>
        </p:txBody>
      </p:sp>
      <p:sp>
        <p:nvSpPr>
          <p:cNvPr id="18" name="Rounded Rectangle 17"/>
          <p:cNvSpPr/>
          <p:nvPr/>
        </p:nvSpPr>
        <p:spPr>
          <a:xfrm>
            <a:off x="8046719" y="1783080"/>
            <a:ext cx="3474720" cy="228600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39" y="1965960"/>
            <a:ext cx="2926080" cy="411480"/>
          </a:xfrm>
          <a:prstGeom prst="rect">
            <a:avLst/>
          </a:prstGeom>
          <a:noFill/>
        </p:spPr>
        <p:txBody>
          <a:bodyPr wrap="square" anchor="t" lIns="0" rIns="0" tIns="0" bIns="0">
            <a:spAutoFit/>
          </a:bodyPr>
          <a:lstStyle/>
          <a:p>
            <a:pPr algn="l"/>
            <a:r>
              <a:rPr sz="2000" b="1">
                <a:solidFill>
                  <a:srgbClr val="2DD4BF"/>
                </a:solidFill>
                <a:latin typeface="Calibri"/>
              </a:rPr>
              <a:t>3 · Straight-through</a:t>
            </a:r>
          </a:p>
        </p:txBody>
      </p:sp>
      <p:sp>
        <p:nvSpPr>
          <p:cNvPr id="20" name="TextBox 19"/>
          <p:cNvSpPr txBox="1"/>
          <p:nvPr/>
        </p:nvSpPr>
        <p:spPr>
          <a:xfrm>
            <a:off x="8321039" y="2468880"/>
            <a:ext cx="2926080" cy="914400"/>
          </a:xfrm>
          <a:prstGeom prst="rect">
            <a:avLst/>
          </a:prstGeom>
          <a:noFill/>
        </p:spPr>
        <p:txBody>
          <a:bodyPr wrap="square" anchor="t" lIns="0" rIns="0" tIns="0" bIns="0">
            <a:spAutoFit/>
          </a:bodyPr>
          <a:lstStyle/>
          <a:p>
            <a:pPr algn="l"/>
            <a:r>
              <a:rPr sz="1500" b="0">
                <a:solidFill>
                  <a:srgbClr val="CBD5E1"/>
                </a:solidFill>
                <a:latin typeface="Calibri"/>
              </a:rPr>
              <a:t>Clean claims are approved automatically. Escalations always stay human.</a:t>
            </a:r>
          </a:p>
        </p:txBody>
      </p:sp>
      <p:sp>
        <p:nvSpPr>
          <p:cNvPr id="21" name="TextBox 20"/>
          <p:cNvSpPr txBox="1"/>
          <p:nvPr/>
        </p:nvSpPr>
        <p:spPr>
          <a:xfrm>
            <a:off x="8321039" y="3429000"/>
            <a:ext cx="2926080" cy="548640"/>
          </a:xfrm>
          <a:prstGeom prst="rect">
            <a:avLst/>
          </a:prstGeom>
          <a:noFill/>
        </p:spPr>
        <p:txBody>
          <a:bodyPr wrap="square" anchor="t" lIns="0" rIns="0" tIns="0" bIns="0">
            <a:spAutoFit/>
          </a:bodyPr>
          <a:lstStyle/>
          <a:p>
            <a:pPr algn="l"/>
            <a:r>
              <a:rPr sz="1300" b="1">
                <a:solidFill>
                  <a:srgbClr val="4ADE80"/>
                </a:solidFill>
                <a:latin typeface="Calibri"/>
              </a:rPr>
              <a:t>Reviewed monthly against the quality monitor</a:t>
            </a:r>
          </a:p>
        </p:txBody>
      </p:sp>
      <p:sp>
        <p:nvSpPr>
          <p:cNvPr id="22" name="Rounded Rectangle 21"/>
          <p:cNvSpPr/>
          <p:nvPr/>
        </p:nvSpPr>
        <p:spPr>
          <a:xfrm>
            <a:off x="640080" y="4297680"/>
            <a:ext cx="5349240" cy="1783080"/>
          </a:xfrm>
          <a:prstGeom prst="roundRect">
            <a:avLst>
              <a:gd name="adj" fmla="val 8000"/>
            </a:avLst>
          </a:prstGeom>
          <a:solidFill>
            <a:srgbClr val="1622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462272"/>
            <a:ext cx="4846320" cy="320040"/>
          </a:xfrm>
          <a:prstGeom prst="rect">
            <a:avLst/>
          </a:prstGeom>
          <a:noFill/>
        </p:spPr>
        <p:txBody>
          <a:bodyPr wrap="square" anchor="t" lIns="0" rIns="0" tIns="0" bIns="0">
            <a:spAutoFit/>
          </a:bodyPr>
          <a:lstStyle/>
          <a:p>
            <a:pPr algn="l"/>
            <a:r>
              <a:rPr sz="1200" b="1">
                <a:solidFill>
                  <a:srgbClr val="FBBF24"/>
                </a:solidFill>
                <a:latin typeface="Calibri"/>
              </a:rPr>
              <a:t>STILL TO PROVE, IN THE PILOT</a:t>
            </a:r>
          </a:p>
        </p:txBody>
      </p:sp>
      <p:sp>
        <p:nvSpPr>
          <p:cNvPr id="24" name="TextBox 23"/>
          <p:cNvSpPr txBox="1"/>
          <p:nvPr/>
        </p:nvSpPr>
        <p:spPr>
          <a:xfrm>
            <a:off x="914400" y="4800600"/>
            <a:ext cx="4846320" cy="1188720"/>
          </a:xfrm>
          <a:prstGeom prst="rect">
            <a:avLst/>
          </a:prstGeom>
          <a:noFill/>
        </p:spPr>
        <p:txBody>
          <a:bodyPr wrap="square" anchor="t" lIns="0" rIns="0" tIns="0" bIns="0">
            <a:spAutoFit/>
          </a:bodyPr>
          <a:lstStyle/>
          <a:p>
            <a:pPr algn="l"/>
            <a:r>
              <a:rPr sz="1400" b="0">
                <a:solidFill>
                  <a:srgbClr val="CBD5E1"/>
                </a:solidFill>
                <a:latin typeface="Calibri"/>
              </a:rPr>
              <a:t>Real scans (fax noise, skew, new policies)</a:t>
            </a:r>
          </a:p>
          <a:p>
            <a:pPr algn="l"/>
            <a:r>
              <a:rPr sz="1400" b="0">
                <a:solidFill>
                  <a:srgbClr val="CBD5E1"/>
                </a:solidFill>
                <a:latin typeface="Calibri"/>
              </a:rPr>
              <a:t>Very subtle forged ID cards</a:t>
            </a:r>
          </a:p>
          <a:p>
            <a:pPr algn="l"/>
            <a:r>
              <a:rPr sz="1400" b="0">
                <a:solidFill>
                  <a:srgbClr val="CBD5E1"/>
                </a:solidFill>
                <a:latin typeface="Calibri"/>
              </a:rPr>
              <a:t>Privacy review of the AI provider before real patient data</a:t>
            </a:r>
          </a:p>
        </p:txBody>
      </p:sp>
      <p:sp>
        <p:nvSpPr>
          <p:cNvPr id="25" name="Rounded Rectangle 24"/>
          <p:cNvSpPr/>
          <p:nvPr/>
        </p:nvSpPr>
        <p:spPr>
          <a:xfrm>
            <a:off x="6172200" y="4297680"/>
            <a:ext cx="5349240" cy="1783080"/>
          </a:xfrm>
          <a:prstGeom prst="roundRect">
            <a:avLst>
              <a:gd name="adj" fmla="val 8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4462272"/>
            <a:ext cx="4846320" cy="320040"/>
          </a:xfrm>
          <a:prstGeom prst="rect">
            <a:avLst/>
          </a:prstGeom>
          <a:noFill/>
        </p:spPr>
        <p:txBody>
          <a:bodyPr wrap="square" anchor="t" lIns="0" rIns="0" tIns="0" bIns="0">
            <a:spAutoFit/>
          </a:bodyPr>
          <a:lstStyle/>
          <a:p>
            <a:pPr algn="l"/>
            <a:r>
              <a:rPr sz="1200" b="1">
                <a:solidFill>
                  <a:srgbClr val="F8FAFC"/>
                </a:solidFill>
                <a:latin typeface="Calibri"/>
              </a:rPr>
              <a:t>WHAT I NEED TODAY</a:t>
            </a:r>
          </a:p>
        </p:txBody>
      </p:sp>
      <p:sp>
        <p:nvSpPr>
          <p:cNvPr id="27" name="TextBox 26"/>
          <p:cNvSpPr txBox="1"/>
          <p:nvPr/>
        </p:nvSpPr>
        <p:spPr>
          <a:xfrm>
            <a:off x="6446520" y="4800600"/>
            <a:ext cx="4846320" cy="1188720"/>
          </a:xfrm>
          <a:prstGeom prst="rect">
            <a:avLst/>
          </a:prstGeom>
          <a:noFill/>
        </p:spPr>
        <p:txBody>
          <a:bodyPr wrap="square" anchor="t" lIns="0" rIns="0" tIns="0" bIns="0">
            <a:spAutoFit/>
          </a:bodyPr>
          <a:lstStyle/>
          <a:p>
            <a:pPr algn="l"/>
            <a:r>
              <a:rPr sz="1400" b="0">
                <a:solidFill>
                  <a:srgbClr val="F8FAFC"/>
                </a:solidFill>
                <a:latin typeface="Calibri"/>
              </a:rPr>
              <a:t>1.  Name a pilot team and an owner for disagreements</a:t>
            </a:r>
          </a:p>
          <a:p>
            <a:pPr algn="l"/>
            <a:r>
              <a:rPr sz="1400" b="0">
                <a:solidFill>
                  <a:srgbClr val="F8FAFC"/>
                </a:solidFill>
                <a:latin typeface="Calibri"/>
              </a:rPr>
              <a:t>2.  Approve the AI-provider and data-privacy review</a:t>
            </a:r>
          </a:p>
          <a:p>
            <a:pPr algn="l"/>
            <a:r>
              <a:rPr sz="1400" b="0">
                <a:solidFill>
                  <a:srgbClr val="F8FAFC"/>
                </a:solidFill>
                <a:latin typeface="Calibri"/>
              </a:rPr>
              <a:t>3.  Scope staff single sign-on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APPENDIX A · SCOPE DELIVERED</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Everything in the brief, plus what operations will want</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8</a:t>
            </a:r>
          </a:p>
        </p:txBody>
      </p:sp>
      <p:sp>
        <p:nvSpPr>
          <p:cNvPr id="10" name="Rounded Rectangle 9"/>
          <p:cNvSpPr/>
          <p:nvPr/>
        </p:nvSpPr>
        <p:spPr>
          <a:xfrm>
            <a:off x="640080" y="1783080"/>
            <a:ext cx="3474720" cy="420624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2011680"/>
            <a:ext cx="2926080" cy="411480"/>
          </a:xfrm>
          <a:prstGeom prst="rect">
            <a:avLst/>
          </a:prstGeom>
          <a:noFill/>
        </p:spPr>
        <p:txBody>
          <a:bodyPr wrap="square" anchor="t" lIns="0" rIns="0" tIns="0" bIns="0">
            <a:spAutoFit/>
          </a:bodyPr>
          <a:lstStyle/>
          <a:p>
            <a:pPr algn="l"/>
            <a:r>
              <a:rPr sz="2000" b="1">
                <a:solidFill>
                  <a:srgbClr val="2DD4BF"/>
                </a:solidFill>
                <a:latin typeface="Calibri"/>
              </a:rPr>
              <a:t>The brief</a:t>
            </a:r>
          </a:p>
        </p:txBody>
      </p:sp>
      <p:sp>
        <p:nvSpPr>
          <p:cNvPr id="12" name="TextBox 11"/>
          <p:cNvSpPr txBox="1"/>
          <p:nvPr/>
        </p:nvSpPr>
        <p:spPr>
          <a:xfrm>
            <a:off x="960120" y="2606040"/>
            <a:ext cx="2926080" cy="3291840"/>
          </a:xfrm>
          <a:prstGeom prst="rect">
            <a:avLst/>
          </a:prstGeom>
          <a:noFill/>
        </p:spPr>
        <p:txBody>
          <a:bodyPr wrap="square" anchor="t" lIns="0" rIns="0" tIns="0" bIns="0">
            <a:spAutoFit/>
          </a:bodyPr>
          <a:lstStyle/>
          <a:p>
            <a:pPr algn="l"/>
            <a:r>
              <a:rPr sz="1500" b="0">
                <a:solidFill>
                  <a:srgbClr val="CBD5E1"/>
                </a:solidFill>
                <a:latin typeface="Calibri"/>
              </a:rPr>
              <a:t>✓  Seven agents, routed by document type</a:t>
            </a:r>
          </a:p>
          <a:p>
            <a:pPr algn="l"/>
            <a:r>
              <a:rPr sz="1500" b="0">
                <a:solidFill>
                  <a:srgbClr val="CBD5E1"/>
                </a:solidFill>
                <a:latin typeface="Calibri"/>
              </a:rPr>
              <a:t>✓  Intake API and case workflow</a:t>
            </a:r>
          </a:p>
          <a:p>
            <a:pPr algn="l"/>
            <a:r>
              <a:rPr sz="1500" b="0">
                <a:solidFill>
                  <a:srgbClr val="CBD5E1"/>
                </a:solidFill>
                <a:latin typeface="Calibri"/>
              </a:rPr>
              <a:t>✓  Policy checks with page references</a:t>
            </a:r>
          </a:p>
          <a:p>
            <a:pPr algn="l"/>
            <a:r>
              <a:rPr sz="1500" b="0">
                <a:solidFill>
                  <a:srgbClr val="CBD5E1"/>
                </a:solidFill>
                <a:latin typeface="Calibri"/>
              </a:rPr>
              <a:t>✓  Screens for every team</a:t>
            </a:r>
          </a:p>
          <a:p>
            <a:pPr algn="l"/>
            <a:r>
              <a:rPr sz="1500" b="0">
                <a:solidFill>
                  <a:srgbClr val="CBD5E1"/>
                </a:solidFill>
                <a:latin typeface="Calibri"/>
              </a:rPr>
              <a:t>✓  Labelled evaluation set</a:t>
            </a:r>
          </a:p>
        </p:txBody>
      </p:sp>
      <p:sp>
        <p:nvSpPr>
          <p:cNvPr id="13" name="Rounded Rectangle 12"/>
          <p:cNvSpPr/>
          <p:nvPr/>
        </p:nvSpPr>
        <p:spPr>
          <a:xfrm>
            <a:off x="4343400" y="1783080"/>
            <a:ext cx="3474720" cy="420624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2011680"/>
            <a:ext cx="2926080" cy="411480"/>
          </a:xfrm>
          <a:prstGeom prst="rect">
            <a:avLst/>
          </a:prstGeom>
          <a:noFill/>
        </p:spPr>
        <p:txBody>
          <a:bodyPr wrap="square" anchor="t" lIns="0" rIns="0" tIns="0" bIns="0">
            <a:spAutoFit/>
          </a:bodyPr>
          <a:lstStyle/>
          <a:p>
            <a:pPr algn="l"/>
            <a:r>
              <a:rPr sz="2000" b="1">
                <a:solidFill>
                  <a:srgbClr val="2DD4BF"/>
                </a:solidFill>
                <a:latin typeface="Calibri"/>
              </a:rPr>
              <a:t>The bonus items</a:t>
            </a:r>
          </a:p>
        </p:txBody>
      </p:sp>
      <p:sp>
        <p:nvSpPr>
          <p:cNvPr id="15" name="TextBox 14"/>
          <p:cNvSpPr txBox="1"/>
          <p:nvPr/>
        </p:nvSpPr>
        <p:spPr>
          <a:xfrm>
            <a:off x="4663440" y="2606040"/>
            <a:ext cx="2926080" cy="3291840"/>
          </a:xfrm>
          <a:prstGeom prst="rect">
            <a:avLst/>
          </a:prstGeom>
          <a:noFill/>
        </p:spPr>
        <p:txBody>
          <a:bodyPr wrap="square" anchor="t" lIns="0" rIns="0" tIns="0" bIns="0">
            <a:spAutoFit/>
          </a:bodyPr>
          <a:lstStyle/>
          <a:p>
            <a:pPr algn="l"/>
            <a:r>
              <a:rPr sz="1500" b="0">
                <a:solidFill>
                  <a:srgbClr val="CBD5E1"/>
                </a:solidFill>
                <a:latin typeface="Calibri"/>
              </a:rPr>
              <a:t>✓  Confidence calibration</a:t>
            </a:r>
          </a:p>
          <a:p>
            <a:pPr algn="l"/>
            <a:r>
              <a:rPr sz="1500" b="0">
                <a:solidFill>
                  <a:srgbClr val="CBD5E1"/>
                </a:solidFill>
                <a:latin typeface="Calibri"/>
              </a:rPr>
              <a:t>✓  ID tamper detection (ELA + typography)</a:t>
            </a:r>
          </a:p>
          <a:p>
            <a:pPr algn="l"/>
            <a:r>
              <a:rPr sz="1500" b="0">
                <a:solidFill>
                  <a:srgbClr val="CBD5E1"/>
                </a:solidFill>
                <a:latin typeface="Calibri"/>
              </a:rPr>
              <a:t>✓  Spanish and Hindi documents</a:t>
            </a:r>
          </a:p>
          <a:p>
            <a:pPr algn="l"/>
            <a:r>
              <a:rPr sz="1500" b="0">
                <a:solidFill>
                  <a:srgbClr val="CBD5E1"/>
                </a:solidFill>
                <a:latin typeface="Calibri"/>
              </a:rPr>
              <a:t>✓  PDF case report</a:t>
            </a:r>
          </a:p>
          <a:p>
            <a:pPr algn="l"/>
            <a:r>
              <a:rPr sz="1500" b="0">
                <a:solidFill>
                  <a:srgbClr val="CBD5E1"/>
                </a:solidFill>
                <a:latin typeface="Calibri"/>
              </a:rPr>
              <a:t>✓  LangSmith tracing of every AI call</a:t>
            </a:r>
          </a:p>
        </p:txBody>
      </p:sp>
      <p:sp>
        <p:nvSpPr>
          <p:cNvPr id="16" name="Rounded Rectangle 15"/>
          <p:cNvSpPr/>
          <p:nvPr/>
        </p:nvSpPr>
        <p:spPr>
          <a:xfrm>
            <a:off x="8046719" y="1783080"/>
            <a:ext cx="3474720" cy="4206240"/>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59" y="2011680"/>
            <a:ext cx="2926080" cy="411480"/>
          </a:xfrm>
          <a:prstGeom prst="rect">
            <a:avLst/>
          </a:prstGeom>
          <a:noFill/>
        </p:spPr>
        <p:txBody>
          <a:bodyPr wrap="square" anchor="t" lIns="0" rIns="0" tIns="0" bIns="0">
            <a:spAutoFit/>
          </a:bodyPr>
          <a:lstStyle/>
          <a:p>
            <a:pPr algn="l"/>
            <a:r>
              <a:rPr sz="2000" b="1">
                <a:solidFill>
                  <a:srgbClr val="2DD4BF"/>
                </a:solidFill>
                <a:latin typeface="Calibri"/>
              </a:rPr>
              <a:t>Beyond the brief</a:t>
            </a:r>
          </a:p>
        </p:txBody>
      </p:sp>
      <p:sp>
        <p:nvSpPr>
          <p:cNvPr id="18" name="TextBox 17"/>
          <p:cNvSpPr txBox="1"/>
          <p:nvPr/>
        </p:nvSpPr>
        <p:spPr>
          <a:xfrm>
            <a:off x="8366759" y="2606040"/>
            <a:ext cx="2926080" cy="3291840"/>
          </a:xfrm>
          <a:prstGeom prst="rect">
            <a:avLst/>
          </a:prstGeom>
          <a:noFill/>
        </p:spPr>
        <p:txBody>
          <a:bodyPr wrap="square" anchor="t" lIns="0" rIns="0" tIns="0" bIns="0">
            <a:spAutoFit/>
          </a:bodyPr>
          <a:lstStyle/>
          <a:p>
            <a:pPr algn="l"/>
            <a:r>
              <a:rPr sz="1500" b="0">
                <a:solidFill>
                  <a:srgbClr val="CBD5E1"/>
                </a:solidFill>
                <a:latin typeface="Calibri"/>
              </a:rPr>
              <a:t>✓  Assistant with citations and memory</a:t>
            </a:r>
          </a:p>
          <a:p>
            <a:pPr algn="l"/>
            <a:r>
              <a:rPr sz="1500" b="0">
                <a:solidFill>
                  <a:srgbClr val="CBD5E1"/>
                </a:solidFill>
                <a:latin typeface="Calibri"/>
              </a:rPr>
              <a:t>✓  Email intake</a:t>
            </a:r>
          </a:p>
          <a:p>
            <a:pPr algn="l"/>
            <a:r>
              <a:rPr sz="1500" b="0">
                <a:solidFill>
                  <a:srgbClr val="CBD5E1"/>
                </a:solidFill>
                <a:latin typeface="Calibri"/>
              </a:rPr>
              <a:t>✓  Policy updates without a release</a:t>
            </a:r>
          </a:p>
          <a:p>
            <a:pPr algn="l"/>
            <a:r>
              <a:rPr sz="1500" b="0">
                <a:solidFill>
                  <a:srgbClr val="CBD5E1"/>
                </a:solidFill>
                <a:latin typeface="Calibri"/>
              </a:rPr>
              <a:t>✓  Review-quality monitor</a:t>
            </a:r>
          </a:p>
          <a:p>
            <a:pPr algn="l"/>
            <a:r>
              <a:rPr sz="1500" b="0">
                <a:solidFill>
                  <a:srgbClr val="CBD5E1"/>
                </a:solidFill>
                <a:latin typeface="Calibri"/>
              </a:rPr>
              <a:t>✓  LLM judge + RAGAS; 312 tests, 28 gates in CI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APPENDIX B · ENGINEERING DECISIONS</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Every saving was measured before it shipped</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9</a:t>
            </a:r>
          </a:p>
        </p:txBody>
      </p:sp>
      <p:graphicFrame>
        <p:nvGraphicFramePr>
          <p:cNvPr id="10" name="Table 9"/>
          <p:cNvGraphicFramePr>
            <a:graphicFrameLocks noGrp="1"/>
          </p:cNvGraphicFramePr>
          <p:nvPr/>
        </p:nvGraphicFramePr>
        <p:xfrm>
          <a:off x="640080" y="1828800"/>
          <a:ext cx="10881360" cy="3108960"/>
        </p:xfrm>
        <a:graphic>
          <a:graphicData uri="http://schemas.openxmlformats.org/drawingml/2006/table">
            <a:tbl>
              <a:tblPr firstRow="1" bandRow="1">
                <a:tableStyleId>{5C22544A-7EE6-4342-B048-85BDC9FD1C3A}</a:tableStyleId>
              </a:tblPr>
              <a:tblGrid>
                <a:gridCol w="5394960"/>
                <a:gridCol w="3017520"/>
                <a:gridCol w="2468880"/>
              </a:tblGrid>
              <a:tr h="621792">
                <a:tc>
                  <a:txBody>
                    <a:bodyPr/>
                    <a:lstStyle/>
                    <a:p>
                      <a:r>
                        <a:rPr sz="1600" b="1">
                          <a:solidFill>
                            <a:srgbClr val="0B1220"/>
                          </a:solidFill>
                          <a:latin typeface="Calibri"/>
                        </a:rPr>
                        <a:t>Change</a:t>
                      </a:r>
                    </a:p>
                  </a:txBody>
                  <a:tcPr anchor="ctr">
                    <a:solidFill>
                      <a:srgbClr val="2DD4BF"/>
                    </a:solidFill>
                  </a:tcPr>
                </a:tc>
                <a:tc>
                  <a:txBody>
                    <a:bodyPr/>
                    <a:lstStyle/>
                    <a:p>
                      <a:r>
                        <a:rPr sz="1600" b="1">
                          <a:solidFill>
                            <a:srgbClr val="0B1220"/>
                          </a:solidFill>
                          <a:latin typeface="Calibri"/>
                        </a:rPr>
                        <a:t>Measured effect</a:t>
                      </a:r>
                    </a:p>
                  </a:txBody>
                  <a:tcPr anchor="ctr">
                    <a:solidFill>
                      <a:srgbClr val="2DD4BF"/>
                    </a:solidFill>
                  </a:tcPr>
                </a:tc>
                <a:tc>
                  <a:txBody>
                    <a:bodyPr/>
                    <a:lstStyle/>
                    <a:p>
                      <a:r>
                        <a:rPr sz="1600" b="1">
                          <a:solidFill>
                            <a:srgbClr val="0B1220"/>
                          </a:solidFill>
                          <a:latin typeface="Calibri"/>
                        </a:rPr>
                        <a:t>Accuracy</a:t>
                      </a:r>
                    </a:p>
                  </a:txBody>
                  <a:tcPr anchor="ctr">
                    <a:solidFill>
                      <a:srgbClr val="2DD4BF"/>
                    </a:solidFill>
                  </a:tcPr>
                </a:tc>
              </a:tr>
              <a:tr h="621792">
                <a:tc>
                  <a:txBody>
                    <a:bodyPr/>
                    <a:lstStyle/>
                    <a:p>
                      <a:r>
                        <a:rPr sz="1600" b="1">
                          <a:solidFill>
                            <a:srgbClr val="F8FAFC"/>
                          </a:solidFill>
                          <a:latin typeface="Calibri"/>
                        </a:rPr>
                        <a:t>Read the text first; AI vision only when needed</a:t>
                      </a:r>
                    </a:p>
                  </a:txBody>
                  <a:tcPr anchor="ctr">
                    <a:solidFill>
                      <a:srgbClr val="111A2E"/>
                    </a:solidFill>
                  </a:tcPr>
                </a:tc>
                <a:tc>
                  <a:txBody>
                    <a:bodyPr/>
                    <a:lstStyle/>
                    <a:p>
                      <a:r>
                        <a:rPr sz="1600" b="0">
                          <a:solidFill>
                            <a:srgbClr val="F8FAFC"/>
                          </a:solidFill>
                          <a:latin typeface="Calibri"/>
                        </a:rPr>
                        <a:t>−25% cost per claim</a:t>
                      </a:r>
                    </a:p>
                  </a:txBody>
                  <a:tcPr anchor="ctr">
                    <a:solidFill>
                      <a:srgbClr val="111A2E"/>
                    </a:solidFill>
                  </a:tcPr>
                </a:tc>
                <a:tc>
                  <a:txBody>
                    <a:bodyPr/>
                    <a:lstStyle/>
                    <a:p>
                      <a:r>
                        <a:rPr sz="1600" b="0">
                          <a:solidFill>
                            <a:srgbClr val="F8FAFC"/>
                          </a:solidFill>
                          <a:latin typeface="Calibri"/>
                        </a:rPr>
                        <a:t>unchanged</a:t>
                      </a:r>
                    </a:p>
                  </a:txBody>
                  <a:tcPr anchor="ctr">
                    <a:solidFill>
                      <a:srgbClr val="111A2E"/>
                    </a:solidFill>
                  </a:tcPr>
                </a:tc>
              </a:tr>
              <a:tr h="621792">
                <a:tc>
                  <a:txBody>
                    <a:bodyPr/>
                    <a:lstStyle/>
                    <a:p>
                      <a:r>
                        <a:rPr sz="1600" b="1">
                          <a:solidFill>
                            <a:srgbClr val="F8FAFC"/>
                          </a:solidFill>
                          <a:latin typeface="Calibri"/>
                        </a:rPr>
                        <a:t>Sonnet instead of Opus for policy and fraud</a:t>
                      </a:r>
                    </a:p>
                  </a:txBody>
                  <a:tcPr anchor="ctr">
                    <a:solidFill>
                      <a:srgbClr val="16223A"/>
                    </a:solidFill>
                  </a:tcPr>
                </a:tc>
                <a:tc>
                  <a:txBody>
                    <a:bodyPr/>
                    <a:lstStyle/>
                    <a:p>
                      <a:r>
                        <a:rPr sz="1600" b="0">
                          <a:solidFill>
                            <a:srgbClr val="F8FAFC"/>
                          </a:solidFill>
                          <a:latin typeface="Calibri"/>
                        </a:rPr>
                        <a:t>−36% cost per claim</a:t>
                      </a:r>
                    </a:p>
                  </a:txBody>
                  <a:tcPr anchor="ctr">
                    <a:solidFill>
                      <a:srgbClr val="16223A"/>
                    </a:solidFill>
                  </a:tcPr>
                </a:tc>
                <a:tc>
                  <a:txBody>
                    <a:bodyPr/>
                    <a:lstStyle/>
                    <a:p>
                      <a:r>
                        <a:rPr sz="1600" b="0">
                          <a:solidFill>
                            <a:srgbClr val="F8FAFC"/>
                          </a:solidFill>
                          <a:latin typeface="Calibri"/>
                        </a:rPr>
                        <a:t>identical decisions</a:t>
                      </a:r>
                    </a:p>
                  </a:txBody>
                  <a:tcPr anchor="ctr">
                    <a:solidFill>
                      <a:srgbClr val="16223A"/>
                    </a:solidFill>
                  </a:tcPr>
                </a:tc>
              </a:tr>
              <a:tr h="621792">
                <a:tc>
                  <a:txBody>
                    <a:bodyPr/>
                    <a:lstStyle/>
                    <a:p>
                      <a:r>
                        <a:rPr sz="1600" b="1">
                          <a:solidFill>
                            <a:srgbClr val="F8FAFC"/>
                          </a:solidFill>
                          <a:latin typeface="Calibri"/>
                        </a:rPr>
                        <a:t>Smaller search re-ranker</a:t>
                      </a:r>
                    </a:p>
                  </a:txBody>
                  <a:tcPr anchor="ctr">
                    <a:solidFill>
                      <a:srgbClr val="111A2E"/>
                    </a:solidFill>
                  </a:tcPr>
                </a:tc>
                <a:tc>
                  <a:txBody>
                    <a:bodyPr/>
                    <a:lstStyle/>
                    <a:p>
                      <a:r>
                        <a:rPr sz="1600" b="0">
                          <a:solidFill>
                            <a:srgbClr val="F8FAFC"/>
                          </a:solidFill>
                          <a:latin typeface="Calibri"/>
                        </a:rPr>
                        <a:t>fits the 2 GB agent image</a:t>
                      </a:r>
                    </a:p>
                  </a:txBody>
                  <a:tcPr anchor="ctr">
                    <a:solidFill>
                      <a:srgbClr val="111A2E"/>
                    </a:solidFill>
                  </a:tcPr>
                </a:tc>
                <a:tc>
                  <a:txBody>
                    <a:bodyPr/>
                    <a:lstStyle/>
                    <a:p>
                      <a:r>
                        <a:rPr sz="1600" b="0">
                          <a:solidFill>
                            <a:srgbClr val="F8FAFC"/>
                          </a:solidFill>
                          <a:latin typeface="Calibri"/>
                        </a:rPr>
                        <a:t>better</a:t>
                      </a:r>
                    </a:p>
                  </a:txBody>
                  <a:tcPr anchor="ctr">
                    <a:solidFill>
                      <a:srgbClr val="111A2E"/>
                    </a:solidFill>
                  </a:tcPr>
                </a:tc>
              </a:tr>
              <a:tr h="621792">
                <a:tc>
                  <a:txBody>
                    <a:bodyPr/>
                    <a:lstStyle/>
                    <a:p>
                      <a:r>
                        <a:rPr sz="1600" b="1">
                          <a:solidFill>
                            <a:srgbClr val="F8FAFC"/>
                          </a:solidFill>
                          <a:latin typeface="Calibri"/>
                        </a:rPr>
                        <a:t>Text-only extraction</a:t>
                      </a:r>
                    </a:p>
                  </a:txBody>
                  <a:tcPr anchor="ctr">
                    <a:solidFill>
                      <a:srgbClr val="16223A"/>
                    </a:solidFill>
                  </a:tcPr>
                </a:tc>
                <a:tc>
                  <a:txBody>
                    <a:bodyPr/>
                    <a:lstStyle/>
                    <a:p>
                      <a:r>
                        <a:rPr sz="1600" b="0">
                          <a:solidFill>
                            <a:srgbClr val="F8FAFC"/>
                          </a:solidFill>
                          <a:latin typeface="Calibri"/>
                        </a:rPr>
                        <a:t>−4% cost</a:t>
                      </a:r>
                    </a:p>
                  </a:txBody>
                  <a:tcPr anchor="ctr">
                    <a:solidFill>
                      <a:srgbClr val="16223A"/>
                    </a:solidFill>
                  </a:tcPr>
                </a:tc>
                <a:tc>
                  <a:txBody>
                    <a:bodyPr/>
                    <a:lstStyle/>
                    <a:p>
                      <a:r>
                        <a:rPr sz="1600" b="0">
                          <a:solidFill>
                            <a:srgbClr val="F8FAFC"/>
                          </a:solidFill>
                          <a:latin typeface="Calibri"/>
                        </a:rPr>
                        <a:t>−4 points: rejected</a:t>
                      </a:r>
                    </a:p>
                  </a:txBody>
                  <a:tcPr anchor="ctr">
                    <a:solidFill>
                      <a:srgbClr val="16223A"/>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9144000" cy="320040"/>
          </a:xfrm>
          <a:prstGeom prst="rect">
            <a:avLst/>
          </a:prstGeom>
          <a:noFill/>
        </p:spPr>
        <p:txBody>
          <a:bodyPr wrap="square" anchor="t" lIns="0" rIns="0" tIns="0" bIns="0">
            <a:spAutoFit/>
          </a:bodyPr>
          <a:lstStyle/>
          <a:p>
            <a:pPr algn="l"/>
            <a:r>
              <a:rPr sz="1200" b="1">
                <a:solidFill>
                  <a:srgbClr val="2DD4BF"/>
                </a:solidFill>
                <a:latin typeface="Calibri"/>
              </a:rPr>
              <a:t>APPENDIX C · PLATFORM AND OPERATIONS</a:t>
            </a:r>
          </a:p>
        </p:txBody>
      </p:sp>
      <p:sp>
        <p:nvSpPr>
          <p:cNvPr id="4" name="TextBox 3"/>
          <p:cNvSpPr txBox="1"/>
          <p:nvPr/>
        </p:nvSpPr>
        <p:spPr>
          <a:xfrm>
            <a:off x="640080" y="685800"/>
            <a:ext cx="10241280" cy="731520"/>
          </a:xfrm>
          <a:prstGeom prst="rect">
            <a:avLst/>
          </a:prstGeom>
          <a:noFill/>
        </p:spPr>
        <p:txBody>
          <a:bodyPr wrap="square" anchor="t" lIns="0" rIns="0" tIns="0" bIns="0">
            <a:spAutoFit/>
          </a:bodyPr>
          <a:lstStyle/>
          <a:p>
            <a:pPr algn="l"/>
            <a:r>
              <a:rPr sz="3200" b="1">
                <a:solidFill>
                  <a:srgbClr val="F8FAFC"/>
                </a:solidFill>
                <a:latin typeface="Calibri"/>
              </a:rPr>
              <a:t>Serverless on AWS, tested on every change</a:t>
            </a:r>
          </a:p>
        </p:txBody>
      </p:sp>
      <p:sp>
        <p:nvSpPr>
          <p:cNvPr id="5" name="Pentagon 4"/>
          <p:cNvSpPr/>
          <p:nvPr/>
        </p:nvSpPr>
        <p:spPr>
          <a:xfrm rot="5400000">
            <a:off x="11201400" y="384048"/>
            <a:ext cx="384048" cy="384048"/>
          </a:xfrm>
          <a:prstGeom prst="homePlat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358860" y="453177"/>
            <a:ext cx="69128" cy="215066"/>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285891" y="526146"/>
            <a:ext cx="215066" cy="69128"/>
          </a:xfrm>
          <a:prstGeom prst="rect">
            <a:avLst/>
          </a:prstGeom>
          <a:solidFill>
            <a:srgbClr val="0B1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46520"/>
            <a:ext cx="7315200" cy="274320"/>
          </a:xfrm>
          <a:prstGeom prst="rect">
            <a:avLst/>
          </a:prstGeom>
          <a:noFill/>
        </p:spPr>
        <p:txBody>
          <a:bodyPr wrap="square" anchor="t" lIns="0" rIns="0" tIns="0" bIns="0">
            <a:spAutoFit/>
          </a:bodyPr>
          <a:lstStyle/>
          <a:p>
            <a:pPr algn="l"/>
            <a:r>
              <a:rPr sz="1000" b="0">
                <a:solidFill>
                  <a:srgbClr val="94A3B8"/>
                </a:solidFill>
                <a:latin typeface="Calibri"/>
              </a:rPr>
              <a:t>MediShield Health · Claims intake automation</a:t>
            </a:r>
          </a:p>
        </p:txBody>
      </p:sp>
      <p:sp>
        <p:nvSpPr>
          <p:cNvPr id="9" name="TextBox 8"/>
          <p:cNvSpPr txBox="1"/>
          <p:nvPr/>
        </p:nvSpPr>
        <p:spPr>
          <a:xfrm>
            <a:off x="10881360" y="6446520"/>
            <a:ext cx="731520" cy="274320"/>
          </a:xfrm>
          <a:prstGeom prst="rect">
            <a:avLst/>
          </a:prstGeom>
          <a:noFill/>
        </p:spPr>
        <p:txBody>
          <a:bodyPr wrap="square" anchor="t" lIns="0" rIns="0" tIns="0" bIns="0">
            <a:spAutoFit/>
          </a:bodyPr>
          <a:lstStyle/>
          <a:p>
            <a:pPr algn="r"/>
            <a:r>
              <a:rPr sz="1000" b="0">
                <a:solidFill>
                  <a:srgbClr val="94A3B8"/>
                </a:solidFill>
                <a:latin typeface="Calibri"/>
              </a:rPr>
              <a:t>10</a:t>
            </a:r>
          </a:p>
        </p:txBody>
      </p:sp>
      <p:sp>
        <p:nvSpPr>
          <p:cNvPr id="10" name="Rounded Rectangle 9"/>
          <p:cNvSpPr/>
          <p:nvPr/>
        </p:nvSpPr>
        <p:spPr>
          <a:xfrm>
            <a:off x="640080" y="178308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011680"/>
            <a:ext cx="4892040" cy="457200"/>
          </a:xfrm>
          <a:prstGeom prst="rect">
            <a:avLst/>
          </a:prstGeom>
          <a:noFill/>
        </p:spPr>
        <p:txBody>
          <a:bodyPr wrap="square" anchor="t" lIns="0" rIns="0" tIns="0" bIns="0">
            <a:spAutoFit/>
          </a:bodyPr>
          <a:lstStyle/>
          <a:p>
            <a:pPr algn="l"/>
            <a:r>
              <a:rPr sz="1600" b="1">
                <a:solidFill>
                  <a:srgbClr val="F8FAFC"/>
                </a:solidFill>
                <a:latin typeface="Calibri"/>
              </a:rPr>
              <a:t>One CloudFormation stack</a:t>
            </a:r>
          </a:p>
        </p:txBody>
      </p:sp>
      <p:sp>
        <p:nvSpPr>
          <p:cNvPr id="13" name="TextBox 12"/>
          <p:cNvSpPr txBox="1"/>
          <p:nvPr/>
        </p:nvSpPr>
        <p:spPr>
          <a:xfrm>
            <a:off x="914400" y="2514600"/>
            <a:ext cx="4892040" cy="1051559"/>
          </a:xfrm>
          <a:prstGeom prst="rect">
            <a:avLst/>
          </a:prstGeom>
          <a:noFill/>
        </p:spPr>
        <p:txBody>
          <a:bodyPr wrap="square" anchor="t" lIns="0" rIns="0" tIns="0" bIns="0">
            <a:spAutoFit/>
          </a:bodyPr>
          <a:lstStyle/>
          <a:p>
            <a:pPr algn="l"/>
            <a:r>
              <a:rPr sz="1400" b="0">
                <a:solidFill>
                  <a:srgbClr val="CBD5E1"/>
                </a:solidFill>
                <a:latin typeface="Calibri"/>
              </a:rPr>
              <a:t>CloudFront web app · Lambda API · two Bedrock AgentCore runtimes · DynamoDB · S3</a:t>
            </a:r>
          </a:p>
        </p:txBody>
      </p:sp>
      <p:sp>
        <p:nvSpPr>
          <p:cNvPr id="14" name="Rounded Rectangle 13"/>
          <p:cNvSpPr/>
          <p:nvPr/>
        </p:nvSpPr>
        <p:spPr>
          <a:xfrm>
            <a:off x="6217920" y="178308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92240" y="2011680"/>
            <a:ext cx="4892040" cy="457200"/>
          </a:xfrm>
          <a:prstGeom prst="rect">
            <a:avLst/>
          </a:prstGeom>
          <a:noFill/>
        </p:spPr>
        <p:txBody>
          <a:bodyPr wrap="square" anchor="t" lIns="0" rIns="0" tIns="0" bIns="0">
            <a:spAutoFit/>
          </a:bodyPr>
          <a:lstStyle/>
          <a:p>
            <a:pPr algn="l"/>
            <a:r>
              <a:rPr sz="1600" b="1">
                <a:solidFill>
                  <a:srgbClr val="F8FAFC"/>
                </a:solidFill>
                <a:latin typeface="Calibri"/>
              </a:rPr>
              <a:t>Pay-per-use only</a:t>
            </a:r>
          </a:p>
        </p:txBody>
      </p:sp>
      <p:sp>
        <p:nvSpPr>
          <p:cNvPr id="17" name="TextBox 16"/>
          <p:cNvSpPr txBox="1"/>
          <p:nvPr/>
        </p:nvSpPr>
        <p:spPr>
          <a:xfrm>
            <a:off x="6492240" y="2514600"/>
            <a:ext cx="4892040" cy="1051559"/>
          </a:xfrm>
          <a:prstGeom prst="rect">
            <a:avLst/>
          </a:prstGeom>
          <a:noFill/>
        </p:spPr>
        <p:txBody>
          <a:bodyPr wrap="square" anchor="t" lIns="0" rIns="0" tIns="0" bIns="0">
            <a:spAutoFit/>
          </a:bodyPr>
          <a:lstStyle/>
          <a:p>
            <a:pPr algn="l"/>
            <a:r>
              <a:rPr sz="1400" b="0">
                <a:solidFill>
                  <a:srgbClr val="CBD5E1"/>
                </a:solidFill>
                <a:latin typeface="Calibri"/>
              </a:rPr>
              <a:t>≈ $1.25 a month idle; AI spend capped at $10 total and $5 a day</a:t>
            </a:r>
          </a:p>
        </p:txBody>
      </p:sp>
      <p:sp>
        <p:nvSpPr>
          <p:cNvPr id="18" name="Rounded Rectangle 17"/>
          <p:cNvSpPr/>
          <p:nvPr/>
        </p:nvSpPr>
        <p:spPr>
          <a:xfrm>
            <a:off x="640080" y="388620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114800"/>
            <a:ext cx="4892040" cy="457200"/>
          </a:xfrm>
          <a:prstGeom prst="rect">
            <a:avLst/>
          </a:prstGeom>
          <a:noFill/>
        </p:spPr>
        <p:txBody>
          <a:bodyPr wrap="square" anchor="t" lIns="0" rIns="0" tIns="0" bIns="0">
            <a:spAutoFit/>
          </a:bodyPr>
          <a:lstStyle/>
          <a:p>
            <a:pPr algn="l"/>
            <a:r>
              <a:rPr sz="1600" b="1">
                <a:solidFill>
                  <a:srgbClr val="F8FAFC"/>
                </a:solidFill>
                <a:latin typeface="Calibri"/>
              </a:rPr>
              <a:t>Every case traceable</a:t>
            </a:r>
          </a:p>
        </p:txBody>
      </p:sp>
      <p:sp>
        <p:nvSpPr>
          <p:cNvPr id="21" name="TextBox 20"/>
          <p:cNvSpPr txBox="1"/>
          <p:nvPr/>
        </p:nvSpPr>
        <p:spPr>
          <a:xfrm>
            <a:off x="914400" y="4617720"/>
            <a:ext cx="4892040" cy="1051559"/>
          </a:xfrm>
          <a:prstGeom prst="rect">
            <a:avLst/>
          </a:prstGeom>
          <a:noFill/>
        </p:spPr>
        <p:txBody>
          <a:bodyPr wrap="square" anchor="t" lIns="0" rIns="0" tIns="0" bIns="0">
            <a:spAutoFit/>
          </a:bodyPr>
          <a:lstStyle/>
          <a:p>
            <a:pPr algn="l"/>
            <a:r>
              <a:rPr sz="1400" b="0">
                <a:solidFill>
                  <a:srgbClr val="CBD5E1"/>
                </a:solidFill>
                <a:latin typeface="Calibri"/>
              </a:rPr>
              <a:t>LangSmith: each agent call with tokens, latency and cost</a:t>
            </a:r>
          </a:p>
        </p:txBody>
      </p:sp>
      <p:sp>
        <p:nvSpPr>
          <p:cNvPr id="22" name="Rounded Rectangle 21"/>
          <p:cNvSpPr/>
          <p:nvPr/>
        </p:nvSpPr>
        <p:spPr>
          <a:xfrm>
            <a:off x="6217920" y="3886200"/>
            <a:ext cx="5349240" cy="1874519"/>
          </a:xfrm>
          <a:prstGeom prst="roundRect">
            <a:avLst>
              <a:gd name="adj" fmla="val 8000"/>
            </a:avLst>
          </a:prstGeom>
          <a:solidFill>
            <a:srgbClr val="111A2E"/>
          </a:solidFill>
          <a:ln w="12700">
            <a:solidFill>
              <a:srgbClr val="23304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17920" y="4114800"/>
            <a:ext cx="54864" cy="1417319"/>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114800"/>
            <a:ext cx="4892040" cy="457200"/>
          </a:xfrm>
          <a:prstGeom prst="rect">
            <a:avLst/>
          </a:prstGeom>
          <a:noFill/>
        </p:spPr>
        <p:txBody>
          <a:bodyPr wrap="square" anchor="t" lIns="0" rIns="0" tIns="0" bIns="0">
            <a:spAutoFit/>
          </a:bodyPr>
          <a:lstStyle/>
          <a:p>
            <a:pPr algn="l"/>
            <a:r>
              <a:rPr sz="1600" b="1">
                <a:solidFill>
                  <a:srgbClr val="F8FAFC"/>
                </a:solidFill>
                <a:latin typeface="Calibri"/>
              </a:rPr>
              <a:t>Nothing ships untested</a:t>
            </a:r>
          </a:p>
        </p:txBody>
      </p:sp>
      <p:sp>
        <p:nvSpPr>
          <p:cNvPr id="25" name="TextBox 24"/>
          <p:cNvSpPr txBox="1"/>
          <p:nvPr/>
        </p:nvSpPr>
        <p:spPr>
          <a:xfrm>
            <a:off x="6492240" y="4617720"/>
            <a:ext cx="4892040" cy="1051559"/>
          </a:xfrm>
          <a:prstGeom prst="rect">
            <a:avLst/>
          </a:prstGeom>
          <a:noFill/>
        </p:spPr>
        <p:txBody>
          <a:bodyPr wrap="square" anchor="t" lIns="0" rIns="0" tIns="0" bIns="0">
            <a:spAutoFit/>
          </a:bodyPr>
          <a:lstStyle/>
          <a:p>
            <a:pPr algn="l"/>
            <a:r>
              <a:rPr sz="1400" b="0">
                <a:solidFill>
                  <a:srgbClr val="CBD5E1"/>
                </a:solidFill>
                <a:latin typeface="Calibri"/>
              </a:rPr>
              <a:t>312 tests on two databases and 28 quality gates run on every push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
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I'm Raghav, the Solution Owner for claims intake at MediShield. I want to tell you about one claim. Then I'll show you what it taught us, and what I'd like to do about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Meet claim FBDDBB1D. Five documents: a claim form, an ID card, a discharge summary, a prescription and a policy amendment. Sixteen thousand eight hundred dollars, mostly for a knee replacement. It arrived by email, like most of them do. Today, a claim like this waits four days while one of our 120 reviewers reads every page by hand. 85,000 documents a month. 18 million dollars a year.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things were wrong with it. The prescription was written 55 days after the treatment. The policy had been cancelled on the very day the patient was admitted. And the drug was hydrocodone, a controlled substance. Here's the thing: none of that is visible on any single page. You only see it when you lay all five documents side by side and cross-check the dates. That's exactly the work that takes a person four days.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system found all three in 82 seconds. It didn't approve the claim and it didn't reject it. It escalated it to a reviewer, with every reason written down and the policy page cited. The reviewer opens the case and the work is already done. Nobody had to read five documents to get there. That's the whole idea.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Seven specialists and one rulebook. Picture a mailroom with seven clerks, each an AI agent with one job: identify the document, check identity and tampering, check the codes and amounts, check the policy, look for fraud. Then the part that matters: the AI never decides. It reports facts, and a written rulebook turns them into Approve, Reject or Escalate. Same facts, same answer, every time. People judge the rest: anything uncertain goes to a reviewer, and anything over ten thousand dollars needs a second signature. It reads Spanish and Hindi too, and staff can simply ask it a question.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it is end to end. Documents in at the top, read by an OCR engine inside our own environment at no cost. The classifier identifies each one from its printed title and only asks the AI vision model when that isn't clear. The four specialists run at the same time, the rulebook decides, escalations go to a person. And around every case: the web app, the assistant, the tamper-proof audit trail, a trace of every AI call, all serverless on AWS for about a dollar a month idle.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it work? I tested it on 78 documents it had never seen. Every document identified correctly. Every claim field read correctly. The right policy clause found, with the page, every time. Decisions: 100 percent correct where the evidence is on the page, 96 percent counting a few test labels never drawn on the documents. And across 80 Spanish and Hindi documents, every one identified correctly, 95 to 100 percent decided correctly. One honest note: labelled test data, not real scans yet. That's what the pilot is for.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Cost and speed. Eighteen dollars of handling per document today, against about eight cents of AI per whole claim. Four point two days of waiting, against about a minute, live on AWS. I'm deliberately not giving you a savings figure. It depends on how many claims go straight through, and the pilot measures that rather than guessing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it safe? Each role sees only its own data, enforced where the data is read, so a submitter can't talk the assistant into showing the audit trail. Over ten thousand dollars, a senior reviewer adds a second signature; nobody approves their own request. Every action goes into a logbook nobody can edit. We planted hidden 'approve this' instructions in seven documents: zero decisions changed. And a second, independent AI grades every assistant answer; it caught all three wrong answers I planted. Spend is capped in code, and patient details never reach the logs.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What's next? Not a switch-on for everyone. Three stages, each with a gate. Shadow: it runs beside one team on real scans, decisions compared, never used; we move on at 95 percent agreement. Assist: it recommends, a person confirms; we move on under 5 percent overrides. Automate: clean claims go straight through, escalations stay human. The pilot also closes the three open questions: real scans, subtle forged IDs, and the AI-provider privacy review. What I need today: a pilot team and an owner, approval for that review, and scope for single sign-on. Now let me show you it live.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Switch to the browser.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every deliverable and every bonus item in the brief is done, plus the extras operations will ask for.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each optimisation was A/B tested on the development split; the one that cost accuracy was rejected.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how it runs and how it's kept safe to change.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TextBox 1"/>
          <p:cNvSpPr txBox="1"/>
          <p:nvPr/>
        </p:nvSpPr>
        <p:spPr>
          <a:xfrm>
            <a:off x="10881360" y="6446520"/>
            <a:ext cx="731520" cy="274320"/>
          </a:xfrm>
          <a:prstGeom prst="rect">
            <a:avLst/>
          </a:prstGeom>
          <a:noFill/>
        </p:spPr>
        <p:txBody>
          <a:bodyPr wrap="square" anchor="t" lIns="0" rIns="0" tIns="0" bIns="0">
            <a:spAutoFit/>
          </a:bodyPr>
          <a:lstStyle/>
          <a:p>
            <a:pPr algn="r"/>
            <a:r>
              <a:rPr sz="1000" b="0">
                <a:solidFill>
                  <a:srgbClr val="94A3B8"/>
                </a:solidFill>
                <a:latin typeface="Calibri"/>
              </a:rPr>
              <a:t>2</a:t>
            </a:r>
          </a:p>
        </p:txBody>
      </p:sp>
      <p:sp>
        <p:nvSpPr>
          <p:cNvPr id="3" name="Pentagon 2"/>
          <p:cNvSpPr/>
          <p:nvPr/>
        </p:nvSpPr>
        <p:spPr>
          <a:xfrm rot="5400000">
            <a:off x="5724144" y="1463040"/>
            <a:ext cx="731520" cy="731520"/>
          </a:xfrm>
          <a:prstGeom prst="homePlate">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024068" y="1594714"/>
            <a:ext cx="131673" cy="409651"/>
          </a:xfrm>
          <a:prstGeom prst="rect">
            <a:avLst/>
          </a:prstGeom>
          <a:solidFill>
            <a:srgbClr val="0B1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885079" y="1733703"/>
            <a:ext cx="409651" cy="131673"/>
          </a:xfrm>
          <a:prstGeom prst="rect">
            <a:avLst/>
          </a:prstGeom>
          <a:solidFill>
            <a:srgbClr val="0B1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468880"/>
            <a:ext cx="10515600" cy="1280160"/>
          </a:xfrm>
          <a:prstGeom prst="rect">
            <a:avLst/>
          </a:prstGeom>
          <a:noFill/>
        </p:spPr>
        <p:txBody>
          <a:bodyPr wrap="square" anchor="ctr" lIns="0" rIns="0" tIns="0" bIns="0">
            <a:spAutoFit/>
          </a:bodyPr>
          <a:lstStyle/>
          <a:p>
            <a:pPr algn="ctr"/>
            <a:r>
              <a:rPr sz="6600" b="1">
                <a:solidFill>
                  <a:srgbClr val="F8FAFC"/>
                </a:solidFill>
                <a:latin typeface="Calibri"/>
              </a:rPr>
              <a:t>A minute, not a week.</a:t>
            </a:r>
          </a:p>
        </p:txBody>
      </p:sp>
      <p:sp>
        <p:nvSpPr>
          <p:cNvPr id="7" name="TextBox 6"/>
          <p:cNvSpPr txBox="1"/>
          <p:nvPr/>
        </p:nvSpPr>
        <p:spPr>
          <a:xfrm>
            <a:off x="1280160" y="3840480"/>
            <a:ext cx="9601200" cy="822960"/>
          </a:xfrm>
          <a:prstGeom prst="rect">
            <a:avLst/>
          </a:prstGeom>
          <a:noFill/>
        </p:spPr>
        <p:txBody>
          <a:bodyPr wrap="square" anchor="t" lIns="0" rIns="0" tIns="0" bIns="0">
            <a:spAutoFit/>
          </a:bodyPr>
          <a:lstStyle/>
          <a:p>
            <a:pPr algn="ctr"/>
            <a:r>
              <a:rPr sz="2400" b="0">
                <a:solidFill>
                  <a:srgbClr val="CBD5E1"/>
                </a:solidFill>
                <a:latin typeface="Calibri"/>
              </a:rPr>
              <a:t>Claims intake at MediShield Health</a:t>
            </a:r>
          </a:p>
        </p:txBody>
      </p:sp>
      <p:sp>
        <p:nvSpPr>
          <p:cNvPr id="8" name="TextBox 7"/>
          <p:cNvSpPr txBox="1"/>
          <p:nvPr/>
        </p:nvSpPr>
        <p:spPr>
          <a:xfrm>
            <a:off x="822960" y="5760720"/>
            <a:ext cx="10515600" cy="457200"/>
          </a:xfrm>
          <a:prstGeom prst="rect">
            <a:avLst/>
          </a:prstGeom>
          <a:noFill/>
        </p:spPr>
        <p:txBody>
          <a:bodyPr wrap="square" anchor="t" lIns="0" rIns="0" tIns="0" bIns="0">
            <a:spAutoFit/>
          </a:bodyPr>
          <a:lstStyle/>
          <a:p>
            <a:pPr algn="ctr"/>
            <a:r>
              <a:rPr sz="1400" b="0">
                <a:solidFill>
                  <a:srgbClr val="94A3B8"/>
                </a:solidFill>
                <a:latin typeface="Calibri"/>
              </a:rPr>
              <a:t>Raghav Bansal · Solution Owner · October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TextBox 1"/>
          <p:cNvSpPr txBox="1"/>
          <p:nvPr/>
        </p:nvSpPr>
        <p:spPr>
          <a:xfrm>
            <a:off x="822960" y="502920"/>
            <a:ext cx="10515600" cy="320040"/>
          </a:xfrm>
          <a:prstGeom prst="rect">
            <a:avLst/>
          </a:prstGeom>
          <a:noFill/>
        </p:spPr>
        <p:txBody>
          <a:bodyPr wrap="square" anchor="t" lIns="0" rIns="0" tIns="0" bIns="0">
            <a:spAutoFit/>
          </a:bodyPr>
          <a:lstStyle/>
          <a:p>
            <a:pPr algn="ctr"/>
            <a:r>
              <a:rPr sz="1300" b="1">
                <a:solidFill>
                  <a:srgbClr val="2DD4BF"/>
                </a:solidFill>
                <a:latin typeface="Calibri"/>
              </a:rPr>
              <a:t>A REAL CLAIM FROM OUR TEST SET</a:t>
            </a:r>
          </a:p>
        </p:txBody>
      </p:sp>
      <p:sp>
        <p:nvSpPr>
          <p:cNvPr id="3" name="TextBox 2"/>
          <p:cNvSpPr txBox="1"/>
          <p:nvPr/>
        </p:nvSpPr>
        <p:spPr>
          <a:xfrm>
            <a:off x="10881360" y="6446520"/>
            <a:ext cx="731520" cy="274320"/>
          </a:xfrm>
          <a:prstGeom prst="rect">
            <a:avLst/>
          </a:prstGeom>
          <a:noFill/>
        </p:spPr>
        <p:txBody>
          <a:bodyPr wrap="square" anchor="t" lIns="0" rIns="0" tIns="0" bIns="0">
            <a:spAutoFit/>
          </a:bodyPr>
          <a:lstStyle/>
          <a:p>
            <a:pPr algn="r"/>
            <a:r>
              <a:rPr sz="1000" b="0">
                <a:solidFill>
                  <a:srgbClr val="94A3B8"/>
                </a:solidFill>
                <a:latin typeface="Calibri"/>
              </a:rPr>
              <a:t>3</a:t>
            </a:r>
          </a:p>
        </p:txBody>
      </p:sp>
      <p:sp>
        <p:nvSpPr>
          <p:cNvPr id="4" name="TextBox 3"/>
          <p:cNvSpPr txBox="1"/>
          <p:nvPr/>
        </p:nvSpPr>
        <p:spPr>
          <a:xfrm>
            <a:off x="822960" y="1005840"/>
            <a:ext cx="10515600" cy="1280160"/>
          </a:xfrm>
          <a:prstGeom prst="rect">
            <a:avLst/>
          </a:prstGeom>
          <a:noFill/>
        </p:spPr>
        <p:txBody>
          <a:bodyPr wrap="square" anchor="ctr" lIns="0" rIns="0" tIns="0" bIns="0">
            <a:spAutoFit/>
          </a:bodyPr>
          <a:lstStyle/>
          <a:p>
            <a:pPr algn="ctr"/>
            <a:r>
              <a:rPr sz="5400" b="1">
                <a:solidFill>
                  <a:srgbClr val="F8FAFC"/>
                </a:solidFill>
                <a:latin typeface="Calibri"/>
              </a:rPr>
              <a:t>Meet claim FBDDBB1D.</a:t>
            </a:r>
          </a:p>
        </p:txBody>
      </p:sp>
      <p:sp>
        <p:nvSpPr>
          <p:cNvPr id="5" name="TextBox 4"/>
          <p:cNvSpPr txBox="1"/>
          <p:nvPr/>
        </p:nvSpPr>
        <p:spPr>
          <a:xfrm>
            <a:off x="822960" y="2377440"/>
            <a:ext cx="3505200" cy="1028700"/>
          </a:xfrm>
          <a:prstGeom prst="rect">
            <a:avLst/>
          </a:prstGeom>
          <a:noFill/>
        </p:spPr>
        <p:txBody>
          <a:bodyPr wrap="square" anchor="b" lIns="0" rIns="0" tIns="0" bIns="0">
            <a:spAutoFit/>
          </a:bodyPr>
          <a:lstStyle/>
          <a:p>
            <a:pPr algn="ctr"/>
            <a:r>
              <a:rPr sz="6000" b="1">
                <a:solidFill>
                  <a:srgbClr val="2DD4BF"/>
                </a:solidFill>
                <a:latin typeface="Calibri"/>
              </a:rPr>
              <a:t>5</a:t>
            </a:r>
          </a:p>
        </p:txBody>
      </p:sp>
      <p:sp>
        <p:nvSpPr>
          <p:cNvPr id="6" name="TextBox 5"/>
          <p:cNvSpPr txBox="1"/>
          <p:nvPr/>
        </p:nvSpPr>
        <p:spPr>
          <a:xfrm>
            <a:off x="1005840" y="3479292"/>
            <a:ext cx="3139440" cy="1257300"/>
          </a:xfrm>
          <a:prstGeom prst="rect">
            <a:avLst/>
          </a:prstGeom>
          <a:noFill/>
        </p:spPr>
        <p:txBody>
          <a:bodyPr wrap="square" anchor="t" lIns="0" rIns="0" tIns="0" bIns="0">
            <a:spAutoFit/>
          </a:bodyPr>
          <a:lstStyle/>
          <a:p>
            <a:pPr algn="ctr"/>
            <a:r>
              <a:rPr sz="1600" b="0">
                <a:solidFill>
                  <a:srgbClr val="CBD5E1"/>
                </a:solidFill>
                <a:latin typeface="Calibri"/>
              </a:rPr>
              <a:t>documents: a claim form, an ID card,</a:t>
            </a:r>
          </a:p>
          <a:p>
            <a:pPr algn="ctr"/>
            <a:r>
              <a:rPr sz="1600" b="0">
                <a:solidFill>
                  <a:srgbClr val="CBD5E1"/>
                </a:solidFill>
                <a:latin typeface="Calibri"/>
              </a:rPr>
              <a:t>a discharge summary, a prescription,</a:t>
            </a:r>
          </a:p>
          <a:p>
            <a:pPr algn="ctr"/>
            <a:r>
              <a:rPr sz="1600" b="0">
                <a:solidFill>
                  <a:srgbClr val="CBD5E1"/>
                </a:solidFill>
                <a:latin typeface="Calibri"/>
              </a:rPr>
              <a:t>a policy amendment</a:t>
            </a:r>
          </a:p>
        </p:txBody>
      </p:sp>
      <p:sp>
        <p:nvSpPr>
          <p:cNvPr id="7" name="TextBox 6"/>
          <p:cNvSpPr txBox="1"/>
          <p:nvPr/>
        </p:nvSpPr>
        <p:spPr>
          <a:xfrm>
            <a:off x="4328160" y="2377440"/>
            <a:ext cx="3505200" cy="1028700"/>
          </a:xfrm>
          <a:prstGeom prst="rect">
            <a:avLst/>
          </a:prstGeom>
          <a:noFill/>
        </p:spPr>
        <p:txBody>
          <a:bodyPr wrap="square" anchor="b" lIns="0" rIns="0" tIns="0" bIns="0">
            <a:spAutoFit/>
          </a:bodyPr>
          <a:lstStyle/>
          <a:p>
            <a:pPr algn="ctr"/>
            <a:r>
              <a:rPr sz="6000" b="1">
                <a:solidFill>
                  <a:srgbClr val="2DD4BF"/>
                </a:solidFill>
                <a:latin typeface="Calibri"/>
              </a:rPr>
              <a:t>$16,825</a:t>
            </a:r>
          </a:p>
        </p:txBody>
      </p:sp>
      <p:sp>
        <p:nvSpPr>
          <p:cNvPr id="8" name="TextBox 7"/>
          <p:cNvSpPr txBox="1"/>
          <p:nvPr/>
        </p:nvSpPr>
        <p:spPr>
          <a:xfrm>
            <a:off x="4511040" y="3479292"/>
            <a:ext cx="3139440" cy="1257300"/>
          </a:xfrm>
          <a:prstGeom prst="rect">
            <a:avLst/>
          </a:prstGeom>
          <a:noFill/>
        </p:spPr>
        <p:txBody>
          <a:bodyPr wrap="square" anchor="t" lIns="0" rIns="0" tIns="0" bIns="0">
            <a:spAutoFit/>
          </a:bodyPr>
          <a:lstStyle/>
          <a:p>
            <a:pPr algn="ctr"/>
            <a:r>
              <a:rPr sz="1600" b="0">
                <a:solidFill>
                  <a:srgbClr val="CBD5E1"/>
                </a:solidFill>
                <a:latin typeface="Calibri"/>
              </a:rPr>
              <a:t>claimed, mostly for</a:t>
            </a:r>
          </a:p>
          <a:p>
            <a:pPr algn="ctr"/>
            <a:r>
              <a:rPr sz="1600" b="0">
                <a:solidFill>
                  <a:srgbClr val="CBD5E1"/>
                </a:solidFill>
                <a:latin typeface="Calibri"/>
              </a:rPr>
              <a:t>a knee replacement</a:t>
            </a:r>
          </a:p>
        </p:txBody>
      </p:sp>
      <p:sp>
        <p:nvSpPr>
          <p:cNvPr id="9" name="TextBox 8"/>
          <p:cNvSpPr txBox="1"/>
          <p:nvPr/>
        </p:nvSpPr>
        <p:spPr>
          <a:xfrm>
            <a:off x="7833360" y="2377440"/>
            <a:ext cx="3505200" cy="1028700"/>
          </a:xfrm>
          <a:prstGeom prst="rect">
            <a:avLst/>
          </a:prstGeom>
          <a:noFill/>
        </p:spPr>
        <p:txBody>
          <a:bodyPr wrap="square" anchor="b" lIns="0" rIns="0" tIns="0" bIns="0">
            <a:spAutoFit/>
          </a:bodyPr>
          <a:lstStyle/>
          <a:p>
            <a:pPr algn="ctr"/>
            <a:r>
              <a:rPr sz="6000" b="1">
                <a:solidFill>
                  <a:srgbClr val="2DD4BF"/>
                </a:solidFill>
                <a:latin typeface="Calibri"/>
              </a:rPr>
              <a:t>by email</a:t>
            </a:r>
          </a:p>
        </p:txBody>
      </p:sp>
      <p:sp>
        <p:nvSpPr>
          <p:cNvPr id="10" name="TextBox 9"/>
          <p:cNvSpPr txBox="1"/>
          <p:nvPr/>
        </p:nvSpPr>
        <p:spPr>
          <a:xfrm>
            <a:off x="8016240" y="3479292"/>
            <a:ext cx="3139440" cy="1257300"/>
          </a:xfrm>
          <a:prstGeom prst="rect">
            <a:avLst/>
          </a:prstGeom>
          <a:noFill/>
        </p:spPr>
        <p:txBody>
          <a:bodyPr wrap="square" anchor="t" lIns="0" rIns="0" tIns="0" bIns="0">
            <a:spAutoFit/>
          </a:bodyPr>
          <a:lstStyle/>
          <a:p>
            <a:pPr algn="ctr"/>
            <a:r>
              <a:rPr sz="1600" b="0">
                <a:solidFill>
                  <a:srgbClr val="CBD5E1"/>
                </a:solidFill>
                <a:latin typeface="Calibri"/>
              </a:rPr>
              <a:t>the way most claims</a:t>
            </a:r>
          </a:p>
          <a:p>
            <a:pPr algn="ctr"/>
            <a:r>
              <a:rPr sz="1600" b="0">
                <a:solidFill>
                  <a:srgbClr val="CBD5E1"/>
                </a:solidFill>
                <a:latin typeface="Calibri"/>
              </a:rPr>
              <a:t>actually arrive</a:t>
            </a:r>
          </a:p>
        </p:txBody>
      </p:sp>
      <p:sp>
        <p:nvSpPr>
          <p:cNvPr id="11" name="TextBox 10"/>
          <p:cNvSpPr txBox="1"/>
          <p:nvPr/>
        </p:nvSpPr>
        <p:spPr>
          <a:xfrm>
            <a:off x="1280160" y="5120640"/>
            <a:ext cx="9601200" cy="822960"/>
          </a:xfrm>
          <a:prstGeom prst="rect">
            <a:avLst/>
          </a:prstGeom>
          <a:noFill/>
        </p:spPr>
        <p:txBody>
          <a:bodyPr wrap="square" anchor="t" lIns="0" rIns="0" tIns="0" bIns="0">
            <a:spAutoFit/>
          </a:bodyPr>
          <a:lstStyle/>
          <a:p>
            <a:pPr algn="ctr"/>
            <a:r>
              <a:rPr sz="2000" b="0">
                <a:solidFill>
                  <a:srgbClr val="94A3B8"/>
                </a:solidFill>
                <a:latin typeface="Calibri"/>
              </a:rPr>
              <a:t>Today, a claim like this waits 4.2 days while one of 120 people reads every page by hand.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TextBox 1"/>
          <p:cNvSpPr txBox="1"/>
          <p:nvPr/>
        </p:nvSpPr>
        <p:spPr>
          <a:xfrm>
            <a:off x="822960" y="502920"/>
            <a:ext cx="10515600" cy="320040"/>
          </a:xfrm>
          <a:prstGeom prst="rect">
            <a:avLst/>
          </a:prstGeom>
          <a:noFill/>
        </p:spPr>
        <p:txBody>
          <a:bodyPr wrap="square" anchor="t" lIns="0" rIns="0" tIns="0" bIns="0">
            <a:spAutoFit/>
          </a:bodyPr>
          <a:lstStyle/>
          <a:p>
            <a:pPr algn="ctr"/>
            <a:r>
              <a:rPr sz="1300" b="1">
                <a:solidFill>
                  <a:srgbClr val="2DD4BF"/>
                </a:solidFill>
                <a:latin typeface="Calibri"/>
              </a:rPr>
              <a:t>WHAT A CAREFUL READER WOULD HAVE FOUND</a:t>
            </a:r>
          </a:p>
        </p:txBody>
      </p:sp>
      <p:sp>
        <p:nvSpPr>
          <p:cNvPr id="3" name="TextBox 2"/>
          <p:cNvSpPr txBox="1"/>
          <p:nvPr/>
        </p:nvSpPr>
        <p:spPr>
          <a:xfrm>
            <a:off x="10881360" y="6446520"/>
            <a:ext cx="731520" cy="274320"/>
          </a:xfrm>
          <a:prstGeom prst="rect">
            <a:avLst/>
          </a:prstGeom>
          <a:noFill/>
        </p:spPr>
        <p:txBody>
          <a:bodyPr wrap="square" anchor="t" lIns="0" rIns="0" tIns="0" bIns="0">
            <a:spAutoFit/>
          </a:bodyPr>
          <a:lstStyle/>
          <a:p>
            <a:pPr algn="r"/>
            <a:r>
              <a:rPr sz="1000" b="0">
                <a:solidFill>
                  <a:srgbClr val="94A3B8"/>
                </a:solidFill>
                <a:latin typeface="Calibri"/>
              </a:rPr>
              <a:t>4</a:t>
            </a:r>
          </a:p>
        </p:txBody>
      </p:sp>
      <p:sp>
        <p:nvSpPr>
          <p:cNvPr id="4" name="TextBox 3"/>
          <p:cNvSpPr txBox="1"/>
          <p:nvPr/>
        </p:nvSpPr>
        <p:spPr>
          <a:xfrm>
            <a:off x="822960" y="868680"/>
            <a:ext cx="10515600" cy="1280160"/>
          </a:xfrm>
          <a:prstGeom prst="rect">
            <a:avLst/>
          </a:prstGeom>
          <a:noFill/>
        </p:spPr>
        <p:txBody>
          <a:bodyPr wrap="square" anchor="ctr" lIns="0" rIns="0" tIns="0" bIns="0">
            <a:spAutoFit/>
          </a:bodyPr>
          <a:lstStyle/>
          <a:p>
            <a:pPr algn="ctr"/>
            <a:r>
              <a:rPr sz="5000" b="1">
                <a:solidFill>
                  <a:srgbClr val="F8FAFC"/>
                </a:solidFill>
                <a:latin typeface="Calibri"/>
              </a:rPr>
              <a:t>Three things were wrong with it.</a:t>
            </a:r>
          </a:p>
        </p:txBody>
      </p:sp>
      <p:sp>
        <p:nvSpPr>
          <p:cNvPr id="5" name="TextBox 4"/>
          <p:cNvSpPr txBox="1"/>
          <p:nvPr/>
        </p:nvSpPr>
        <p:spPr>
          <a:xfrm>
            <a:off x="1280160" y="2240280"/>
            <a:ext cx="2377440" cy="822960"/>
          </a:xfrm>
          <a:prstGeom prst="rect">
            <a:avLst/>
          </a:prstGeom>
          <a:noFill/>
        </p:spPr>
        <p:txBody>
          <a:bodyPr wrap="square" anchor="ctr" lIns="0" rIns="0" tIns="0" bIns="0">
            <a:spAutoFit/>
          </a:bodyPr>
          <a:lstStyle/>
          <a:p>
            <a:pPr algn="r"/>
            <a:r>
              <a:rPr sz="3400" b="1">
                <a:solidFill>
                  <a:srgbClr val="FBBF24"/>
                </a:solidFill>
                <a:latin typeface="Calibri"/>
              </a:rPr>
              <a:t>55 days</a:t>
            </a:r>
          </a:p>
        </p:txBody>
      </p:sp>
      <p:sp>
        <p:nvSpPr>
          <p:cNvPr id="6" name="TextBox 5"/>
          <p:cNvSpPr txBox="1"/>
          <p:nvPr/>
        </p:nvSpPr>
        <p:spPr>
          <a:xfrm>
            <a:off x="3931920" y="2240280"/>
            <a:ext cx="7315200" cy="822960"/>
          </a:xfrm>
          <a:prstGeom prst="rect">
            <a:avLst/>
          </a:prstGeom>
          <a:noFill/>
        </p:spPr>
        <p:txBody>
          <a:bodyPr wrap="square" anchor="ctr" lIns="0" rIns="0" tIns="0" bIns="0">
            <a:spAutoFit/>
          </a:bodyPr>
          <a:lstStyle/>
          <a:p>
            <a:pPr algn="l"/>
            <a:r>
              <a:rPr sz="2200" b="0">
                <a:solidFill>
                  <a:srgbClr val="F8FAFC"/>
                </a:solidFill>
                <a:latin typeface="Calibri"/>
              </a:rPr>
              <a:t>The prescription was written 55 days after the treatment.</a:t>
            </a:r>
          </a:p>
        </p:txBody>
      </p:sp>
      <p:sp>
        <p:nvSpPr>
          <p:cNvPr id="7" name="TextBox 6"/>
          <p:cNvSpPr txBox="1"/>
          <p:nvPr/>
        </p:nvSpPr>
        <p:spPr>
          <a:xfrm>
            <a:off x="1280160" y="3291840"/>
            <a:ext cx="2377440" cy="822960"/>
          </a:xfrm>
          <a:prstGeom prst="rect">
            <a:avLst/>
          </a:prstGeom>
          <a:noFill/>
        </p:spPr>
        <p:txBody>
          <a:bodyPr wrap="square" anchor="ctr" lIns="0" rIns="0" tIns="0" bIns="0">
            <a:spAutoFit/>
          </a:bodyPr>
          <a:lstStyle/>
          <a:p>
            <a:pPr algn="r"/>
            <a:r>
              <a:rPr sz="3400" b="1">
                <a:solidFill>
                  <a:srgbClr val="FBBF24"/>
                </a:solidFill>
                <a:latin typeface="Calibri"/>
              </a:rPr>
              <a:t>Day 0</a:t>
            </a:r>
          </a:p>
        </p:txBody>
      </p:sp>
      <p:sp>
        <p:nvSpPr>
          <p:cNvPr id="8" name="TextBox 7"/>
          <p:cNvSpPr txBox="1"/>
          <p:nvPr/>
        </p:nvSpPr>
        <p:spPr>
          <a:xfrm>
            <a:off x="3931920" y="3291840"/>
            <a:ext cx="7315200" cy="822960"/>
          </a:xfrm>
          <a:prstGeom prst="rect">
            <a:avLst/>
          </a:prstGeom>
          <a:noFill/>
        </p:spPr>
        <p:txBody>
          <a:bodyPr wrap="square" anchor="ctr" lIns="0" rIns="0" tIns="0" bIns="0">
            <a:spAutoFit/>
          </a:bodyPr>
          <a:lstStyle/>
          <a:p>
            <a:pPr algn="l"/>
            <a:r>
              <a:rPr sz="2200" b="0">
                <a:solidFill>
                  <a:srgbClr val="F8FAFC"/>
                </a:solidFill>
                <a:latin typeface="Calibri"/>
              </a:rPr>
              <a:t>The policy was cancelled on the very day the patient was admitted.</a:t>
            </a:r>
          </a:p>
        </p:txBody>
      </p:sp>
      <p:sp>
        <p:nvSpPr>
          <p:cNvPr id="9" name="TextBox 8"/>
          <p:cNvSpPr txBox="1"/>
          <p:nvPr/>
        </p:nvSpPr>
        <p:spPr>
          <a:xfrm>
            <a:off x="1280160" y="4343400"/>
            <a:ext cx="2377440" cy="822960"/>
          </a:xfrm>
          <a:prstGeom prst="rect">
            <a:avLst/>
          </a:prstGeom>
          <a:noFill/>
        </p:spPr>
        <p:txBody>
          <a:bodyPr wrap="square" anchor="ctr" lIns="0" rIns="0" tIns="0" bIns="0">
            <a:spAutoFit/>
          </a:bodyPr>
          <a:lstStyle/>
          <a:p>
            <a:pPr algn="r"/>
            <a:r>
              <a:rPr sz="3400" b="1">
                <a:solidFill>
                  <a:srgbClr val="FBBF24"/>
                </a:solidFill>
                <a:latin typeface="Calibri"/>
              </a:rPr>
              <a:t>Schedule II</a:t>
            </a:r>
          </a:p>
        </p:txBody>
      </p:sp>
      <p:sp>
        <p:nvSpPr>
          <p:cNvPr id="10" name="TextBox 9"/>
          <p:cNvSpPr txBox="1"/>
          <p:nvPr/>
        </p:nvSpPr>
        <p:spPr>
          <a:xfrm>
            <a:off x="3931920" y="4343400"/>
            <a:ext cx="7315200" cy="822960"/>
          </a:xfrm>
          <a:prstGeom prst="rect">
            <a:avLst/>
          </a:prstGeom>
          <a:noFill/>
        </p:spPr>
        <p:txBody>
          <a:bodyPr wrap="square" anchor="ctr" lIns="0" rIns="0" tIns="0" bIns="0">
            <a:spAutoFit/>
          </a:bodyPr>
          <a:lstStyle/>
          <a:p>
            <a:pPr algn="l"/>
            <a:r>
              <a:rPr sz="2200" b="0">
                <a:solidFill>
                  <a:srgbClr val="F8FAFC"/>
                </a:solidFill>
                <a:latin typeface="Calibri"/>
              </a:rPr>
              <a:t>And the drug was hydrocodone, a controlled substance.</a:t>
            </a:r>
          </a:p>
        </p:txBody>
      </p:sp>
      <p:sp>
        <p:nvSpPr>
          <p:cNvPr id="11" name="TextBox 10"/>
          <p:cNvSpPr txBox="1"/>
          <p:nvPr/>
        </p:nvSpPr>
        <p:spPr>
          <a:xfrm>
            <a:off x="1280160" y="5577840"/>
            <a:ext cx="9601200" cy="822960"/>
          </a:xfrm>
          <a:prstGeom prst="rect">
            <a:avLst/>
          </a:prstGeom>
          <a:noFill/>
        </p:spPr>
        <p:txBody>
          <a:bodyPr wrap="square" anchor="t" lIns="0" rIns="0" tIns="0" bIns="0">
            <a:spAutoFit/>
          </a:bodyPr>
          <a:lstStyle/>
          <a:p>
            <a:pPr algn="ctr"/>
            <a:r>
              <a:rPr sz="1800" b="0">
                <a:solidFill>
                  <a:srgbClr val="94A3B8"/>
                </a:solidFill>
                <a:latin typeface="Calibri"/>
              </a:rPr>
              <a:t>None of this is visible on any single page. You only see it when you cross-check all five.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TextBox 1"/>
          <p:cNvSpPr txBox="1"/>
          <p:nvPr/>
        </p:nvSpPr>
        <p:spPr>
          <a:xfrm>
            <a:off x="10881360" y="6446520"/>
            <a:ext cx="731520" cy="274320"/>
          </a:xfrm>
          <a:prstGeom prst="rect">
            <a:avLst/>
          </a:prstGeom>
          <a:noFill/>
        </p:spPr>
        <p:txBody>
          <a:bodyPr wrap="square" anchor="t" lIns="0" rIns="0" tIns="0" bIns="0">
            <a:spAutoFit/>
          </a:bodyPr>
          <a:lstStyle/>
          <a:p>
            <a:pPr algn="r"/>
            <a:r>
              <a:rPr sz="1000" b="0">
                <a:solidFill>
                  <a:srgbClr val="94A3B8"/>
                </a:solidFill>
                <a:latin typeface="Calibri"/>
              </a:rPr>
              <a:t>5</a:t>
            </a:r>
          </a:p>
        </p:txBody>
      </p:sp>
      <p:sp>
        <p:nvSpPr>
          <p:cNvPr id="3" name="TextBox 2"/>
          <p:cNvSpPr txBox="1"/>
          <p:nvPr/>
        </p:nvSpPr>
        <p:spPr>
          <a:xfrm>
            <a:off x="822960" y="1371600"/>
            <a:ext cx="10515600" cy="1280160"/>
          </a:xfrm>
          <a:prstGeom prst="rect">
            <a:avLst/>
          </a:prstGeom>
          <a:noFill/>
        </p:spPr>
        <p:txBody>
          <a:bodyPr wrap="square" anchor="ctr" lIns="0" rIns="0" tIns="0" bIns="0">
            <a:spAutoFit/>
          </a:bodyPr>
          <a:lstStyle/>
          <a:p>
            <a:pPr algn="ctr"/>
            <a:r>
              <a:rPr sz="5600" b="1">
                <a:solidFill>
                  <a:srgbClr val="F8FAFC"/>
                </a:solidFill>
                <a:latin typeface="Calibri"/>
              </a:rPr>
              <a:t>We found all three in 82 seconds.</a:t>
            </a:r>
          </a:p>
        </p:txBody>
      </p:sp>
      <p:sp>
        <p:nvSpPr>
          <p:cNvPr id="4" name="TextBox 3"/>
          <p:cNvSpPr txBox="1"/>
          <p:nvPr/>
        </p:nvSpPr>
        <p:spPr>
          <a:xfrm>
            <a:off x="1280160" y="3017520"/>
            <a:ext cx="9601200" cy="822960"/>
          </a:xfrm>
          <a:prstGeom prst="rect">
            <a:avLst/>
          </a:prstGeom>
          <a:noFill/>
        </p:spPr>
        <p:txBody>
          <a:bodyPr wrap="square" anchor="t" lIns="0" rIns="0" tIns="0" bIns="0">
            <a:spAutoFit/>
          </a:bodyPr>
          <a:lstStyle/>
          <a:p>
            <a:pPr algn="ctr"/>
            <a:r>
              <a:rPr sz="2200" b="0">
                <a:solidFill>
                  <a:srgbClr val="CBD5E1"/>
                </a:solidFill>
                <a:latin typeface="Calibri"/>
              </a:rPr>
              <a:t>Escalated to a reviewer, with every reason written down and the policy page cited.</a:t>
            </a:r>
          </a:p>
        </p:txBody>
      </p:sp>
      <p:sp>
        <p:nvSpPr>
          <p:cNvPr id="5" name="TextBox 4"/>
          <p:cNvSpPr txBox="1"/>
          <p:nvPr/>
        </p:nvSpPr>
        <p:spPr>
          <a:xfrm>
            <a:off x="1280160" y="3749039"/>
            <a:ext cx="9601200" cy="822960"/>
          </a:xfrm>
          <a:prstGeom prst="rect">
            <a:avLst/>
          </a:prstGeom>
          <a:noFill/>
        </p:spPr>
        <p:txBody>
          <a:bodyPr wrap="square" anchor="t" lIns="0" rIns="0" tIns="0" bIns="0">
            <a:spAutoFit/>
          </a:bodyPr>
          <a:lstStyle/>
          <a:p>
            <a:pPr algn="ctr"/>
            <a:r>
              <a:rPr sz="2200" b="0">
                <a:solidFill>
                  <a:srgbClr val="2DD4BF"/>
                </a:solidFill>
                <a:latin typeface="Calibri"/>
              </a:rPr>
              <a:t>Nobody had to read five documents to get there.</a:t>
            </a:r>
          </a:p>
        </p:txBody>
      </p:sp>
      <p:sp>
        <p:nvSpPr>
          <p:cNvPr id="6" name="TextBox 5"/>
          <p:cNvSpPr txBox="1"/>
          <p:nvPr/>
        </p:nvSpPr>
        <p:spPr>
          <a:xfrm>
            <a:off x="822960" y="5120640"/>
            <a:ext cx="10515600" cy="457200"/>
          </a:xfrm>
          <a:prstGeom prst="rect">
            <a:avLst/>
          </a:prstGeom>
          <a:noFill/>
        </p:spPr>
        <p:txBody>
          <a:bodyPr wrap="square" anchor="t" lIns="0" rIns="0" tIns="0" bIns="0">
            <a:spAutoFit/>
          </a:bodyPr>
          <a:lstStyle/>
          <a:p>
            <a:pPr algn="ctr"/>
            <a:r>
              <a:rPr sz="1300" b="0">
                <a:solidFill>
                  <a:srgbClr val="94A3B8"/>
                </a:solidFill>
                <a:latin typeface="Calibri"/>
              </a:rPr>
              <a:t>Case created 18:29:59 · decided 18:31:21 · from the case's own audit trail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TextBox 1"/>
          <p:cNvSpPr txBox="1"/>
          <p:nvPr/>
        </p:nvSpPr>
        <p:spPr>
          <a:xfrm>
            <a:off x="822960" y="502920"/>
            <a:ext cx="10515600" cy="320040"/>
          </a:xfrm>
          <a:prstGeom prst="rect">
            <a:avLst/>
          </a:prstGeom>
          <a:noFill/>
        </p:spPr>
        <p:txBody>
          <a:bodyPr wrap="square" anchor="t" lIns="0" rIns="0" tIns="0" bIns="0">
            <a:spAutoFit/>
          </a:bodyPr>
          <a:lstStyle/>
          <a:p>
            <a:pPr algn="ctr"/>
            <a:r>
              <a:rPr sz="1300" b="1">
                <a:solidFill>
                  <a:srgbClr val="2DD4BF"/>
                </a:solidFill>
                <a:latin typeface="Calibri"/>
              </a:rPr>
              <a:t>HOW</a:t>
            </a:r>
          </a:p>
        </p:txBody>
      </p:sp>
      <p:sp>
        <p:nvSpPr>
          <p:cNvPr id="3" name="TextBox 2"/>
          <p:cNvSpPr txBox="1"/>
          <p:nvPr/>
        </p:nvSpPr>
        <p:spPr>
          <a:xfrm>
            <a:off x="10881360" y="6446520"/>
            <a:ext cx="731520" cy="274320"/>
          </a:xfrm>
          <a:prstGeom prst="rect">
            <a:avLst/>
          </a:prstGeom>
          <a:noFill/>
        </p:spPr>
        <p:txBody>
          <a:bodyPr wrap="square" anchor="t" lIns="0" rIns="0" tIns="0" bIns="0">
            <a:spAutoFit/>
          </a:bodyPr>
          <a:lstStyle/>
          <a:p>
            <a:pPr algn="r"/>
            <a:r>
              <a:rPr sz="1000" b="0">
                <a:solidFill>
                  <a:srgbClr val="94A3B8"/>
                </a:solidFill>
                <a:latin typeface="Calibri"/>
              </a:rPr>
              <a:t>6</a:t>
            </a:r>
          </a:p>
        </p:txBody>
      </p:sp>
      <p:sp>
        <p:nvSpPr>
          <p:cNvPr id="4" name="TextBox 3"/>
          <p:cNvSpPr txBox="1"/>
          <p:nvPr/>
        </p:nvSpPr>
        <p:spPr>
          <a:xfrm>
            <a:off x="822960" y="868680"/>
            <a:ext cx="10515600" cy="1280160"/>
          </a:xfrm>
          <a:prstGeom prst="rect">
            <a:avLst/>
          </a:prstGeom>
          <a:noFill/>
        </p:spPr>
        <p:txBody>
          <a:bodyPr wrap="square" anchor="ctr" lIns="0" rIns="0" tIns="0" bIns="0">
            <a:spAutoFit/>
          </a:bodyPr>
          <a:lstStyle/>
          <a:p>
            <a:pPr algn="ctr"/>
            <a:r>
              <a:rPr sz="5400" b="1">
                <a:solidFill>
                  <a:srgbClr val="F8FAFC"/>
                </a:solidFill>
                <a:latin typeface="Calibri"/>
              </a:rPr>
              <a:t>Seven specialists. One rulebook.</a:t>
            </a:r>
          </a:p>
        </p:txBody>
      </p:sp>
      <p:sp>
        <p:nvSpPr>
          <p:cNvPr id="5" name="TextBox 4"/>
          <p:cNvSpPr txBox="1"/>
          <p:nvPr/>
        </p:nvSpPr>
        <p:spPr>
          <a:xfrm>
            <a:off x="1280160" y="2331720"/>
            <a:ext cx="3840480" cy="914400"/>
          </a:xfrm>
          <a:prstGeom prst="rect">
            <a:avLst/>
          </a:prstGeom>
          <a:noFill/>
        </p:spPr>
        <p:txBody>
          <a:bodyPr wrap="square" anchor="ctr" lIns="0" rIns="0" tIns="0" bIns="0">
            <a:spAutoFit/>
          </a:bodyPr>
          <a:lstStyle/>
          <a:p>
            <a:pPr algn="l"/>
            <a:r>
              <a:rPr sz="2800" b="1">
                <a:solidFill>
                  <a:srgbClr val="2DD4BF"/>
                </a:solidFill>
                <a:latin typeface="Calibri"/>
              </a:rPr>
              <a:t>Software reads.</a:t>
            </a:r>
          </a:p>
        </p:txBody>
      </p:sp>
      <p:sp>
        <p:nvSpPr>
          <p:cNvPr id="6" name="TextBox 5"/>
          <p:cNvSpPr txBox="1"/>
          <p:nvPr/>
        </p:nvSpPr>
        <p:spPr>
          <a:xfrm>
            <a:off x="5303520" y="2331720"/>
            <a:ext cx="6035040" cy="914400"/>
          </a:xfrm>
          <a:prstGeom prst="rect">
            <a:avLst/>
          </a:prstGeom>
          <a:noFill/>
        </p:spPr>
        <p:txBody>
          <a:bodyPr wrap="square" anchor="ctr" lIns="0" rIns="0" tIns="0" bIns="0">
            <a:spAutoFit/>
          </a:bodyPr>
          <a:lstStyle/>
          <a:p>
            <a:pPr algn="l"/>
            <a:r>
              <a:rPr sz="1600" b="0">
                <a:solidFill>
                  <a:srgbClr val="CBD5E1"/>
                </a:solidFill>
                <a:latin typeface="Calibri"/>
              </a:rPr>
              <a:t>Seven AI agents, each with one job: identify, verify identity, check codes and amounts, check the policy, look for fraud.</a:t>
            </a:r>
          </a:p>
        </p:txBody>
      </p:sp>
      <p:sp>
        <p:nvSpPr>
          <p:cNvPr id="7" name="TextBox 6"/>
          <p:cNvSpPr txBox="1"/>
          <p:nvPr/>
        </p:nvSpPr>
        <p:spPr>
          <a:xfrm>
            <a:off x="1280160" y="3520439"/>
            <a:ext cx="3840480" cy="914400"/>
          </a:xfrm>
          <a:prstGeom prst="rect">
            <a:avLst/>
          </a:prstGeom>
          <a:noFill/>
        </p:spPr>
        <p:txBody>
          <a:bodyPr wrap="square" anchor="ctr" lIns="0" rIns="0" tIns="0" bIns="0">
            <a:spAutoFit/>
          </a:bodyPr>
          <a:lstStyle/>
          <a:p>
            <a:pPr algn="l"/>
            <a:r>
              <a:rPr sz="2800" b="1">
                <a:solidFill>
                  <a:srgbClr val="FBBF24"/>
                </a:solidFill>
                <a:latin typeface="Calibri"/>
              </a:rPr>
              <a:t>A rulebook decides.</a:t>
            </a:r>
          </a:p>
        </p:txBody>
      </p:sp>
      <p:sp>
        <p:nvSpPr>
          <p:cNvPr id="8" name="TextBox 7"/>
          <p:cNvSpPr txBox="1"/>
          <p:nvPr/>
        </p:nvSpPr>
        <p:spPr>
          <a:xfrm>
            <a:off x="5303520" y="3520439"/>
            <a:ext cx="6035040" cy="914400"/>
          </a:xfrm>
          <a:prstGeom prst="rect">
            <a:avLst/>
          </a:prstGeom>
          <a:noFill/>
        </p:spPr>
        <p:txBody>
          <a:bodyPr wrap="square" anchor="ctr" lIns="0" rIns="0" tIns="0" bIns="0">
            <a:spAutoFit/>
          </a:bodyPr>
          <a:lstStyle/>
          <a:p>
            <a:pPr algn="l"/>
            <a:r>
              <a:rPr sz="1600" b="0">
                <a:solidFill>
                  <a:srgbClr val="CBD5E1"/>
                </a:solidFill>
                <a:latin typeface="Calibri"/>
              </a:rPr>
              <a:t>The AI reports facts. A written rulebook turns them into Approve, Reject or Escalate. Same facts, same answer.</a:t>
            </a:r>
          </a:p>
        </p:txBody>
      </p:sp>
      <p:sp>
        <p:nvSpPr>
          <p:cNvPr id="9" name="TextBox 8"/>
          <p:cNvSpPr txBox="1"/>
          <p:nvPr/>
        </p:nvSpPr>
        <p:spPr>
          <a:xfrm>
            <a:off x="1280160" y="4709160"/>
            <a:ext cx="3840480" cy="914400"/>
          </a:xfrm>
          <a:prstGeom prst="rect">
            <a:avLst/>
          </a:prstGeom>
          <a:noFill/>
        </p:spPr>
        <p:txBody>
          <a:bodyPr wrap="square" anchor="ctr" lIns="0" rIns="0" tIns="0" bIns="0">
            <a:spAutoFit/>
          </a:bodyPr>
          <a:lstStyle/>
          <a:p>
            <a:pPr algn="l"/>
            <a:r>
              <a:rPr sz="2800" b="1">
                <a:solidFill>
                  <a:srgbClr val="4ADE80"/>
                </a:solidFill>
                <a:latin typeface="Calibri"/>
              </a:rPr>
              <a:t>People judge the rest.</a:t>
            </a:r>
          </a:p>
        </p:txBody>
      </p:sp>
      <p:sp>
        <p:nvSpPr>
          <p:cNvPr id="10" name="TextBox 9"/>
          <p:cNvSpPr txBox="1"/>
          <p:nvPr/>
        </p:nvSpPr>
        <p:spPr>
          <a:xfrm>
            <a:off x="5303520" y="4709160"/>
            <a:ext cx="6035040" cy="914400"/>
          </a:xfrm>
          <a:prstGeom prst="rect">
            <a:avLst/>
          </a:prstGeom>
          <a:noFill/>
        </p:spPr>
        <p:txBody>
          <a:bodyPr wrap="square" anchor="ctr" lIns="0" rIns="0" tIns="0" bIns="0">
            <a:spAutoFit/>
          </a:bodyPr>
          <a:lstStyle/>
          <a:p>
            <a:pPr algn="l"/>
            <a:r>
              <a:rPr sz="1600" b="0">
                <a:solidFill>
                  <a:srgbClr val="CBD5E1"/>
                </a:solidFill>
                <a:latin typeface="Calibri"/>
              </a:rPr>
              <a:t>Anything uncertain goes to a reviewer. Over $10,000, a second senior signature. Every click in a tamper-proof log.</a:t>
            </a:r>
          </a:p>
        </p:txBody>
      </p:sp>
      <p:sp>
        <p:nvSpPr>
          <p:cNvPr id="11" name="TextBox 10"/>
          <p:cNvSpPr txBox="1"/>
          <p:nvPr/>
        </p:nvSpPr>
        <p:spPr>
          <a:xfrm>
            <a:off x="1280160" y="5852160"/>
            <a:ext cx="9601200" cy="822960"/>
          </a:xfrm>
          <a:prstGeom prst="rect">
            <a:avLst/>
          </a:prstGeom>
          <a:noFill/>
        </p:spPr>
        <p:txBody>
          <a:bodyPr wrap="square" anchor="t" lIns="0" rIns="0" tIns="0" bIns="0">
            <a:spAutoFit/>
          </a:bodyPr>
          <a:lstStyle/>
          <a:p>
            <a:pPr algn="ctr"/>
            <a:r>
              <a:rPr sz="1500" b="0">
                <a:solidFill>
                  <a:srgbClr val="94A3B8"/>
                </a:solidFill>
                <a:latin typeface="Calibri"/>
              </a:rPr>
              <a:t>English, Spanish and Hindi.  ·  By web upload or email.  ·  Ask it a question, get the policy page back.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pic>
        <p:nvPicPr>
          <p:cNvPr id="2" name="Picture 1" descr="claim_flow.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TextBox 1"/>
          <p:cNvSpPr txBox="1"/>
          <p:nvPr/>
        </p:nvSpPr>
        <p:spPr>
          <a:xfrm>
            <a:off x="822960" y="502920"/>
            <a:ext cx="10515600" cy="320040"/>
          </a:xfrm>
          <a:prstGeom prst="rect">
            <a:avLst/>
          </a:prstGeom>
          <a:noFill/>
        </p:spPr>
        <p:txBody>
          <a:bodyPr wrap="square" anchor="t" lIns="0" rIns="0" tIns="0" bIns="0">
            <a:spAutoFit/>
          </a:bodyPr>
          <a:lstStyle/>
          <a:p>
            <a:pPr algn="ctr"/>
            <a:r>
              <a:rPr sz="1300" b="1">
                <a:solidFill>
                  <a:srgbClr val="2DD4BF"/>
                </a:solidFill>
                <a:latin typeface="Calibri"/>
              </a:rPr>
              <a:t>TESTED ON 78 DOCUMENTS IT HAD NEVER SEEN</a:t>
            </a:r>
          </a:p>
        </p:txBody>
      </p:sp>
      <p:sp>
        <p:nvSpPr>
          <p:cNvPr id="3" name="TextBox 2"/>
          <p:cNvSpPr txBox="1"/>
          <p:nvPr/>
        </p:nvSpPr>
        <p:spPr>
          <a:xfrm>
            <a:off x="10881360" y="6446520"/>
            <a:ext cx="731520" cy="274320"/>
          </a:xfrm>
          <a:prstGeom prst="rect">
            <a:avLst/>
          </a:prstGeom>
          <a:noFill/>
        </p:spPr>
        <p:txBody>
          <a:bodyPr wrap="square" anchor="t" lIns="0" rIns="0" tIns="0" bIns="0">
            <a:spAutoFit/>
          </a:bodyPr>
          <a:lstStyle/>
          <a:p>
            <a:pPr algn="r"/>
            <a:r>
              <a:rPr sz="1000" b="0">
                <a:solidFill>
                  <a:srgbClr val="94A3B8"/>
                </a:solidFill>
                <a:latin typeface="Calibri"/>
              </a:rPr>
              <a:t>8</a:t>
            </a:r>
          </a:p>
        </p:txBody>
      </p:sp>
      <p:sp>
        <p:nvSpPr>
          <p:cNvPr id="4" name="TextBox 3"/>
          <p:cNvSpPr txBox="1"/>
          <p:nvPr/>
        </p:nvSpPr>
        <p:spPr>
          <a:xfrm>
            <a:off x="822960" y="1188720"/>
            <a:ext cx="3505200" cy="1234440"/>
          </a:xfrm>
          <a:prstGeom prst="rect">
            <a:avLst/>
          </a:prstGeom>
          <a:noFill/>
        </p:spPr>
        <p:txBody>
          <a:bodyPr wrap="square" anchor="b" lIns="0" rIns="0" tIns="0" bIns="0">
            <a:spAutoFit/>
          </a:bodyPr>
          <a:lstStyle/>
          <a:p>
            <a:pPr algn="ctr"/>
            <a:r>
              <a:rPr sz="7200" b="1">
                <a:solidFill>
                  <a:srgbClr val="2DD4BF"/>
                </a:solidFill>
                <a:latin typeface="Calibri"/>
              </a:rPr>
              <a:t>100%</a:t>
            </a:r>
          </a:p>
        </p:txBody>
      </p:sp>
      <p:sp>
        <p:nvSpPr>
          <p:cNvPr id="5" name="TextBox 4"/>
          <p:cNvSpPr txBox="1"/>
          <p:nvPr/>
        </p:nvSpPr>
        <p:spPr>
          <a:xfrm>
            <a:off x="1005840" y="2496312"/>
            <a:ext cx="3139440" cy="868680"/>
          </a:xfrm>
          <a:prstGeom prst="rect">
            <a:avLst/>
          </a:prstGeom>
          <a:noFill/>
        </p:spPr>
        <p:txBody>
          <a:bodyPr wrap="square" anchor="t" lIns="0" rIns="0" tIns="0" bIns="0">
            <a:spAutoFit/>
          </a:bodyPr>
          <a:lstStyle/>
          <a:p>
            <a:pPr algn="ctr"/>
            <a:r>
              <a:rPr sz="1600" b="0">
                <a:solidFill>
                  <a:srgbClr val="CBD5E1"/>
                </a:solidFill>
                <a:latin typeface="Calibri"/>
              </a:rPr>
              <a:t>documents</a:t>
            </a:r>
          </a:p>
          <a:p>
            <a:pPr algn="ctr"/>
            <a:r>
              <a:rPr sz="1600" b="0">
                <a:solidFill>
                  <a:srgbClr val="CBD5E1"/>
                </a:solidFill>
                <a:latin typeface="Calibri"/>
              </a:rPr>
              <a:t>identified correctly</a:t>
            </a:r>
          </a:p>
        </p:txBody>
      </p:sp>
      <p:sp>
        <p:nvSpPr>
          <p:cNvPr id="6" name="TextBox 5"/>
          <p:cNvSpPr txBox="1"/>
          <p:nvPr/>
        </p:nvSpPr>
        <p:spPr>
          <a:xfrm>
            <a:off x="4328160" y="1188720"/>
            <a:ext cx="3505200" cy="1234440"/>
          </a:xfrm>
          <a:prstGeom prst="rect">
            <a:avLst/>
          </a:prstGeom>
          <a:noFill/>
        </p:spPr>
        <p:txBody>
          <a:bodyPr wrap="square" anchor="b" lIns="0" rIns="0" tIns="0" bIns="0">
            <a:spAutoFit/>
          </a:bodyPr>
          <a:lstStyle/>
          <a:p>
            <a:pPr algn="ctr"/>
            <a:r>
              <a:rPr sz="7200" b="1">
                <a:solidFill>
                  <a:srgbClr val="2DD4BF"/>
                </a:solidFill>
                <a:latin typeface="Calibri"/>
              </a:rPr>
              <a:t>100%</a:t>
            </a:r>
          </a:p>
        </p:txBody>
      </p:sp>
      <p:sp>
        <p:nvSpPr>
          <p:cNvPr id="7" name="TextBox 6"/>
          <p:cNvSpPr txBox="1"/>
          <p:nvPr/>
        </p:nvSpPr>
        <p:spPr>
          <a:xfrm>
            <a:off x="4511040" y="2496312"/>
            <a:ext cx="3139440" cy="868680"/>
          </a:xfrm>
          <a:prstGeom prst="rect">
            <a:avLst/>
          </a:prstGeom>
          <a:noFill/>
        </p:spPr>
        <p:txBody>
          <a:bodyPr wrap="square" anchor="t" lIns="0" rIns="0" tIns="0" bIns="0">
            <a:spAutoFit/>
          </a:bodyPr>
          <a:lstStyle/>
          <a:p>
            <a:pPr algn="ctr"/>
            <a:r>
              <a:rPr sz="1600" b="0">
                <a:solidFill>
                  <a:srgbClr val="CBD5E1"/>
                </a:solidFill>
                <a:latin typeface="Calibri"/>
              </a:rPr>
              <a:t>claim fields</a:t>
            </a:r>
          </a:p>
          <a:p>
            <a:pPr algn="ctr"/>
            <a:r>
              <a:rPr sz="1600" b="0">
                <a:solidFill>
                  <a:srgbClr val="CBD5E1"/>
                </a:solidFill>
                <a:latin typeface="Calibri"/>
              </a:rPr>
              <a:t>read correctly</a:t>
            </a:r>
          </a:p>
        </p:txBody>
      </p:sp>
      <p:sp>
        <p:nvSpPr>
          <p:cNvPr id="8" name="TextBox 7"/>
          <p:cNvSpPr txBox="1"/>
          <p:nvPr/>
        </p:nvSpPr>
        <p:spPr>
          <a:xfrm>
            <a:off x="7833360" y="1188720"/>
            <a:ext cx="3505200" cy="1234440"/>
          </a:xfrm>
          <a:prstGeom prst="rect">
            <a:avLst/>
          </a:prstGeom>
          <a:noFill/>
        </p:spPr>
        <p:txBody>
          <a:bodyPr wrap="square" anchor="b" lIns="0" rIns="0" tIns="0" bIns="0">
            <a:spAutoFit/>
          </a:bodyPr>
          <a:lstStyle/>
          <a:p>
            <a:pPr algn="ctr"/>
            <a:r>
              <a:rPr sz="7200" b="1">
                <a:solidFill>
                  <a:srgbClr val="2DD4BF"/>
                </a:solidFill>
                <a:latin typeface="Calibri"/>
              </a:rPr>
              <a:t>100%</a:t>
            </a:r>
          </a:p>
        </p:txBody>
      </p:sp>
      <p:sp>
        <p:nvSpPr>
          <p:cNvPr id="9" name="TextBox 8"/>
          <p:cNvSpPr txBox="1"/>
          <p:nvPr/>
        </p:nvSpPr>
        <p:spPr>
          <a:xfrm>
            <a:off x="8016240" y="2496312"/>
            <a:ext cx="3139440" cy="868680"/>
          </a:xfrm>
          <a:prstGeom prst="rect">
            <a:avLst/>
          </a:prstGeom>
          <a:noFill/>
        </p:spPr>
        <p:txBody>
          <a:bodyPr wrap="square" anchor="t" lIns="0" rIns="0" tIns="0" bIns="0">
            <a:spAutoFit/>
          </a:bodyPr>
          <a:lstStyle/>
          <a:p>
            <a:pPr algn="ctr"/>
            <a:r>
              <a:rPr sz="1600" b="0">
                <a:solidFill>
                  <a:srgbClr val="CBD5E1"/>
                </a:solidFill>
                <a:latin typeface="Calibri"/>
              </a:rPr>
              <a:t>right policy clause,</a:t>
            </a:r>
          </a:p>
          <a:p>
            <a:pPr algn="ctr"/>
            <a:r>
              <a:rPr sz="1600" b="0">
                <a:solidFill>
                  <a:srgbClr val="CBD5E1"/>
                </a:solidFill>
                <a:latin typeface="Calibri"/>
              </a:rPr>
              <a:t>with the page</a:t>
            </a:r>
          </a:p>
        </p:txBody>
      </p:sp>
      <p:sp>
        <p:nvSpPr>
          <p:cNvPr id="10" name="TextBox 9"/>
          <p:cNvSpPr txBox="1"/>
          <p:nvPr/>
        </p:nvSpPr>
        <p:spPr>
          <a:xfrm>
            <a:off x="822960" y="3611880"/>
            <a:ext cx="3505200" cy="822960"/>
          </a:xfrm>
          <a:prstGeom prst="rect">
            <a:avLst/>
          </a:prstGeom>
          <a:noFill/>
        </p:spPr>
        <p:txBody>
          <a:bodyPr wrap="square" anchor="b" lIns="0" rIns="0" tIns="0" bIns="0">
            <a:spAutoFit/>
          </a:bodyPr>
          <a:lstStyle/>
          <a:p>
            <a:pPr algn="ctr"/>
            <a:r>
              <a:rPr sz="4800" b="1">
                <a:solidFill>
                  <a:srgbClr val="2DD4BF"/>
                </a:solidFill>
                <a:latin typeface="Calibri"/>
              </a:rPr>
              <a:t>100%</a:t>
            </a:r>
          </a:p>
        </p:txBody>
      </p:sp>
      <p:sp>
        <p:nvSpPr>
          <p:cNvPr id="11" name="TextBox 10"/>
          <p:cNvSpPr txBox="1"/>
          <p:nvPr/>
        </p:nvSpPr>
        <p:spPr>
          <a:xfrm>
            <a:off x="1005840" y="4507992"/>
            <a:ext cx="3139440" cy="1005840"/>
          </a:xfrm>
          <a:prstGeom prst="rect">
            <a:avLst/>
          </a:prstGeom>
          <a:noFill/>
        </p:spPr>
        <p:txBody>
          <a:bodyPr wrap="square" anchor="t" lIns="0" rIns="0" tIns="0" bIns="0">
            <a:spAutoFit/>
          </a:bodyPr>
          <a:lstStyle/>
          <a:p>
            <a:pPr algn="ctr"/>
            <a:r>
              <a:rPr sz="1600" b="0">
                <a:solidFill>
                  <a:srgbClr val="CBD5E1"/>
                </a:solidFill>
                <a:latin typeface="Calibri"/>
              </a:rPr>
              <a:t>decisions correct where the</a:t>
            </a:r>
          </a:p>
          <a:p>
            <a:pPr algn="ctr"/>
            <a:r>
              <a:rPr sz="1600" b="0">
                <a:solidFill>
                  <a:srgbClr val="CBD5E1"/>
                </a:solidFill>
                <a:latin typeface="Calibri"/>
              </a:rPr>
              <a:t>evidence is on the page</a:t>
            </a:r>
          </a:p>
        </p:txBody>
      </p:sp>
      <p:sp>
        <p:nvSpPr>
          <p:cNvPr id="12" name="TextBox 11"/>
          <p:cNvSpPr txBox="1"/>
          <p:nvPr/>
        </p:nvSpPr>
        <p:spPr>
          <a:xfrm>
            <a:off x="4328160" y="3611880"/>
            <a:ext cx="3505200" cy="822960"/>
          </a:xfrm>
          <a:prstGeom prst="rect">
            <a:avLst/>
          </a:prstGeom>
          <a:noFill/>
        </p:spPr>
        <p:txBody>
          <a:bodyPr wrap="square" anchor="b" lIns="0" rIns="0" tIns="0" bIns="0">
            <a:spAutoFit/>
          </a:bodyPr>
          <a:lstStyle/>
          <a:p>
            <a:pPr algn="ctr"/>
            <a:r>
              <a:rPr sz="4800" b="1">
                <a:solidFill>
                  <a:srgbClr val="2DD4BF"/>
                </a:solidFill>
                <a:latin typeface="Calibri"/>
              </a:rPr>
              <a:t>96.2%</a:t>
            </a:r>
          </a:p>
        </p:txBody>
      </p:sp>
      <p:sp>
        <p:nvSpPr>
          <p:cNvPr id="13" name="TextBox 12"/>
          <p:cNvSpPr txBox="1"/>
          <p:nvPr/>
        </p:nvSpPr>
        <p:spPr>
          <a:xfrm>
            <a:off x="4511040" y="4507992"/>
            <a:ext cx="3139440" cy="1005840"/>
          </a:xfrm>
          <a:prstGeom prst="rect">
            <a:avLst/>
          </a:prstGeom>
          <a:noFill/>
        </p:spPr>
        <p:txBody>
          <a:bodyPr wrap="square" anchor="t" lIns="0" rIns="0" tIns="0" bIns="0">
            <a:spAutoFit/>
          </a:bodyPr>
          <a:lstStyle/>
          <a:p>
            <a:pPr algn="ctr"/>
            <a:r>
              <a:rPr sz="1600" b="0">
                <a:solidFill>
                  <a:srgbClr val="CBD5E1"/>
                </a:solidFill>
                <a:latin typeface="Calibri"/>
              </a:rPr>
              <a:t>counting labels the test set</a:t>
            </a:r>
          </a:p>
          <a:p>
            <a:pPr algn="ctr"/>
            <a:r>
              <a:rPr sz="1600" b="0">
                <a:solidFill>
                  <a:srgbClr val="CBD5E1"/>
                </a:solidFill>
                <a:latin typeface="Calibri"/>
              </a:rPr>
              <a:t>never drew on the page</a:t>
            </a:r>
          </a:p>
        </p:txBody>
      </p:sp>
      <p:sp>
        <p:nvSpPr>
          <p:cNvPr id="14" name="TextBox 13"/>
          <p:cNvSpPr txBox="1"/>
          <p:nvPr/>
        </p:nvSpPr>
        <p:spPr>
          <a:xfrm>
            <a:off x="7833360" y="3611880"/>
            <a:ext cx="3505200" cy="822960"/>
          </a:xfrm>
          <a:prstGeom prst="rect">
            <a:avLst/>
          </a:prstGeom>
          <a:noFill/>
        </p:spPr>
        <p:txBody>
          <a:bodyPr wrap="square" anchor="b" lIns="0" rIns="0" tIns="0" bIns="0">
            <a:spAutoFit/>
          </a:bodyPr>
          <a:lstStyle/>
          <a:p>
            <a:pPr algn="ctr"/>
            <a:r>
              <a:rPr sz="4800" b="1">
                <a:solidFill>
                  <a:srgbClr val="2DD4BF"/>
                </a:solidFill>
                <a:latin typeface="Calibri"/>
              </a:rPr>
              <a:t>100%</a:t>
            </a:r>
          </a:p>
        </p:txBody>
      </p:sp>
      <p:sp>
        <p:nvSpPr>
          <p:cNvPr id="15" name="TextBox 14"/>
          <p:cNvSpPr txBox="1"/>
          <p:nvPr/>
        </p:nvSpPr>
        <p:spPr>
          <a:xfrm>
            <a:off x="8016240" y="4507992"/>
            <a:ext cx="3139440" cy="1005840"/>
          </a:xfrm>
          <a:prstGeom prst="rect">
            <a:avLst/>
          </a:prstGeom>
          <a:noFill/>
        </p:spPr>
        <p:txBody>
          <a:bodyPr wrap="square" anchor="t" lIns="0" rIns="0" tIns="0" bIns="0">
            <a:spAutoFit/>
          </a:bodyPr>
          <a:lstStyle/>
          <a:p>
            <a:pPr algn="ctr"/>
            <a:r>
              <a:rPr sz="1600" b="0">
                <a:solidFill>
                  <a:srgbClr val="CBD5E1"/>
                </a:solidFill>
                <a:latin typeface="Calibri"/>
              </a:rPr>
              <a:t>of 80 Spanish and Hindi</a:t>
            </a:r>
          </a:p>
          <a:p>
            <a:pPr algn="ctr"/>
            <a:r>
              <a:rPr sz="1600" b="0">
                <a:solidFill>
                  <a:srgbClr val="CBD5E1"/>
                </a:solidFill>
                <a:latin typeface="Calibri"/>
              </a:rPr>
              <a:t>documents identified correctly</a:t>
            </a:r>
          </a:p>
        </p:txBody>
      </p:sp>
      <p:sp>
        <p:nvSpPr>
          <p:cNvPr id="16" name="TextBox 15"/>
          <p:cNvSpPr txBox="1"/>
          <p:nvPr/>
        </p:nvSpPr>
        <p:spPr>
          <a:xfrm>
            <a:off x="1280160" y="5760720"/>
            <a:ext cx="9601200" cy="822960"/>
          </a:xfrm>
          <a:prstGeom prst="rect">
            <a:avLst/>
          </a:prstGeom>
          <a:noFill/>
        </p:spPr>
        <p:txBody>
          <a:bodyPr wrap="square" anchor="t" lIns="0" rIns="0" tIns="0" bIns="0">
            <a:spAutoFit/>
          </a:bodyPr>
          <a:lstStyle/>
          <a:p>
            <a:pPr algn="ctr"/>
            <a:r>
              <a:rPr sz="1500" b="0">
                <a:solidFill>
                  <a:srgbClr val="94A3B8"/>
                </a:solidFill>
                <a:latin typeface="Calibri"/>
              </a:rPr>
              <a:t>Labelled test data, not real scans yet. That is what the pilot is for.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TextBox 1"/>
          <p:cNvSpPr txBox="1"/>
          <p:nvPr/>
        </p:nvSpPr>
        <p:spPr>
          <a:xfrm>
            <a:off x="10881360" y="6446520"/>
            <a:ext cx="731520" cy="274320"/>
          </a:xfrm>
          <a:prstGeom prst="rect">
            <a:avLst/>
          </a:prstGeom>
          <a:noFill/>
        </p:spPr>
        <p:txBody>
          <a:bodyPr wrap="square" anchor="t" lIns="0" rIns="0" tIns="0" bIns="0">
            <a:spAutoFit/>
          </a:bodyPr>
          <a:lstStyle/>
          <a:p>
            <a:pPr algn="r"/>
            <a:r>
              <a:rPr sz="1000" b="0">
                <a:solidFill>
                  <a:srgbClr val="94A3B8"/>
                </a:solidFill>
                <a:latin typeface="Calibri"/>
              </a:rPr>
              <a:t>9</a:t>
            </a:r>
          </a:p>
        </p:txBody>
      </p:sp>
      <p:sp>
        <p:nvSpPr>
          <p:cNvPr id="3" name="TextBox 2"/>
          <p:cNvSpPr txBox="1"/>
          <p:nvPr/>
        </p:nvSpPr>
        <p:spPr>
          <a:xfrm>
            <a:off x="822960" y="1188720"/>
            <a:ext cx="4754880" cy="1188720"/>
          </a:xfrm>
          <a:prstGeom prst="rect">
            <a:avLst/>
          </a:prstGeom>
          <a:noFill/>
        </p:spPr>
        <p:txBody>
          <a:bodyPr wrap="square" anchor="ctr" lIns="0" rIns="0" tIns="0" bIns="0">
            <a:spAutoFit/>
          </a:bodyPr>
          <a:lstStyle/>
          <a:p>
            <a:pPr algn="r"/>
            <a:r>
              <a:rPr sz="6400" b="1">
                <a:solidFill>
                  <a:srgbClr val="94A3B8"/>
                </a:solidFill>
                <a:latin typeface="Calibri"/>
              </a:rPr>
              <a:t>$18</a:t>
            </a:r>
          </a:p>
        </p:txBody>
      </p:sp>
      <p:sp>
        <p:nvSpPr>
          <p:cNvPr id="4" name="TextBox 3"/>
          <p:cNvSpPr txBox="1"/>
          <p:nvPr/>
        </p:nvSpPr>
        <p:spPr>
          <a:xfrm>
            <a:off x="5577840" y="1188720"/>
            <a:ext cx="1005840" cy="1188720"/>
          </a:xfrm>
          <a:prstGeom prst="rect">
            <a:avLst/>
          </a:prstGeom>
          <a:noFill/>
        </p:spPr>
        <p:txBody>
          <a:bodyPr wrap="square" anchor="ctr" lIns="0" rIns="0" tIns="0" bIns="0">
            <a:spAutoFit/>
          </a:bodyPr>
          <a:lstStyle/>
          <a:p>
            <a:pPr algn="ctr"/>
            <a:r>
              <a:rPr sz="4800" b="0">
                <a:solidFill>
                  <a:srgbClr val="94A3B8"/>
                </a:solidFill>
                <a:latin typeface="Calibri"/>
              </a:rPr>
              <a:t>→</a:t>
            </a:r>
          </a:p>
        </p:txBody>
      </p:sp>
      <p:sp>
        <p:nvSpPr>
          <p:cNvPr id="5" name="TextBox 4"/>
          <p:cNvSpPr txBox="1"/>
          <p:nvPr/>
        </p:nvSpPr>
        <p:spPr>
          <a:xfrm>
            <a:off x="6583680" y="1188720"/>
            <a:ext cx="4754880" cy="1188720"/>
          </a:xfrm>
          <a:prstGeom prst="rect">
            <a:avLst/>
          </a:prstGeom>
          <a:noFill/>
        </p:spPr>
        <p:txBody>
          <a:bodyPr wrap="square" anchor="ctr" lIns="0" rIns="0" tIns="0" bIns="0">
            <a:spAutoFit/>
          </a:bodyPr>
          <a:lstStyle/>
          <a:p>
            <a:pPr algn="l"/>
            <a:r>
              <a:rPr sz="6400" b="1">
                <a:solidFill>
                  <a:srgbClr val="2DD4BF"/>
                </a:solidFill>
                <a:latin typeface="Calibri"/>
              </a:rPr>
              <a:t>$0.08</a:t>
            </a:r>
          </a:p>
        </p:txBody>
      </p:sp>
      <p:sp>
        <p:nvSpPr>
          <p:cNvPr id="6" name="TextBox 5"/>
          <p:cNvSpPr txBox="1"/>
          <p:nvPr/>
        </p:nvSpPr>
        <p:spPr>
          <a:xfrm>
            <a:off x="822960" y="2423160"/>
            <a:ext cx="10515600" cy="365760"/>
          </a:xfrm>
          <a:prstGeom prst="rect">
            <a:avLst/>
          </a:prstGeom>
          <a:noFill/>
        </p:spPr>
        <p:txBody>
          <a:bodyPr wrap="square" anchor="t" lIns="0" rIns="0" tIns="0" bIns="0">
            <a:spAutoFit/>
          </a:bodyPr>
          <a:lstStyle/>
          <a:p>
            <a:pPr algn="ctr"/>
            <a:r>
              <a:rPr sz="1500" b="0">
                <a:solidFill>
                  <a:srgbClr val="94A3B8"/>
                </a:solidFill>
                <a:latin typeface="Calibri"/>
              </a:rPr>
              <a:t>per document by hand   →   per whole claim in AI</a:t>
            </a:r>
          </a:p>
        </p:txBody>
      </p:sp>
      <p:sp>
        <p:nvSpPr>
          <p:cNvPr id="7" name="TextBox 6"/>
          <p:cNvSpPr txBox="1"/>
          <p:nvPr/>
        </p:nvSpPr>
        <p:spPr>
          <a:xfrm>
            <a:off x="822960" y="3566160"/>
            <a:ext cx="4754880" cy="1188720"/>
          </a:xfrm>
          <a:prstGeom prst="rect">
            <a:avLst/>
          </a:prstGeom>
          <a:noFill/>
        </p:spPr>
        <p:txBody>
          <a:bodyPr wrap="square" anchor="ctr" lIns="0" rIns="0" tIns="0" bIns="0">
            <a:spAutoFit/>
          </a:bodyPr>
          <a:lstStyle/>
          <a:p>
            <a:pPr algn="r"/>
            <a:r>
              <a:rPr sz="6400" b="1">
                <a:solidFill>
                  <a:srgbClr val="94A3B8"/>
                </a:solidFill>
                <a:latin typeface="Calibri"/>
              </a:rPr>
              <a:t>4.2 days</a:t>
            </a:r>
          </a:p>
        </p:txBody>
      </p:sp>
      <p:sp>
        <p:nvSpPr>
          <p:cNvPr id="8" name="TextBox 7"/>
          <p:cNvSpPr txBox="1"/>
          <p:nvPr/>
        </p:nvSpPr>
        <p:spPr>
          <a:xfrm>
            <a:off x="5577840" y="3566160"/>
            <a:ext cx="1005840" cy="1188720"/>
          </a:xfrm>
          <a:prstGeom prst="rect">
            <a:avLst/>
          </a:prstGeom>
          <a:noFill/>
        </p:spPr>
        <p:txBody>
          <a:bodyPr wrap="square" anchor="ctr" lIns="0" rIns="0" tIns="0" bIns="0">
            <a:spAutoFit/>
          </a:bodyPr>
          <a:lstStyle/>
          <a:p>
            <a:pPr algn="ctr"/>
            <a:r>
              <a:rPr sz="4800" b="0">
                <a:solidFill>
                  <a:srgbClr val="94A3B8"/>
                </a:solidFill>
                <a:latin typeface="Calibri"/>
              </a:rPr>
              <a:t>→</a:t>
            </a:r>
          </a:p>
        </p:txBody>
      </p:sp>
      <p:sp>
        <p:nvSpPr>
          <p:cNvPr id="9" name="TextBox 8"/>
          <p:cNvSpPr txBox="1"/>
          <p:nvPr/>
        </p:nvSpPr>
        <p:spPr>
          <a:xfrm>
            <a:off x="6583680" y="3566160"/>
            <a:ext cx="4754880" cy="1188720"/>
          </a:xfrm>
          <a:prstGeom prst="rect">
            <a:avLst/>
          </a:prstGeom>
          <a:noFill/>
        </p:spPr>
        <p:txBody>
          <a:bodyPr wrap="square" anchor="ctr" lIns="0" rIns="0" tIns="0" bIns="0">
            <a:spAutoFit/>
          </a:bodyPr>
          <a:lstStyle/>
          <a:p>
            <a:pPr algn="l"/>
            <a:r>
              <a:rPr sz="6400" b="1">
                <a:solidFill>
                  <a:srgbClr val="2DD4BF"/>
                </a:solidFill>
                <a:latin typeface="Calibri"/>
              </a:rPr>
              <a:t>1 minute</a:t>
            </a:r>
          </a:p>
        </p:txBody>
      </p:sp>
      <p:sp>
        <p:nvSpPr>
          <p:cNvPr id="10" name="TextBox 9"/>
          <p:cNvSpPr txBox="1"/>
          <p:nvPr/>
        </p:nvSpPr>
        <p:spPr>
          <a:xfrm>
            <a:off x="822960" y="4800600"/>
            <a:ext cx="10515600" cy="365760"/>
          </a:xfrm>
          <a:prstGeom prst="rect">
            <a:avLst/>
          </a:prstGeom>
          <a:noFill/>
        </p:spPr>
        <p:txBody>
          <a:bodyPr wrap="square" anchor="t" lIns="0" rIns="0" tIns="0" bIns="0">
            <a:spAutoFit/>
          </a:bodyPr>
          <a:lstStyle/>
          <a:p>
            <a:pPr algn="ctr"/>
            <a:r>
              <a:rPr sz="1500" b="0">
                <a:solidFill>
                  <a:srgbClr val="94A3B8"/>
                </a:solidFill>
                <a:latin typeface="Calibri"/>
              </a:rPr>
              <a:t>waiting today   →   live, on AWS</a:t>
            </a:r>
          </a:p>
        </p:txBody>
      </p:sp>
      <p:sp>
        <p:nvSpPr>
          <p:cNvPr id="11" name="TextBox 10"/>
          <p:cNvSpPr txBox="1"/>
          <p:nvPr/>
        </p:nvSpPr>
        <p:spPr>
          <a:xfrm>
            <a:off x="1280160" y="5852160"/>
            <a:ext cx="9601200" cy="822960"/>
          </a:xfrm>
          <a:prstGeom prst="rect">
            <a:avLst/>
          </a:prstGeom>
          <a:noFill/>
        </p:spPr>
        <p:txBody>
          <a:bodyPr wrap="square" anchor="t" lIns="0" rIns="0" tIns="0" bIns="0">
            <a:spAutoFit/>
          </a:bodyPr>
          <a:lstStyle/>
          <a:p>
            <a:pPr algn="ctr"/>
            <a:r>
              <a:rPr sz="1500" b="0">
                <a:solidFill>
                  <a:srgbClr val="94A3B8"/>
                </a:solidFill>
                <a:latin typeface="Calibri"/>
              </a:rPr>
              <a:t>Savings depend on how many claims go straight through. The pilot measures that; I'm not guessing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TextBox 1"/>
          <p:cNvSpPr txBox="1"/>
          <p:nvPr/>
        </p:nvSpPr>
        <p:spPr>
          <a:xfrm>
            <a:off x="822960" y="502920"/>
            <a:ext cx="10515600" cy="320040"/>
          </a:xfrm>
          <a:prstGeom prst="rect">
            <a:avLst/>
          </a:prstGeom>
          <a:noFill/>
        </p:spPr>
        <p:txBody>
          <a:bodyPr wrap="square" anchor="t" lIns="0" rIns="0" tIns="0" bIns="0">
            <a:spAutoFit/>
          </a:bodyPr>
          <a:lstStyle/>
          <a:p>
            <a:pPr algn="ctr"/>
            <a:r>
              <a:rPr sz="1300" b="1">
                <a:solidFill>
                  <a:srgbClr val="2DD4BF"/>
                </a:solidFill>
                <a:latin typeface="Calibri"/>
              </a:rPr>
              <a:t>IS IT SAFE?</a:t>
            </a:r>
          </a:p>
        </p:txBody>
      </p:sp>
      <p:sp>
        <p:nvSpPr>
          <p:cNvPr id="3" name="TextBox 2"/>
          <p:cNvSpPr txBox="1"/>
          <p:nvPr/>
        </p:nvSpPr>
        <p:spPr>
          <a:xfrm>
            <a:off x="10881360" y="6446520"/>
            <a:ext cx="731520" cy="274320"/>
          </a:xfrm>
          <a:prstGeom prst="rect">
            <a:avLst/>
          </a:prstGeom>
          <a:noFill/>
        </p:spPr>
        <p:txBody>
          <a:bodyPr wrap="square" anchor="t" lIns="0" rIns="0" tIns="0" bIns="0">
            <a:spAutoFit/>
          </a:bodyPr>
          <a:lstStyle/>
          <a:p>
            <a:pPr algn="r"/>
            <a:r>
              <a:rPr sz="1000" b="0">
                <a:solidFill>
                  <a:srgbClr val="94A3B8"/>
                </a:solidFill>
                <a:latin typeface="Calibri"/>
              </a:rPr>
              <a:t>10</a:t>
            </a:r>
          </a:p>
        </p:txBody>
      </p:sp>
      <p:sp>
        <p:nvSpPr>
          <p:cNvPr id="4" name="TextBox 3"/>
          <p:cNvSpPr txBox="1"/>
          <p:nvPr/>
        </p:nvSpPr>
        <p:spPr>
          <a:xfrm>
            <a:off x="822960" y="868680"/>
            <a:ext cx="10515600" cy="1280160"/>
          </a:xfrm>
          <a:prstGeom prst="rect">
            <a:avLst/>
          </a:prstGeom>
          <a:noFill/>
        </p:spPr>
        <p:txBody>
          <a:bodyPr wrap="square" anchor="ctr" lIns="0" rIns="0" tIns="0" bIns="0">
            <a:spAutoFit/>
          </a:bodyPr>
          <a:lstStyle/>
          <a:p>
            <a:pPr algn="ctr"/>
            <a:r>
              <a:rPr sz="5400" b="1">
                <a:solidFill>
                  <a:srgbClr val="F8FAFC"/>
                </a:solidFill>
                <a:latin typeface="Calibri"/>
              </a:rPr>
              <a:t>Safe by design.</a:t>
            </a:r>
          </a:p>
        </p:txBody>
      </p:sp>
      <p:sp>
        <p:nvSpPr>
          <p:cNvPr id="5" name="TextBox 4"/>
          <p:cNvSpPr txBox="1"/>
          <p:nvPr/>
        </p:nvSpPr>
        <p:spPr>
          <a:xfrm>
            <a:off x="1463040" y="2286000"/>
            <a:ext cx="9509760" cy="594360"/>
          </a:xfrm>
          <a:prstGeom prst="rect">
            <a:avLst/>
          </a:prstGeom>
          <a:noFill/>
        </p:spPr>
        <p:txBody>
          <a:bodyPr wrap="square" anchor="ctr" lIns="0" rIns="0" tIns="0" bIns="0">
            <a:spAutoFit/>
          </a:bodyPr>
          <a:lstStyle/>
          <a:p>
            <a:pPr algn="l"/>
            <a:r>
              <a:rPr sz="2000" b="0">
                <a:solidFill>
                  <a:srgbClr val="F8FAFC"/>
                </a:solidFill>
                <a:latin typeface="Calibri"/>
              </a:rPr>
              <a:t>Each role sees only its own data, enforced where the data is read.</a:t>
            </a:r>
          </a:p>
        </p:txBody>
      </p:sp>
      <p:sp>
        <p:nvSpPr>
          <p:cNvPr id="6" name="TextBox 5"/>
          <p:cNvSpPr txBox="1"/>
          <p:nvPr/>
        </p:nvSpPr>
        <p:spPr>
          <a:xfrm>
            <a:off x="1463040" y="2971800"/>
            <a:ext cx="9509760" cy="594360"/>
          </a:xfrm>
          <a:prstGeom prst="rect">
            <a:avLst/>
          </a:prstGeom>
          <a:noFill/>
        </p:spPr>
        <p:txBody>
          <a:bodyPr wrap="square" anchor="ctr" lIns="0" rIns="0" tIns="0" bIns="0">
            <a:spAutoFit/>
          </a:bodyPr>
          <a:lstStyle/>
          <a:p>
            <a:pPr algn="l"/>
            <a:r>
              <a:rPr sz="2000" b="0">
                <a:solidFill>
                  <a:srgbClr val="F8FAFC"/>
                </a:solidFill>
                <a:latin typeface="Calibri"/>
              </a:rPr>
              <a:t>Over $10,000, a second signature from a senior reviewer.</a:t>
            </a:r>
          </a:p>
        </p:txBody>
      </p:sp>
      <p:sp>
        <p:nvSpPr>
          <p:cNvPr id="7" name="TextBox 6"/>
          <p:cNvSpPr txBox="1"/>
          <p:nvPr/>
        </p:nvSpPr>
        <p:spPr>
          <a:xfrm>
            <a:off x="1463040" y="3657600"/>
            <a:ext cx="9509760" cy="594360"/>
          </a:xfrm>
          <a:prstGeom prst="rect">
            <a:avLst/>
          </a:prstGeom>
          <a:noFill/>
        </p:spPr>
        <p:txBody>
          <a:bodyPr wrap="square" anchor="ctr" lIns="0" rIns="0" tIns="0" bIns="0">
            <a:spAutoFit/>
          </a:bodyPr>
          <a:lstStyle/>
          <a:p>
            <a:pPr algn="l"/>
            <a:r>
              <a:rPr sz="2000" b="0">
                <a:solidFill>
                  <a:srgbClr val="F8FAFC"/>
                </a:solidFill>
                <a:latin typeface="Calibri"/>
              </a:rPr>
              <a:t>A logbook nobody can edit: every action chained to the one before.</a:t>
            </a:r>
          </a:p>
        </p:txBody>
      </p:sp>
      <p:sp>
        <p:nvSpPr>
          <p:cNvPr id="8" name="TextBox 7"/>
          <p:cNvSpPr txBox="1"/>
          <p:nvPr/>
        </p:nvSpPr>
        <p:spPr>
          <a:xfrm>
            <a:off x="1463040" y="4343400"/>
            <a:ext cx="9509760" cy="594360"/>
          </a:xfrm>
          <a:prstGeom prst="rect">
            <a:avLst/>
          </a:prstGeom>
          <a:noFill/>
        </p:spPr>
        <p:txBody>
          <a:bodyPr wrap="square" anchor="ctr" lIns="0" rIns="0" tIns="0" bIns="0">
            <a:spAutoFit/>
          </a:bodyPr>
          <a:lstStyle/>
          <a:p>
            <a:pPr algn="l"/>
            <a:r>
              <a:rPr sz="2000" b="0">
                <a:solidFill>
                  <a:srgbClr val="F8FAFC"/>
                </a:solidFill>
                <a:latin typeface="Calibri"/>
              </a:rPr>
              <a:t>7 documents with hidden 'approve this' instructions. Decisions changed: 0.</a:t>
            </a:r>
          </a:p>
        </p:txBody>
      </p:sp>
      <p:sp>
        <p:nvSpPr>
          <p:cNvPr id="9" name="TextBox 8"/>
          <p:cNvSpPr txBox="1"/>
          <p:nvPr/>
        </p:nvSpPr>
        <p:spPr>
          <a:xfrm>
            <a:off x="1463040" y="5029200"/>
            <a:ext cx="9509760" cy="594360"/>
          </a:xfrm>
          <a:prstGeom prst="rect">
            <a:avLst/>
          </a:prstGeom>
          <a:noFill/>
        </p:spPr>
        <p:txBody>
          <a:bodyPr wrap="square" anchor="ctr" lIns="0" rIns="0" tIns="0" bIns="0">
            <a:spAutoFit/>
          </a:bodyPr>
          <a:lstStyle/>
          <a:p>
            <a:pPr algn="l"/>
            <a:r>
              <a:rPr sz="2000" b="0">
                <a:solidFill>
                  <a:srgbClr val="F8FAFC"/>
                </a:solidFill>
                <a:latin typeface="Calibri"/>
              </a:rPr>
              <a:t>A second AI grades the first. Planted wrong answers caught: 3 of 3.</a:t>
            </a:r>
          </a:p>
        </p:txBody>
      </p:sp>
      <p:sp>
        <p:nvSpPr>
          <p:cNvPr id="10" name="TextBox 9"/>
          <p:cNvSpPr txBox="1"/>
          <p:nvPr/>
        </p:nvSpPr>
        <p:spPr>
          <a:xfrm>
            <a:off x="1280160" y="5806440"/>
            <a:ext cx="9601200" cy="822960"/>
          </a:xfrm>
          <a:prstGeom prst="rect">
            <a:avLst/>
          </a:prstGeom>
          <a:noFill/>
        </p:spPr>
        <p:txBody>
          <a:bodyPr wrap="square" anchor="t" lIns="0" rIns="0" tIns="0" bIns="0">
            <a:spAutoFit/>
          </a:bodyPr>
          <a:lstStyle/>
          <a:p>
            <a:pPr algn="ctr"/>
            <a:r>
              <a:rPr sz="1500" b="0">
                <a:solidFill>
                  <a:srgbClr val="94A3B8"/>
                </a:solidFill>
                <a:latin typeface="Calibri"/>
              </a:rPr>
              <a:t>AI spend capped in code. Patient details stripped from logs and traces.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TextBox 1"/>
          <p:cNvSpPr txBox="1"/>
          <p:nvPr/>
        </p:nvSpPr>
        <p:spPr>
          <a:xfrm>
            <a:off x="822960" y="502920"/>
            <a:ext cx="10515600" cy="320040"/>
          </a:xfrm>
          <a:prstGeom prst="rect">
            <a:avLst/>
          </a:prstGeom>
          <a:noFill/>
        </p:spPr>
        <p:txBody>
          <a:bodyPr wrap="square" anchor="t" lIns="0" rIns="0" tIns="0" bIns="0">
            <a:spAutoFit/>
          </a:bodyPr>
          <a:lstStyle/>
          <a:p>
            <a:pPr algn="ctr"/>
            <a:r>
              <a:rPr sz="1300" b="1">
                <a:solidFill>
                  <a:srgbClr val="2DD4BF"/>
                </a:solidFill>
                <a:latin typeface="Calibri"/>
              </a:rPr>
              <a:t>WHAT'S NEXT</a:t>
            </a:r>
          </a:p>
        </p:txBody>
      </p:sp>
      <p:sp>
        <p:nvSpPr>
          <p:cNvPr id="3" name="TextBox 2"/>
          <p:cNvSpPr txBox="1"/>
          <p:nvPr/>
        </p:nvSpPr>
        <p:spPr>
          <a:xfrm>
            <a:off x="10881360" y="6446520"/>
            <a:ext cx="731520" cy="274320"/>
          </a:xfrm>
          <a:prstGeom prst="rect">
            <a:avLst/>
          </a:prstGeom>
          <a:noFill/>
        </p:spPr>
        <p:txBody>
          <a:bodyPr wrap="square" anchor="t" lIns="0" rIns="0" tIns="0" bIns="0">
            <a:spAutoFit/>
          </a:bodyPr>
          <a:lstStyle/>
          <a:p>
            <a:pPr algn="r"/>
            <a:r>
              <a:rPr sz="1000" b="0">
                <a:solidFill>
                  <a:srgbClr val="94A3B8"/>
                </a:solidFill>
                <a:latin typeface="Calibri"/>
              </a:rPr>
              <a:t>11</a:t>
            </a:r>
          </a:p>
        </p:txBody>
      </p:sp>
      <p:sp>
        <p:nvSpPr>
          <p:cNvPr id="4" name="TextBox 3"/>
          <p:cNvSpPr txBox="1"/>
          <p:nvPr/>
        </p:nvSpPr>
        <p:spPr>
          <a:xfrm>
            <a:off x="822960" y="868680"/>
            <a:ext cx="10515600" cy="1280160"/>
          </a:xfrm>
          <a:prstGeom prst="rect">
            <a:avLst/>
          </a:prstGeom>
          <a:noFill/>
        </p:spPr>
        <p:txBody>
          <a:bodyPr wrap="square" anchor="ctr" lIns="0" rIns="0" tIns="0" bIns="0">
            <a:spAutoFit/>
          </a:bodyPr>
          <a:lstStyle/>
          <a:p>
            <a:pPr algn="ctr"/>
            <a:r>
              <a:rPr sz="5400" b="1">
                <a:solidFill>
                  <a:srgbClr val="F8FAFC"/>
                </a:solidFill>
                <a:latin typeface="Calibri"/>
              </a:rPr>
              <a:t>Shadow. Assist. Automate.</a:t>
            </a:r>
          </a:p>
        </p:txBody>
      </p:sp>
      <p:sp>
        <p:nvSpPr>
          <p:cNvPr id="5" name="TextBox 4"/>
          <p:cNvSpPr txBox="1"/>
          <p:nvPr/>
        </p:nvSpPr>
        <p:spPr>
          <a:xfrm>
            <a:off x="822960" y="2286000"/>
            <a:ext cx="3505200" cy="548640"/>
          </a:xfrm>
          <a:prstGeom prst="rect">
            <a:avLst/>
          </a:prstGeom>
          <a:noFill/>
        </p:spPr>
        <p:txBody>
          <a:bodyPr wrap="square" anchor="t" lIns="0" rIns="0" tIns="0" bIns="0">
            <a:spAutoFit/>
          </a:bodyPr>
          <a:lstStyle/>
          <a:p>
            <a:pPr algn="ctr"/>
            <a:r>
              <a:rPr sz="2800" b="1">
                <a:solidFill>
                  <a:srgbClr val="2DD4BF"/>
                </a:solidFill>
                <a:latin typeface="Calibri"/>
              </a:rPr>
              <a:t>Shadow</a:t>
            </a:r>
          </a:p>
        </p:txBody>
      </p:sp>
      <p:sp>
        <p:nvSpPr>
          <p:cNvPr id="6" name="TextBox 5"/>
          <p:cNvSpPr txBox="1"/>
          <p:nvPr/>
        </p:nvSpPr>
        <p:spPr>
          <a:xfrm>
            <a:off x="1097280" y="2880360"/>
            <a:ext cx="2956560" cy="1097280"/>
          </a:xfrm>
          <a:prstGeom prst="rect">
            <a:avLst/>
          </a:prstGeom>
          <a:noFill/>
        </p:spPr>
        <p:txBody>
          <a:bodyPr wrap="square" anchor="t" lIns="0" rIns="0" tIns="0" bIns="0">
            <a:spAutoFit/>
          </a:bodyPr>
          <a:lstStyle/>
          <a:p>
            <a:pPr algn="ctr"/>
            <a:r>
              <a:rPr sz="1600" b="0">
                <a:solidFill>
                  <a:srgbClr val="CBD5E1"/>
                </a:solidFill>
                <a:latin typeface="Calibri"/>
              </a:rPr>
              <a:t>Runs beside one team on real scans.</a:t>
            </a:r>
          </a:p>
          <a:p>
            <a:pPr algn="ctr"/>
            <a:r>
              <a:rPr sz="1600" b="0">
                <a:solidFill>
                  <a:srgbClr val="CBD5E1"/>
                </a:solidFill>
                <a:latin typeface="Calibri"/>
              </a:rPr>
              <a:t>Its decisions are compared, never used.</a:t>
            </a:r>
          </a:p>
        </p:txBody>
      </p:sp>
      <p:sp>
        <p:nvSpPr>
          <p:cNvPr id="7" name="TextBox 6"/>
          <p:cNvSpPr txBox="1"/>
          <p:nvPr/>
        </p:nvSpPr>
        <p:spPr>
          <a:xfrm>
            <a:off x="822960" y="3977639"/>
            <a:ext cx="3505200" cy="365760"/>
          </a:xfrm>
          <a:prstGeom prst="rect">
            <a:avLst/>
          </a:prstGeom>
          <a:noFill/>
        </p:spPr>
        <p:txBody>
          <a:bodyPr wrap="square" anchor="t" lIns="0" rIns="0" tIns="0" bIns="0">
            <a:spAutoFit/>
          </a:bodyPr>
          <a:lstStyle/>
          <a:p>
            <a:pPr algn="ctr"/>
            <a:r>
              <a:rPr sz="1500" b="1">
                <a:solidFill>
                  <a:srgbClr val="4ADE80"/>
                </a:solidFill>
                <a:latin typeface="Calibri"/>
              </a:rPr>
              <a:t>≥ 95% agreement</a:t>
            </a:r>
          </a:p>
        </p:txBody>
      </p:sp>
      <p:sp>
        <p:nvSpPr>
          <p:cNvPr id="8" name="TextBox 7"/>
          <p:cNvSpPr txBox="1"/>
          <p:nvPr/>
        </p:nvSpPr>
        <p:spPr>
          <a:xfrm>
            <a:off x="4328160" y="2286000"/>
            <a:ext cx="3505200" cy="548640"/>
          </a:xfrm>
          <a:prstGeom prst="rect">
            <a:avLst/>
          </a:prstGeom>
          <a:noFill/>
        </p:spPr>
        <p:txBody>
          <a:bodyPr wrap="square" anchor="t" lIns="0" rIns="0" tIns="0" bIns="0">
            <a:spAutoFit/>
          </a:bodyPr>
          <a:lstStyle/>
          <a:p>
            <a:pPr algn="ctr"/>
            <a:r>
              <a:rPr sz="2800" b="1">
                <a:solidFill>
                  <a:srgbClr val="2DD4BF"/>
                </a:solidFill>
                <a:latin typeface="Calibri"/>
              </a:rPr>
              <a:t>Assist</a:t>
            </a:r>
          </a:p>
        </p:txBody>
      </p:sp>
      <p:sp>
        <p:nvSpPr>
          <p:cNvPr id="9" name="TextBox 8"/>
          <p:cNvSpPr txBox="1"/>
          <p:nvPr/>
        </p:nvSpPr>
        <p:spPr>
          <a:xfrm>
            <a:off x="4602480" y="2880360"/>
            <a:ext cx="2956560" cy="1097280"/>
          </a:xfrm>
          <a:prstGeom prst="rect">
            <a:avLst/>
          </a:prstGeom>
          <a:noFill/>
        </p:spPr>
        <p:txBody>
          <a:bodyPr wrap="square" anchor="t" lIns="0" rIns="0" tIns="0" bIns="0">
            <a:spAutoFit/>
          </a:bodyPr>
          <a:lstStyle/>
          <a:p>
            <a:pPr algn="ctr"/>
            <a:r>
              <a:rPr sz="1600" b="0">
                <a:solidFill>
                  <a:srgbClr val="CBD5E1"/>
                </a:solidFill>
                <a:latin typeface="Calibri"/>
              </a:rPr>
              <a:t>The system recommends.</a:t>
            </a:r>
          </a:p>
          <a:p>
            <a:pPr algn="ctr"/>
            <a:r>
              <a:rPr sz="1600" b="0">
                <a:solidFill>
                  <a:srgbClr val="CBD5E1"/>
                </a:solidFill>
                <a:latin typeface="Calibri"/>
              </a:rPr>
              <a:t>A person confirms every decision.</a:t>
            </a:r>
          </a:p>
        </p:txBody>
      </p:sp>
      <p:sp>
        <p:nvSpPr>
          <p:cNvPr id="10" name="TextBox 9"/>
          <p:cNvSpPr txBox="1"/>
          <p:nvPr/>
        </p:nvSpPr>
        <p:spPr>
          <a:xfrm>
            <a:off x="4328160" y="3977639"/>
            <a:ext cx="3505200" cy="365760"/>
          </a:xfrm>
          <a:prstGeom prst="rect">
            <a:avLst/>
          </a:prstGeom>
          <a:noFill/>
        </p:spPr>
        <p:txBody>
          <a:bodyPr wrap="square" anchor="t" lIns="0" rIns="0" tIns="0" bIns="0">
            <a:spAutoFit/>
          </a:bodyPr>
          <a:lstStyle/>
          <a:p>
            <a:pPr algn="ctr"/>
            <a:r>
              <a:rPr sz="1500" b="1">
                <a:solidFill>
                  <a:srgbClr val="4ADE80"/>
                </a:solidFill>
                <a:latin typeface="Calibri"/>
              </a:rPr>
              <a:t>&lt; 5% overrides</a:t>
            </a:r>
          </a:p>
        </p:txBody>
      </p:sp>
      <p:sp>
        <p:nvSpPr>
          <p:cNvPr id="11" name="TextBox 10"/>
          <p:cNvSpPr txBox="1"/>
          <p:nvPr/>
        </p:nvSpPr>
        <p:spPr>
          <a:xfrm>
            <a:off x="7833360" y="2286000"/>
            <a:ext cx="3505200" cy="548640"/>
          </a:xfrm>
          <a:prstGeom prst="rect">
            <a:avLst/>
          </a:prstGeom>
          <a:noFill/>
        </p:spPr>
        <p:txBody>
          <a:bodyPr wrap="square" anchor="t" lIns="0" rIns="0" tIns="0" bIns="0">
            <a:spAutoFit/>
          </a:bodyPr>
          <a:lstStyle/>
          <a:p>
            <a:pPr algn="ctr"/>
            <a:r>
              <a:rPr sz="2800" b="1">
                <a:solidFill>
                  <a:srgbClr val="2DD4BF"/>
                </a:solidFill>
                <a:latin typeface="Calibri"/>
              </a:rPr>
              <a:t>Automate</a:t>
            </a:r>
          </a:p>
        </p:txBody>
      </p:sp>
      <p:sp>
        <p:nvSpPr>
          <p:cNvPr id="12" name="TextBox 11"/>
          <p:cNvSpPr txBox="1"/>
          <p:nvPr/>
        </p:nvSpPr>
        <p:spPr>
          <a:xfrm>
            <a:off x="8107680" y="2880360"/>
            <a:ext cx="2956560" cy="1097280"/>
          </a:xfrm>
          <a:prstGeom prst="rect">
            <a:avLst/>
          </a:prstGeom>
          <a:noFill/>
        </p:spPr>
        <p:txBody>
          <a:bodyPr wrap="square" anchor="t" lIns="0" rIns="0" tIns="0" bIns="0">
            <a:spAutoFit/>
          </a:bodyPr>
          <a:lstStyle/>
          <a:p>
            <a:pPr algn="ctr"/>
            <a:r>
              <a:rPr sz="1600" b="0">
                <a:solidFill>
                  <a:srgbClr val="CBD5E1"/>
                </a:solidFill>
                <a:latin typeface="Calibri"/>
              </a:rPr>
              <a:t>Clean claims go straight through.</a:t>
            </a:r>
          </a:p>
          <a:p>
            <a:pPr algn="ctr"/>
            <a:r>
              <a:rPr sz="1600" b="0">
                <a:solidFill>
                  <a:srgbClr val="CBD5E1"/>
                </a:solidFill>
                <a:latin typeface="Calibri"/>
              </a:rPr>
              <a:t>Escalations always stay human.</a:t>
            </a:r>
          </a:p>
        </p:txBody>
      </p:sp>
      <p:sp>
        <p:nvSpPr>
          <p:cNvPr id="13" name="TextBox 12"/>
          <p:cNvSpPr txBox="1"/>
          <p:nvPr/>
        </p:nvSpPr>
        <p:spPr>
          <a:xfrm>
            <a:off x="7833360" y="3977639"/>
            <a:ext cx="3505200" cy="365760"/>
          </a:xfrm>
          <a:prstGeom prst="rect">
            <a:avLst/>
          </a:prstGeom>
          <a:noFill/>
        </p:spPr>
        <p:txBody>
          <a:bodyPr wrap="square" anchor="t" lIns="0" rIns="0" tIns="0" bIns="0">
            <a:spAutoFit/>
          </a:bodyPr>
          <a:lstStyle/>
          <a:p>
            <a:pPr algn="ctr"/>
            <a:r>
              <a:rPr sz="1500" b="1">
                <a:solidFill>
                  <a:srgbClr val="4ADE80"/>
                </a:solidFill>
                <a:latin typeface="Calibri"/>
              </a:rPr>
              <a:t>reviewed monthly</a:t>
            </a:r>
          </a:p>
        </p:txBody>
      </p:sp>
      <p:sp>
        <p:nvSpPr>
          <p:cNvPr id="14" name="TextBox 13"/>
          <p:cNvSpPr txBox="1"/>
          <p:nvPr/>
        </p:nvSpPr>
        <p:spPr>
          <a:xfrm>
            <a:off x="822960" y="4846320"/>
            <a:ext cx="10515600" cy="320040"/>
          </a:xfrm>
          <a:prstGeom prst="rect">
            <a:avLst/>
          </a:prstGeom>
          <a:noFill/>
        </p:spPr>
        <p:txBody>
          <a:bodyPr wrap="square" anchor="t" lIns="0" rIns="0" tIns="0" bIns="0">
            <a:spAutoFit/>
          </a:bodyPr>
          <a:lstStyle/>
          <a:p>
            <a:pPr algn="ctr"/>
            <a:r>
              <a:rPr sz="1300" b="1">
                <a:solidFill>
                  <a:srgbClr val="FBBF24"/>
                </a:solidFill>
                <a:latin typeface="Calibri"/>
              </a:rPr>
              <a:t>WHAT I NEED TODAY</a:t>
            </a:r>
          </a:p>
        </p:txBody>
      </p:sp>
      <p:sp>
        <p:nvSpPr>
          <p:cNvPr id="15" name="TextBox 14"/>
          <p:cNvSpPr txBox="1"/>
          <p:nvPr/>
        </p:nvSpPr>
        <p:spPr>
          <a:xfrm>
            <a:off x="1280160" y="5212080"/>
            <a:ext cx="9601200" cy="822960"/>
          </a:xfrm>
          <a:prstGeom prst="rect">
            <a:avLst/>
          </a:prstGeom>
          <a:noFill/>
        </p:spPr>
        <p:txBody>
          <a:bodyPr wrap="square" anchor="t" lIns="0" rIns="0" tIns="0" bIns="0">
            <a:spAutoFit/>
          </a:bodyPr>
          <a:lstStyle/>
          <a:p>
            <a:pPr algn="ctr"/>
            <a:r>
              <a:rPr sz="1800" b="0">
                <a:solidFill>
                  <a:srgbClr val="F8FAFC"/>
                </a:solidFill>
                <a:latin typeface="Calibri"/>
              </a:rPr>
              <a:t>A pilot team and an owner.   ·   Approval for the AI-provider privacy review.   ·   Scope for staff single sign-on.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TextBox 1"/>
          <p:cNvSpPr txBox="1"/>
          <p:nvPr/>
        </p:nvSpPr>
        <p:spPr>
          <a:xfrm>
            <a:off x="10881360" y="6446520"/>
            <a:ext cx="731520" cy="274320"/>
          </a:xfrm>
          <a:prstGeom prst="rect">
            <a:avLst/>
          </a:prstGeom>
          <a:noFill/>
        </p:spPr>
        <p:txBody>
          <a:bodyPr wrap="square" anchor="t" lIns="0" rIns="0" tIns="0" bIns="0">
            <a:spAutoFit/>
          </a:bodyPr>
          <a:lstStyle/>
          <a:p>
            <a:pPr algn="r"/>
            <a:r>
              <a:rPr sz="1000" b="0">
                <a:solidFill>
                  <a:srgbClr val="94A3B8"/>
                </a:solidFill>
                <a:latin typeface="Calibri"/>
              </a:rPr>
              <a:t>12</a:t>
            </a:r>
          </a:p>
        </p:txBody>
      </p:sp>
      <p:sp>
        <p:nvSpPr>
          <p:cNvPr id="3" name="TextBox 2"/>
          <p:cNvSpPr txBox="1"/>
          <p:nvPr/>
        </p:nvSpPr>
        <p:spPr>
          <a:xfrm>
            <a:off x="822960" y="2560320"/>
            <a:ext cx="10515600" cy="1280160"/>
          </a:xfrm>
          <a:prstGeom prst="rect">
            <a:avLst/>
          </a:prstGeom>
          <a:noFill/>
        </p:spPr>
        <p:txBody>
          <a:bodyPr wrap="square" anchor="ctr" lIns="0" rIns="0" tIns="0" bIns="0">
            <a:spAutoFit/>
          </a:bodyPr>
          <a:lstStyle/>
          <a:p>
            <a:pPr algn="ctr"/>
            <a:r>
              <a:rPr sz="6000" b="1">
                <a:solidFill>
                  <a:srgbClr val="F8FAFC"/>
                </a:solidFill>
                <a:latin typeface="Calibri"/>
              </a:rPr>
              <a:t>Let's see it live.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9144000" cy="320040"/>
          </a:xfrm>
          <a:prstGeom prst="rect">
            <a:avLst/>
          </a:prstGeom>
          <a:noFill/>
        </p:spPr>
        <p:txBody>
          <a:bodyPr wrap="square" anchor="t" lIns="0" rIns="0" tIns="0" bIns="0">
            <a:spAutoFit/>
          </a:bodyPr>
          <a:lstStyle/>
          <a:p>
            <a:pPr algn="l"/>
            <a:r>
              <a:rPr sz="1200" b="1">
                <a:solidFill>
                  <a:srgbClr val="2DD4BF"/>
                </a:solidFill>
                <a:latin typeface="Calibri"/>
              </a:rPr>
              <a:t>APPENDIX A · SCOPE DELIVERED</a:t>
            </a:r>
          </a:p>
        </p:txBody>
      </p:sp>
      <p:sp>
        <p:nvSpPr>
          <p:cNvPr id="4" name="TextBox 3"/>
          <p:cNvSpPr txBox="1"/>
          <p:nvPr/>
        </p:nvSpPr>
        <p:spPr>
          <a:xfrm>
            <a:off x="640080" y="685800"/>
            <a:ext cx="10241280" cy="731520"/>
          </a:xfrm>
          <a:prstGeom prst="rect">
            <a:avLst/>
          </a:prstGeom>
          <a:noFill/>
        </p:spPr>
        <p:txBody>
          <a:bodyPr wrap="square" anchor="t" lIns="0" rIns="0" tIns="0" bIns="0">
            <a:spAutoFit/>
          </a:bodyPr>
          <a:lstStyle/>
          <a:p>
            <a:pPr algn="l"/>
            <a:r>
              <a:rPr sz="3200" b="1">
                <a:solidFill>
                  <a:srgbClr val="F8FAFC"/>
                </a:solidFill>
                <a:latin typeface="Calibri"/>
              </a:rPr>
              <a:t>Everything in the brief, plus what operations will want</a:t>
            </a:r>
          </a:p>
        </p:txBody>
      </p:sp>
      <p:sp>
        <p:nvSpPr>
          <p:cNvPr id="5" name="Pentagon 4"/>
          <p:cNvSpPr/>
          <p:nvPr/>
        </p:nvSpPr>
        <p:spPr>
          <a:xfrm rot="5400000">
            <a:off x="11201400" y="384048"/>
            <a:ext cx="384048" cy="384048"/>
          </a:xfrm>
          <a:prstGeom prst="homePlate">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358860" y="453177"/>
            <a:ext cx="69128" cy="215066"/>
          </a:xfrm>
          <a:prstGeom prst="rect">
            <a:avLst/>
          </a:prstGeom>
          <a:solidFill>
            <a:srgbClr val="0B1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285891" y="526146"/>
            <a:ext cx="215066" cy="69128"/>
          </a:xfrm>
          <a:prstGeom prst="rect">
            <a:avLst/>
          </a:prstGeom>
          <a:solidFill>
            <a:srgbClr val="0B1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446520"/>
            <a:ext cx="7315200" cy="274320"/>
          </a:xfrm>
          <a:prstGeom prst="rect">
            <a:avLst/>
          </a:prstGeom>
          <a:noFill/>
        </p:spPr>
        <p:txBody>
          <a:bodyPr wrap="square" anchor="t" lIns="0" rIns="0" tIns="0" bIns="0">
            <a:spAutoFit/>
          </a:bodyPr>
          <a:lstStyle/>
          <a:p>
            <a:pPr algn="l"/>
            <a:r>
              <a:rPr sz="1000" b="0">
                <a:solidFill>
                  <a:srgbClr val="94A3B8"/>
                </a:solidFill>
                <a:latin typeface="Calibri"/>
              </a:rPr>
              <a:t>MediShield Health · Claims intake automation</a:t>
            </a:r>
          </a:p>
        </p:txBody>
      </p:sp>
      <p:sp>
        <p:nvSpPr>
          <p:cNvPr id="9" name="TextBox 8"/>
          <p:cNvSpPr txBox="1"/>
          <p:nvPr/>
        </p:nvSpPr>
        <p:spPr>
          <a:xfrm>
            <a:off x="10881360" y="6446520"/>
            <a:ext cx="731520" cy="274320"/>
          </a:xfrm>
          <a:prstGeom prst="rect">
            <a:avLst/>
          </a:prstGeom>
          <a:noFill/>
        </p:spPr>
        <p:txBody>
          <a:bodyPr wrap="square" anchor="t" lIns="0" rIns="0" tIns="0" bIns="0">
            <a:spAutoFit/>
          </a:bodyPr>
          <a:lstStyle/>
          <a:p>
            <a:pPr algn="r"/>
            <a:r>
              <a:rPr sz="1000" b="0">
                <a:solidFill>
                  <a:srgbClr val="94A3B8"/>
                </a:solidFill>
                <a:latin typeface="Calibri"/>
              </a:rPr>
              <a:t>13</a:t>
            </a:r>
          </a:p>
        </p:txBody>
      </p:sp>
      <p:sp>
        <p:nvSpPr>
          <p:cNvPr id="10" name="Rounded Rectangle 9"/>
          <p:cNvSpPr/>
          <p:nvPr/>
        </p:nvSpPr>
        <p:spPr>
          <a:xfrm>
            <a:off x="640080" y="1783080"/>
            <a:ext cx="3474720" cy="4206240"/>
          </a:xfrm>
          <a:prstGeom prst="roundRect">
            <a:avLst>
              <a:gd name="adj" fmla="val 8000"/>
            </a:avLst>
          </a:prstGeom>
          <a:solidFill>
            <a:srgbClr val="111A2E"/>
          </a:solidFill>
          <a:ln w="12700">
            <a:solidFill>
              <a:srgbClr val="2330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2011680"/>
            <a:ext cx="2926080" cy="411480"/>
          </a:xfrm>
          <a:prstGeom prst="rect">
            <a:avLst/>
          </a:prstGeom>
          <a:noFill/>
        </p:spPr>
        <p:txBody>
          <a:bodyPr wrap="square" anchor="t" lIns="0" rIns="0" tIns="0" bIns="0">
            <a:spAutoFit/>
          </a:bodyPr>
          <a:lstStyle/>
          <a:p>
            <a:pPr algn="l"/>
            <a:r>
              <a:rPr sz="2000" b="1">
                <a:solidFill>
                  <a:srgbClr val="2DD4BF"/>
                </a:solidFill>
                <a:latin typeface="Calibri"/>
              </a:rPr>
              <a:t>The brief</a:t>
            </a:r>
          </a:p>
        </p:txBody>
      </p:sp>
      <p:sp>
        <p:nvSpPr>
          <p:cNvPr id="12" name="TextBox 11"/>
          <p:cNvSpPr txBox="1"/>
          <p:nvPr/>
        </p:nvSpPr>
        <p:spPr>
          <a:xfrm>
            <a:off x="960120" y="2606040"/>
            <a:ext cx="2926080" cy="3291840"/>
          </a:xfrm>
          <a:prstGeom prst="rect">
            <a:avLst/>
          </a:prstGeom>
          <a:noFill/>
        </p:spPr>
        <p:txBody>
          <a:bodyPr wrap="square" anchor="t" lIns="0" rIns="0" tIns="0" bIns="0">
            <a:spAutoFit/>
          </a:bodyPr>
          <a:lstStyle/>
          <a:p>
            <a:pPr algn="l"/>
            <a:r>
              <a:rPr sz="1500" b="0">
                <a:solidFill>
                  <a:srgbClr val="CBD5E1"/>
                </a:solidFill>
                <a:latin typeface="Calibri"/>
              </a:rPr>
              <a:t>✓  Seven agents, routed by document type</a:t>
            </a:r>
          </a:p>
          <a:p>
            <a:pPr algn="l"/>
            <a:r>
              <a:rPr sz="1500" b="0">
                <a:solidFill>
                  <a:srgbClr val="CBD5E1"/>
                </a:solidFill>
                <a:latin typeface="Calibri"/>
              </a:rPr>
              <a:t>✓  Intake API and case workflow</a:t>
            </a:r>
          </a:p>
          <a:p>
            <a:pPr algn="l"/>
            <a:r>
              <a:rPr sz="1500" b="0">
                <a:solidFill>
                  <a:srgbClr val="CBD5E1"/>
                </a:solidFill>
                <a:latin typeface="Calibri"/>
              </a:rPr>
              <a:t>✓  Policy checks with page references</a:t>
            </a:r>
          </a:p>
          <a:p>
            <a:pPr algn="l"/>
            <a:r>
              <a:rPr sz="1500" b="0">
                <a:solidFill>
                  <a:srgbClr val="CBD5E1"/>
                </a:solidFill>
                <a:latin typeface="Calibri"/>
              </a:rPr>
              <a:t>✓  Screens for every team</a:t>
            </a:r>
          </a:p>
          <a:p>
            <a:pPr algn="l"/>
            <a:r>
              <a:rPr sz="1500" b="0">
                <a:solidFill>
                  <a:srgbClr val="CBD5E1"/>
                </a:solidFill>
                <a:latin typeface="Calibri"/>
              </a:rPr>
              <a:t>✓  Labelled evaluation set</a:t>
            </a:r>
          </a:p>
        </p:txBody>
      </p:sp>
      <p:sp>
        <p:nvSpPr>
          <p:cNvPr id="13" name="Rounded Rectangle 12"/>
          <p:cNvSpPr/>
          <p:nvPr/>
        </p:nvSpPr>
        <p:spPr>
          <a:xfrm>
            <a:off x="4343400" y="1783080"/>
            <a:ext cx="3474720" cy="4206240"/>
          </a:xfrm>
          <a:prstGeom prst="roundRect">
            <a:avLst>
              <a:gd name="adj" fmla="val 8000"/>
            </a:avLst>
          </a:prstGeom>
          <a:solidFill>
            <a:srgbClr val="111A2E"/>
          </a:solidFill>
          <a:ln w="12700">
            <a:solidFill>
              <a:srgbClr val="2330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63440" y="2011680"/>
            <a:ext cx="2926080" cy="411480"/>
          </a:xfrm>
          <a:prstGeom prst="rect">
            <a:avLst/>
          </a:prstGeom>
          <a:noFill/>
        </p:spPr>
        <p:txBody>
          <a:bodyPr wrap="square" anchor="t" lIns="0" rIns="0" tIns="0" bIns="0">
            <a:spAutoFit/>
          </a:bodyPr>
          <a:lstStyle/>
          <a:p>
            <a:pPr algn="l"/>
            <a:r>
              <a:rPr sz="2000" b="1">
                <a:solidFill>
                  <a:srgbClr val="2DD4BF"/>
                </a:solidFill>
                <a:latin typeface="Calibri"/>
              </a:rPr>
              <a:t>The bonus items</a:t>
            </a:r>
          </a:p>
        </p:txBody>
      </p:sp>
      <p:sp>
        <p:nvSpPr>
          <p:cNvPr id="15" name="TextBox 14"/>
          <p:cNvSpPr txBox="1"/>
          <p:nvPr/>
        </p:nvSpPr>
        <p:spPr>
          <a:xfrm>
            <a:off x="4663440" y="2606040"/>
            <a:ext cx="2926080" cy="3291840"/>
          </a:xfrm>
          <a:prstGeom prst="rect">
            <a:avLst/>
          </a:prstGeom>
          <a:noFill/>
        </p:spPr>
        <p:txBody>
          <a:bodyPr wrap="square" anchor="t" lIns="0" rIns="0" tIns="0" bIns="0">
            <a:spAutoFit/>
          </a:bodyPr>
          <a:lstStyle/>
          <a:p>
            <a:pPr algn="l"/>
            <a:r>
              <a:rPr sz="1500" b="0">
                <a:solidFill>
                  <a:srgbClr val="CBD5E1"/>
                </a:solidFill>
                <a:latin typeface="Calibri"/>
              </a:rPr>
              <a:t>✓  Confidence calibration</a:t>
            </a:r>
          </a:p>
          <a:p>
            <a:pPr algn="l"/>
            <a:r>
              <a:rPr sz="1500" b="0">
                <a:solidFill>
                  <a:srgbClr val="CBD5E1"/>
                </a:solidFill>
                <a:latin typeface="Calibri"/>
              </a:rPr>
              <a:t>✓  ID tamper detection (ELA + typography)</a:t>
            </a:r>
          </a:p>
          <a:p>
            <a:pPr algn="l"/>
            <a:r>
              <a:rPr sz="1500" b="0">
                <a:solidFill>
                  <a:srgbClr val="CBD5E1"/>
                </a:solidFill>
                <a:latin typeface="Calibri"/>
              </a:rPr>
              <a:t>✓  Spanish and Hindi documents</a:t>
            </a:r>
          </a:p>
          <a:p>
            <a:pPr algn="l"/>
            <a:r>
              <a:rPr sz="1500" b="0">
                <a:solidFill>
                  <a:srgbClr val="CBD5E1"/>
                </a:solidFill>
                <a:latin typeface="Calibri"/>
              </a:rPr>
              <a:t>✓  PDF case report</a:t>
            </a:r>
          </a:p>
          <a:p>
            <a:pPr algn="l"/>
            <a:r>
              <a:rPr sz="1500" b="0">
                <a:solidFill>
                  <a:srgbClr val="CBD5E1"/>
                </a:solidFill>
                <a:latin typeface="Calibri"/>
              </a:rPr>
              <a:t>✓  LangSmith tracing of every AI call</a:t>
            </a:r>
          </a:p>
        </p:txBody>
      </p:sp>
      <p:sp>
        <p:nvSpPr>
          <p:cNvPr id="16" name="Rounded Rectangle 15"/>
          <p:cNvSpPr/>
          <p:nvPr/>
        </p:nvSpPr>
        <p:spPr>
          <a:xfrm>
            <a:off x="8046719" y="1783080"/>
            <a:ext cx="3474720" cy="4206240"/>
          </a:xfrm>
          <a:prstGeom prst="roundRect">
            <a:avLst>
              <a:gd name="adj" fmla="val 8000"/>
            </a:avLst>
          </a:prstGeom>
          <a:solidFill>
            <a:srgbClr val="111A2E"/>
          </a:solidFill>
          <a:ln w="12700">
            <a:solidFill>
              <a:srgbClr val="2330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66759" y="2011680"/>
            <a:ext cx="2926080" cy="411480"/>
          </a:xfrm>
          <a:prstGeom prst="rect">
            <a:avLst/>
          </a:prstGeom>
          <a:noFill/>
        </p:spPr>
        <p:txBody>
          <a:bodyPr wrap="square" anchor="t" lIns="0" rIns="0" tIns="0" bIns="0">
            <a:spAutoFit/>
          </a:bodyPr>
          <a:lstStyle/>
          <a:p>
            <a:pPr algn="l"/>
            <a:r>
              <a:rPr sz="2000" b="1">
                <a:solidFill>
                  <a:srgbClr val="2DD4BF"/>
                </a:solidFill>
                <a:latin typeface="Calibri"/>
              </a:rPr>
              <a:t>Beyond the brief</a:t>
            </a:r>
          </a:p>
        </p:txBody>
      </p:sp>
      <p:sp>
        <p:nvSpPr>
          <p:cNvPr id="18" name="TextBox 17"/>
          <p:cNvSpPr txBox="1"/>
          <p:nvPr/>
        </p:nvSpPr>
        <p:spPr>
          <a:xfrm>
            <a:off x="8366759" y="2606040"/>
            <a:ext cx="2926080" cy="3291840"/>
          </a:xfrm>
          <a:prstGeom prst="rect">
            <a:avLst/>
          </a:prstGeom>
          <a:noFill/>
        </p:spPr>
        <p:txBody>
          <a:bodyPr wrap="square" anchor="t" lIns="0" rIns="0" tIns="0" bIns="0">
            <a:spAutoFit/>
          </a:bodyPr>
          <a:lstStyle/>
          <a:p>
            <a:pPr algn="l"/>
            <a:r>
              <a:rPr sz="1500" b="0">
                <a:solidFill>
                  <a:srgbClr val="CBD5E1"/>
                </a:solidFill>
                <a:latin typeface="Calibri"/>
              </a:rPr>
              <a:t>✓  Assistant with citations and memory</a:t>
            </a:r>
          </a:p>
          <a:p>
            <a:pPr algn="l"/>
            <a:r>
              <a:rPr sz="1500" b="0">
                <a:solidFill>
                  <a:srgbClr val="CBD5E1"/>
                </a:solidFill>
                <a:latin typeface="Calibri"/>
              </a:rPr>
              <a:t>✓  Email intake</a:t>
            </a:r>
          </a:p>
          <a:p>
            <a:pPr algn="l"/>
            <a:r>
              <a:rPr sz="1500" b="0">
                <a:solidFill>
                  <a:srgbClr val="CBD5E1"/>
                </a:solidFill>
                <a:latin typeface="Calibri"/>
              </a:rPr>
              <a:t>✓  Policy updates without a release</a:t>
            </a:r>
          </a:p>
          <a:p>
            <a:pPr algn="l"/>
            <a:r>
              <a:rPr sz="1500" b="0">
                <a:solidFill>
                  <a:srgbClr val="CBD5E1"/>
                </a:solidFill>
                <a:latin typeface="Calibri"/>
              </a:rPr>
              <a:t>✓  Review-quality monitor</a:t>
            </a:r>
          </a:p>
          <a:p>
            <a:pPr algn="l"/>
            <a:r>
              <a:rPr sz="1500" b="0">
                <a:solidFill>
                  <a:srgbClr val="CBD5E1"/>
                </a:solidFill>
                <a:latin typeface="Calibri"/>
              </a:rPr>
              <a:t>✓  LLM judge + RAGAS; 312 tests, 28 gates in CI</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9144000" cy="320040"/>
          </a:xfrm>
          <a:prstGeom prst="rect">
            <a:avLst/>
          </a:prstGeom>
          <a:noFill/>
        </p:spPr>
        <p:txBody>
          <a:bodyPr wrap="square" anchor="t" lIns="0" rIns="0" tIns="0" bIns="0">
            <a:spAutoFit/>
          </a:bodyPr>
          <a:lstStyle/>
          <a:p>
            <a:pPr algn="l"/>
            <a:r>
              <a:rPr sz="1200" b="1">
                <a:solidFill>
                  <a:srgbClr val="2DD4BF"/>
                </a:solidFill>
                <a:latin typeface="Calibri"/>
              </a:rPr>
              <a:t>APPENDIX B · ENGINEERING DECISIONS</a:t>
            </a:r>
          </a:p>
        </p:txBody>
      </p:sp>
      <p:sp>
        <p:nvSpPr>
          <p:cNvPr id="4" name="TextBox 3"/>
          <p:cNvSpPr txBox="1"/>
          <p:nvPr/>
        </p:nvSpPr>
        <p:spPr>
          <a:xfrm>
            <a:off x="640080" y="685800"/>
            <a:ext cx="10241280" cy="731520"/>
          </a:xfrm>
          <a:prstGeom prst="rect">
            <a:avLst/>
          </a:prstGeom>
          <a:noFill/>
        </p:spPr>
        <p:txBody>
          <a:bodyPr wrap="square" anchor="t" lIns="0" rIns="0" tIns="0" bIns="0">
            <a:spAutoFit/>
          </a:bodyPr>
          <a:lstStyle/>
          <a:p>
            <a:pPr algn="l"/>
            <a:r>
              <a:rPr sz="3200" b="1">
                <a:solidFill>
                  <a:srgbClr val="F8FAFC"/>
                </a:solidFill>
                <a:latin typeface="Calibri"/>
              </a:rPr>
              <a:t>Every saving was measured before it shipped</a:t>
            </a:r>
          </a:p>
        </p:txBody>
      </p:sp>
      <p:sp>
        <p:nvSpPr>
          <p:cNvPr id="5" name="Pentagon 4"/>
          <p:cNvSpPr/>
          <p:nvPr/>
        </p:nvSpPr>
        <p:spPr>
          <a:xfrm rot="5400000">
            <a:off x="11201400" y="384048"/>
            <a:ext cx="384048" cy="384048"/>
          </a:xfrm>
          <a:prstGeom prst="homePlate">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358860" y="453177"/>
            <a:ext cx="69128" cy="215066"/>
          </a:xfrm>
          <a:prstGeom prst="rect">
            <a:avLst/>
          </a:prstGeom>
          <a:solidFill>
            <a:srgbClr val="0B1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285891" y="526146"/>
            <a:ext cx="215066" cy="69128"/>
          </a:xfrm>
          <a:prstGeom prst="rect">
            <a:avLst/>
          </a:prstGeom>
          <a:solidFill>
            <a:srgbClr val="0B1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446520"/>
            <a:ext cx="7315200" cy="274320"/>
          </a:xfrm>
          <a:prstGeom prst="rect">
            <a:avLst/>
          </a:prstGeom>
          <a:noFill/>
        </p:spPr>
        <p:txBody>
          <a:bodyPr wrap="square" anchor="t" lIns="0" rIns="0" tIns="0" bIns="0">
            <a:spAutoFit/>
          </a:bodyPr>
          <a:lstStyle/>
          <a:p>
            <a:pPr algn="l"/>
            <a:r>
              <a:rPr sz="1000" b="0">
                <a:solidFill>
                  <a:srgbClr val="94A3B8"/>
                </a:solidFill>
                <a:latin typeface="Calibri"/>
              </a:rPr>
              <a:t>MediShield Health · Claims intake automation</a:t>
            </a:r>
          </a:p>
        </p:txBody>
      </p:sp>
      <p:sp>
        <p:nvSpPr>
          <p:cNvPr id="9" name="TextBox 8"/>
          <p:cNvSpPr txBox="1"/>
          <p:nvPr/>
        </p:nvSpPr>
        <p:spPr>
          <a:xfrm>
            <a:off x="10881360" y="6446520"/>
            <a:ext cx="731520" cy="274320"/>
          </a:xfrm>
          <a:prstGeom prst="rect">
            <a:avLst/>
          </a:prstGeom>
          <a:noFill/>
        </p:spPr>
        <p:txBody>
          <a:bodyPr wrap="square" anchor="t" lIns="0" rIns="0" tIns="0" bIns="0">
            <a:spAutoFit/>
          </a:bodyPr>
          <a:lstStyle/>
          <a:p>
            <a:pPr algn="r"/>
            <a:r>
              <a:rPr sz="1000" b="0">
                <a:solidFill>
                  <a:srgbClr val="94A3B8"/>
                </a:solidFill>
                <a:latin typeface="Calibri"/>
              </a:rPr>
              <a:t>14</a:t>
            </a:r>
          </a:p>
        </p:txBody>
      </p:sp>
      <p:graphicFrame>
        <p:nvGraphicFramePr>
          <p:cNvPr id="10" name="Table 9"/>
          <p:cNvGraphicFramePr>
            <a:graphicFrameLocks noGrp="1"/>
          </p:cNvGraphicFramePr>
          <p:nvPr/>
        </p:nvGraphicFramePr>
        <p:xfrm>
          <a:off x="640080" y="1828800"/>
          <a:ext cx="10881360" cy="3108960"/>
        </p:xfrm>
        <a:graphic>
          <a:graphicData uri="http://schemas.openxmlformats.org/drawingml/2006/table">
            <a:tbl>
              <a:tblPr firstRow="1" bandRow="1">
                <a:tableStyleId>{5C22544A-7EE6-4342-B048-85BDC9FD1C3A}</a:tableStyleId>
              </a:tblPr>
              <a:tblGrid>
                <a:gridCol w="5394960"/>
                <a:gridCol w="3017520"/>
                <a:gridCol w="2468880"/>
              </a:tblGrid>
              <a:tr h="621792">
                <a:tc>
                  <a:txBody>
                    <a:bodyPr/>
                    <a:lstStyle/>
                    <a:p>
                      <a:r>
                        <a:rPr sz="1600" b="1">
                          <a:solidFill>
                            <a:srgbClr val="0B1220"/>
                          </a:solidFill>
                          <a:latin typeface="Calibri"/>
                        </a:rPr>
                        <a:t>Change</a:t>
                      </a:r>
                    </a:p>
                  </a:txBody>
                  <a:tcPr anchor="ctr">
                    <a:solidFill>
                      <a:srgbClr val="2DD4BF"/>
                    </a:solidFill>
                  </a:tcPr>
                </a:tc>
                <a:tc>
                  <a:txBody>
                    <a:bodyPr/>
                    <a:lstStyle/>
                    <a:p>
                      <a:r>
                        <a:rPr sz="1600" b="1">
                          <a:solidFill>
                            <a:srgbClr val="0B1220"/>
                          </a:solidFill>
                          <a:latin typeface="Calibri"/>
                        </a:rPr>
                        <a:t>Measured effect</a:t>
                      </a:r>
                    </a:p>
                  </a:txBody>
                  <a:tcPr anchor="ctr">
                    <a:solidFill>
                      <a:srgbClr val="2DD4BF"/>
                    </a:solidFill>
                  </a:tcPr>
                </a:tc>
                <a:tc>
                  <a:txBody>
                    <a:bodyPr/>
                    <a:lstStyle/>
                    <a:p>
                      <a:r>
                        <a:rPr sz="1600" b="1">
                          <a:solidFill>
                            <a:srgbClr val="0B1220"/>
                          </a:solidFill>
                          <a:latin typeface="Calibri"/>
                        </a:rPr>
                        <a:t>Accuracy</a:t>
                      </a:r>
                    </a:p>
                  </a:txBody>
                  <a:tcPr anchor="ctr">
                    <a:solidFill>
                      <a:srgbClr val="2DD4BF"/>
                    </a:solidFill>
                  </a:tcPr>
                </a:tc>
              </a:tr>
              <a:tr h="621792">
                <a:tc>
                  <a:txBody>
                    <a:bodyPr/>
                    <a:lstStyle/>
                    <a:p>
                      <a:r>
                        <a:rPr sz="1600" b="1">
                          <a:solidFill>
                            <a:srgbClr val="F8FAFC"/>
                          </a:solidFill>
                          <a:latin typeface="Calibri"/>
                        </a:rPr>
                        <a:t>Read the text first; AI vision only when needed</a:t>
                      </a:r>
                    </a:p>
                  </a:txBody>
                  <a:tcPr anchor="ctr">
                    <a:solidFill>
                      <a:srgbClr val="111A2E"/>
                    </a:solidFill>
                  </a:tcPr>
                </a:tc>
                <a:tc>
                  <a:txBody>
                    <a:bodyPr/>
                    <a:lstStyle/>
                    <a:p>
                      <a:r>
                        <a:rPr sz="1600" b="0">
                          <a:solidFill>
                            <a:srgbClr val="F8FAFC"/>
                          </a:solidFill>
                          <a:latin typeface="Calibri"/>
                        </a:rPr>
                        <a:t>−25% cost per claim</a:t>
                      </a:r>
                    </a:p>
                  </a:txBody>
                  <a:tcPr anchor="ctr">
                    <a:solidFill>
                      <a:srgbClr val="111A2E"/>
                    </a:solidFill>
                  </a:tcPr>
                </a:tc>
                <a:tc>
                  <a:txBody>
                    <a:bodyPr/>
                    <a:lstStyle/>
                    <a:p>
                      <a:r>
                        <a:rPr sz="1600" b="0">
                          <a:solidFill>
                            <a:srgbClr val="F8FAFC"/>
                          </a:solidFill>
                          <a:latin typeface="Calibri"/>
                        </a:rPr>
                        <a:t>unchanged</a:t>
                      </a:r>
                    </a:p>
                  </a:txBody>
                  <a:tcPr anchor="ctr">
                    <a:solidFill>
                      <a:srgbClr val="111A2E"/>
                    </a:solidFill>
                  </a:tcPr>
                </a:tc>
              </a:tr>
              <a:tr h="621792">
                <a:tc>
                  <a:txBody>
                    <a:bodyPr/>
                    <a:lstStyle/>
                    <a:p>
                      <a:r>
                        <a:rPr sz="1600" b="1">
                          <a:solidFill>
                            <a:srgbClr val="F8FAFC"/>
                          </a:solidFill>
                          <a:latin typeface="Calibri"/>
                        </a:rPr>
                        <a:t>Sonnet instead of Opus for policy and fraud</a:t>
                      </a:r>
                    </a:p>
                  </a:txBody>
                  <a:tcPr anchor="ctr">
                    <a:solidFill>
                      <a:srgbClr val="16223A"/>
                    </a:solidFill>
                  </a:tcPr>
                </a:tc>
                <a:tc>
                  <a:txBody>
                    <a:bodyPr/>
                    <a:lstStyle/>
                    <a:p>
                      <a:r>
                        <a:rPr sz="1600" b="0">
                          <a:solidFill>
                            <a:srgbClr val="F8FAFC"/>
                          </a:solidFill>
                          <a:latin typeface="Calibri"/>
                        </a:rPr>
                        <a:t>−36% cost per claim</a:t>
                      </a:r>
                    </a:p>
                  </a:txBody>
                  <a:tcPr anchor="ctr">
                    <a:solidFill>
                      <a:srgbClr val="16223A"/>
                    </a:solidFill>
                  </a:tcPr>
                </a:tc>
                <a:tc>
                  <a:txBody>
                    <a:bodyPr/>
                    <a:lstStyle/>
                    <a:p>
                      <a:r>
                        <a:rPr sz="1600" b="0">
                          <a:solidFill>
                            <a:srgbClr val="F8FAFC"/>
                          </a:solidFill>
                          <a:latin typeface="Calibri"/>
                        </a:rPr>
                        <a:t>identical decisions</a:t>
                      </a:r>
                    </a:p>
                  </a:txBody>
                  <a:tcPr anchor="ctr">
                    <a:solidFill>
                      <a:srgbClr val="16223A"/>
                    </a:solidFill>
                  </a:tcPr>
                </a:tc>
              </a:tr>
              <a:tr h="621792">
                <a:tc>
                  <a:txBody>
                    <a:bodyPr/>
                    <a:lstStyle/>
                    <a:p>
                      <a:r>
                        <a:rPr sz="1600" b="1">
                          <a:solidFill>
                            <a:srgbClr val="F8FAFC"/>
                          </a:solidFill>
                          <a:latin typeface="Calibri"/>
                        </a:rPr>
                        <a:t>Smaller search re-ranker</a:t>
                      </a:r>
                    </a:p>
                  </a:txBody>
                  <a:tcPr anchor="ctr">
                    <a:solidFill>
                      <a:srgbClr val="111A2E"/>
                    </a:solidFill>
                  </a:tcPr>
                </a:tc>
                <a:tc>
                  <a:txBody>
                    <a:bodyPr/>
                    <a:lstStyle/>
                    <a:p>
                      <a:r>
                        <a:rPr sz="1600" b="0">
                          <a:solidFill>
                            <a:srgbClr val="F8FAFC"/>
                          </a:solidFill>
                          <a:latin typeface="Calibri"/>
                        </a:rPr>
                        <a:t>fits the 2 GB agent image</a:t>
                      </a:r>
                    </a:p>
                  </a:txBody>
                  <a:tcPr anchor="ctr">
                    <a:solidFill>
                      <a:srgbClr val="111A2E"/>
                    </a:solidFill>
                  </a:tcPr>
                </a:tc>
                <a:tc>
                  <a:txBody>
                    <a:bodyPr/>
                    <a:lstStyle/>
                    <a:p>
                      <a:r>
                        <a:rPr sz="1600" b="0">
                          <a:solidFill>
                            <a:srgbClr val="F8FAFC"/>
                          </a:solidFill>
                          <a:latin typeface="Calibri"/>
                        </a:rPr>
                        <a:t>better</a:t>
                      </a:r>
                    </a:p>
                  </a:txBody>
                  <a:tcPr anchor="ctr">
                    <a:solidFill>
                      <a:srgbClr val="111A2E"/>
                    </a:solidFill>
                  </a:tcPr>
                </a:tc>
              </a:tr>
              <a:tr h="621792">
                <a:tc>
                  <a:txBody>
                    <a:bodyPr/>
                    <a:lstStyle/>
                    <a:p>
                      <a:r>
                        <a:rPr sz="1600" b="1">
                          <a:solidFill>
                            <a:srgbClr val="F8FAFC"/>
                          </a:solidFill>
                          <a:latin typeface="Calibri"/>
                        </a:rPr>
                        <a:t>Text-only extraction</a:t>
                      </a:r>
                    </a:p>
                  </a:txBody>
                  <a:tcPr anchor="ctr">
                    <a:solidFill>
                      <a:srgbClr val="16223A"/>
                    </a:solidFill>
                  </a:tcPr>
                </a:tc>
                <a:tc>
                  <a:txBody>
                    <a:bodyPr/>
                    <a:lstStyle/>
                    <a:p>
                      <a:r>
                        <a:rPr sz="1600" b="0">
                          <a:solidFill>
                            <a:srgbClr val="F8FAFC"/>
                          </a:solidFill>
                          <a:latin typeface="Calibri"/>
                        </a:rPr>
                        <a:t>−4% cost</a:t>
                      </a:r>
                    </a:p>
                  </a:txBody>
                  <a:tcPr anchor="ctr">
                    <a:solidFill>
                      <a:srgbClr val="16223A"/>
                    </a:solidFill>
                  </a:tcPr>
                </a:tc>
                <a:tc>
                  <a:txBody>
                    <a:bodyPr/>
                    <a:lstStyle/>
                    <a:p>
                      <a:r>
                        <a:rPr sz="1600" b="0">
                          <a:solidFill>
                            <a:srgbClr val="F8FAFC"/>
                          </a:solidFill>
                          <a:latin typeface="Calibri"/>
                        </a:rPr>
                        <a:t>−4 points: rejected</a:t>
                      </a:r>
                    </a:p>
                  </a:txBody>
                  <a:tcPr anchor="ctr">
                    <a:solidFill>
                      <a:srgbClr val="16223A"/>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9144000" cy="320040"/>
          </a:xfrm>
          <a:prstGeom prst="rect">
            <a:avLst/>
          </a:prstGeom>
          <a:noFill/>
        </p:spPr>
        <p:txBody>
          <a:bodyPr wrap="square" anchor="t" lIns="0" rIns="0" tIns="0" bIns="0">
            <a:spAutoFit/>
          </a:bodyPr>
          <a:lstStyle/>
          <a:p>
            <a:pPr algn="l"/>
            <a:r>
              <a:rPr sz="1200" b="1">
                <a:solidFill>
                  <a:srgbClr val="2DD4BF"/>
                </a:solidFill>
                <a:latin typeface="Calibri"/>
              </a:rPr>
              <a:t>APPENDIX C · PLATFORM AND OPERATIONS</a:t>
            </a:r>
          </a:p>
        </p:txBody>
      </p:sp>
      <p:sp>
        <p:nvSpPr>
          <p:cNvPr id="4" name="TextBox 3"/>
          <p:cNvSpPr txBox="1"/>
          <p:nvPr/>
        </p:nvSpPr>
        <p:spPr>
          <a:xfrm>
            <a:off x="640080" y="685800"/>
            <a:ext cx="10241280" cy="731520"/>
          </a:xfrm>
          <a:prstGeom prst="rect">
            <a:avLst/>
          </a:prstGeom>
          <a:noFill/>
        </p:spPr>
        <p:txBody>
          <a:bodyPr wrap="square" anchor="t" lIns="0" rIns="0" tIns="0" bIns="0">
            <a:spAutoFit/>
          </a:bodyPr>
          <a:lstStyle/>
          <a:p>
            <a:pPr algn="l"/>
            <a:r>
              <a:rPr sz="3200" b="1">
                <a:solidFill>
                  <a:srgbClr val="F8FAFC"/>
                </a:solidFill>
                <a:latin typeface="Calibri"/>
              </a:rPr>
              <a:t>Serverless on AWS, tested on every change</a:t>
            </a:r>
          </a:p>
        </p:txBody>
      </p:sp>
      <p:sp>
        <p:nvSpPr>
          <p:cNvPr id="5" name="Pentagon 4"/>
          <p:cNvSpPr/>
          <p:nvPr/>
        </p:nvSpPr>
        <p:spPr>
          <a:xfrm rot="5400000">
            <a:off x="11201400" y="384048"/>
            <a:ext cx="384048" cy="384048"/>
          </a:xfrm>
          <a:prstGeom prst="homePlate">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358860" y="453177"/>
            <a:ext cx="69128" cy="215066"/>
          </a:xfrm>
          <a:prstGeom prst="rect">
            <a:avLst/>
          </a:prstGeom>
          <a:solidFill>
            <a:srgbClr val="0B1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285891" y="526146"/>
            <a:ext cx="215066" cy="69128"/>
          </a:xfrm>
          <a:prstGeom prst="rect">
            <a:avLst/>
          </a:prstGeom>
          <a:solidFill>
            <a:srgbClr val="0B1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446520"/>
            <a:ext cx="7315200" cy="274320"/>
          </a:xfrm>
          <a:prstGeom prst="rect">
            <a:avLst/>
          </a:prstGeom>
          <a:noFill/>
        </p:spPr>
        <p:txBody>
          <a:bodyPr wrap="square" anchor="t" lIns="0" rIns="0" tIns="0" bIns="0">
            <a:spAutoFit/>
          </a:bodyPr>
          <a:lstStyle/>
          <a:p>
            <a:pPr algn="l"/>
            <a:r>
              <a:rPr sz="1000" b="0">
                <a:solidFill>
                  <a:srgbClr val="94A3B8"/>
                </a:solidFill>
                <a:latin typeface="Calibri"/>
              </a:rPr>
              <a:t>MediShield Health · Claims intake automation</a:t>
            </a:r>
          </a:p>
        </p:txBody>
      </p:sp>
      <p:sp>
        <p:nvSpPr>
          <p:cNvPr id="9" name="TextBox 8"/>
          <p:cNvSpPr txBox="1"/>
          <p:nvPr/>
        </p:nvSpPr>
        <p:spPr>
          <a:xfrm>
            <a:off x="10881360" y="6446520"/>
            <a:ext cx="731520" cy="274320"/>
          </a:xfrm>
          <a:prstGeom prst="rect">
            <a:avLst/>
          </a:prstGeom>
          <a:noFill/>
        </p:spPr>
        <p:txBody>
          <a:bodyPr wrap="square" anchor="t" lIns="0" rIns="0" tIns="0" bIns="0">
            <a:spAutoFit/>
          </a:bodyPr>
          <a:lstStyle/>
          <a:p>
            <a:pPr algn="r"/>
            <a:r>
              <a:rPr sz="1000" b="0">
                <a:solidFill>
                  <a:srgbClr val="94A3B8"/>
                </a:solidFill>
                <a:latin typeface="Calibri"/>
              </a:rPr>
              <a:t>15</a:t>
            </a:r>
          </a:p>
        </p:txBody>
      </p:sp>
      <p:sp>
        <p:nvSpPr>
          <p:cNvPr id="10" name="Rounded Rectangle 9"/>
          <p:cNvSpPr/>
          <p:nvPr/>
        </p:nvSpPr>
        <p:spPr>
          <a:xfrm>
            <a:off x="640080" y="1783080"/>
            <a:ext cx="5349240" cy="1874519"/>
          </a:xfrm>
          <a:prstGeom prst="roundRect">
            <a:avLst>
              <a:gd name="adj" fmla="val 8000"/>
            </a:avLst>
          </a:prstGeom>
          <a:solidFill>
            <a:srgbClr val="111A2E"/>
          </a:solidFill>
          <a:ln w="12700">
            <a:solidFill>
              <a:srgbClr val="2330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2011680"/>
            <a:ext cx="54864" cy="1417319"/>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011680"/>
            <a:ext cx="4892040" cy="457200"/>
          </a:xfrm>
          <a:prstGeom prst="rect">
            <a:avLst/>
          </a:prstGeom>
          <a:noFill/>
        </p:spPr>
        <p:txBody>
          <a:bodyPr wrap="square" anchor="t" lIns="0" rIns="0" tIns="0" bIns="0">
            <a:spAutoFit/>
          </a:bodyPr>
          <a:lstStyle/>
          <a:p>
            <a:pPr algn="l"/>
            <a:r>
              <a:rPr sz="1600" b="1">
                <a:solidFill>
                  <a:srgbClr val="F8FAFC"/>
                </a:solidFill>
                <a:latin typeface="Calibri"/>
              </a:rPr>
              <a:t>One CloudFormation stack</a:t>
            </a:r>
          </a:p>
        </p:txBody>
      </p:sp>
      <p:sp>
        <p:nvSpPr>
          <p:cNvPr id="13" name="TextBox 12"/>
          <p:cNvSpPr txBox="1"/>
          <p:nvPr/>
        </p:nvSpPr>
        <p:spPr>
          <a:xfrm>
            <a:off x="914400" y="2514600"/>
            <a:ext cx="4892040" cy="1051559"/>
          </a:xfrm>
          <a:prstGeom prst="rect">
            <a:avLst/>
          </a:prstGeom>
          <a:noFill/>
        </p:spPr>
        <p:txBody>
          <a:bodyPr wrap="square" anchor="t" lIns="0" rIns="0" tIns="0" bIns="0">
            <a:spAutoFit/>
          </a:bodyPr>
          <a:lstStyle/>
          <a:p>
            <a:pPr algn="l"/>
            <a:r>
              <a:rPr sz="1400" b="0">
                <a:solidFill>
                  <a:srgbClr val="CBD5E1"/>
                </a:solidFill>
                <a:latin typeface="Calibri"/>
              </a:rPr>
              <a:t>CloudFront web app · Lambda API · two Bedrock AgentCore runtimes · DynamoDB · S3</a:t>
            </a:r>
          </a:p>
        </p:txBody>
      </p:sp>
      <p:sp>
        <p:nvSpPr>
          <p:cNvPr id="14" name="Rounded Rectangle 13"/>
          <p:cNvSpPr/>
          <p:nvPr/>
        </p:nvSpPr>
        <p:spPr>
          <a:xfrm>
            <a:off x="6217920" y="1783080"/>
            <a:ext cx="5349240" cy="1874519"/>
          </a:xfrm>
          <a:prstGeom prst="roundRect">
            <a:avLst>
              <a:gd name="adj" fmla="val 8000"/>
            </a:avLst>
          </a:prstGeom>
          <a:solidFill>
            <a:srgbClr val="111A2E"/>
          </a:solidFill>
          <a:ln w="12700">
            <a:solidFill>
              <a:srgbClr val="2330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2011680"/>
            <a:ext cx="54864" cy="1417319"/>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92240" y="2011680"/>
            <a:ext cx="4892040" cy="457200"/>
          </a:xfrm>
          <a:prstGeom prst="rect">
            <a:avLst/>
          </a:prstGeom>
          <a:noFill/>
        </p:spPr>
        <p:txBody>
          <a:bodyPr wrap="square" anchor="t" lIns="0" rIns="0" tIns="0" bIns="0">
            <a:spAutoFit/>
          </a:bodyPr>
          <a:lstStyle/>
          <a:p>
            <a:pPr algn="l"/>
            <a:r>
              <a:rPr sz="1600" b="1">
                <a:solidFill>
                  <a:srgbClr val="F8FAFC"/>
                </a:solidFill>
                <a:latin typeface="Calibri"/>
              </a:rPr>
              <a:t>Pay-per-use only</a:t>
            </a:r>
          </a:p>
        </p:txBody>
      </p:sp>
      <p:sp>
        <p:nvSpPr>
          <p:cNvPr id="17" name="TextBox 16"/>
          <p:cNvSpPr txBox="1"/>
          <p:nvPr/>
        </p:nvSpPr>
        <p:spPr>
          <a:xfrm>
            <a:off x="6492240" y="2514600"/>
            <a:ext cx="4892040" cy="1051559"/>
          </a:xfrm>
          <a:prstGeom prst="rect">
            <a:avLst/>
          </a:prstGeom>
          <a:noFill/>
        </p:spPr>
        <p:txBody>
          <a:bodyPr wrap="square" anchor="t" lIns="0" rIns="0" tIns="0" bIns="0">
            <a:spAutoFit/>
          </a:bodyPr>
          <a:lstStyle/>
          <a:p>
            <a:pPr algn="l"/>
            <a:r>
              <a:rPr sz="1400" b="0">
                <a:solidFill>
                  <a:srgbClr val="CBD5E1"/>
                </a:solidFill>
                <a:latin typeface="Calibri"/>
              </a:rPr>
              <a:t>≈ $1.25 a month idle; AI spend capped at $10 total and $5 a day</a:t>
            </a:r>
          </a:p>
        </p:txBody>
      </p:sp>
      <p:sp>
        <p:nvSpPr>
          <p:cNvPr id="18" name="Rounded Rectangle 17"/>
          <p:cNvSpPr/>
          <p:nvPr/>
        </p:nvSpPr>
        <p:spPr>
          <a:xfrm>
            <a:off x="640080" y="3886200"/>
            <a:ext cx="5349240" cy="1874519"/>
          </a:xfrm>
          <a:prstGeom prst="roundRect">
            <a:avLst>
              <a:gd name="adj" fmla="val 8000"/>
            </a:avLst>
          </a:prstGeom>
          <a:solidFill>
            <a:srgbClr val="111A2E"/>
          </a:solidFill>
          <a:ln w="12700">
            <a:solidFill>
              <a:srgbClr val="2330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0080" y="4114800"/>
            <a:ext cx="54864" cy="1417319"/>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4114800"/>
            <a:ext cx="4892040" cy="457200"/>
          </a:xfrm>
          <a:prstGeom prst="rect">
            <a:avLst/>
          </a:prstGeom>
          <a:noFill/>
        </p:spPr>
        <p:txBody>
          <a:bodyPr wrap="square" anchor="t" lIns="0" rIns="0" tIns="0" bIns="0">
            <a:spAutoFit/>
          </a:bodyPr>
          <a:lstStyle/>
          <a:p>
            <a:pPr algn="l"/>
            <a:r>
              <a:rPr sz="1600" b="1">
                <a:solidFill>
                  <a:srgbClr val="F8FAFC"/>
                </a:solidFill>
                <a:latin typeface="Calibri"/>
              </a:rPr>
              <a:t>Every case traceable</a:t>
            </a:r>
          </a:p>
        </p:txBody>
      </p:sp>
      <p:sp>
        <p:nvSpPr>
          <p:cNvPr id="21" name="TextBox 20"/>
          <p:cNvSpPr txBox="1"/>
          <p:nvPr/>
        </p:nvSpPr>
        <p:spPr>
          <a:xfrm>
            <a:off x="914400" y="4617720"/>
            <a:ext cx="4892040" cy="1051559"/>
          </a:xfrm>
          <a:prstGeom prst="rect">
            <a:avLst/>
          </a:prstGeom>
          <a:noFill/>
        </p:spPr>
        <p:txBody>
          <a:bodyPr wrap="square" anchor="t" lIns="0" rIns="0" tIns="0" bIns="0">
            <a:spAutoFit/>
          </a:bodyPr>
          <a:lstStyle/>
          <a:p>
            <a:pPr algn="l"/>
            <a:r>
              <a:rPr sz="1400" b="0">
                <a:solidFill>
                  <a:srgbClr val="CBD5E1"/>
                </a:solidFill>
                <a:latin typeface="Calibri"/>
              </a:rPr>
              <a:t>LangSmith: each agent call with tokens, latency and cost</a:t>
            </a:r>
          </a:p>
        </p:txBody>
      </p:sp>
      <p:sp>
        <p:nvSpPr>
          <p:cNvPr id="22" name="Rounded Rectangle 21"/>
          <p:cNvSpPr/>
          <p:nvPr/>
        </p:nvSpPr>
        <p:spPr>
          <a:xfrm>
            <a:off x="6217920" y="3886200"/>
            <a:ext cx="5349240" cy="1874519"/>
          </a:xfrm>
          <a:prstGeom prst="roundRect">
            <a:avLst>
              <a:gd name="adj" fmla="val 8000"/>
            </a:avLst>
          </a:prstGeom>
          <a:solidFill>
            <a:srgbClr val="111A2E"/>
          </a:solidFill>
          <a:ln w="12700">
            <a:solidFill>
              <a:srgbClr val="2330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17920" y="4114800"/>
            <a:ext cx="54864" cy="1417319"/>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92240" y="4114800"/>
            <a:ext cx="4892040" cy="457200"/>
          </a:xfrm>
          <a:prstGeom prst="rect">
            <a:avLst/>
          </a:prstGeom>
          <a:noFill/>
        </p:spPr>
        <p:txBody>
          <a:bodyPr wrap="square" anchor="t" lIns="0" rIns="0" tIns="0" bIns="0">
            <a:spAutoFit/>
          </a:bodyPr>
          <a:lstStyle/>
          <a:p>
            <a:pPr algn="l"/>
            <a:r>
              <a:rPr sz="1600" b="1">
                <a:solidFill>
                  <a:srgbClr val="F8FAFC"/>
                </a:solidFill>
                <a:latin typeface="Calibri"/>
              </a:rPr>
              <a:t>Nothing ships untested</a:t>
            </a:r>
          </a:p>
        </p:txBody>
      </p:sp>
      <p:sp>
        <p:nvSpPr>
          <p:cNvPr id="25" name="TextBox 24"/>
          <p:cNvSpPr txBox="1"/>
          <p:nvPr/>
        </p:nvSpPr>
        <p:spPr>
          <a:xfrm>
            <a:off x="6492240" y="4617720"/>
            <a:ext cx="4892040" cy="1051559"/>
          </a:xfrm>
          <a:prstGeom prst="rect">
            <a:avLst/>
          </a:prstGeom>
          <a:noFill/>
        </p:spPr>
        <p:txBody>
          <a:bodyPr wrap="square" anchor="t" lIns="0" rIns="0" tIns="0" bIns="0">
            <a:spAutoFit/>
          </a:bodyPr>
          <a:lstStyle/>
          <a:p>
            <a:pPr algn="l"/>
            <a:r>
              <a:rPr sz="1400" b="0">
                <a:solidFill>
                  <a:srgbClr val="CBD5E1"/>
                </a:solidFill>
                <a:latin typeface="Calibri"/>
              </a:rPr>
              <a:t>312 tests on two databases and 28 quality gates run on every push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
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01d023dac3444a45" Type="http://schemas.openxmlformats.org/officeDocument/2006/relationships/officeDocument" Target="ppt/presentation.xml"/><Relationship Id="R253804135ff04c51" Type="http://schemas.openxmlformats.org/package/2006/relationships/metadata/core-properties" Target="docProps/core.xml"/><Relationship Id="Ra3369f25c04a439f" Type="http://schemas.openxmlformats.org/officeDocument/2006/relationships/extended-properties" Target="docProps/app.xml"/></Relationships>
</file>

<file path=ppt/presentation.xml><?xml version="1.0" encoding="utf-8"?>
<p:presentation xmlns:p="http://schemas.openxmlformats.org/presentationml/2006/main">
  <p:sldMasterIdLst>
    <p:sldMasterId xmlns:r="http://schemas.openxmlformats.org/officeDocument/2006/relationships" id="2147483648" r:id="Rb54511d5c80d426b"/>
  </p:sldMasterIdLst>
  <p:notesMasterIdLst>
    <p:notesMasterId xmlns:r="http://schemas.openxmlformats.org/officeDocument/2006/relationships" r:id="Reed8da1ab3674981"/>
  </p:notesMasterIdLst>
  <p:sldIdLst>
    <p:sldId xmlns:r="http://schemas.openxmlformats.org/officeDocument/2006/relationships" id="256" r:id="R09b179b2f525446e"/>
    <p:sldId xmlns:r="http://schemas.openxmlformats.org/officeDocument/2006/relationships" id="257" r:id="R2d432c8a112c44a8"/>
    <p:sldId xmlns:r="http://schemas.openxmlformats.org/officeDocument/2006/relationships" id="258" r:id="Rf595c2acca3c41b6"/>
    <p:sldId xmlns:r="http://schemas.openxmlformats.org/officeDocument/2006/relationships" id="259" r:id="R77c7761476964d17"/>
    <p:sldId xmlns:r="http://schemas.openxmlformats.org/officeDocument/2006/relationships" id="260" r:id="R1bd34f6b2c2140a3"/>
    <p:sldId xmlns:r="http://schemas.openxmlformats.org/officeDocument/2006/relationships" id="261" r:id="R6ace179207454f66"/>
    <p:sldId xmlns:r="http://schemas.openxmlformats.org/officeDocument/2006/relationships" id="262" r:id="R46c7689e51744b09"/>
    <p:sldId xmlns:r="http://schemas.openxmlformats.org/officeDocument/2006/relationships" id="263" r:id="Rcae0f5aa3659403a"/>
    <p:sldId xmlns:r="http://schemas.openxmlformats.org/officeDocument/2006/relationships" id="264" r:id="R9f69f8cf25d94e0a"/>
    <p:sldId xmlns:r="http://schemas.openxmlformats.org/officeDocument/2006/relationships" id="265" r:id="R7b30a70f5e82423a"/>
    <p:sldId xmlns:r="http://schemas.openxmlformats.org/officeDocument/2006/relationships" id="266" r:id="R995490f3e2b647f7"/>
    <p:sldId xmlns:r="http://schemas.openxmlformats.org/officeDocument/2006/relationships" id="267" r:id="R464e9e1db3674eb8"/>
  </p:sldIdLst>
  <p:sldSz cx="12191695"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xml version='1.0' encoding='UTF-8' standalone='yes'?>
<Relationships xmlns="http://schemas.openxmlformats.org/package/2006/relationships"><Relationship Id="R04595d52e6b24d6c" Type="http://schemas.openxmlformats.org/officeDocument/2006/relationships/theme" Target="theme/theme1.xml"/><Relationship Id="R09b179b2f525446e" Type="http://schemas.openxmlformats.org/officeDocument/2006/relationships/slide" Target="slides/slide1.xml"/><Relationship Id="R1bd34f6b2c2140a3" Type="http://schemas.openxmlformats.org/officeDocument/2006/relationships/slide" Target="slides/slide5.xml"/><Relationship Id="R2d432c8a112c44a8" Type="http://schemas.openxmlformats.org/officeDocument/2006/relationships/slide" Target="slides/slide2.xml"/><Relationship Id="R4562752a67fb4913" Type="http://schemas.openxmlformats.org/officeDocument/2006/relationships/tableStyles" Target="tableStyles.xml"/><Relationship Id="R464e9e1db3674eb8" Type="http://schemas.openxmlformats.org/officeDocument/2006/relationships/slide" Target="slides/slide12.xml"/><Relationship Id="R46c7689e51744b09" Type="http://schemas.openxmlformats.org/officeDocument/2006/relationships/slide" Target="slides/slide7.xml"/><Relationship Id="R59d243c694d64472" Type="http://schemas.openxmlformats.org/officeDocument/2006/relationships/viewProps" Target="viewProps.xml"/><Relationship Id="R6ace179207454f66" Type="http://schemas.openxmlformats.org/officeDocument/2006/relationships/slide" Target="slides/slide6.xml"/><Relationship Id="R77c7761476964d17" Type="http://schemas.openxmlformats.org/officeDocument/2006/relationships/slide" Target="slides/slide4.xml"/><Relationship Id="R7b30a70f5e82423a" Type="http://schemas.openxmlformats.org/officeDocument/2006/relationships/slide" Target="slides/slide10.xml"/><Relationship Id="R963a173035c74532" Type="http://schemas.openxmlformats.org/officeDocument/2006/relationships/presProps" Target="presProps.xml"/><Relationship Id="R995490f3e2b647f7" Type="http://schemas.openxmlformats.org/officeDocument/2006/relationships/slide" Target="slides/slide11.xml"/><Relationship Id="R9f69f8cf25d94e0a" Type="http://schemas.openxmlformats.org/officeDocument/2006/relationships/slide" Target="slides/slide9.xml"/><Relationship Id="Rb54511d5c80d426b" Type="http://schemas.openxmlformats.org/officeDocument/2006/relationships/slideMaster" Target="slideMasters/slideMaster1.xml"/><Relationship Id="Rcae0f5aa3659403a" Type="http://schemas.openxmlformats.org/officeDocument/2006/relationships/slide" Target="slides/slide8.xml"/><Relationship Id="Reed8da1ab3674981" Type="http://schemas.openxmlformats.org/officeDocument/2006/relationships/notesMaster" Target="notesMasters/notesMaster1.xml"/><Relationship Id="Rf595c2acca3c41b6"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92a312bf334c4b7e" Type="http://schemas.openxmlformats.org/officeDocument/2006/relationships/theme" Target="theme/theme3.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xml version='1.0' encoding='UTF-8' standalone='yes'?>
<Relationships xmlns="http://schemas.openxmlformats.org/package/2006/relationships"><Relationship Id="R5455bb6b9e4d4e3a" Type="http://schemas.openxmlformats.org/officeDocument/2006/relationships/slide" Target="../slides/slide1.xml"/><Relationship Id="R7f42e56267634b66"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0cbe63dc43eb4875" Type="http://schemas.openxmlformats.org/officeDocument/2006/relationships/slide" Target="../slides/slide2.xml"/><Relationship Id="Rcd3731b72ed846db"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c0a4467a94d34647" Type="http://schemas.openxmlformats.org/officeDocument/2006/relationships/notesMaster" Target="../notesMasters/notesMaster1.xml"/><Relationship Id="Ref0fb0c8718449bd"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1ad042f4122242f6" Type="http://schemas.openxmlformats.org/officeDocument/2006/relationships/slide" Target="../slides/slide4.xml"/><Relationship Id="R5184fe6b65b74b29"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1753c6d93d184d38" Type="http://schemas.openxmlformats.org/officeDocument/2006/relationships/slide" Target="../slides/slide5.xml"/><Relationship Id="R4ab3e0506ba04527"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718b3ce716bc48c3" Type="http://schemas.openxmlformats.org/officeDocument/2006/relationships/notesMaster" Target="../notesMasters/notesMaster1.xml"/><Relationship Id="Ra10e17aee0284b94"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129d535bd4944fce" Type="http://schemas.openxmlformats.org/officeDocument/2006/relationships/notesMaster" Target="../notesMasters/notesMaster1.xml"/><Relationship Id="Re8a3e15be6894704"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9d060eba6516495e" Type="http://schemas.openxmlformats.org/officeDocument/2006/relationships/slide" Target="../slides/slide8.xml"/><Relationship Id="Raf8142d1ffb34572"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adf4f6b891c84ae2" Type="http://schemas.openxmlformats.org/officeDocument/2006/relationships/notesMaster" Target="../notesMasters/notesMaster1.xml"/><Relationship Id="Rc1db0b3f62874210"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904f7a525a984c6e" Type="http://schemas.openxmlformats.org/officeDocument/2006/relationships/notesMaster" Target="../notesMasters/notesMaster1.xml"/><Relationship Id="Rfa57ab19357b447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44bc2015e3664d49" Type="http://schemas.openxmlformats.org/officeDocument/2006/relationships/notesMaster" Target="../notesMasters/notesMaster1.xml"/><Relationship Id="Rf766396846fe4584"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0cfd9a784e064776" Type="http://schemas.openxmlformats.org/officeDocument/2006/relationships/slide" Target="../slides/slide12.xml"/><Relationship Id="Ra5b87516ed4e4db4" Type="http://schemas.openxmlformats.org/officeDocument/2006/relationships/notesMaster" Target="../notesMasters/notesMaster1.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0:00–0:25. Introduce the intake problem and the recommendation: a supervised shadow pilot. The 8 main slides plus a 90-second live demo total about 8 minutes. Four appendix slides support questions.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0:25–1:10. Lead with all-label document accuracy 96.2% and case accuracy 88.2%. The visible-label subset is secondary. Model cost is an uncached equivalent calculated from recorded usage, not this replay's spend. Cached graph timing excludes startup and prefetch. Source: docs/eval_results/official-heldout.json; provenance and limitations in docs/IMPLEMENTATION_REVIEW.md.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1:10–1:50. The assignment provides 85,000 documents/month, 120 reviewers, $18.4M/year and 4.2 days per claim. The model-spend projection excludes reviewers, infrastructure and operational costs. Do not compare cached graph latency with end-to-end business turnaround as a proven saving. Source: assignment brief and docs/eval_results/official-heldout.json.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1:50–2:30 explanation, then 2:30–4:00 live demo. Show a prepared case, source document and extracted evidence, per-code policy citations, decision rule and a review action. Export the audit PDF. Use a second reviewer for a four-eyes override. Missing required outputs and uncertain membership require review. An active matching member record permits claim-only intake. For recording, run the local verified build; the AWS deployment has not been updated by this change. Fallback: docs/screenshots and docs/manual_testing.md.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4:00–5:00. These are fresh graph replays using stored perception/model responses, not new live LLM calls or a new blind benchmark. 78 documents in 17 cases. Missing extraction and retrieval outputs now remain in the denominator. Report all-label document and case accuracy first. Three document-label misses remain; see the report rather than removing them from the score. Source: docs/eval_results/official-heldout.json.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5:00–5:45. Explain API role enforcement, four-eyes review and the audit chain. Seven adversarial documents produced zero decision flips in the historical test; this does not establish universal injection resistance. Redaction and spend caps are implemented, but regulated-data deployment still needs review. Sources: backend/tests, docs/redteam.md, docs/chat_redteam.md.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5:45–6:45. Explain limits without claiming production readiness. The data are synthetic, subtle forged IDs remain difficult, and cold latency needs separate measurement. The current AWS workflow needs durable graph checkpoint work for reliable cross-restart resume. Provider privacy review and SSO are pilot prerequisites. Source: docs/IMPLEMENTATION_REVIEW.md and docs/EVAL_REPORT.md.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6:45–7:45. Propose shadow, assisted and carefully gated straight-through phases. The 95% agreement and 5% override thresholds shown here are proposed pilot criteria, not achieved production results. Also require no unresolved critical safety defects and review of false approvals by scenario. Name the owner, data review and reliability work. Close by asking for the pilot decision.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 A. Seven logical agent roles are routed by document type; every document does not run every specialist. Confidence is an evaluation-calibrated estimate, not a guarantee. Tracing is optional. Repository remains private by owner instruction. Demo video remains pending. Sources: README.md; assignment brief.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 B. The diagram describes current component choices, not verified production reliability. Bedrock AgentCore hosts runtimes; it does not by itself imply every model call uses the Bedrock model API. Persistent AWS graph checkpoints, SSO and scale validation remain future work. This revision is deployed on AWS. Sources: infra and docs/IMPLEMENTATION_REVIEW.md.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 C. Local checks: 312 SQLite tests; 311 DynamoDB tests plus one backend-specific skip; 2 real-stack replay tests. CI runs deterministic graph failure cases and gates over saved evaluation artifacts. CI does not run a fresh live-model benchmark on every change. The local preflight verifies cached OCR/retrieval assets. Sources: docs/IMPLEMENTATION_REVIEW.md and .github/workflows/ci.yml.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 D. These optimization comparisons are historical experiments, not newly measured savings in this code revision. Published results and the live AWS deployment both use OCR-first (auto) mode. Do not mix latency or costs across settings. Sources: docs/eval_results/ab/ and docs/eval_results/reranker.json; docs/EVAL_REPORT.md.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Id="Rd6439bbbdcf2457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b2364db8ea9a4ebd"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0af7436db1c84056"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b0969ddb4983405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83984263ab704885"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93c7a01358444f57"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1e3756f9649a46a0"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ef9122f96dfb4683"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2086d144041e4d1a"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4815764767e9477f"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9237c3b40c5b4adc" Type="http://schemas.openxmlformats.org/officeDocument/2006/relationships/slideMaster" Target="../slideMasters/slideMaster1.xml"/></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3A50620B-594B-4FFA-8489-D42900A615B6}"/>
              </a:ext>
            </a:extLst>
          </p:cNvPr>
          <p:cNvSpPr>
            <a:spLocks xmlns:a="http://schemas.openxmlformats.org/drawingml/2006/main" noGrp="1"/>
          </p:cNvSpPr>
          <p:nvPr>
            <p:ph type="ctrTitle" idx="0"/>
          </p:nvPr>
        </p:nvSpPr>
        <p:spPr>
          <a:xfrm xmlns:a="http://schemas.openxmlformats.org/drawingml/2006/main">
            <a:off x="685800" y="2130425"/>
            <a:ext cx="7772400" cy="1470025"/>
          </a:xfrm>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Subtitle 2">
            <a:extLst xmlns:a="http://schemas.openxmlformats.org/drawingml/2006/main">
              <a:ext uri="{FF2B5EF4-FFF2-40B4-BE49-F238E27FC236}">
                <a16:creationId xmlns:a16="http://schemas.microsoft.com/office/drawing/2014/main" id="{4BE0DC8A-1E76-41BB-AD79-D0969C1DDDCE}"/>
              </a:ext>
            </a:extLst>
          </p:cNvPr>
          <p:cNvSpPr>
            <a:spLocks xmlns:a="http://schemas.openxmlformats.org/drawingml/2006/main" noGrp="1"/>
          </p:cNvSpPr>
          <p:nvPr>
            <p:ph type="subTitle" idx="1"/>
          </p:nvPr>
        </p:nvSpPr>
        <p:spPr>
          <a:xfrm xmlns:a="http://schemas.openxmlformats.org/drawingml/2006/main">
            <a:off x="1371600" y="3886200"/>
            <a:ext cx="6400800" cy="1752600"/>
          </a:xfrm>
        </p:spPr>
        <p:txBody>
          <a:bodyPr xmlns:a="http://schemas.openxmlformats.org/drawingml/2006/main"/>
          <a:lstStyle xmlns:a="http://schemas.openxmlformats.org/drawingml/2006/main">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xmlns:a="http://schemas.openxmlformats.org/drawingml/2006/main">
            <a:r>
              <a:t>Click to edit Master subtitle style</a:t>
            </a:r>
            <a:endParaRPr/>
          </a:p>
        </p:txBody>
      </p:sp>
      <p:sp>
        <p:nvSpPr>
          <p:cNvPr id="4" name="Date Placeholder 3">
            <a:extLst xmlns:a="http://schemas.openxmlformats.org/drawingml/2006/main">
              <a:ext uri="{FF2B5EF4-FFF2-40B4-BE49-F238E27FC236}">
                <a16:creationId xmlns:a16="http://schemas.microsoft.com/office/drawing/2014/main" id="{B2E48BE2-B5A2-42B3-A94E-5A9E9B466765}"/>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6CD4CA89-E77A-4B79-91A2-36D39336DAEB}"/>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B0BEE54B-2D5C-4BFC-8031-535A32A7A18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36B9736-9BBF-4FF0-9EEA-ACFEC99B32E6}"/>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A0413669-CFEE-409B-B3DF-9BAFE2594CF2}"/>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4B4D3F2E-2FC7-4718-8606-1B5A704CF3F3}"/>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BC9BC108-D7F6-4D24-8152-7738E845C78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4970AF3A-5337-4D4F-A319-9B639EE5EA7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6FECFE5-BF8E-4159-98BA-E51BEA1F6CB2}"/>
              </a:ext>
            </a:extLst>
          </p:cNvPr>
          <p:cNvSpPr>
            <a:spLocks xmlns:a="http://schemas.openxmlformats.org/drawingml/2006/main" noGrp="1"/>
          </p:cNvSpPr>
          <p:nvPr>
            <p:ph type="title" idx="0"/>
          </p:nvPr>
        </p:nvSpPr>
        <p:spPr>
          <a:xfrm xmlns:a="http://schemas.openxmlformats.org/drawingml/2006/main">
            <a:off x="722313" y="4406900"/>
            <a:ext cx="7772400" cy="1362075"/>
          </a:xfrm>
        </p:spPr>
        <p:txBody>
          <a:bodyPr xmlns:a="http://schemas.openxmlformats.org/drawingml/2006/main" anchor="t"/>
          <a:lstStyle xmlns:a="http://schemas.openxmlformats.org/drawingml/2006/main">
            <a:lvl1pPr algn="l">
              <a:buNone/>
              <a:defRPr sz="4000" b="1" cap="all"/>
            </a:lvl1pPr>
          </a:lstStyle>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DE8EBA97-5095-492D-B9BF-FE6283785F32}"/>
              </a:ext>
            </a:extLst>
          </p:cNvPr>
          <p:cNvSpPr>
            <a:spLocks xmlns:a="http://schemas.openxmlformats.org/drawingml/2006/main" noGrp="1"/>
          </p:cNvSpPr>
          <p:nvPr>
            <p:ph type="body" idx="1"/>
          </p:nvPr>
        </p:nvSpPr>
        <p:spPr>
          <a:xfrm xmlns:a="http://schemas.openxmlformats.org/drawingml/2006/main">
            <a:off x="722313" y="2906713"/>
            <a:ext cx="7772400" cy="1500187"/>
          </a:xfrm>
        </p:spPr>
        <p:txBody>
          <a:bodyPr xmlns:a="http://schemas.openxmlformats.org/drawingml/2006/main" anchor="b"/>
          <a:lstStyle xmlns:a="http://schemas.openxmlformats.org/drawingml/2006/main">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xmlns:a="http://schemas.openxmlformats.org/drawingml/2006/main">
            <a:pPr lvl="0">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3A7A407B-915F-4A41-9B0A-D0F9539CBF6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698D8768-0B41-4BE7-AF9E-2FCE6BA37367}"/>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2898F6B8-6104-4BC7-AA77-773D1DD1BF1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D7A9937-F3C9-4ED8-855C-6FD6DA9C2DC8}"/>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950F64F1-0F02-4429-8891-D2E02D218986}"/>
              </a:ext>
            </a:extLst>
          </p:cNvPr>
          <p:cNvSpPr>
            <a:spLocks xmlns:a="http://schemas.openxmlformats.org/drawingml/2006/main" noGrp="1"/>
          </p:cNvSpPr>
          <p:nvPr>
            <p:ph idx="1"/>
          </p:nvPr>
        </p:nvSpPr>
        <p:spPr>
          <a:xfrm xmlns:a="http://schemas.openxmlformats.org/drawingml/2006/main">
            <a:off x="457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Content Placeholder 3">
            <a:extLst xmlns:a="http://schemas.openxmlformats.org/drawingml/2006/main">
              <a:ext uri="{FF2B5EF4-FFF2-40B4-BE49-F238E27FC236}">
                <a16:creationId xmlns:a16="http://schemas.microsoft.com/office/drawing/2014/main" id="{027D973C-8769-40E7-8113-8EAC470BB3F1}"/>
              </a:ext>
            </a:extLst>
          </p:cNvPr>
          <p:cNvSpPr>
            <a:spLocks xmlns:a="http://schemas.openxmlformats.org/drawingml/2006/main" noGrp="1"/>
          </p:cNvSpPr>
          <p:nvPr>
            <p:ph idx="2"/>
          </p:nvPr>
        </p:nvSpPr>
        <p:spPr>
          <a:xfrm xmlns:a="http://schemas.openxmlformats.org/drawingml/2006/main">
            <a:off x="4648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Date Placeholder 4">
            <a:extLst xmlns:a="http://schemas.openxmlformats.org/drawingml/2006/main">
              <a:ext uri="{FF2B5EF4-FFF2-40B4-BE49-F238E27FC236}">
                <a16:creationId xmlns:a16="http://schemas.microsoft.com/office/drawing/2014/main" id="{AB885668-FCE7-45B9-B2C3-5476B90860D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6" name="Footer Placeholder 5">
            <a:extLst xmlns:a="http://schemas.openxmlformats.org/drawingml/2006/main">
              <a:ext uri="{FF2B5EF4-FFF2-40B4-BE49-F238E27FC236}">
                <a16:creationId xmlns:a16="http://schemas.microsoft.com/office/drawing/2014/main" id="{39A74C16-1E47-4951-8CF3-0710FD4E1C3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F7BE2735-B7E4-4F92-948D-AC925AEB179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F87C0C1-9BA4-4418-AEC5-4427ADC37A5A}"/>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buNone/>
              <a:defRPr/>
            </a:lvl1pPr>
          </a:lstStyle>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1316CD8F-E1CF-49EF-898F-EC5845573E38}"/>
              </a:ext>
            </a:extLst>
          </p:cNvPr>
          <p:cNvSpPr>
            <a:spLocks xmlns:a="http://schemas.openxmlformats.org/drawingml/2006/main" noGrp="1"/>
          </p:cNvSpPr>
          <p:nvPr>
            <p:ph type="body" idx="1"/>
          </p:nvPr>
        </p:nvSpPr>
        <p:spPr>
          <a:xfrm xmlns:a="http://schemas.openxmlformats.org/drawingml/2006/main">
            <a:off x="457200" y="1535113"/>
            <a:ext cx="4040188"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187D7895-03E2-4280-993A-B69AF9772BA7}"/>
              </a:ext>
            </a:extLst>
          </p:cNvPr>
          <p:cNvSpPr>
            <a:spLocks xmlns:a="http://schemas.openxmlformats.org/drawingml/2006/main" noGrp="1"/>
          </p:cNvSpPr>
          <p:nvPr>
            <p:ph idx="2"/>
          </p:nvPr>
        </p:nvSpPr>
        <p:spPr>
          <a:xfrm xmlns:a="http://schemas.openxmlformats.org/drawingml/2006/main">
            <a:off x="457200" y="2174875"/>
            <a:ext cx="4040188"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Text Placeholder 4">
            <a:extLst xmlns:a="http://schemas.openxmlformats.org/drawingml/2006/main">
              <a:ext uri="{FF2B5EF4-FFF2-40B4-BE49-F238E27FC236}">
                <a16:creationId xmlns:a16="http://schemas.microsoft.com/office/drawing/2014/main" id="{84EA9CED-A4DE-4C38-9BF8-5DB146CB40D8}"/>
              </a:ext>
            </a:extLst>
          </p:cNvPr>
          <p:cNvSpPr>
            <a:spLocks xmlns:a="http://schemas.openxmlformats.org/drawingml/2006/main" noGrp="1"/>
          </p:cNvSpPr>
          <p:nvPr>
            <p:ph type="body" idx="3"/>
          </p:nvPr>
        </p:nvSpPr>
        <p:spPr>
          <a:xfrm xmlns:a="http://schemas.openxmlformats.org/drawingml/2006/main">
            <a:off x="4645025" y="1535113"/>
            <a:ext cx="4041775"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19040689-8133-4360-9CA5-B410F46483C4}"/>
              </a:ext>
            </a:extLst>
          </p:cNvPr>
          <p:cNvSpPr>
            <a:spLocks xmlns:a="http://schemas.openxmlformats.org/drawingml/2006/main" noGrp="1"/>
          </p:cNvSpPr>
          <p:nvPr>
            <p:ph idx="4"/>
          </p:nvPr>
        </p:nvSpPr>
        <p:spPr>
          <a:xfrm xmlns:a="http://schemas.openxmlformats.org/drawingml/2006/main">
            <a:off x="4645025" y="2174875"/>
            <a:ext cx="4041775"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7" name="Date Placeholder 6">
            <a:extLst xmlns:a="http://schemas.openxmlformats.org/drawingml/2006/main">
              <a:ext uri="{FF2B5EF4-FFF2-40B4-BE49-F238E27FC236}">
                <a16:creationId xmlns:a16="http://schemas.microsoft.com/office/drawing/2014/main" id="{E4958B8E-8799-4772-9A49-E638DC22730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8" name="Footer Placeholder 7">
            <a:extLst xmlns:a="http://schemas.openxmlformats.org/drawingml/2006/main">
              <a:ext uri="{FF2B5EF4-FFF2-40B4-BE49-F238E27FC236}">
                <a16:creationId xmlns:a16="http://schemas.microsoft.com/office/drawing/2014/main" id="{B8FB7F3F-691E-42AB-9AFC-A976303A2FA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9" name="Slide Number Placeholder 8">
            <a:extLst xmlns:a="http://schemas.openxmlformats.org/drawingml/2006/main">
              <a:ext uri="{FF2B5EF4-FFF2-40B4-BE49-F238E27FC236}">
                <a16:creationId xmlns:a16="http://schemas.microsoft.com/office/drawing/2014/main" id="{91827EC2-6027-4794-B4AE-14619B1B99B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CB85EC56-3BAB-4BFA-B9DA-54489036F225}"/>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Date Placeholder 2">
            <a:extLst xmlns:a="http://schemas.openxmlformats.org/drawingml/2006/main">
              <a:ext uri="{FF2B5EF4-FFF2-40B4-BE49-F238E27FC236}">
                <a16:creationId xmlns:a16="http://schemas.microsoft.com/office/drawing/2014/main" id="{003A0C7D-BBFF-445B-8CF7-9036B28594F5}"/>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4" name="Footer Placeholder 3">
            <a:extLst xmlns:a="http://schemas.openxmlformats.org/drawingml/2006/main">
              <a:ext uri="{FF2B5EF4-FFF2-40B4-BE49-F238E27FC236}">
                <a16:creationId xmlns:a16="http://schemas.microsoft.com/office/drawing/2014/main" id="{BFA9D7BF-3830-4BC5-B1E4-D8B80A315A2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Slide Number Placeholder 4">
            <a:extLst xmlns:a="http://schemas.openxmlformats.org/drawingml/2006/main">
              <a:ext uri="{FF2B5EF4-FFF2-40B4-BE49-F238E27FC236}">
                <a16:creationId xmlns:a16="http://schemas.microsoft.com/office/drawing/2014/main" id="{9179D4D2-5F1F-4737-B5B3-F3265456DA9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F24C8060-65E3-414F-B41A-FD03763B57A4}"/>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3" name="Footer Placeholder 2">
            <a:extLst xmlns:a="http://schemas.openxmlformats.org/drawingml/2006/main">
              <a:ext uri="{FF2B5EF4-FFF2-40B4-BE49-F238E27FC236}">
                <a16:creationId xmlns:a16="http://schemas.microsoft.com/office/drawing/2014/main" id="{8E7EAFD1-A235-4624-9AE3-1ACBC17744F7}"/>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a:extLst xmlns:a="http://schemas.openxmlformats.org/drawingml/2006/main">
              <a:ext uri="{FF2B5EF4-FFF2-40B4-BE49-F238E27FC236}">
                <a16:creationId xmlns:a16="http://schemas.microsoft.com/office/drawing/2014/main" id="{1B410979-99CD-42FC-A50B-B019E0A7EFBB}"/>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69492C2-20BF-46CA-9CD6-9BC153B22BA2}"/>
              </a:ext>
            </a:extLst>
          </p:cNvPr>
          <p:cNvSpPr>
            <a:spLocks xmlns:a="http://schemas.openxmlformats.org/drawingml/2006/main" noGrp="1"/>
          </p:cNvSpPr>
          <p:nvPr>
            <p:ph type="title" idx="0"/>
          </p:nvPr>
        </p:nvSpPr>
        <p:spPr>
          <a:xfrm xmlns:a="http://schemas.openxmlformats.org/drawingml/2006/main">
            <a:off x="457200" y="273050"/>
            <a:ext cx="3008313" cy="1162050"/>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9ECCD848-B6BC-4AB6-A960-4A5995082BE3}"/>
              </a:ext>
            </a:extLst>
          </p:cNvPr>
          <p:cNvSpPr>
            <a:spLocks xmlns:a="http://schemas.openxmlformats.org/drawingml/2006/main" noGrp="1"/>
          </p:cNvSpPr>
          <p:nvPr>
            <p:ph idx="1"/>
          </p:nvPr>
        </p:nvSpPr>
        <p:spPr>
          <a:xfrm xmlns:a="http://schemas.openxmlformats.org/drawingml/2006/main">
            <a:off x="3575050" y="273050"/>
            <a:ext cx="5111750" cy="5853113"/>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Text Placeholder 3">
            <a:extLst xmlns:a="http://schemas.openxmlformats.org/drawingml/2006/main">
              <a:ext uri="{FF2B5EF4-FFF2-40B4-BE49-F238E27FC236}">
                <a16:creationId xmlns:a16="http://schemas.microsoft.com/office/drawing/2014/main" id="{E33B1448-DB45-43EF-883D-27CB430225D4}"/>
              </a:ext>
            </a:extLst>
          </p:cNvPr>
          <p:cNvSpPr>
            <a:spLocks xmlns:a="http://schemas.openxmlformats.org/drawingml/2006/main" noGrp="1"/>
          </p:cNvSpPr>
          <p:nvPr>
            <p:ph type="body" idx="2"/>
          </p:nvPr>
        </p:nvSpPr>
        <p:spPr>
          <a:xfrm xmlns:a="http://schemas.openxmlformats.org/drawingml/2006/main">
            <a:off x="457200" y="1435100"/>
            <a:ext cx="3008313" cy="4691063"/>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687AA65D-6D2E-48B6-80B3-F90BD37D6C3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6" name="Footer Placeholder 5">
            <a:extLst xmlns:a="http://schemas.openxmlformats.org/drawingml/2006/main">
              <a:ext uri="{FF2B5EF4-FFF2-40B4-BE49-F238E27FC236}">
                <a16:creationId xmlns:a16="http://schemas.microsoft.com/office/drawing/2014/main" id="{89C90077-0833-40A2-AE07-C79DB0EBBF7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8C2AD8E2-1E16-48F8-9F9C-830DBB7F5EE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A21AFD78-7BCD-4FC1-AF23-8AD83BB6142E}"/>
              </a:ext>
            </a:extLst>
          </p:cNvPr>
          <p:cNvSpPr>
            <a:spLocks xmlns:a="http://schemas.openxmlformats.org/drawingml/2006/main" noGrp="1"/>
          </p:cNvSpPr>
          <p:nvPr>
            <p:ph type="title" idx="0"/>
          </p:nvPr>
        </p:nvSpPr>
        <p:spPr>
          <a:xfrm xmlns:a="http://schemas.openxmlformats.org/drawingml/2006/main">
            <a:off x="1792288" y="4800600"/>
            <a:ext cx="5486400" cy="566738"/>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endParaRPr/>
          </a:p>
        </p:txBody>
      </p:sp>
      <p:sp>
        <p:nvSpPr>
          <p:cNvPr id="3" name="Picture Placeholder 2">
            <a:extLst xmlns:a="http://schemas.openxmlformats.org/drawingml/2006/main">
              <a:ext uri="{FF2B5EF4-FFF2-40B4-BE49-F238E27FC236}">
                <a16:creationId xmlns:a16="http://schemas.microsoft.com/office/drawing/2014/main" id="{D237ED80-7F98-411C-813C-ABDD103E8B83}"/>
              </a:ext>
            </a:extLst>
          </p:cNvPr>
          <p:cNvSpPr>
            <a:spLocks xmlns:a="http://schemas.openxmlformats.org/drawingml/2006/main" noGrp="1"/>
          </p:cNvSpPr>
          <p:nvPr>
            <p:ph type="pic" idx="1"/>
          </p:nvPr>
        </p:nvSpPr>
        <p:spPr>
          <a:xfrm xmlns:a="http://schemas.openxmlformats.org/drawingml/2006/main">
            <a:off x="1792288" y="612775"/>
            <a:ext cx="5486400" cy="4114800"/>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endParaRPr/>
          </a:p>
        </p:txBody>
      </p:sp>
      <p:sp>
        <p:nvSpPr>
          <p:cNvPr id="4" name="Text Placeholder 3">
            <a:extLst xmlns:a="http://schemas.openxmlformats.org/drawingml/2006/main">
              <a:ext uri="{FF2B5EF4-FFF2-40B4-BE49-F238E27FC236}">
                <a16:creationId xmlns:a16="http://schemas.microsoft.com/office/drawing/2014/main" id="{880D8546-B5E2-4D07-8C14-E3B05D9522D3}"/>
              </a:ext>
            </a:extLst>
          </p:cNvPr>
          <p:cNvSpPr>
            <a:spLocks xmlns:a="http://schemas.openxmlformats.org/drawingml/2006/main" noGrp="1"/>
          </p:cNvSpPr>
          <p:nvPr>
            <p:ph type="body" idx="2"/>
          </p:nvPr>
        </p:nvSpPr>
        <p:spPr>
          <a:xfrm xmlns:a="http://schemas.openxmlformats.org/drawingml/2006/main">
            <a:off x="1792288" y="5367338"/>
            <a:ext cx="5486400" cy="804862"/>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1700A654-4BD2-4A3D-874A-5FBF2FFCEE81}"/>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6" name="Footer Placeholder 5">
            <a:extLst xmlns:a="http://schemas.openxmlformats.org/drawingml/2006/main">
              <a:ext uri="{FF2B5EF4-FFF2-40B4-BE49-F238E27FC236}">
                <a16:creationId xmlns:a16="http://schemas.microsoft.com/office/drawing/2014/main" id="{F4A721A0-E3E3-43BA-B384-1F25D484520C}"/>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11E75881-495C-493A-9A57-ED4D0938819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69DBF5D-74F2-476C-8E03-3FA2456AC579}"/>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F1CFF3EB-B7FA-4C2D-AD23-514DE32C9B71}"/>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7E5642B0-7C4B-403D-85CA-BCD5BE6A4D9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590E1EED-48D3-4262-A948-954CF304D8CA}"/>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EDD69E77-F6E6-4EEC-AA66-C6BBFF6AC69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3F3AB8B1-7CD7-4C03-8543-46CABF704B7E}"/>
              </a:ext>
            </a:extLst>
          </p:cNvPr>
          <p:cNvSpPr>
            <a:spLocks xmlns:a="http://schemas.openxmlformats.org/drawingml/2006/main" noGrp="1"/>
          </p:cNvSpPr>
          <p:nvPr>
            <p:ph type="title" idx="0"/>
          </p:nvPr>
        </p:nvSpPr>
        <p:spPr>
          <a:xfrm xmlns:a="http://schemas.openxmlformats.org/drawingml/2006/main">
            <a:off x="6629400" y="274638"/>
            <a:ext cx="2057400" cy="5851525"/>
          </a:xfrm>
        </p:spPr>
        <p:txBody>
          <a:bodyPr xmlns:a="http://schemas.openxmlformats.org/drawingml/2006/main" vert="eaVert"/>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E12416B6-E4D6-4931-B6A7-33F68D7024FE}"/>
              </a:ext>
            </a:extLst>
          </p:cNvPr>
          <p:cNvSpPr>
            <a:spLocks xmlns:a="http://schemas.openxmlformats.org/drawingml/2006/main" noGrp="1"/>
          </p:cNvSpPr>
          <p:nvPr>
            <p:ph type="body" idx="1"/>
          </p:nvPr>
        </p:nvSpPr>
        <p:spPr>
          <a:xfrm xmlns:a="http://schemas.openxmlformats.org/drawingml/2006/main">
            <a:off x="457200" y="274638"/>
            <a:ext cx="6019800" cy="5851525"/>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EC338659-C038-4A3D-A236-7524D612C9A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AB53A74E-C12F-4364-9663-C47F452CE71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59B882E3-8752-410A-B441-66D48A6766E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Masters/_rels/slideMaster1.xml.rels><?xml version='1.0' encoding='UTF-8' standalone='yes'?>
<Relationships xmlns="http://schemas.openxmlformats.org/package/2006/relationships"><Relationship Id="R22ebee9de4334aeb" Type="http://schemas.openxmlformats.org/officeDocument/2006/relationships/slideLayout" Target="../slideLayouts/slideLayout5.xml"/><Relationship Id="R3d3b9892c05b4ee7" Type="http://schemas.openxmlformats.org/officeDocument/2006/relationships/slideLayout" Target="../slideLayouts/slideLayout10.xml"/><Relationship Id="R4e31f3b9757a44de" Type="http://schemas.openxmlformats.org/officeDocument/2006/relationships/theme" Target="theme/theme2.xml"/><Relationship Id="R6c10dd869bbc4ab4" Type="http://schemas.openxmlformats.org/officeDocument/2006/relationships/slideLayout" Target="../slideLayouts/slideLayout4.xml"/><Relationship Id="R73070380c9354a7a" Type="http://schemas.openxmlformats.org/officeDocument/2006/relationships/slideLayout" Target="../slideLayouts/slideLayout2.xml"/><Relationship Id="Rb541a5cd475948ab" Type="http://schemas.openxmlformats.org/officeDocument/2006/relationships/slideLayout" Target="../slideLayouts/slideLayout11.xml"/><Relationship Id="Rb95d6f535edd44ec" Type="http://schemas.openxmlformats.org/officeDocument/2006/relationships/slideLayout" Target="../slideLayouts/slideLayout9.xml"/><Relationship Id="Rbbf7898afa714777" Type="http://schemas.openxmlformats.org/officeDocument/2006/relationships/slideLayout" Target="../slideLayouts/slideLayout6.xml"/><Relationship Id="Rbd1f1bef59b045cf" Type="http://schemas.openxmlformats.org/officeDocument/2006/relationships/slideLayout" Target="../slideLayouts/slideLayout7.xml"/><Relationship Id="Rc09572fdfedf456b" Type="http://schemas.openxmlformats.org/officeDocument/2006/relationships/slideLayout" Target="../slideLayouts/slideLayout8.xml"/><Relationship Id="Rc1e4c2197ce64dc5" Type="http://schemas.openxmlformats.org/officeDocument/2006/relationships/slideLayout" Target="../slideLayouts/slideLayout3.xml"/><Relationship Id="Rf2c7a330cdee4d43" Type="http://schemas.openxmlformats.org/officeDocument/2006/relationships/slideLayout" Target="../slideLayouts/slideLayout1.xml"/></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504DEB5C-3661-400B-A072-2503FC3AEEAB}"/>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BD99EFF9-D8CC-467E-8AA5-D2DF7C75E45C}"/>
              </a:ext>
            </a:extLst>
          </p:cNvPr>
          <p:cNvSpPr>
            <a:spLocks xmlns:a="http://schemas.openxmlformats.org/drawingml/2006/main" noGrp="1"/>
          </p:cNvSpPr>
          <p:nvPr>
            <p:ph type="body" idx="1"/>
          </p:nvPr>
        </p:nvSpPr>
        <p:spPr>
          <a:xfrm xmlns:a="http://schemas.openxmlformats.org/drawingml/2006/main">
            <a:off x="457200" y="1600200"/>
            <a:ext cx="8229600" cy="4525963"/>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7CD2F13C-FA4E-46E9-9571-BDFA5F7E6A3F}"/>
              </a:ext>
            </a:extLst>
          </p:cNvPr>
          <p:cNvSpPr>
            <a:spLocks xmlns:a="http://schemas.openxmlformats.org/drawingml/2006/main" noGrp="1"/>
          </p:cNvSpPr>
          <p:nvPr>
            <p:ph type="dt" idx="2"/>
          </p:nvPr>
        </p:nvSpPr>
        <p:spPr>
          <a:xfrm xmlns:a="http://schemas.openxmlformats.org/drawingml/2006/main">
            <a:off x="457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CEEFFEA5-B1CB-44A0-8C96-7360C9309D43}"/>
              </a:ext>
            </a:extLst>
          </p:cNvPr>
          <p:cNvSpPr>
            <a:spLocks xmlns:a="http://schemas.openxmlformats.org/drawingml/2006/main" noGrp="1"/>
          </p:cNvSpPr>
          <p:nvPr>
            <p:ph type="ftr" idx="3"/>
          </p:nvPr>
        </p:nvSpPr>
        <p:spPr>
          <a:xfrm xmlns:a="http://schemas.openxmlformats.org/drawingml/2006/main">
            <a:off x="3124200" y="6356350"/>
            <a:ext cx="2895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9830C566-BA1F-44E5-8834-91E061E8CBCA}"/>
              </a:ext>
            </a:extLst>
          </p:cNvPr>
          <p:cNvSpPr>
            <a:spLocks xmlns:a="http://schemas.openxmlformats.org/drawingml/2006/main" noGrp="1"/>
          </p:cNvSpPr>
          <p:nvPr>
            <p:ph type="sldNum" idx="4"/>
          </p:nvPr>
        </p:nvSpPr>
        <p:spPr>
          <a:xfrm xmlns:a="http://schemas.openxmlformats.org/drawingml/2006/main">
            <a:off x="6553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a:fld id="{C1FF6DA9-008F-8B48-92A6-B652298478BF}"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2c7a330cdee4d43"/>
    <p:sldLayoutId xmlns:r="http://schemas.openxmlformats.org/officeDocument/2006/relationships" id="2147483650" r:id="R73070380c9354a7a"/>
    <p:sldLayoutId xmlns:r="http://schemas.openxmlformats.org/officeDocument/2006/relationships" id="2147483651" r:id="Rc1e4c2197ce64dc5"/>
    <p:sldLayoutId xmlns:r="http://schemas.openxmlformats.org/officeDocument/2006/relationships" id="2147483652" r:id="R6c10dd869bbc4ab4"/>
    <p:sldLayoutId xmlns:r="http://schemas.openxmlformats.org/officeDocument/2006/relationships" id="2147483653" r:id="R22ebee9de4334aeb"/>
    <p:sldLayoutId xmlns:r="http://schemas.openxmlformats.org/officeDocument/2006/relationships" id="2147483654" r:id="Rbbf7898afa714777"/>
    <p:sldLayoutId xmlns:r="http://schemas.openxmlformats.org/officeDocument/2006/relationships" id="2147483655" r:id="Rbd1f1bef59b045cf"/>
    <p:sldLayoutId xmlns:r="http://schemas.openxmlformats.org/officeDocument/2006/relationships" id="2147483656" r:id="Rc09572fdfedf456b"/>
    <p:sldLayoutId xmlns:r="http://schemas.openxmlformats.org/officeDocument/2006/relationships" id="2147483657" r:id="Rb95d6f535edd44ec"/>
    <p:sldLayoutId xmlns:r="http://schemas.openxmlformats.org/officeDocument/2006/relationships" id="2147483658" r:id="R3d3b9892c05b4ee7"/>
    <p:sldLayoutId xmlns:r="http://schemas.openxmlformats.org/officeDocument/2006/relationships" id="2147483659" r:id="Rb541a5cd475948ab"/>
  </p:sldLayoutIdLst>
  <p:txStyles>
    <p:titleStyle>
      <a:lvl1pPr xmlns:a="http://schemas.openxmlformats.org/drawingml/2006/main" algn="ctr" defTabSz="4572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4572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4572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4572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4572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4572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4572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4572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4572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4572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457200">
        <a:buNone/>
        <a:defRPr sz="1800" kern="1200">
          <a:solidFill>
            <a:schemeClr val="tx1"/>
          </a:solidFill>
          <a:latin typeface="+mn-lt"/>
          <a:ea typeface="+mn-lt"/>
          <a:cs typeface="+mn-lt"/>
        </a:defRPr>
      </a:lvl1pPr>
      <a:lvl2pPr xmlns:a="http://schemas.openxmlformats.org/drawingml/2006/main" marL="457200" algn="l" defTabSz="457200">
        <a:buNone/>
        <a:defRPr sz="1800" kern="1200">
          <a:solidFill>
            <a:schemeClr val="tx1"/>
          </a:solidFill>
          <a:latin typeface="+mn-lt"/>
          <a:ea typeface="+mn-lt"/>
          <a:cs typeface="+mn-lt"/>
        </a:defRPr>
      </a:lvl2pPr>
      <a:lvl3pPr xmlns:a="http://schemas.openxmlformats.org/drawingml/2006/main" marL="914400" algn="l" defTabSz="457200">
        <a:buNone/>
        <a:defRPr sz="1800" kern="1200">
          <a:solidFill>
            <a:schemeClr val="tx1"/>
          </a:solidFill>
          <a:latin typeface="+mn-lt"/>
          <a:ea typeface="+mn-lt"/>
          <a:cs typeface="+mn-lt"/>
        </a:defRPr>
      </a:lvl3pPr>
      <a:lvl4pPr xmlns:a="http://schemas.openxmlformats.org/drawingml/2006/main" marL="1371600" algn="l" defTabSz="457200">
        <a:buNone/>
        <a:defRPr sz="1800" kern="1200">
          <a:solidFill>
            <a:schemeClr val="tx1"/>
          </a:solidFill>
          <a:latin typeface="+mn-lt"/>
          <a:ea typeface="+mn-lt"/>
          <a:cs typeface="+mn-lt"/>
        </a:defRPr>
      </a:lvl4pPr>
      <a:lvl5pPr xmlns:a="http://schemas.openxmlformats.org/drawingml/2006/main" marL="1828800" algn="l" defTabSz="457200">
        <a:buNone/>
        <a:defRPr sz="1800" kern="1200">
          <a:solidFill>
            <a:schemeClr val="tx1"/>
          </a:solidFill>
          <a:latin typeface="+mn-lt"/>
          <a:ea typeface="+mn-lt"/>
          <a:cs typeface="+mn-lt"/>
        </a:defRPr>
      </a:lvl5pPr>
      <a:lvl6pPr xmlns:a="http://schemas.openxmlformats.org/drawingml/2006/main" marL="2286000" algn="l" defTabSz="457200">
        <a:buNone/>
        <a:defRPr sz="1800" kern="1200">
          <a:solidFill>
            <a:schemeClr val="tx1"/>
          </a:solidFill>
          <a:latin typeface="+mn-lt"/>
          <a:ea typeface="+mn-lt"/>
          <a:cs typeface="+mn-lt"/>
        </a:defRPr>
      </a:lvl6pPr>
      <a:lvl7pPr xmlns:a="http://schemas.openxmlformats.org/drawingml/2006/main" marL="2743200" algn="l" defTabSz="457200">
        <a:buNone/>
        <a:defRPr sz="1800" kern="1200">
          <a:solidFill>
            <a:schemeClr val="tx1"/>
          </a:solidFill>
          <a:latin typeface="+mn-lt"/>
          <a:ea typeface="+mn-lt"/>
          <a:cs typeface="+mn-lt"/>
        </a:defRPr>
      </a:lvl7pPr>
      <a:lvl8pPr xmlns:a="http://schemas.openxmlformats.org/drawingml/2006/main" marL="3200400" algn="l" defTabSz="457200">
        <a:buNone/>
        <a:defRPr sz="1800" kern="1200">
          <a:solidFill>
            <a:schemeClr val="tx1"/>
          </a:solidFill>
          <a:latin typeface="+mn-lt"/>
          <a:ea typeface="+mn-lt"/>
          <a:cs typeface="+mn-lt"/>
        </a:defRPr>
      </a:lvl8pPr>
      <a:lvl9pPr xmlns:a="http://schemas.openxmlformats.org/drawingml/2006/main" marL="3657600" algn="l" defTabSz="4572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xml version='1.0' encoding='UTF-8' standalone='yes'?>
<Relationships xmlns="http://schemas.openxmlformats.org/package/2006/relationships"><Relationship Id="R33010df92d7c477e" Type="http://schemas.openxmlformats.org/officeDocument/2006/relationships/notesSlide" Target="../notesSlides/notesSlide1.xml"/><Relationship Id="Rca054b6dfc524276"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4b66adb622084deb" Type="http://schemas.openxmlformats.org/officeDocument/2006/relationships/notesSlide" Target="../notesSlides/notesSlide2.xml"/><Relationship Id="R528ce1315d884df3"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706494c296f04498" Type="http://schemas.openxmlformats.org/officeDocument/2006/relationships/slideLayout" Target="../slideLayouts/slideLayout7.xml"/><Relationship Id="Ra47cc066e0d0443b"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cbdfebcfd15e4ab2" Type="http://schemas.openxmlformats.org/officeDocument/2006/relationships/notesSlide" Target="../notesSlides/notesSlide4.xml"/><Relationship Id="Rdb84b2b344f743cb"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718c065dde444184" Type="http://schemas.openxmlformats.org/officeDocument/2006/relationships/slideLayout" Target="../slideLayouts/slideLayout7.xml"/><Relationship Id="R8481790d29784e3a"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102f4ce5c4c44b09" Type="http://schemas.openxmlformats.org/officeDocument/2006/relationships/notesSlide" Target="../notesSlides/notesSlide6.xml"/><Relationship Id="R9d4e49a18a5645b2"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2e52b88e33f546ff" Type="http://schemas.openxmlformats.org/officeDocument/2006/relationships/notesSlide" Target="../notesSlides/notesSlide7.xml"/><Relationship Id="R64a5b3da4f7e4ec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9184edb74ad54b40" Type="http://schemas.openxmlformats.org/officeDocument/2006/relationships/slideLayout" Target="../slideLayouts/slideLayout7.xml"/><Relationship Id="R9ca3c7af8659434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0326bf267bf54ae5" Type="http://schemas.openxmlformats.org/officeDocument/2006/relationships/notesSlide" Target="../notesSlides/notesSlide9.xml"/><Relationship Id="R2494886d284d439b"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75f909d04eb542f8" Type="http://schemas.openxmlformats.org/officeDocument/2006/relationships/slideLayout" Target="../slideLayouts/slideLayout7.xml"/><Relationship Id="R8a052256d5114109"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a38957cbf02e40c9" Type="http://schemas.openxmlformats.org/officeDocument/2006/relationships/slideLayout" Target="../slideLayouts/slideLayout7.xml"/><Relationship Id="Rb90f85a316bf436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1a9c84b4c0044e9e" Type="http://schemas.openxmlformats.org/officeDocument/2006/relationships/slideLayout" Target="../slideLayouts/slideLayout7.xml"/><Relationship Id="Red1d9e2fc9f149c2" Type="http://schemas.openxmlformats.org/officeDocument/2006/relationships/notesSlide" Target="../notesSlides/notesSlide12.xml"/></Relationships>
</file>

<file path=ppt/slides/slide1.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2" name="Pentagon 1">
            <a:extLst xmlns:a="http://schemas.openxmlformats.org/drawingml/2006/main">
              <a:ext uri="{FF2B5EF4-FFF2-40B4-BE49-F238E27FC236}">
                <a16:creationId xmlns:a16="http://schemas.microsoft.com/office/drawing/2014/main" id="{589644BB-DB17-4B1B-A850-A0C0F857262E}"/>
              </a:ext>
            </a:extLst>
          </p:cNvPr>
          <p:cNvSpPr>
            <a:spLocks xmlns:a="http://schemas.openxmlformats.org/drawingml/2006/main" noGrp="1"/>
          </p:cNvSpPr>
          <p:nvPr/>
        </p:nvSpPr>
        <p:spPr>
          <a:xfrm xmlns:a="http://schemas.openxmlformats.org/drawingml/2006/main" rot="5400000">
            <a:off x="731520" y="640080"/>
            <a:ext cx="685800" cy="685800"/>
          </a:xfrm>
          <a:prstGeom xmlns:a="http://schemas.openxmlformats.org/drawingml/2006/main" prst="homePlate">
            <a:avLst/>
          </a:prstGeom>
          <a:solidFill xmlns:a="http://schemas.openxmlformats.org/drawingml/2006/main">
            <a:srgbClr val="2DD4B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Rectangle 2">
            <a:extLst xmlns:a="http://schemas.openxmlformats.org/drawingml/2006/main">
              <a:ext uri="{FF2B5EF4-FFF2-40B4-BE49-F238E27FC236}">
                <a16:creationId xmlns:a16="http://schemas.microsoft.com/office/drawing/2014/main" id="{93E74E83-5580-4BD3-961E-F0680206FA5B}"/>
              </a:ext>
            </a:extLst>
          </p:cNvPr>
          <p:cNvSpPr>
            <a:spLocks xmlns:a="http://schemas.openxmlformats.org/drawingml/2006/main" noGrp="1"/>
          </p:cNvSpPr>
          <p:nvPr/>
        </p:nvSpPr>
        <p:spPr>
          <a:xfrm xmlns:a="http://schemas.openxmlformats.org/drawingml/2006/main">
            <a:off x="1012698" y="763524"/>
            <a:ext cx="123444" cy="384048"/>
          </a:xfrm>
          <a:prstGeom xmlns:a="http://schemas.openxmlformats.org/drawingml/2006/main" prst="rect">
            <a:avLst/>
          </a:prstGeom>
          <a:solidFill xmlns:a="http://schemas.openxmlformats.org/drawingml/2006/main">
            <a:srgbClr val="0B122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Rectangle 3">
            <a:extLst xmlns:a="http://schemas.openxmlformats.org/drawingml/2006/main">
              <a:ext uri="{FF2B5EF4-FFF2-40B4-BE49-F238E27FC236}">
                <a16:creationId xmlns:a16="http://schemas.microsoft.com/office/drawing/2014/main" id="{08EF88CD-4E70-4A02-86D6-4212B1BC59A4}"/>
              </a:ext>
            </a:extLst>
          </p:cNvPr>
          <p:cNvSpPr>
            <a:spLocks xmlns:a="http://schemas.openxmlformats.org/drawingml/2006/main" noGrp="1"/>
          </p:cNvSpPr>
          <p:nvPr/>
        </p:nvSpPr>
        <p:spPr>
          <a:xfrm xmlns:a="http://schemas.openxmlformats.org/drawingml/2006/main">
            <a:off x="882396" y="893826"/>
            <a:ext cx="384048" cy="123444"/>
          </a:xfrm>
          <a:prstGeom xmlns:a="http://schemas.openxmlformats.org/drawingml/2006/main" prst="rect">
            <a:avLst/>
          </a:prstGeom>
          <a:solidFill xmlns:a="http://schemas.openxmlformats.org/drawingml/2006/main">
            <a:srgbClr val="0B122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 name="TextBox 4">
            <a:extLst xmlns:a="http://schemas.openxmlformats.org/drawingml/2006/main">
              <a:ext uri="{FF2B5EF4-FFF2-40B4-BE49-F238E27FC236}">
                <a16:creationId xmlns:a16="http://schemas.microsoft.com/office/drawing/2014/main" id="{A984994D-A8DB-499B-A7AD-B5135DA4D3F7}"/>
              </a:ext>
            </a:extLst>
          </p:cNvPr>
          <p:cNvSpPr>
            <a:spLocks xmlns:a="http://schemas.openxmlformats.org/drawingml/2006/main" noGrp="1"/>
          </p:cNvSpPr>
          <p:nvPr/>
        </p:nvSpPr>
        <p:spPr>
          <a:xfrm xmlns:a="http://schemas.openxmlformats.org/drawingml/2006/main">
            <a:off x="1600200" y="713232"/>
            <a:ext cx="54864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buNone/>
              <a:defRPr>
                <a:solidFill>
                  <a:srgbClr val="F8FAFC"/>
                </a:solidFill>
              </a:defRPr>
            </a:pPr>
            <a:r>
              <a:rPr sz="2200" b="1">
                <a:solidFill>
                  <a:srgbClr val="F8FAFC"/>
                </a:solidFill>
                <a:latin typeface="Calibri"/>
                <a:ea typeface="Calibri"/>
                <a:cs typeface="Calibri"/>
              </a:rPr>
              <a:t>MediShield Health</a:t>
            </a:r>
          </a:p>
        </p:txBody>
      </p:sp>
      <p:sp>
        <p:nvSpPr>
          <p:cNvPr id="6" name="TextBox 5">
            <a:extLst xmlns:a="http://schemas.openxmlformats.org/drawingml/2006/main">
              <a:ext uri="{FF2B5EF4-FFF2-40B4-BE49-F238E27FC236}">
                <a16:creationId xmlns:a16="http://schemas.microsoft.com/office/drawing/2014/main" id="{4CA652C4-308D-41EF-B1B0-8FDDD6A9A050}"/>
              </a:ext>
            </a:extLst>
          </p:cNvPr>
          <p:cNvSpPr>
            <a:spLocks xmlns:a="http://schemas.openxmlformats.org/drawingml/2006/main" noGrp="1"/>
          </p:cNvSpPr>
          <p:nvPr/>
        </p:nvSpPr>
        <p:spPr>
          <a:xfrm xmlns:a="http://schemas.openxmlformats.org/drawingml/2006/main">
            <a:off x="731520" y="2103120"/>
            <a:ext cx="1051560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buNone/>
              <a:defRPr>
                <a:solidFill>
                  <a:srgbClr val="F8FAFC"/>
                </a:solidFill>
              </a:defRPr>
            </a:pPr>
            <a:r>
              <a:rPr sz="5400" b="1">
                <a:solidFill>
                  <a:srgbClr val="F8FAFC"/>
                </a:solidFill>
                <a:latin typeface="Calibri"/>
                <a:ea typeface="Calibri"/>
                <a:cs typeface="Calibri"/>
              </a:rPr>
              <a:t>Claims intake automation</a:t>
            </a:r>
          </a:p>
        </p:txBody>
      </p:sp>
      <p:sp>
        <p:nvSpPr>
          <p:cNvPr id="7" name="TextBox 6">
            <a:extLst xmlns:a="http://schemas.openxmlformats.org/drawingml/2006/main">
              <a:ext uri="{FF2B5EF4-FFF2-40B4-BE49-F238E27FC236}">
                <a16:creationId xmlns:a16="http://schemas.microsoft.com/office/drawing/2014/main" id="{4981F305-4554-48A4-901D-3CF85D98D7E1}"/>
              </a:ext>
            </a:extLst>
          </p:cNvPr>
          <p:cNvSpPr>
            <a:spLocks xmlns:a="http://schemas.openxmlformats.org/drawingml/2006/main" noGrp="1"/>
          </p:cNvSpPr>
          <p:nvPr/>
        </p:nvSpPr>
        <p:spPr>
          <a:xfrm xmlns:a="http://schemas.openxmlformats.org/drawingml/2006/main">
            <a:off x="731520" y="3154680"/>
            <a:ext cx="105156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buNone/>
              <a:defRPr>
                <a:solidFill>
                  <a:srgbClr val="CBD5E1"/>
                </a:solidFill>
              </a:defRPr>
            </a:pPr>
            <a:r>
              <a:rPr sz="2600" b="0">
                <a:solidFill>
                  <a:srgbClr val="CBD5E1"/>
                </a:solidFill>
                <a:latin typeface="Calibri"/>
                <a:ea typeface="Calibri"/>
                <a:cs typeface="Calibri"/>
              </a:rPr>
              <a:t>Evidence, live workflow and pilot recommendation</a:t>
            </a:r>
          </a:p>
        </p:txBody>
      </p:sp>
      <p:sp>
        <p:nvSpPr>
          <p:cNvPr id="8" name="TextBox 7">
            <a:extLst xmlns:a="http://schemas.openxmlformats.org/drawingml/2006/main">
              <a:ext uri="{FF2B5EF4-FFF2-40B4-BE49-F238E27FC236}">
                <a16:creationId xmlns:a16="http://schemas.microsoft.com/office/drawing/2014/main" id="{52AE91C0-003A-449D-8A80-64632F972ECA}"/>
              </a:ext>
            </a:extLst>
          </p:cNvPr>
          <p:cNvSpPr>
            <a:spLocks xmlns:a="http://schemas.openxmlformats.org/drawingml/2006/main" noGrp="1"/>
          </p:cNvSpPr>
          <p:nvPr/>
        </p:nvSpPr>
        <p:spPr>
          <a:xfrm xmlns:a="http://schemas.openxmlformats.org/drawingml/2006/main">
            <a:off x="731520" y="5669280"/>
            <a:ext cx="1051560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buNone/>
              <a:defRPr>
                <a:solidFill>
                  <a:srgbClr val="CBD5E1"/>
                </a:solidFill>
              </a:defRPr>
            </a:pPr>
            <a:r>
              <a:rPr sz="1400" b="0">
                <a:solidFill>
                  <a:srgbClr val="CBD5E1"/>
                </a:solidFill>
                <a:latin typeface="Calibri"/>
                <a:ea typeface="Calibri"/>
                <a:cs typeface="Calibri"/>
              </a:rPr>
              <a:t>Raghav Bansal · Solution Owner · October 2026</a:t>
            </a:r>
          </a:p>
        </p:txBody>
      </p:sp>
    </p:spTree>
    <p:extLst>
      <p:ext uri="{BB962C8B-B14F-4D97-AF65-F5344CB8AC3E}">
        <p14:creationId xmlns:p14="http://schemas.microsoft.com/office/powerpoint/2010/main" val="1460663017"/>
      </p:ext>
    </p:extLst>
  </p:cSld>
</p:sld>
</file>

<file path=ppt/slides/slide2.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3FBDFB1F-343A-44A4-99CF-B749439691BF}"/>
              </a:ext>
            </a:extLst>
          </p:cNvPr>
          <p:cNvSpPr>
            <a:spLocks xmlns:a="http://schemas.openxmlformats.org/drawingml/2006/main" noGrp="1"/>
          </p:cNvSpPr>
          <p:nvPr/>
        </p:nvSpPr>
        <p:spPr>
          <a:xfrm xmlns:a="http://schemas.openxmlformats.org/drawingml/2006/main">
            <a:off x="0" y="0"/>
            <a:ext cx="12191695" cy="109728"/>
          </a:xfrm>
          <a:prstGeom xmlns:a="http://schemas.openxmlformats.org/drawingml/2006/main" prst="rect">
            <a:avLst/>
          </a:prstGeom>
          <a:solidFill xmlns:a="http://schemas.openxmlformats.org/drawingml/2006/main">
            <a:srgbClr val="2DD4B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7FA59ACE-CB32-492E-B995-2B1673664820}"/>
              </a:ext>
            </a:extLst>
          </p:cNvPr>
          <p:cNvSpPr>
            <a:spLocks xmlns:a="http://schemas.openxmlformats.org/drawingml/2006/main" noGrp="1"/>
          </p:cNvSpPr>
          <p:nvPr/>
        </p:nvSpPr>
        <p:spPr>
          <a:xfrm xmlns:a="http://schemas.openxmlformats.org/drawingml/2006/main">
            <a:off x="640080" y="411480"/>
            <a:ext cx="91440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buNone/>
              <a:defRPr>
                <a:solidFill>
                  <a:srgbClr val="2DD4BF"/>
                </a:solidFill>
              </a:defRPr>
            </a:pPr>
            <a:r>
              <a:rPr sz="1200" b="1">
                <a:solidFill>
                  <a:srgbClr val="2DD4BF"/>
                </a:solidFill>
                <a:latin typeface="Calibri"/>
                <a:ea typeface="Calibri"/>
                <a:cs typeface="Calibri"/>
              </a:rPr>
              <a:t>EXECUTIVE SUMMARY</a:t>
            </a:r>
          </a:p>
        </p:txBody>
      </p:sp>
      <p:sp>
        <p:nvSpPr>
          <p:cNvPr id="4" name="TextBox 3">
            <a:extLst xmlns:a="http://schemas.openxmlformats.org/drawingml/2006/main">
              <a:ext uri="{FF2B5EF4-FFF2-40B4-BE49-F238E27FC236}">
                <a16:creationId xmlns:a16="http://schemas.microsoft.com/office/drawing/2014/main" id="{B768EC94-FC3E-4A15-B63B-2C1BA234CEB2}"/>
              </a:ext>
            </a:extLst>
          </p:cNvPr>
          <p:cNvSpPr>
            <a:spLocks xmlns:a="http://schemas.openxmlformats.org/drawingml/2006/main" noGrp="1"/>
          </p:cNvSpPr>
          <p:nvPr/>
        </p:nvSpPr>
        <p:spPr>
          <a:xfrm xmlns:a="http://schemas.openxmlformats.org/drawingml/2006/main">
            <a:off x="640080" y="685800"/>
            <a:ext cx="1097280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buNone/>
              <a:defRPr>
                <a:solidFill>
                  <a:srgbClr val="F8FAFC"/>
                </a:solidFill>
              </a:defRPr>
            </a:pPr>
            <a:r>
              <a:rPr sz="3200" b="1">
                <a:solidFill>
                  <a:srgbClr val="F8FAFC"/>
                </a:solidFill>
                <a:latin typeface="Calibri"/>
                <a:ea typeface="Calibri"/>
                <a:cs typeface="Calibri"/>
              </a:rPr>
              <a:t>Ready for a supervised pilot</a:t>
            </a:r>
          </a:p>
        </p:txBody>
      </p:sp>
      <p:sp>
        <p:nvSpPr>
          <p:cNvPr id="5" name="Pentagon 4">
            <a:extLst xmlns:a="http://schemas.openxmlformats.org/drawingml/2006/main">
              <a:ext uri="{FF2B5EF4-FFF2-40B4-BE49-F238E27FC236}">
                <a16:creationId xmlns:a16="http://schemas.microsoft.com/office/drawing/2014/main" id="{0D51A2E3-E8B0-4F45-9B5B-D13B5DB9BF4E}"/>
              </a:ext>
            </a:extLst>
          </p:cNvPr>
          <p:cNvSpPr>
            <a:spLocks xmlns:a="http://schemas.openxmlformats.org/drawingml/2006/main" noGrp="1"/>
          </p:cNvSpPr>
          <p:nvPr/>
        </p:nvSpPr>
        <p:spPr>
          <a:xfrm xmlns:a="http://schemas.openxmlformats.org/drawingml/2006/main" rot="5400000">
            <a:off x="11201400" y="384048"/>
            <a:ext cx="384048" cy="384048"/>
          </a:xfrm>
          <a:prstGeom xmlns:a="http://schemas.openxmlformats.org/drawingml/2006/main" prst="homePlate">
            <a:avLst/>
          </a:prstGeom>
          <a:solidFill xmlns:a="http://schemas.openxmlformats.org/drawingml/2006/main">
            <a:srgbClr val="2DD4B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Rectangle 5">
            <a:extLst xmlns:a="http://schemas.openxmlformats.org/drawingml/2006/main">
              <a:ext uri="{FF2B5EF4-FFF2-40B4-BE49-F238E27FC236}">
                <a16:creationId xmlns:a16="http://schemas.microsoft.com/office/drawing/2014/main" id="{C57A33A7-D647-441E-BAA4-824007E13998}"/>
              </a:ext>
            </a:extLst>
          </p:cNvPr>
          <p:cNvSpPr>
            <a:spLocks xmlns:a="http://schemas.openxmlformats.org/drawingml/2006/main" noGrp="1"/>
          </p:cNvSpPr>
          <p:nvPr/>
        </p:nvSpPr>
        <p:spPr>
          <a:xfrm xmlns:a="http://schemas.openxmlformats.org/drawingml/2006/main">
            <a:off x="11358860" y="453177"/>
            <a:ext cx="69128" cy="215066"/>
          </a:xfrm>
          <a:prstGeom xmlns:a="http://schemas.openxmlformats.org/drawingml/2006/main" prst="rect">
            <a:avLst/>
          </a:prstGeom>
          <a:solidFill xmlns:a="http://schemas.openxmlformats.org/drawingml/2006/main">
            <a:srgbClr val="14223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Rectangle 6">
            <a:extLst xmlns:a="http://schemas.openxmlformats.org/drawingml/2006/main">
              <a:ext uri="{FF2B5EF4-FFF2-40B4-BE49-F238E27FC236}">
                <a16:creationId xmlns:a16="http://schemas.microsoft.com/office/drawing/2014/main" id="{9E7B5A1D-2E4B-47AF-8045-19C036C1FBB1}"/>
              </a:ext>
            </a:extLst>
          </p:cNvPr>
          <p:cNvSpPr>
            <a:spLocks xmlns:a="http://schemas.openxmlformats.org/drawingml/2006/main" noGrp="1"/>
          </p:cNvSpPr>
          <p:nvPr/>
        </p:nvSpPr>
        <p:spPr>
          <a:xfrm xmlns:a="http://schemas.openxmlformats.org/drawingml/2006/main">
            <a:off x="11285891" y="526146"/>
            <a:ext cx="215066" cy="69128"/>
          </a:xfrm>
          <a:prstGeom xmlns:a="http://schemas.openxmlformats.org/drawingml/2006/main" prst="rect">
            <a:avLst/>
          </a:prstGeom>
          <a:solidFill xmlns:a="http://schemas.openxmlformats.org/drawingml/2006/main">
            <a:srgbClr val="14223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 name="TextBox 7">
            <a:extLst xmlns:a="http://schemas.openxmlformats.org/drawingml/2006/main">
              <a:ext uri="{FF2B5EF4-FFF2-40B4-BE49-F238E27FC236}">
                <a16:creationId xmlns:a16="http://schemas.microsoft.com/office/drawing/2014/main" id="{293C781F-6AB4-4A80-975D-A0E3D072127E}"/>
              </a:ext>
            </a:extLst>
          </p:cNvPr>
          <p:cNvSpPr>
            <a:spLocks xmlns:a="http://schemas.openxmlformats.org/drawingml/2006/main" noGrp="1"/>
          </p:cNvSpPr>
          <p:nvPr/>
        </p:nvSpPr>
        <p:spPr>
          <a:xfrm xmlns:a="http://schemas.openxmlformats.org/drawingml/2006/main">
            <a:off x="640080" y="6446520"/>
            <a:ext cx="7315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buNone/>
              <a:defRPr>
                <a:solidFill>
                  <a:srgbClr val="CBD5E1"/>
                </a:solidFill>
              </a:defRPr>
            </a:pPr>
            <a:r>
              <a:rPr sz="1000" b="0">
                <a:solidFill>
                  <a:srgbClr val="CBD5E1"/>
                </a:solidFill>
                <a:latin typeface="Calibri"/>
                <a:ea typeface="Calibri"/>
                <a:cs typeface="Calibri"/>
              </a:rPr>
              <a:t>MediShield Health · Capstone review</a:t>
            </a:r>
          </a:p>
        </p:txBody>
      </p:sp>
      <p:sp>
        <p:nvSpPr>
          <p:cNvPr id="9" name="TextBox 8">
            <a:extLst xmlns:a="http://schemas.openxmlformats.org/drawingml/2006/main">
              <a:ext uri="{FF2B5EF4-FFF2-40B4-BE49-F238E27FC236}">
                <a16:creationId xmlns:a16="http://schemas.microsoft.com/office/drawing/2014/main" id="{B4106249-7DB0-47DE-B454-DDA108EB108D}"/>
              </a:ext>
            </a:extLst>
          </p:cNvPr>
          <p:cNvSpPr>
            <a:spLocks xmlns:a="http://schemas.openxmlformats.org/drawingml/2006/main" noGrp="1"/>
          </p:cNvSpPr>
          <p:nvPr/>
        </p:nvSpPr>
        <p:spPr>
          <a:xfrm xmlns:a="http://schemas.openxmlformats.org/drawingml/2006/main">
            <a:off x="10881360" y="6446520"/>
            <a:ext cx="7315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r">
              <a:buNone/>
              <a:defRPr>
                <a:solidFill>
                  <a:srgbClr val="CBD5E1"/>
                </a:solidFill>
              </a:defRPr>
            </a:pPr>
            <a:r>
              <a:rPr sz="1000" b="0">
                <a:solidFill>
                  <a:srgbClr val="CBD5E1"/>
                </a:solidFill>
                <a:latin typeface="Calibri"/>
                <a:ea typeface="Calibri"/>
                <a:cs typeface="Calibri"/>
              </a:rPr>
              <a:t>2</a:t>
            </a:r>
          </a:p>
        </p:txBody>
      </p:sp>
      <p:sp>
        <p:nvSpPr>
          <p:cNvPr id="10" name="Rounded Rectangle 9">
            <a:extLst xmlns:a="http://schemas.openxmlformats.org/drawingml/2006/main">
              <a:ext uri="{FF2B5EF4-FFF2-40B4-BE49-F238E27FC236}">
                <a16:creationId xmlns:a16="http://schemas.microsoft.com/office/drawing/2014/main" id="{DA80ED81-8B21-46FE-8404-8D03617E005C}"/>
              </a:ext>
            </a:extLst>
          </p:cNvPr>
          <p:cNvSpPr>
            <a:spLocks xmlns:a="http://schemas.openxmlformats.org/drawingml/2006/main" noGrp="1"/>
          </p:cNvSpPr>
          <p:nvPr/>
        </p:nvSpPr>
        <p:spPr>
          <a:xfrm xmlns:a="http://schemas.openxmlformats.org/drawingml/2006/main">
            <a:off x="640080" y="1828800"/>
            <a:ext cx="2560320" cy="1828800"/>
          </a:xfrm>
          <a:prstGeom xmlns:a="http://schemas.openxmlformats.org/drawingml/2006/main" prst="roundRect">
            <a:avLst>
              <a:gd name="adj" fmla="val 8000"/>
            </a:avLst>
          </a:prstGeom>
          <a:solidFill xmlns:a="http://schemas.openxmlformats.org/drawingml/2006/main">
            <a:srgbClr val="142238"/>
          </a:solidFill>
          <a:ln xmlns:a="http://schemas.openxmlformats.org/drawingml/2006/main" w="12700">
            <a:solidFill>
              <a:srgbClr val="D8E4E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 name="TextBox 10">
            <a:extLst xmlns:a="http://schemas.openxmlformats.org/drawingml/2006/main">
              <a:ext uri="{FF2B5EF4-FFF2-40B4-BE49-F238E27FC236}">
                <a16:creationId xmlns:a16="http://schemas.microsoft.com/office/drawing/2014/main" id="{F81390A4-E062-4A65-8EE4-F7502FD34F82}"/>
              </a:ext>
            </a:extLst>
          </p:cNvPr>
          <p:cNvSpPr>
            <a:spLocks xmlns:a="http://schemas.openxmlformats.org/drawingml/2006/main" noGrp="1"/>
          </p:cNvSpPr>
          <p:nvPr/>
        </p:nvSpPr>
        <p:spPr>
          <a:xfrm xmlns:a="http://schemas.openxmlformats.org/drawingml/2006/main">
            <a:off x="868680" y="2011680"/>
            <a:ext cx="210312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buNone/>
              <a:defRPr>
                <a:solidFill>
                  <a:srgbClr val="2DD4BF"/>
                </a:solidFill>
              </a:defRPr>
            </a:pPr>
            <a:r>
              <a:rPr sz="3400" b="1">
                <a:solidFill>
                  <a:srgbClr val="2DD4BF"/>
                </a:solidFill>
                <a:latin typeface="Calibri"/>
                <a:ea typeface="Calibri"/>
                <a:cs typeface="Calibri"/>
              </a:rPr>
              <a:t>96.2%</a:t>
            </a:r>
          </a:p>
        </p:txBody>
      </p:sp>
      <p:sp>
        <p:nvSpPr>
          <p:cNvPr id="12" name="TextBox 11">
            <a:extLst xmlns:a="http://schemas.openxmlformats.org/drawingml/2006/main">
              <a:ext uri="{FF2B5EF4-FFF2-40B4-BE49-F238E27FC236}">
                <a16:creationId xmlns:a16="http://schemas.microsoft.com/office/drawing/2014/main" id="{3605DE73-8046-416A-BF9A-508601193751}"/>
              </a:ext>
            </a:extLst>
          </p:cNvPr>
          <p:cNvSpPr>
            <a:spLocks xmlns:a="http://schemas.openxmlformats.org/drawingml/2006/main" noGrp="1"/>
          </p:cNvSpPr>
          <p:nvPr/>
        </p:nvSpPr>
        <p:spPr>
          <a:xfrm xmlns:a="http://schemas.openxmlformats.org/drawingml/2006/main">
            <a:off x="868680" y="2697480"/>
            <a:ext cx="210312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buNone/>
              <a:defRPr>
                <a:solidFill>
                  <a:srgbClr val="F8FAFC"/>
                </a:solidFill>
              </a:defRPr>
            </a:pPr>
            <a:r>
              <a:rPr sz="1400" b="1">
                <a:solidFill>
                  <a:srgbClr val="F8FAFC"/>
                </a:solidFill>
                <a:latin typeface="Calibri"/>
                <a:ea typeface="Calibri"/>
                <a:cs typeface="Calibri"/>
              </a:rPr>
              <a:t>document decisions</a:t>
            </a:r>
          </a:p>
        </p:txBody>
      </p:sp>
      <p:sp>
        <p:nvSpPr>
          <p:cNvPr id="13" name="TextBox 12">
            <a:extLst xmlns:a="http://schemas.openxmlformats.org/drawingml/2006/main">
              <a:ext uri="{FF2B5EF4-FFF2-40B4-BE49-F238E27FC236}">
                <a16:creationId xmlns:a16="http://schemas.microsoft.com/office/drawing/2014/main" id="{39C26C62-3ACD-44CF-9AC0-632F0D163A85}"/>
              </a:ext>
            </a:extLst>
          </p:cNvPr>
          <p:cNvSpPr>
            <a:spLocks xmlns:a="http://schemas.openxmlformats.org/drawingml/2006/main" noGrp="1"/>
          </p:cNvSpPr>
          <p:nvPr/>
        </p:nvSpPr>
        <p:spPr>
          <a:xfrm xmlns:a="http://schemas.openxmlformats.org/drawingml/2006/main">
            <a:off x="868680" y="3017520"/>
            <a:ext cx="210312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buNone/>
              <a:defRPr>
                <a:solidFill>
                  <a:srgbClr val="CBD5E1"/>
                </a:solidFill>
              </a:defRPr>
            </a:pPr>
            <a:r>
              <a:rPr sz="1100" b="0">
                <a:solidFill>
                  <a:srgbClr val="CBD5E1"/>
                </a:solidFill>
                <a:latin typeface="Calibri"/>
                <a:ea typeface="Calibri"/>
                <a:cs typeface="Calibri"/>
              </a:rPr>
              <a:t>78 labels · all included</a:t>
            </a:r>
          </a:p>
        </p:txBody>
      </p:sp>
      <p:sp>
        <p:nvSpPr>
          <p:cNvPr id="14" name="Rounded Rectangle 13">
            <a:extLst xmlns:a="http://schemas.openxmlformats.org/drawingml/2006/main">
              <a:ext uri="{FF2B5EF4-FFF2-40B4-BE49-F238E27FC236}">
                <a16:creationId xmlns:a16="http://schemas.microsoft.com/office/drawing/2014/main" id="{88191ECC-9BCF-4170-9B58-2538304D9341}"/>
              </a:ext>
            </a:extLst>
          </p:cNvPr>
          <p:cNvSpPr>
            <a:spLocks xmlns:a="http://schemas.openxmlformats.org/drawingml/2006/main" noGrp="1"/>
          </p:cNvSpPr>
          <p:nvPr/>
        </p:nvSpPr>
        <p:spPr>
          <a:xfrm xmlns:a="http://schemas.openxmlformats.org/drawingml/2006/main">
            <a:off x="3429000" y="1828800"/>
            <a:ext cx="2560320" cy="1828800"/>
          </a:xfrm>
          <a:prstGeom xmlns:a="http://schemas.openxmlformats.org/drawingml/2006/main" prst="roundRect">
            <a:avLst>
              <a:gd name="adj" fmla="val 8000"/>
            </a:avLst>
          </a:prstGeom>
          <a:solidFill xmlns:a="http://schemas.openxmlformats.org/drawingml/2006/main">
            <a:srgbClr val="142238"/>
          </a:solidFill>
          <a:ln xmlns:a="http://schemas.openxmlformats.org/drawingml/2006/main" w="12700">
            <a:solidFill>
              <a:srgbClr val="D8E4E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5" name="TextBox 14">
            <a:extLst xmlns:a="http://schemas.openxmlformats.org/drawingml/2006/main">
              <a:ext uri="{FF2B5EF4-FFF2-40B4-BE49-F238E27FC236}">
                <a16:creationId xmlns:a16="http://schemas.microsoft.com/office/drawing/2014/main" id="{A0FF54B7-40C8-4732-BE03-8CC82338A7F3}"/>
              </a:ext>
            </a:extLst>
          </p:cNvPr>
          <p:cNvSpPr>
            <a:spLocks xmlns:a="http://schemas.openxmlformats.org/drawingml/2006/main" noGrp="1"/>
          </p:cNvSpPr>
          <p:nvPr/>
        </p:nvSpPr>
        <p:spPr>
          <a:xfrm xmlns:a="http://schemas.openxmlformats.org/drawingml/2006/main">
            <a:off x="3657600" y="2011680"/>
            <a:ext cx="210312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buNone/>
              <a:defRPr>
                <a:solidFill>
                  <a:srgbClr val="2DD4BF"/>
                </a:solidFill>
              </a:defRPr>
            </a:pPr>
            <a:r>
              <a:rPr sz="3400" b="1">
                <a:solidFill>
                  <a:srgbClr val="2DD4BF"/>
                </a:solidFill>
                <a:latin typeface="Calibri"/>
                <a:ea typeface="Calibri"/>
                <a:cs typeface="Calibri"/>
              </a:rPr>
              <a:t>88.2%</a:t>
            </a:r>
          </a:p>
        </p:txBody>
      </p:sp>
      <p:sp>
        <p:nvSpPr>
          <p:cNvPr id="16" name="TextBox 15">
            <a:extLst xmlns:a="http://schemas.openxmlformats.org/drawingml/2006/main">
              <a:ext uri="{FF2B5EF4-FFF2-40B4-BE49-F238E27FC236}">
                <a16:creationId xmlns:a16="http://schemas.microsoft.com/office/drawing/2014/main" id="{8C94C3D1-748D-4232-B60E-BEC298D2413B}"/>
              </a:ext>
            </a:extLst>
          </p:cNvPr>
          <p:cNvSpPr>
            <a:spLocks xmlns:a="http://schemas.openxmlformats.org/drawingml/2006/main" noGrp="1"/>
          </p:cNvSpPr>
          <p:nvPr/>
        </p:nvSpPr>
        <p:spPr>
          <a:xfrm xmlns:a="http://schemas.openxmlformats.org/drawingml/2006/main">
            <a:off x="3657600" y="2697480"/>
            <a:ext cx="210312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buNone/>
              <a:defRPr>
                <a:solidFill>
                  <a:srgbClr val="F8FAFC"/>
                </a:solidFill>
              </a:defRPr>
            </a:pPr>
            <a:r>
              <a:rPr sz="1400" b="1">
                <a:solidFill>
                  <a:srgbClr val="F8FAFC"/>
                </a:solidFill>
                <a:latin typeface="Calibri"/>
                <a:ea typeface="Calibri"/>
                <a:cs typeface="Calibri"/>
              </a:rPr>
              <a:t>case decisions</a:t>
            </a:r>
          </a:p>
        </p:txBody>
      </p:sp>
      <p:sp>
        <p:nvSpPr>
          <p:cNvPr id="17" name="TextBox 16">
            <a:extLst xmlns:a="http://schemas.openxmlformats.org/drawingml/2006/main">
              <a:ext uri="{FF2B5EF4-FFF2-40B4-BE49-F238E27FC236}">
                <a16:creationId xmlns:a16="http://schemas.microsoft.com/office/drawing/2014/main" id="{3B6CFCFB-D2C8-47F7-B489-EB6F760E1556}"/>
              </a:ext>
            </a:extLst>
          </p:cNvPr>
          <p:cNvSpPr>
            <a:spLocks xmlns:a="http://schemas.openxmlformats.org/drawingml/2006/main" noGrp="1"/>
          </p:cNvSpPr>
          <p:nvPr/>
        </p:nvSpPr>
        <p:spPr>
          <a:xfrm xmlns:a="http://schemas.openxmlformats.org/drawingml/2006/main">
            <a:off x="3657600" y="3017520"/>
            <a:ext cx="210312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buNone/>
              <a:defRPr>
                <a:solidFill>
                  <a:srgbClr val="CBD5E1"/>
                </a:solidFill>
              </a:defRPr>
            </a:pPr>
            <a:r>
              <a:rPr sz="1100" b="0">
                <a:solidFill>
                  <a:srgbClr val="CBD5E1"/>
                </a:solidFill>
                <a:latin typeface="Calibri"/>
                <a:ea typeface="Calibri"/>
                <a:cs typeface="Calibri"/>
              </a:rPr>
              <a:t>17 complete cases</a:t>
            </a:r>
          </a:p>
        </p:txBody>
      </p:sp>
      <p:sp>
        <p:nvSpPr>
          <p:cNvPr id="18" name="Rounded Rectangle 17">
            <a:extLst xmlns:a="http://schemas.openxmlformats.org/drawingml/2006/main">
              <a:ext uri="{FF2B5EF4-FFF2-40B4-BE49-F238E27FC236}">
                <a16:creationId xmlns:a16="http://schemas.microsoft.com/office/drawing/2014/main" id="{A38AD83D-489C-4224-BCB4-BF0316F572F4}"/>
              </a:ext>
            </a:extLst>
          </p:cNvPr>
          <p:cNvSpPr>
            <a:spLocks xmlns:a="http://schemas.openxmlformats.org/drawingml/2006/main" noGrp="1"/>
          </p:cNvSpPr>
          <p:nvPr/>
        </p:nvSpPr>
        <p:spPr>
          <a:xfrm xmlns:a="http://schemas.openxmlformats.org/drawingml/2006/main">
            <a:off x="6217920" y="1828800"/>
            <a:ext cx="2560320" cy="1828800"/>
          </a:xfrm>
          <a:prstGeom xmlns:a="http://schemas.openxmlformats.org/drawingml/2006/main" prst="roundRect">
            <a:avLst>
              <a:gd name="adj" fmla="val 8000"/>
            </a:avLst>
          </a:prstGeom>
          <a:solidFill xmlns:a="http://schemas.openxmlformats.org/drawingml/2006/main">
            <a:srgbClr val="142238"/>
          </a:solidFill>
          <a:ln xmlns:a="http://schemas.openxmlformats.org/drawingml/2006/main" w="12700">
            <a:solidFill>
              <a:srgbClr val="D8E4E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9" name="TextBox 18">
            <a:extLst xmlns:a="http://schemas.openxmlformats.org/drawingml/2006/main">
              <a:ext uri="{FF2B5EF4-FFF2-40B4-BE49-F238E27FC236}">
                <a16:creationId xmlns:a16="http://schemas.microsoft.com/office/drawing/2014/main" id="{6689EE0C-A31C-496D-A64B-148A61603CD2}"/>
              </a:ext>
            </a:extLst>
          </p:cNvPr>
          <p:cNvSpPr>
            <a:spLocks xmlns:a="http://schemas.openxmlformats.org/drawingml/2006/main" noGrp="1"/>
          </p:cNvSpPr>
          <p:nvPr/>
        </p:nvSpPr>
        <p:spPr>
          <a:xfrm xmlns:a="http://schemas.openxmlformats.org/drawingml/2006/main">
            <a:off x="6446520" y="2011680"/>
            <a:ext cx="210312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buNone/>
              <a:defRPr>
                <a:solidFill>
                  <a:srgbClr val="2DD4BF"/>
                </a:solidFill>
              </a:defRPr>
            </a:pPr>
            <a:r>
              <a:rPr sz="3400" b="1">
                <a:solidFill>
                  <a:srgbClr val="2DD4BF"/>
                </a:solidFill>
                <a:latin typeface="Calibri"/>
                <a:ea typeface="Calibri"/>
                <a:cs typeface="Calibri"/>
              </a:rPr>
              <a:t>$0.08</a:t>
            </a:r>
          </a:p>
        </p:txBody>
      </p:sp>
      <p:sp>
        <p:nvSpPr>
          <p:cNvPr id="20" name="TextBox 19">
            <a:extLst xmlns:a="http://schemas.openxmlformats.org/drawingml/2006/main">
              <a:ext uri="{FF2B5EF4-FFF2-40B4-BE49-F238E27FC236}">
                <a16:creationId xmlns:a16="http://schemas.microsoft.com/office/drawing/2014/main" id="{F879143E-6E44-449A-8E71-AD8B7BE0FBB8}"/>
              </a:ext>
            </a:extLst>
          </p:cNvPr>
          <p:cNvSpPr>
            <a:spLocks xmlns:a="http://schemas.openxmlformats.org/drawingml/2006/main" noGrp="1"/>
          </p:cNvSpPr>
          <p:nvPr/>
        </p:nvSpPr>
        <p:spPr>
          <a:xfrm xmlns:a="http://schemas.openxmlformats.org/drawingml/2006/main">
            <a:off x="6446520" y="2697480"/>
            <a:ext cx="210312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buNone/>
              <a:defRPr>
                <a:solidFill>
                  <a:srgbClr val="F8FAFC"/>
                </a:solidFill>
              </a:defRPr>
            </a:pPr>
            <a:r>
              <a:rPr sz="1400" b="1">
                <a:solidFill>
                  <a:srgbClr val="F8FAFC"/>
                </a:solidFill>
                <a:latin typeface="Calibri"/>
                <a:ea typeface="Calibri"/>
                <a:cs typeface="Calibri"/>
              </a:rPr>
              <a:t>model cost / case</a:t>
            </a:r>
          </a:p>
        </p:txBody>
      </p:sp>
      <p:sp>
        <p:nvSpPr>
          <p:cNvPr id="21" name="TextBox 20">
            <a:extLst xmlns:a="http://schemas.openxmlformats.org/drawingml/2006/main">
              <a:ext uri="{FF2B5EF4-FFF2-40B4-BE49-F238E27FC236}">
                <a16:creationId xmlns:a16="http://schemas.microsoft.com/office/drawing/2014/main" id="{9290763A-039A-4481-B178-0708AF0453B9}"/>
              </a:ext>
            </a:extLst>
          </p:cNvPr>
          <p:cNvSpPr>
            <a:spLocks xmlns:a="http://schemas.openxmlformats.org/drawingml/2006/main" noGrp="1"/>
          </p:cNvSpPr>
          <p:nvPr/>
        </p:nvSpPr>
        <p:spPr>
          <a:xfrm xmlns:a="http://schemas.openxmlformats.org/drawingml/2006/main">
            <a:off x="6446520" y="3017520"/>
            <a:ext cx="210312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buNone/>
              <a:defRPr>
                <a:solidFill>
                  <a:srgbClr val="CBD5E1"/>
                </a:solidFill>
              </a:defRPr>
            </a:pPr>
            <a:r>
              <a:rPr sz="1100" b="0">
                <a:solidFill>
                  <a:srgbClr val="CBD5E1"/>
                </a:solidFill>
                <a:latin typeface="Calibri"/>
                <a:ea typeface="Calibri"/>
                <a:cs typeface="Calibri"/>
              </a:rPr>
              <a:t>uncached equivalent</a:t>
            </a:r>
          </a:p>
        </p:txBody>
      </p:sp>
      <p:sp>
        <p:nvSpPr>
          <p:cNvPr id="22" name="Rounded Rectangle 21">
            <a:extLst xmlns:a="http://schemas.openxmlformats.org/drawingml/2006/main">
              <a:ext uri="{FF2B5EF4-FFF2-40B4-BE49-F238E27FC236}">
                <a16:creationId xmlns:a16="http://schemas.microsoft.com/office/drawing/2014/main" id="{736DB9B5-92F5-4796-9EB5-A794A5F2D68F}"/>
              </a:ext>
            </a:extLst>
          </p:cNvPr>
          <p:cNvSpPr>
            <a:spLocks xmlns:a="http://schemas.openxmlformats.org/drawingml/2006/main" noGrp="1"/>
          </p:cNvSpPr>
          <p:nvPr/>
        </p:nvSpPr>
        <p:spPr>
          <a:xfrm xmlns:a="http://schemas.openxmlformats.org/drawingml/2006/main">
            <a:off x="9006839" y="1828800"/>
            <a:ext cx="2560320" cy="1828800"/>
          </a:xfrm>
          <a:prstGeom xmlns:a="http://schemas.openxmlformats.org/drawingml/2006/main" prst="roundRect">
            <a:avLst>
              <a:gd name="adj" fmla="val 8000"/>
            </a:avLst>
          </a:prstGeom>
          <a:solidFill xmlns:a="http://schemas.openxmlformats.org/drawingml/2006/main">
            <a:srgbClr val="142238"/>
          </a:solidFill>
          <a:ln xmlns:a="http://schemas.openxmlformats.org/drawingml/2006/main" w="12700">
            <a:solidFill>
              <a:srgbClr val="D8E4E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3" name="TextBox 22">
            <a:extLst xmlns:a="http://schemas.openxmlformats.org/drawingml/2006/main">
              <a:ext uri="{FF2B5EF4-FFF2-40B4-BE49-F238E27FC236}">
                <a16:creationId xmlns:a16="http://schemas.microsoft.com/office/drawing/2014/main" id="{D8EFA8AE-5B36-4D55-A12D-E0261457B91E}"/>
              </a:ext>
            </a:extLst>
          </p:cNvPr>
          <p:cNvSpPr>
            <a:spLocks xmlns:a="http://schemas.openxmlformats.org/drawingml/2006/main" noGrp="1"/>
          </p:cNvSpPr>
          <p:nvPr/>
        </p:nvSpPr>
        <p:spPr>
          <a:xfrm xmlns:a="http://schemas.openxmlformats.org/drawingml/2006/main">
            <a:off x="9235439" y="2011680"/>
            <a:ext cx="210312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buNone/>
              <a:defRPr>
                <a:solidFill>
                  <a:srgbClr val="2DD4BF"/>
                </a:solidFill>
              </a:defRPr>
            </a:pPr>
            <a:r>
              <a:rPr sz="3400" b="1">
                <a:solidFill>
                  <a:srgbClr val="2DD4BF"/>
                </a:solidFill>
                <a:latin typeface="Calibri"/>
                <a:ea typeface="Calibri"/>
                <a:cs typeface="Calibri"/>
              </a:rPr>
              <a:t>≈ 1 min</a:t>
            </a:r>
          </a:p>
        </p:txBody>
      </p:sp>
      <p:sp>
        <p:nvSpPr>
          <p:cNvPr id="24" name="TextBox 23">
            <a:extLst xmlns:a="http://schemas.openxmlformats.org/drawingml/2006/main">
              <a:ext uri="{FF2B5EF4-FFF2-40B4-BE49-F238E27FC236}">
                <a16:creationId xmlns:a16="http://schemas.microsoft.com/office/drawing/2014/main" id="{71E71185-43D3-48EE-A0A5-F67B76B341F7}"/>
              </a:ext>
            </a:extLst>
          </p:cNvPr>
          <p:cNvSpPr>
            <a:spLocks xmlns:a="http://schemas.openxmlformats.org/drawingml/2006/main" noGrp="1"/>
          </p:cNvSpPr>
          <p:nvPr/>
        </p:nvSpPr>
        <p:spPr>
          <a:xfrm xmlns:a="http://schemas.openxmlformats.org/drawingml/2006/main">
            <a:off x="9235439" y="2697480"/>
            <a:ext cx="210312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buNone/>
              <a:defRPr>
                <a:solidFill>
                  <a:srgbClr val="F8FAFC"/>
                </a:solidFill>
              </a:defRPr>
            </a:pPr>
            <a:r>
              <a:rPr sz="1400" b="1">
                <a:solidFill>
                  <a:srgbClr val="F8FAFC"/>
                </a:solidFill>
                <a:latin typeface="Calibri"/>
                <a:ea typeface="Calibri"/>
                <a:cs typeface="Calibri"/>
              </a:rPr>
              <a:t>per live case</a:t>
            </a:r>
          </a:p>
        </p:txBody>
      </p:sp>
      <p:sp>
        <p:nvSpPr>
          <p:cNvPr id="25" name="TextBox 24">
            <a:extLst xmlns:a="http://schemas.openxmlformats.org/drawingml/2006/main">
              <a:ext uri="{FF2B5EF4-FFF2-40B4-BE49-F238E27FC236}">
                <a16:creationId xmlns:a16="http://schemas.microsoft.com/office/drawing/2014/main" id="{502C6D73-4548-4464-BAA6-328CF4DAF809}"/>
              </a:ext>
            </a:extLst>
          </p:cNvPr>
          <p:cNvSpPr>
            <a:spLocks xmlns:a="http://schemas.openxmlformats.org/drawingml/2006/main" noGrp="1"/>
          </p:cNvSpPr>
          <p:nvPr/>
        </p:nvSpPr>
        <p:spPr>
          <a:xfrm xmlns:a="http://schemas.openxmlformats.org/drawingml/2006/main">
            <a:off x="9235439" y="3017520"/>
            <a:ext cx="210312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buNone/>
              <a:defRPr>
                <a:solidFill>
                  <a:srgbClr val="CBD5E1"/>
                </a:solidFill>
              </a:defRPr>
            </a:pPr>
            <a:r>
              <a:rPr sz="1100" b="0">
                <a:solidFill>
                  <a:srgbClr val="CBD5E1"/>
                </a:solidFill>
                <a:latin typeface="Calibri"/>
                <a:ea typeface="Calibri"/>
                <a:cs typeface="Calibri"/>
              </a:rPr>
              <a:t>5 documents, on AWS</a:t>
            </a:r>
          </a:p>
        </p:txBody>
      </p:sp>
      <p:sp>
        <p:nvSpPr>
          <p:cNvPr id="26" name="Rounded Rectangle 25">
            <a:extLst xmlns:a="http://schemas.openxmlformats.org/drawingml/2006/main">
              <a:ext uri="{FF2B5EF4-FFF2-40B4-BE49-F238E27FC236}">
                <a16:creationId xmlns:a16="http://schemas.microsoft.com/office/drawing/2014/main" id="{DEB55E1A-93C0-4C8C-BE82-475A9D6B47BA}"/>
              </a:ext>
            </a:extLst>
          </p:cNvPr>
          <p:cNvSpPr>
            <a:spLocks xmlns:a="http://schemas.openxmlformats.org/drawingml/2006/main" noGrp="1"/>
          </p:cNvSpPr>
          <p:nvPr/>
        </p:nvSpPr>
        <p:spPr>
          <a:xfrm xmlns:a="http://schemas.openxmlformats.org/drawingml/2006/main">
            <a:off x="640080" y="4297680"/>
            <a:ext cx="10881360" cy="1280160"/>
          </a:xfrm>
          <a:prstGeom xmlns:a="http://schemas.openxmlformats.org/drawingml/2006/main" prst="roundRect">
            <a:avLst>
              <a:gd name="adj" fmla="val 8000"/>
            </a:avLst>
          </a:prstGeom>
          <a:solidFill xmlns:a="http://schemas.openxmlformats.org/drawingml/2006/main">
            <a:srgbClr val="19334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7" name="TextBox 26">
            <a:extLst xmlns:a="http://schemas.openxmlformats.org/drawingml/2006/main">
              <a:ext uri="{FF2B5EF4-FFF2-40B4-BE49-F238E27FC236}">
                <a16:creationId xmlns:a16="http://schemas.microsoft.com/office/drawing/2014/main" id="{25FCF217-4BB0-4E87-A27B-FAC07C5885EE}"/>
              </a:ext>
            </a:extLst>
          </p:cNvPr>
          <p:cNvSpPr>
            <a:spLocks xmlns:a="http://schemas.openxmlformats.org/drawingml/2006/main" noGrp="1"/>
          </p:cNvSpPr>
          <p:nvPr/>
        </p:nvSpPr>
        <p:spPr>
          <a:xfrm xmlns:a="http://schemas.openxmlformats.org/drawingml/2006/main">
            <a:off x="914400" y="4526280"/>
            <a:ext cx="104241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buNone/>
              <a:defRPr>
                <a:solidFill>
                  <a:srgbClr val="2DD4BF"/>
                </a:solidFill>
              </a:defRPr>
            </a:pPr>
            <a:r>
              <a:rPr sz="1200" b="1">
                <a:solidFill>
                  <a:srgbClr val="2DD4BF"/>
                </a:solidFill>
                <a:latin typeface="Calibri"/>
                <a:ea typeface="Calibri"/>
                <a:cs typeface="Calibri"/>
              </a:rPr>
              <a:t>MY RECOMMENDATION</a:t>
            </a:r>
          </a:p>
        </p:txBody>
      </p:sp>
      <p:sp>
        <p:nvSpPr>
          <p:cNvPr id="28" name="TextBox 27">
            <a:extLst xmlns:a="http://schemas.openxmlformats.org/drawingml/2006/main">
              <a:ext uri="{FF2B5EF4-FFF2-40B4-BE49-F238E27FC236}">
                <a16:creationId xmlns:a16="http://schemas.microsoft.com/office/drawing/2014/main" id="{26778133-4DEF-4FAF-A12F-3CD005ACD0E1}"/>
              </a:ext>
            </a:extLst>
          </p:cNvPr>
          <p:cNvSpPr>
            <a:spLocks xmlns:a="http://schemas.openxmlformats.org/drawingml/2006/main" noGrp="1"/>
          </p:cNvSpPr>
          <p:nvPr/>
        </p:nvSpPr>
        <p:spPr>
          <a:xfrm xmlns:a="http://schemas.openxmlformats.org/drawingml/2006/main">
            <a:off x="914400" y="4892040"/>
            <a:ext cx="1042416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buNone/>
              <a:defRPr>
                <a:solidFill>
                  <a:srgbClr val="F8FAFC"/>
                </a:solidFill>
              </a:defRPr>
            </a:pPr>
            <a:r>
              <a:rPr sz="2400" b="1">
                <a:solidFill>
                  <a:srgbClr val="F8FAFC"/>
                </a:solidFill>
                <a:latin typeface="Calibri"/>
                <a:ea typeface="Calibri"/>
                <a:cs typeface="Calibri"/>
              </a:rPr>
              <a:t>Shadow real scans; measure safety, review effort and cost.</a:t>
            </a:r>
          </a:p>
        </p:txBody>
      </p:sp>
    </p:spTree>
    <p:extLst>
      <p:ext uri="{BB962C8B-B14F-4D97-AF65-F5344CB8AC3E}">
        <p14:creationId xmlns:p14="http://schemas.microsoft.com/office/powerpoint/2010/main" val="1964695300"/>
      </p:ext>
    </p:extLst>
  </p:cSld>
</p:sld>
</file>

<file path=ppt/slides/slide3.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3438EB99-DB93-402E-91CB-219AF41106B0}"/>
              </a:ext>
            </a:extLst>
          </p:cNvPr>
          <p:cNvSpPr>
            <a:spLocks xmlns:a="http://schemas.openxmlformats.org/drawingml/2006/main" noGrp="1"/>
          </p:cNvSpPr>
          <p:nvPr/>
        </p:nvSpPr>
        <p:spPr>
          <a:xfrm xmlns:a="http://schemas.openxmlformats.org/drawingml/2006/main">
            <a:off x="0" y="0"/>
            <a:ext cx="12191695" cy="109728"/>
          </a:xfrm>
          <a:prstGeom xmlns:a="http://schemas.openxmlformats.org/drawingml/2006/main" prst="rect">
            <a:avLst/>
          </a:prstGeom>
          <a:solidFill xmlns:a="http://schemas.openxmlformats.org/drawingml/2006/main">
            <a:srgbClr val="2DD4B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4AE105D2-7BB9-4A32-97BC-8865B272EDE7}"/>
              </a:ext>
            </a:extLst>
          </p:cNvPr>
          <p:cNvSpPr>
            <a:spLocks xmlns:a="http://schemas.openxmlformats.org/drawingml/2006/main" noGrp="1"/>
          </p:cNvSpPr>
          <p:nvPr/>
        </p:nvSpPr>
        <p:spPr>
          <a:xfrm xmlns:a="http://schemas.openxmlformats.org/drawingml/2006/main">
            <a:off x="640080" y="411480"/>
            <a:ext cx="91440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buNone/>
              <a:defRPr>
                <a:solidFill>
                  <a:srgbClr val="2DD4BF"/>
                </a:solidFill>
              </a:defRPr>
            </a:pPr>
            <a:r>
              <a:rPr sz="1200" b="1">
                <a:solidFill>
                  <a:srgbClr val="2DD4BF"/>
                </a:solidFill>
                <a:latin typeface="Calibri"/>
                <a:ea typeface="Calibri"/>
                <a:cs typeface="Calibri"/>
              </a:rPr>
              <a:t>BUSINESS CASE</a:t>
            </a:r>
          </a:p>
        </p:txBody>
      </p:sp>
      <p:sp>
        <p:nvSpPr>
          <p:cNvPr id="4" name="TextBox 3">
            <a:extLst xmlns:a="http://schemas.openxmlformats.org/drawingml/2006/main">
              <a:ext uri="{FF2B5EF4-FFF2-40B4-BE49-F238E27FC236}">
                <a16:creationId xmlns:a16="http://schemas.microsoft.com/office/drawing/2014/main" id="{297AABB8-6DB9-42B7-A4E9-F293505CDBE7}"/>
              </a:ext>
            </a:extLst>
          </p:cNvPr>
          <p:cNvSpPr>
            <a:spLocks xmlns:a="http://schemas.openxmlformats.org/drawingml/2006/main" noGrp="1"/>
          </p:cNvSpPr>
          <p:nvPr/>
        </p:nvSpPr>
        <p:spPr>
          <a:xfrm xmlns:a="http://schemas.openxmlformats.org/drawingml/2006/main">
            <a:off x="640080" y="685800"/>
            <a:ext cx="1097280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buNone/>
              <a:defRPr>
                <a:solidFill>
                  <a:srgbClr val="F8FAFC"/>
                </a:solidFill>
              </a:defRPr>
            </a:pPr>
            <a:r>
              <a:rPr sz="3200" b="1">
                <a:solidFill>
                  <a:srgbClr val="F8FAFC"/>
                </a:solidFill>
                <a:latin typeface="Calibri"/>
                <a:ea typeface="Calibri"/>
                <a:cs typeface="Calibri"/>
              </a:rPr>
              <a:t>A large intake cost; savings still need a pilot</a:t>
            </a:r>
          </a:p>
        </p:txBody>
      </p:sp>
      <p:sp>
        <p:nvSpPr>
          <p:cNvPr id="5" name="Pentagon 4">
            <a:extLst xmlns:a="http://schemas.openxmlformats.org/drawingml/2006/main">
              <a:ext uri="{FF2B5EF4-FFF2-40B4-BE49-F238E27FC236}">
                <a16:creationId xmlns:a16="http://schemas.microsoft.com/office/drawing/2014/main" id="{10FB0C9B-8BCC-4E99-A663-EDFAA6C3E8C7}"/>
              </a:ext>
            </a:extLst>
          </p:cNvPr>
          <p:cNvSpPr>
            <a:spLocks xmlns:a="http://schemas.openxmlformats.org/drawingml/2006/main" noGrp="1"/>
          </p:cNvSpPr>
          <p:nvPr/>
        </p:nvSpPr>
        <p:spPr>
          <a:xfrm xmlns:a="http://schemas.openxmlformats.org/drawingml/2006/main" rot="5400000">
            <a:off x="11201400" y="384048"/>
            <a:ext cx="384048" cy="384048"/>
          </a:xfrm>
          <a:prstGeom xmlns:a="http://schemas.openxmlformats.org/drawingml/2006/main" prst="homePlate">
            <a:avLst/>
          </a:prstGeom>
          <a:solidFill xmlns:a="http://schemas.openxmlformats.org/drawingml/2006/main">
            <a:srgbClr val="2DD4B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Rectangle 5">
            <a:extLst xmlns:a="http://schemas.openxmlformats.org/drawingml/2006/main">
              <a:ext uri="{FF2B5EF4-FFF2-40B4-BE49-F238E27FC236}">
                <a16:creationId xmlns:a16="http://schemas.microsoft.com/office/drawing/2014/main" id="{46872986-6F09-4DDD-91D2-F390E2734414}"/>
              </a:ext>
            </a:extLst>
          </p:cNvPr>
          <p:cNvSpPr>
            <a:spLocks xmlns:a="http://schemas.openxmlformats.org/drawingml/2006/main" noGrp="1"/>
          </p:cNvSpPr>
          <p:nvPr/>
        </p:nvSpPr>
        <p:spPr>
          <a:xfrm xmlns:a="http://schemas.openxmlformats.org/drawingml/2006/main">
            <a:off x="11358860" y="453177"/>
            <a:ext cx="69128" cy="215066"/>
          </a:xfrm>
          <a:prstGeom xmlns:a="http://schemas.openxmlformats.org/drawingml/2006/main" prst="rect">
            <a:avLst/>
          </a:prstGeom>
          <a:solidFill xmlns:a="http://schemas.openxmlformats.org/drawingml/2006/main">
            <a:srgbClr val="14223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Rectangle 6">
            <a:extLst xmlns:a="http://schemas.openxmlformats.org/drawingml/2006/main">
              <a:ext uri="{FF2B5EF4-FFF2-40B4-BE49-F238E27FC236}">
                <a16:creationId xmlns:a16="http://schemas.microsoft.com/office/drawing/2014/main" id="{DE9B4CB0-78FA-42A8-98A1-99EA045292FA}"/>
              </a:ext>
            </a:extLst>
          </p:cNvPr>
          <p:cNvSpPr>
            <a:spLocks xmlns:a="http://schemas.openxmlformats.org/drawingml/2006/main" noGrp="1"/>
          </p:cNvSpPr>
          <p:nvPr/>
        </p:nvSpPr>
        <p:spPr>
          <a:xfrm xmlns:a="http://schemas.openxmlformats.org/drawingml/2006/main">
            <a:off x="11285891" y="526146"/>
            <a:ext cx="215066" cy="69128"/>
          </a:xfrm>
          <a:prstGeom xmlns:a="http://schemas.openxmlformats.org/drawingml/2006/main" prst="rect">
            <a:avLst/>
          </a:prstGeom>
          <a:solidFill xmlns:a="http://schemas.openxmlformats.org/drawingml/2006/main">
            <a:srgbClr val="14223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 name="TextBox 7">
            <a:extLst xmlns:a="http://schemas.openxmlformats.org/drawingml/2006/main">
              <a:ext uri="{FF2B5EF4-FFF2-40B4-BE49-F238E27FC236}">
                <a16:creationId xmlns:a16="http://schemas.microsoft.com/office/drawing/2014/main" id="{C0584A6D-235A-49C4-BFE1-CE2FE3938F70}"/>
              </a:ext>
            </a:extLst>
          </p:cNvPr>
          <p:cNvSpPr>
            <a:spLocks xmlns:a="http://schemas.openxmlformats.org/drawingml/2006/main" noGrp="1"/>
          </p:cNvSpPr>
          <p:nvPr/>
        </p:nvSpPr>
        <p:spPr>
          <a:xfrm xmlns:a="http://schemas.openxmlformats.org/drawingml/2006/main">
            <a:off x="640080" y="6446520"/>
            <a:ext cx="7315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buNone/>
              <a:defRPr>
                <a:solidFill>
                  <a:srgbClr val="CBD5E1"/>
                </a:solidFill>
              </a:defRPr>
            </a:pPr>
            <a:r>
              <a:rPr sz="1000" b="0">
                <a:solidFill>
                  <a:srgbClr val="CBD5E1"/>
                </a:solidFill>
                <a:latin typeface="Calibri"/>
                <a:ea typeface="Calibri"/>
                <a:cs typeface="Calibri"/>
              </a:rPr>
              <a:t>MediShield Health · Capstone review</a:t>
            </a:r>
          </a:p>
        </p:txBody>
      </p:sp>
      <p:sp>
        <p:nvSpPr>
          <p:cNvPr id="9" name="TextBox 8">
            <a:extLst xmlns:a="http://schemas.openxmlformats.org/drawingml/2006/main">
              <a:ext uri="{FF2B5EF4-FFF2-40B4-BE49-F238E27FC236}">
                <a16:creationId xmlns:a16="http://schemas.microsoft.com/office/drawing/2014/main" id="{0C716BDE-5B68-47B8-AFF5-70CDCBDB14A2}"/>
              </a:ext>
            </a:extLst>
          </p:cNvPr>
          <p:cNvSpPr>
            <a:spLocks xmlns:a="http://schemas.openxmlformats.org/drawingml/2006/main" noGrp="1"/>
          </p:cNvSpPr>
          <p:nvPr/>
        </p:nvSpPr>
        <p:spPr>
          <a:xfrm xmlns:a="http://schemas.openxmlformats.org/drawingml/2006/main">
            <a:off x="10881360" y="6446520"/>
            <a:ext cx="7315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r">
              <a:buNone/>
              <a:defRPr>
                <a:solidFill>
                  <a:srgbClr val="CBD5E1"/>
                </a:solidFill>
              </a:defRPr>
            </a:pPr>
            <a:r>
              <a:rPr sz="1000" b="0">
                <a:solidFill>
                  <a:srgbClr val="CBD5E1"/>
                </a:solidFill>
                <a:latin typeface="Calibri"/>
                <a:ea typeface="Calibri"/>
                <a:cs typeface="Calibri"/>
              </a:rPr>
              <a:t>3</a:t>
            </a:r>
          </a:p>
        </p:txBody>
      </p:sp>
      <p:sp>
        <p:nvSpPr>
          <p:cNvPr id="10" name="TextBox 9">
            <a:extLst xmlns:a="http://schemas.openxmlformats.org/drawingml/2006/main">
              <a:ext uri="{FF2B5EF4-FFF2-40B4-BE49-F238E27FC236}">
                <a16:creationId xmlns:a16="http://schemas.microsoft.com/office/drawing/2014/main" id="{EE17FB4E-85AB-4C26-A5B5-FA9A076FAECD}"/>
              </a:ext>
            </a:extLst>
          </p:cNvPr>
          <p:cNvSpPr>
            <a:spLocks xmlns:a="http://schemas.openxmlformats.org/drawingml/2006/main" noGrp="1"/>
          </p:cNvSpPr>
          <p:nvPr/>
        </p:nvSpPr>
        <p:spPr>
          <a:xfrm xmlns:a="http://schemas.openxmlformats.org/drawingml/2006/main">
            <a:off x="640080" y="1737360"/>
            <a:ext cx="521208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buNone/>
              <a:defRPr>
                <a:solidFill>
                  <a:srgbClr val="FCA5A5"/>
                </a:solidFill>
              </a:defRPr>
            </a:pPr>
            <a:r>
              <a:rPr sz="1400" b="1">
                <a:solidFill>
                  <a:srgbClr val="FCA5A5"/>
                </a:solidFill>
                <a:latin typeface="Calibri"/>
                <a:ea typeface="Calibri"/>
                <a:cs typeface="Calibri"/>
              </a:rPr>
              <a:t>TODAY</a:t>
            </a:r>
          </a:p>
        </p:txBody>
      </p:sp>
      <p:sp>
        <p:nvSpPr>
          <p:cNvPr id="11" name="Rounded Rectangle 10">
            <a:extLst xmlns:a="http://schemas.openxmlformats.org/drawingml/2006/main">
              <a:ext uri="{FF2B5EF4-FFF2-40B4-BE49-F238E27FC236}">
                <a16:creationId xmlns:a16="http://schemas.microsoft.com/office/drawing/2014/main" id="{21AB18B8-5712-434F-87CE-C1A68FDFE722}"/>
              </a:ext>
            </a:extLst>
          </p:cNvPr>
          <p:cNvSpPr>
            <a:spLocks xmlns:a="http://schemas.openxmlformats.org/drawingml/2006/main" noGrp="1"/>
          </p:cNvSpPr>
          <p:nvPr/>
        </p:nvSpPr>
        <p:spPr>
          <a:xfrm xmlns:a="http://schemas.openxmlformats.org/drawingml/2006/main">
            <a:off x="640080" y="2240280"/>
            <a:ext cx="5212080" cy="1005840"/>
          </a:xfrm>
          <a:prstGeom xmlns:a="http://schemas.openxmlformats.org/drawingml/2006/main" prst="roundRect">
            <a:avLst>
              <a:gd name="adj" fmla="val 8000"/>
            </a:avLst>
          </a:prstGeom>
          <a:solidFill xmlns:a="http://schemas.openxmlformats.org/drawingml/2006/main">
            <a:srgbClr val="142238"/>
          </a:solidFill>
          <a:ln xmlns:a="http://schemas.openxmlformats.org/drawingml/2006/main" w="12700">
            <a:solidFill>
              <a:srgbClr val="D8E4E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 name="TextBox 11">
            <a:extLst xmlns:a="http://schemas.openxmlformats.org/drawingml/2006/main">
              <a:ext uri="{FF2B5EF4-FFF2-40B4-BE49-F238E27FC236}">
                <a16:creationId xmlns:a16="http://schemas.microsoft.com/office/drawing/2014/main" id="{D42CDCC8-0EF5-4047-A5F7-D4CF95E7FE1B}"/>
              </a:ext>
            </a:extLst>
          </p:cNvPr>
          <p:cNvSpPr>
            <a:spLocks xmlns:a="http://schemas.openxmlformats.org/drawingml/2006/main" noGrp="1"/>
          </p:cNvSpPr>
          <p:nvPr/>
        </p:nvSpPr>
        <p:spPr>
          <a:xfrm xmlns:a="http://schemas.openxmlformats.org/drawingml/2006/main">
            <a:off x="960120" y="2423160"/>
            <a:ext cx="237744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buNone/>
              <a:defRPr>
                <a:solidFill>
                  <a:srgbClr val="FCA5A5"/>
                </a:solidFill>
              </a:defRPr>
            </a:pPr>
            <a:r>
              <a:rPr sz="3200" b="1">
                <a:solidFill>
                  <a:srgbClr val="FCA5A5"/>
                </a:solidFill>
                <a:latin typeface="Calibri"/>
                <a:ea typeface="Calibri"/>
                <a:cs typeface="Calibri"/>
              </a:rPr>
              <a:t>4.2 days</a:t>
            </a:r>
          </a:p>
        </p:txBody>
      </p:sp>
      <p:sp>
        <p:nvSpPr>
          <p:cNvPr id="13" name="TextBox 12">
            <a:extLst xmlns:a="http://schemas.openxmlformats.org/drawingml/2006/main">
              <a:ext uri="{FF2B5EF4-FFF2-40B4-BE49-F238E27FC236}">
                <a16:creationId xmlns:a16="http://schemas.microsoft.com/office/drawing/2014/main" id="{E390067C-7CC7-4F8C-8B47-D3F4018E2E32}"/>
              </a:ext>
            </a:extLst>
          </p:cNvPr>
          <p:cNvSpPr>
            <a:spLocks xmlns:a="http://schemas.openxmlformats.org/drawingml/2006/main" noGrp="1"/>
          </p:cNvSpPr>
          <p:nvPr/>
        </p:nvSpPr>
        <p:spPr>
          <a:xfrm xmlns:a="http://schemas.openxmlformats.org/drawingml/2006/main">
            <a:off x="3383280" y="2587752"/>
            <a:ext cx="23774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buNone/>
              <a:defRPr>
                <a:solidFill>
                  <a:srgbClr val="F8FAFC"/>
                </a:solidFill>
              </a:defRPr>
            </a:pPr>
            <a:r>
              <a:rPr sz="1700" b="0">
                <a:solidFill>
                  <a:srgbClr val="F8FAFC"/>
                </a:solidFill>
                <a:latin typeface="Calibri"/>
                <a:ea typeface="Calibri"/>
                <a:cs typeface="Calibri"/>
              </a:rPr>
              <a:t>per claim</a:t>
            </a:r>
          </a:p>
        </p:txBody>
      </p:sp>
      <p:sp>
        <p:nvSpPr>
          <p:cNvPr id="14" name="Rounded Rectangle 13">
            <a:extLst xmlns:a="http://schemas.openxmlformats.org/drawingml/2006/main">
              <a:ext uri="{FF2B5EF4-FFF2-40B4-BE49-F238E27FC236}">
                <a16:creationId xmlns:a16="http://schemas.microsoft.com/office/drawing/2014/main" id="{86355666-9CD7-4B40-90D2-575AE8E52FC4}"/>
              </a:ext>
            </a:extLst>
          </p:cNvPr>
          <p:cNvSpPr>
            <a:spLocks xmlns:a="http://schemas.openxmlformats.org/drawingml/2006/main" noGrp="1"/>
          </p:cNvSpPr>
          <p:nvPr/>
        </p:nvSpPr>
        <p:spPr>
          <a:xfrm xmlns:a="http://schemas.openxmlformats.org/drawingml/2006/main">
            <a:off x="640080" y="3429000"/>
            <a:ext cx="5212080" cy="1005840"/>
          </a:xfrm>
          <a:prstGeom xmlns:a="http://schemas.openxmlformats.org/drawingml/2006/main" prst="roundRect">
            <a:avLst>
              <a:gd name="adj" fmla="val 8000"/>
            </a:avLst>
          </a:prstGeom>
          <a:solidFill xmlns:a="http://schemas.openxmlformats.org/drawingml/2006/main">
            <a:srgbClr val="142238"/>
          </a:solidFill>
          <a:ln xmlns:a="http://schemas.openxmlformats.org/drawingml/2006/main" w="12700">
            <a:solidFill>
              <a:srgbClr val="D8E4E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5" name="TextBox 14">
            <a:extLst xmlns:a="http://schemas.openxmlformats.org/drawingml/2006/main">
              <a:ext uri="{FF2B5EF4-FFF2-40B4-BE49-F238E27FC236}">
                <a16:creationId xmlns:a16="http://schemas.microsoft.com/office/drawing/2014/main" id="{83EBFE08-1445-478E-820D-23FB00155D91}"/>
              </a:ext>
            </a:extLst>
          </p:cNvPr>
          <p:cNvSpPr>
            <a:spLocks xmlns:a="http://schemas.openxmlformats.org/drawingml/2006/main" noGrp="1"/>
          </p:cNvSpPr>
          <p:nvPr/>
        </p:nvSpPr>
        <p:spPr>
          <a:xfrm xmlns:a="http://schemas.openxmlformats.org/drawingml/2006/main">
            <a:off x="960120" y="3611880"/>
            <a:ext cx="237744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buNone/>
              <a:defRPr>
                <a:solidFill>
                  <a:srgbClr val="FCA5A5"/>
                </a:solidFill>
              </a:defRPr>
            </a:pPr>
            <a:r>
              <a:rPr sz="3200" b="1">
                <a:solidFill>
                  <a:srgbClr val="FCA5A5"/>
                </a:solidFill>
                <a:latin typeface="Calibri"/>
                <a:ea typeface="Calibri"/>
                <a:cs typeface="Calibri"/>
              </a:rPr>
              <a:t>$18.4M</a:t>
            </a:r>
          </a:p>
        </p:txBody>
      </p:sp>
      <p:sp>
        <p:nvSpPr>
          <p:cNvPr id="16" name="TextBox 15">
            <a:extLst xmlns:a="http://schemas.openxmlformats.org/drawingml/2006/main">
              <a:ext uri="{FF2B5EF4-FFF2-40B4-BE49-F238E27FC236}">
                <a16:creationId xmlns:a16="http://schemas.microsoft.com/office/drawing/2014/main" id="{DC1B3D9A-F34A-4144-886B-4B4116093350}"/>
              </a:ext>
            </a:extLst>
          </p:cNvPr>
          <p:cNvSpPr>
            <a:spLocks xmlns:a="http://schemas.openxmlformats.org/drawingml/2006/main" noGrp="1"/>
          </p:cNvSpPr>
          <p:nvPr/>
        </p:nvSpPr>
        <p:spPr>
          <a:xfrm xmlns:a="http://schemas.openxmlformats.org/drawingml/2006/main">
            <a:off x="3383280" y="3776472"/>
            <a:ext cx="23774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buNone/>
              <a:defRPr>
                <a:solidFill>
                  <a:srgbClr val="F8FAFC"/>
                </a:solidFill>
              </a:defRPr>
            </a:pPr>
            <a:r>
              <a:rPr sz="1700" b="0">
                <a:solidFill>
                  <a:srgbClr val="F8FAFC"/>
                </a:solidFill>
                <a:latin typeface="Calibri"/>
                <a:ea typeface="Calibri"/>
                <a:cs typeface="Calibri"/>
              </a:rPr>
              <a:t>a year</a:t>
            </a:r>
          </a:p>
        </p:txBody>
      </p:sp>
      <p:sp>
        <p:nvSpPr>
          <p:cNvPr id="17" name="Rounded Rectangle 16">
            <a:extLst xmlns:a="http://schemas.openxmlformats.org/drawingml/2006/main">
              <a:ext uri="{FF2B5EF4-FFF2-40B4-BE49-F238E27FC236}">
                <a16:creationId xmlns:a16="http://schemas.microsoft.com/office/drawing/2014/main" id="{42ED6B9E-A52A-41A8-8C85-0BCA9A91FE30}"/>
              </a:ext>
            </a:extLst>
          </p:cNvPr>
          <p:cNvSpPr>
            <a:spLocks xmlns:a="http://schemas.openxmlformats.org/drawingml/2006/main" noGrp="1"/>
          </p:cNvSpPr>
          <p:nvPr/>
        </p:nvSpPr>
        <p:spPr>
          <a:xfrm xmlns:a="http://schemas.openxmlformats.org/drawingml/2006/main">
            <a:off x="640080" y="4617720"/>
            <a:ext cx="5212080" cy="1005840"/>
          </a:xfrm>
          <a:prstGeom xmlns:a="http://schemas.openxmlformats.org/drawingml/2006/main" prst="roundRect">
            <a:avLst>
              <a:gd name="adj" fmla="val 8000"/>
            </a:avLst>
          </a:prstGeom>
          <a:solidFill xmlns:a="http://schemas.openxmlformats.org/drawingml/2006/main">
            <a:srgbClr val="142238"/>
          </a:solidFill>
          <a:ln xmlns:a="http://schemas.openxmlformats.org/drawingml/2006/main" w="12700">
            <a:solidFill>
              <a:srgbClr val="D8E4E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8" name="TextBox 17">
            <a:extLst xmlns:a="http://schemas.openxmlformats.org/drawingml/2006/main">
              <a:ext uri="{FF2B5EF4-FFF2-40B4-BE49-F238E27FC236}">
                <a16:creationId xmlns:a16="http://schemas.microsoft.com/office/drawing/2014/main" id="{2E786DD9-FF9E-4B64-B775-36D92D7BBAA3}"/>
              </a:ext>
            </a:extLst>
          </p:cNvPr>
          <p:cNvSpPr>
            <a:spLocks xmlns:a="http://schemas.openxmlformats.org/drawingml/2006/main" noGrp="1"/>
          </p:cNvSpPr>
          <p:nvPr/>
        </p:nvSpPr>
        <p:spPr>
          <a:xfrm xmlns:a="http://schemas.openxmlformats.org/drawingml/2006/main">
            <a:off x="960120" y="4800600"/>
            <a:ext cx="237744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buNone/>
              <a:defRPr>
                <a:solidFill>
                  <a:srgbClr val="FCA5A5"/>
                </a:solidFill>
              </a:defRPr>
            </a:pPr>
            <a:r>
              <a:rPr sz="3200" b="1">
                <a:solidFill>
                  <a:srgbClr val="FCA5A5"/>
                </a:solidFill>
                <a:latin typeface="Calibri"/>
                <a:ea typeface="Calibri"/>
                <a:cs typeface="Calibri"/>
              </a:rPr>
              <a:t>≈ $18</a:t>
            </a:r>
          </a:p>
        </p:txBody>
      </p:sp>
      <p:sp>
        <p:nvSpPr>
          <p:cNvPr id="19" name="TextBox 18">
            <a:extLst xmlns:a="http://schemas.openxmlformats.org/drawingml/2006/main">
              <a:ext uri="{FF2B5EF4-FFF2-40B4-BE49-F238E27FC236}">
                <a16:creationId xmlns:a16="http://schemas.microsoft.com/office/drawing/2014/main" id="{18452038-9A3F-42A9-ACB9-11B921968847}"/>
              </a:ext>
            </a:extLst>
          </p:cNvPr>
          <p:cNvSpPr>
            <a:spLocks xmlns:a="http://schemas.openxmlformats.org/drawingml/2006/main" noGrp="1"/>
          </p:cNvSpPr>
          <p:nvPr/>
        </p:nvSpPr>
        <p:spPr>
          <a:xfrm xmlns:a="http://schemas.openxmlformats.org/drawingml/2006/main">
            <a:off x="3383280" y="4965192"/>
            <a:ext cx="23774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buNone/>
              <a:defRPr>
                <a:solidFill>
                  <a:srgbClr val="F8FAFC"/>
                </a:solidFill>
              </a:defRPr>
            </a:pPr>
            <a:r>
              <a:rPr sz="1700" b="0">
                <a:solidFill>
                  <a:srgbClr val="F8FAFC"/>
                </a:solidFill>
                <a:latin typeface="Calibri"/>
                <a:ea typeface="Calibri"/>
                <a:cs typeface="Calibri"/>
              </a:rPr>
              <a:t>per document</a:t>
            </a:r>
          </a:p>
        </p:txBody>
      </p:sp>
      <p:sp>
        <p:nvSpPr>
          <p:cNvPr id="20" name="TextBox 19">
            <a:extLst xmlns:a="http://schemas.openxmlformats.org/drawingml/2006/main">
              <a:ext uri="{FF2B5EF4-FFF2-40B4-BE49-F238E27FC236}">
                <a16:creationId xmlns:a16="http://schemas.microsoft.com/office/drawing/2014/main" id="{260699AA-2EE6-467F-A885-C06CE4F8BD97}"/>
              </a:ext>
            </a:extLst>
          </p:cNvPr>
          <p:cNvSpPr>
            <a:spLocks xmlns:a="http://schemas.openxmlformats.org/drawingml/2006/main" noGrp="1"/>
          </p:cNvSpPr>
          <p:nvPr/>
        </p:nvSpPr>
        <p:spPr>
          <a:xfrm xmlns:a="http://schemas.openxmlformats.org/drawingml/2006/main">
            <a:off x="6309360" y="1737360"/>
            <a:ext cx="521208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buNone/>
              <a:defRPr>
                <a:solidFill>
                  <a:srgbClr val="2DD4BF"/>
                </a:solidFill>
              </a:defRPr>
            </a:pPr>
            <a:r>
              <a:rPr sz="1400" b="1">
                <a:solidFill>
                  <a:srgbClr val="2DD4BF"/>
                </a:solidFill>
                <a:latin typeface="Calibri"/>
                <a:ea typeface="Calibri"/>
                <a:cs typeface="Calibri"/>
              </a:rPr>
              <a:t>MEASURED MODEL SPEND</a:t>
            </a:r>
          </a:p>
        </p:txBody>
      </p:sp>
      <p:sp>
        <p:nvSpPr>
          <p:cNvPr id="21" name="Rounded Rectangle 20">
            <a:extLst xmlns:a="http://schemas.openxmlformats.org/drawingml/2006/main">
              <a:ext uri="{FF2B5EF4-FFF2-40B4-BE49-F238E27FC236}">
                <a16:creationId xmlns:a16="http://schemas.microsoft.com/office/drawing/2014/main" id="{E695911A-284E-4181-88CB-79DCE5D1EDB9}"/>
              </a:ext>
            </a:extLst>
          </p:cNvPr>
          <p:cNvSpPr>
            <a:spLocks xmlns:a="http://schemas.openxmlformats.org/drawingml/2006/main" noGrp="1"/>
          </p:cNvSpPr>
          <p:nvPr/>
        </p:nvSpPr>
        <p:spPr>
          <a:xfrm xmlns:a="http://schemas.openxmlformats.org/drawingml/2006/main">
            <a:off x="6309360" y="2240280"/>
            <a:ext cx="5212080" cy="1005840"/>
          </a:xfrm>
          <a:prstGeom xmlns:a="http://schemas.openxmlformats.org/drawingml/2006/main" prst="roundRect">
            <a:avLst>
              <a:gd name="adj" fmla="val 8000"/>
            </a:avLst>
          </a:prstGeom>
          <a:solidFill xmlns:a="http://schemas.openxmlformats.org/drawingml/2006/main">
            <a:srgbClr val="142238"/>
          </a:solidFill>
          <a:ln xmlns:a="http://schemas.openxmlformats.org/drawingml/2006/main" w="12700">
            <a:solidFill>
              <a:srgbClr val="D8E4E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2" name="TextBox 21">
            <a:extLst xmlns:a="http://schemas.openxmlformats.org/drawingml/2006/main">
              <a:ext uri="{FF2B5EF4-FFF2-40B4-BE49-F238E27FC236}">
                <a16:creationId xmlns:a16="http://schemas.microsoft.com/office/drawing/2014/main" id="{3BCDE733-0285-4D0A-9344-38C3151CFF6E}"/>
              </a:ext>
            </a:extLst>
          </p:cNvPr>
          <p:cNvSpPr>
            <a:spLocks xmlns:a="http://schemas.openxmlformats.org/drawingml/2006/main" noGrp="1"/>
          </p:cNvSpPr>
          <p:nvPr/>
        </p:nvSpPr>
        <p:spPr>
          <a:xfrm xmlns:a="http://schemas.openxmlformats.org/drawingml/2006/main">
            <a:off x="6629400" y="2423160"/>
            <a:ext cx="237744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buNone/>
              <a:defRPr>
                <a:solidFill>
                  <a:srgbClr val="2DD4BF"/>
                </a:solidFill>
              </a:defRPr>
            </a:pPr>
            <a:r>
              <a:rPr sz="3200" b="1">
                <a:solidFill>
                  <a:srgbClr val="2DD4BF"/>
                </a:solidFill>
                <a:latin typeface="Calibri"/>
                <a:ea typeface="Calibri"/>
                <a:cs typeface="Calibri"/>
              </a:rPr>
              <a:t>≈ 1 min</a:t>
            </a:r>
          </a:p>
        </p:txBody>
      </p:sp>
      <p:sp>
        <p:nvSpPr>
          <p:cNvPr id="23" name="TextBox 22">
            <a:extLst xmlns:a="http://schemas.openxmlformats.org/drawingml/2006/main">
              <a:ext uri="{FF2B5EF4-FFF2-40B4-BE49-F238E27FC236}">
                <a16:creationId xmlns:a16="http://schemas.microsoft.com/office/drawing/2014/main" id="{9BF29244-5756-4D45-8892-E24B31CF94C8}"/>
              </a:ext>
            </a:extLst>
          </p:cNvPr>
          <p:cNvSpPr>
            <a:spLocks xmlns:a="http://schemas.openxmlformats.org/drawingml/2006/main" noGrp="1"/>
          </p:cNvSpPr>
          <p:nvPr/>
        </p:nvSpPr>
        <p:spPr>
          <a:xfrm xmlns:a="http://schemas.openxmlformats.org/drawingml/2006/main">
            <a:off x="9052560" y="2587752"/>
            <a:ext cx="23774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buNone/>
              <a:defRPr>
                <a:solidFill>
                  <a:srgbClr val="F8FAFC"/>
                </a:solidFill>
              </a:defRPr>
            </a:pPr>
            <a:r>
              <a:rPr sz="1700" b="0">
                <a:solidFill>
                  <a:srgbClr val="F8FAFC"/>
                </a:solidFill>
                <a:latin typeface="Calibri"/>
                <a:ea typeface="Calibri"/>
                <a:cs typeface="Calibri"/>
              </a:rPr>
              <a:t>per live case on AWS</a:t>
            </a:r>
          </a:p>
        </p:txBody>
      </p:sp>
      <p:sp>
        <p:nvSpPr>
          <p:cNvPr id="24" name="Rounded Rectangle 23">
            <a:extLst xmlns:a="http://schemas.openxmlformats.org/drawingml/2006/main">
              <a:ext uri="{FF2B5EF4-FFF2-40B4-BE49-F238E27FC236}">
                <a16:creationId xmlns:a16="http://schemas.microsoft.com/office/drawing/2014/main" id="{A979D7BE-0E1A-478B-8C20-46BE5C791B0A}"/>
              </a:ext>
            </a:extLst>
          </p:cNvPr>
          <p:cNvSpPr>
            <a:spLocks xmlns:a="http://schemas.openxmlformats.org/drawingml/2006/main" noGrp="1"/>
          </p:cNvSpPr>
          <p:nvPr/>
        </p:nvSpPr>
        <p:spPr>
          <a:xfrm xmlns:a="http://schemas.openxmlformats.org/drawingml/2006/main">
            <a:off x="6309360" y="3429000"/>
            <a:ext cx="5212080" cy="1005840"/>
          </a:xfrm>
          <a:prstGeom xmlns:a="http://schemas.openxmlformats.org/drawingml/2006/main" prst="roundRect">
            <a:avLst>
              <a:gd name="adj" fmla="val 8000"/>
            </a:avLst>
          </a:prstGeom>
          <a:solidFill xmlns:a="http://schemas.openxmlformats.org/drawingml/2006/main">
            <a:srgbClr val="142238"/>
          </a:solidFill>
          <a:ln xmlns:a="http://schemas.openxmlformats.org/drawingml/2006/main" w="12700">
            <a:solidFill>
              <a:srgbClr val="D8E4E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5" name="TextBox 24">
            <a:extLst xmlns:a="http://schemas.openxmlformats.org/drawingml/2006/main">
              <a:ext uri="{FF2B5EF4-FFF2-40B4-BE49-F238E27FC236}">
                <a16:creationId xmlns:a16="http://schemas.microsoft.com/office/drawing/2014/main" id="{D5F90B72-B179-4499-8C0F-07FC4516BD2A}"/>
              </a:ext>
            </a:extLst>
          </p:cNvPr>
          <p:cNvSpPr>
            <a:spLocks xmlns:a="http://schemas.openxmlformats.org/drawingml/2006/main" noGrp="1"/>
          </p:cNvSpPr>
          <p:nvPr/>
        </p:nvSpPr>
        <p:spPr>
          <a:xfrm xmlns:a="http://schemas.openxmlformats.org/drawingml/2006/main">
            <a:off x="6629400" y="3611880"/>
            <a:ext cx="237744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buNone/>
              <a:defRPr>
                <a:solidFill>
                  <a:srgbClr val="2DD4BF"/>
                </a:solidFill>
              </a:defRPr>
            </a:pPr>
            <a:r>
              <a:rPr sz="3200" b="1">
                <a:solidFill>
                  <a:srgbClr val="2DD4BF"/>
                </a:solidFill>
                <a:latin typeface="Calibri"/>
                <a:ea typeface="Calibri"/>
                <a:cs typeface="Calibri"/>
              </a:rPr>
              <a:t>≈ $18k</a:t>
            </a:r>
          </a:p>
        </p:txBody>
      </p:sp>
      <p:sp>
        <p:nvSpPr>
          <p:cNvPr id="26" name="TextBox 25">
            <a:extLst xmlns:a="http://schemas.openxmlformats.org/drawingml/2006/main">
              <a:ext uri="{FF2B5EF4-FFF2-40B4-BE49-F238E27FC236}">
                <a16:creationId xmlns:a16="http://schemas.microsoft.com/office/drawing/2014/main" id="{1154A35F-67E2-4C3F-AF12-F3751D12C230}"/>
              </a:ext>
            </a:extLst>
          </p:cNvPr>
          <p:cNvSpPr>
            <a:spLocks xmlns:a="http://schemas.openxmlformats.org/drawingml/2006/main" noGrp="1"/>
          </p:cNvSpPr>
          <p:nvPr/>
        </p:nvSpPr>
        <p:spPr>
          <a:xfrm xmlns:a="http://schemas.openxmlformats.org/drawingml/2006/main">
            <a:off x="9052560" y="3776472"/>
            <a:ext cx="23774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buNone/>
              <a:defRPr>
                <a:solidFill>
                  <a:srgbClr val="F8FAFC"/>
                </a:solidFill>
              </a:defRPr>
            </a:pPr>
            <a:r>
              <a:rPr sz="1700" b="0">
                <a:solidFill>
                  <a:srgbClr val="F8FAFC"/>
                </a:solidFill>
                <a:latin typeface="Calibri"/>
                <a:ea typeface="Calibri"/>
                <a:cs typeface="Calibri"/>
              </a:rPr>
              <a:t>a year in model spend</a:t>
            </a:r>
          </a:p>
        </p:txBody>
      </p:sp>
      <p:sp>
        <p:nvSpPr>
          <p:cNvPr id="27" name="Rounded Rectangle 26">
            <a:extLst xmlns:a="http://schemas.openxmlformats.org/drawingml/2006/main">
              <a:ext uri="{FF2B5EF4-FFF2-40B4-BE49-F238E27FC236}">
                <a16:creationId xmlns:a16="http://schemas.microsoft.com/office/drawing/2014/main" id="{7941B310-5D52-4E35-8800-C0A6D7726402}"/>
              </a:ext>
            </a:extLst>
          </p:cNvPr>
          <p:cNvSpPr>
            <a:spLocks xmlns:a="http://schemas.openxmlformats.org/drawingml/2006/main" noGrp="1"/>
          </p:cNvSpPr>
          <p:nvPr/>
        </p:nvSpPr>
        <p:spPr>
          <a:xfrm xmlns:a="http://schemas.openxmlformats.org/drawingml/2006/main">
            <a:off x="6309360" y="4617720"/>
            <a:ext cx="5212080" cy="1005840"/>
          </a:xfrm>
          <a:prstGeom xmlns:a="http://schemas.openxmlformats.org/drawingml/2006/main" prst="roundRect">
            <a:avLst>
              <a:gd name="adj" fmla="val 8000"/>
            </a:avLst>
          </a:prstGeom>
          <a:solidFill xmlns:a="http://schemas.openxmlformats.org/drawingml/2006/main">
            <a:srgbClr val="142238"/>
          </a:solidFill>
          <a:ln xmlns:a="http://schemas.openxmlformats.org/drawingml/2006/main" w="12700">
            <a:solidFill>
              <a:srgbClr val="D8E4E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8" name="TextBox 27">
            <a:extLst xmlns:a="http://schemas.openxmlformats.org/drawingml/2006/main">
              <a:ext uri="{FF2B5EF4-FFF2-40B4-BE49-F238E27FC236}">
                <a16:creationId xmlns:a16="http://schemas.microsoft.com/office/drawing/2014/main" id="{C7A61058-5DE7-4331-B21A-AC80AA4DA6C0}"/>
              </a:ext>
            </a:extLst>
          </p:cNvPr>
          <p:cNvSpPr>
            <a:spLocks xmlns:a="http://schemas.openxmlformats.org/drawingml/2006/main" noGrp="1"/>
          </p:cNvSpPr>
          <p:nvPr/>
        </p:nvSpPr>
        <p:spPr>
          <a:xfrm xmlns:a="http://schemas.openxmlformats.org/drawingml/2006/main">
            <a:off x="6629400" y="4800600"/>
            <a:ext cx="237744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buNone/>
              <a:defRPr>
                <a:solidFill>
                  <a:srgbClr val="2DD4BF"/>
                </a:solidFill>
              </a:defRPr>
            </a:pPr>
            <a:r>
              <a:rPr sz="3200" b="1">
                <a:solidFill>
                  <a:srgbClr val="2DD4BF"/>
                </a:solidFill>
                <a:latin typeface="Calibri"/>
                <a:ea typeface="Calibri"/>
                <a:cs typeface="Calibri"/>
              </a:rPr>
              <a:t>≈ $0.02</a:t>
            </a:r>
          </a:p>
        </p:txBody>
      </p:sp>
      <p:sp>
        <p:nvSpPr>
          <p:cNvPr id="29" name="TextBox 28">
            <a:extLst xmlns:a="http://schemas.openxmlformats.org/drawingml/2006/main">
              <a:ext uri="{FF2B5EF4-FFF2-40B4-BE49-F238E27FC236}">
                <a16:creationId xmlns:a16="http://schemas.microsoft.com/office/drawing/2014/main" id="{F09E343D-C196-4CA3-88C4-AA962B8345DE}"/>
              </a:ext>
            </a:extLst>
          </p:cNvPr>
          <p:cNvSpPr>
            <a:spLocks xmlns:a="http://schemas.openxmlformats.org/drawingml/2006/main" noGrp="1"/>
          </p:cNvSpPr>
          <p:nvPr/>
        </p:nvSpPr>
        <p:spPr>
          <a:xfrm xmlns:a="http://schemas.openxmlformats.org/drawingml/2006/main">
            <a:off x="9052560" y="4965192"/>
            <a:ext cx="23774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buNone/>
              <a:defRPr>
                <a:solidFill>
                  <a:srgbClr val="F8FAFC"/>
                </a:solidFill>
              </a:defRPr>
            </a:pPr>
            <a:r>
              <a:rPr sz="1700" b="0">
                <a:solidFill>
                  <a:srgbClr val="F8FAFC"/>
                </a:solidFill>
                <a:latin typeface="Calibri"/>
                <a:ea typeface="Calibri"/>
                <a:cs typeface="Calibri"/>
              </a:rPr>
              <a:t>per document</a:t>
            </a:r>
          </a:p>
        </p:txBody>
      </p:sp>
      <p:sp>
        <p:nvSpPr>
          <p:cNvPr id="30" name="TextBox 29">
            <a:extLst xmlns:a="http://schemas.openxmlformats.org/drawingml/2006/main">
              <a:ext uri="{FF2B5EF4-FFF2-40B4-BE49-F238E27FC236}">
                <a16:creationId xmlns:a16="http://schemas.microsoft.com/office/drawing/2014/main" id="{9FB9B2A7-A3DD-4846-8613-3D0B02D7BD45}"/>
              </a:ext>
            </a:extLst>
          </p:cNvPr>
          <p:cNvSpPr>
            <a:spLocks xmlns:a="http://schemas.openxmlformats.org/drawingml/2006/main" noGrp="1"/>
          </p:cNvSpPr>
          <p:nvPr/>
        </p:nvSpPr>
        <p:spPr>
          <a:xfrm xmlns:a="http://schemas.openxmlformats.org/drawingml/2006/main">
            <a:off x="640080" y="5897880"/>
            <a:ext cx="108813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buNone/>
              <a:defRPr>
                <a:solidFill>
                  <a:srgbClr val="CBD5E1"/>
                </a:solidFill>
              </a:defRPr>
            </a:pPr>
            <a:r>
              <a:rPr sz="1300" b="0">
                <a:solidFill>
                  <a:srgbClr val="CBD5E1"/>
                </a:solidFill>
                <a:latin typeface="Calibri"/>
                <a:ea typeface="Calibri"/>
                <a:cs typeface="Calibri"/>
              </a:rPr>
              <a:t>Savings depend on how much goes straight through; the pilot measures it.</a:t>
            </a:r>
          </a:p>
        </p:txBody>
      </p:sp>
    </p:spTree>
    <p:extLst>
      <p:ext uri="{BB962C8B-B14F-4D97-AF65-F5344CB8AC3E}">
        <p14:creationId xmlns:p14="http://schemas.microsoft.com/office/powerpoint/2010/main" val="24566342"/>
      </p:ext>
    </p:extLst>
  </p:cSld>
</p:sld>
</file>

<file path=ppt/slides/slide4.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F0FA8CC3-F19B-4F4C-9084-1981650C1C53}"/>
              </a:ext>
            </a:extLst>
          </p:cNvPr>
          <p:cNvSpPr>
            <a:spLocks xmlns:a="http://schemas.openxmlformats.org/drawingml/2006/main" noGrp="1"/>
          </p:cNvSpPr>
          <p:nvPr/>
        </p:nvSpPr>
        <p:spPr>
          <a:xfrm xmlns:a="http://schemas.openxmlformats.org/drawingml/2006/main">
            <a:off x="0" y="0"/>
            <a:ext cx="12191695" cy="109728"/>
          </a:xfrm>
          <a:prstGeom xmlns:a="http://schemas.openxmlformats.org/drawingml/2006/main" prst="rect">
            <a:avLst/>
          </a:prstGeom>
          <a:solidFill xmlns:a="http://schemas.openxmlformats.org/drawingml/2006/main">
            <a:srgbClr val="2DD4B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6F108C0D-E850-4A22-81EF-ABBFDF920250}"/>
              </a:ext>
            </a:extLst>
          </p:cNvPr>
          <p:cNvSpPr>
            <a:spLocks xmlns:a="http://schemas.openxmlformats.org/drawingml/2006/main" noGrp="1"/>
          </p:cNvSpPr>
          <p:nvPr/>
        </p:nvSpPr>
        <p:spPr>
          <a:xfrm xmlns:a="http://schemas.openxmlformats.org/drawingml/2006/main">
            <a:off x="640080" y="411480"/>
            <a:ext cx="91440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buNone/>
              <a:defRPr>
                <a:solidFill>
                  <a:srgbClr val="2DD4BF"/>
                </a:solidFill>
              </a:defRPr>
            </a:pPr>
            <a:r>
              <a:rPr sz="1200" b="1">
                <a:solidFill>
                  <a:srgbClr val="2DD4BF"/>
                </a:solidFill>
                <a:latin typeface="Calibri"/>
                <a:ea typeface="Calibri"/>
                <a:cs typeface="Calibri"/>
              </a:rPr>
              <a:t>HOW IT WORKS</a:t>
            </a:r>
          </a:p>
        </p:txBody>
      </p:sp>
      <p:sp>
        <p:nvSpPr>
          <p:cNvPr id="4" name="TextBox 3">
            <a:extLst xmlns:a="http://schemas.openxmlformats.org/drawingml/2006/main">
              <a:ext uri="{FF2B5EF4-FFF2-40B4-BE49-F238E27FC236}">
                <a16:creationId xmlns:a16="http://schemas.microsoft.com/office/drawing/2014/main" id="{8E8D9333-B723-40E9-BABF-6AE8B45A7F98}"/>
              </a:ext>
            </a:extLst>
          </p:cNvPr>
          <p:cNvSpPr>
            <a:spLocks xmlns:a="http://schemas.openxmlformats.org/drawingml/2006/main" noGrp="1"/>
          </p:cNvSpPr>
          <p:nvPr/>
        </p:nvSpPr>
        <p:spPr>
          <a:xfrm xmlns:a="http://schemas.openxmlformats.org/drawingml/2006/main">
            <a:off x="640080" y="685800"/>
            <a:ext cx="1097280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buNone/>
              <a:defRPr>
                <a:solidFill>
                  <a:srgbClr val="F8FAFC"/>
                </a:solidFill>
              </a:defRPr>
            </a:pPr>
            <a:r>
              <a:rPr sz="3200" b="1">
                <a:solidFill>
                  <a:srgbClr val="F8FAFC"/>
                </a:solidFill>
                <a:latin typeface="Calibri"/>
                <a:ea typeface="Calibri"/>
                <a:cs typeface="Calibri"/>
              </a:rPr>
              <a:t>Read → verify → decide → review</a:t>
            </a:r>
          </a:p>
        </p:txBody>
      </p:sp>
      <p:sp>
        <p:nvSpPr>
          <p:cNvPr id="5" name="Pentagon 4">
            <a:extLst xmlns:a="http://schemas.openxmlformats.org/drawingml/2006/main">
              <a:ext uri="{FF2B5EF4-FFF2-40B4-BE49-F238E27FC236}">
                <a16:creationId xmlns:a16="http://schemas.microsoft.com/office/drawing/2014/main" id="{7E22831A-A9C5-4E28-91F9-178E768BBAED}"/>
              </a:ext>
            </a:extLst>
          </p:cNvPr>
          <p:cNvSpPr>
            <a:spLocks xmlns:a="http://schemas.openxmlformats.org/drawingml/2006/main" noGrp="1"/>
          </p:cNvSpPr>
          <p:nvPr/>
        </p:nvSpPr>
        <p:spPr>
          <a:xfrm xmlns:a="http://schemas.openxmlformats.org/drawingml/2006/main" rot="5400000">
            <a:off x="11201400" y="384048"/>
            <a:ext cx="384048" cy="384048"/>
          </a:xfrm>
          <a:prstGeom xmlns:a="http://schemas.openxmlformats.org/drawingml/2006/main" prst="homePlate">
            <a:avLst/>
          </a:prstGeom>
          <a:solidFill xmlns:a="http://schemas.openxmlformats.org/drawingml/2006/main">
            <a:srgbClr val="2DD4B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Rectangle 5">
            <a:extLst xmlns:a="http://schemas.openxmlformats.org/drawingml/2006/main">
              <a:ext uri="{FF2B5EF4-FFF2-40B4-BE49-F238E27FC236}">
                <a16:creationId xmlns:a16="http://schemas.microsoft.com/office/drawing/2014/main" id="{F10BAFC7-7D86-4BF4-985D-BFB545DE72E7}"/>
              </a:ext>
            </a:extLst>
          </p:cNvPr>
          <p:cNvSpPr>
            <a:spLocks xmlns:a="http://schemas.openxmlformats.org/drawingml/2006/main" noGrp="1"/>
          </p:cNvSpPr>
          <p:nvPr/>
        </p:nvSpPr>
        <p:spPr>
          <a:xfrm xmlns:a="http://schemas.openxmlformats.org/drawingml/2006/main">
            <a:off x="11358860" y="453177"/>
            <a:ext cx="69128" cy="215066"/>
          </a:xfrm>
          <a:prstGeom xmlns:a="http://schemas.openxmlformats.org/drawingml/2006/main" prst="rect">
            <a:avLst/>
          </a:prstGeom>
          <a:solidFill xmlns:a="http://schemas.openxmlformats.org/drawingml/2006/main">
            <a:srgbClr val="14223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Rectangle 6">
            <a:extLst xmlns:a="http://schemas.openxmlformats.org/drawingml/2006/main">
              <a:ext uri="{FF2B5EF4-FFF2-40B4-BE49-F238E27FC236}">
                <a16:creationId xmlns:a16="http://schemas.microsoft.com/office/drawing/2014/main" id="{7C5FD8AB-9608-4E9C-86A2-79A83D9D23ED}"/>
              </a:ext>
            </a:extLst>
          </p:cNvPr>
          <p:cNvSpPr>
            <a:spLocks xmlns:a="http://schemas.openxmlformats.org/drawingml/2006/main" noGrp="1"/>
          </p:cNvSpPr>
          <p:nvPr/>
        </p:nvSpPr>
        <p:spPr>
          <a:xfrm xmlns:a="http://schemas.openxmlformats.org/drawingml/2006/main">
            <a:off x="11285891" y="526146"/>
            <a:ext cx="215066" cy="69128"/>
          </a:xfrm>
          <a:prstGeom xmlns:a="http://schemas.openxmlformats.org/drawingml/2006/main" prst="rect">
            <a:avLst/>
          </a:prstGeom>
          <a:solidFill xmlns:a="http://schemas.openxmlformats.org/drawingml/2006/main">
            <a:srgbClr val="14223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 name="TextBox 7">
            <a:extLst xmlns:a="http://schemas.openxmlformats.org/drawingml/2006/main">
              <a:ext uri="{FF2B5EF4-FFF2-40B4-BE49-F238E27FC236}">
                <a16:creationId xmlns:a16="http://schemas.microsoft.com/office/drawing/2014/main" id="{02BCE34B-6CBA-4ED3-9732-1F4460FCE6D3}"/>
              </a:ext>
            </a:extLst>
          </p:cNvPr>
          <p:cNvSpPr>
            <a:spLocks xmlns:a="http://schemas.openxmlformats.org/drawingml/2006/main" noGrp="1"/>
          </p:cNvSpPr>
          <p:nvPr/>
        </p:nvSpPr>
        <p:spPr>
          <a:xfrm xmlns:a="http://schemas.openxmlformats.org/drawingml/2006/main">
            <a:off x="640080" y="6446520"/>
            <a:ext cx="7315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buNone/>
              <a:defRPr>
                <a:solidFill>
                  <a:srgbClr val="CBD5E1"/>
                </a:solidFill>
              </a:defRPr>
            </a:pPr>
            <a:r>
              <a:rPr sz="1000" b="0">
                <a:solidFill>
                  <a:srgbClr val="CBD5E1"/>
                </a:solidFill>
                <a:latin typeface="Calibri"/>
                <a:ea typeface="Calibri"/>
                <a:cs typeface="Calibri"/>
              </a:rPr>
              <a:t>MediShield Health · Capstone review</a:t>
            </a:r>
          </a:p>
        </p:txBody>
      </p:sp>
      <p:sp>
        <p:nvSpPr>
          <p:cNvPr id="9" name="TextBox 8">
            <a:extLst xmlns:a="http://schemas.openxmlformats.org/drawingml/2006/main">
              <a:ext uri="{FF2B5EF4-FFF2-40B4-BE49-F238E27FC236}">
                <a16:creationId xmlns:a16="http://schemas.microsoft.com/office/drawing/2014/main" id="{0E3C5BBB-F61E-4285-B8CC-0981532925A3}"/>
              </a:ext>
            </a:extLst>
          </p:cNvPr>
          <p:cNvSpPr>
            <a:spLocks xmlns:a="http://schemas.openxmlformats.org/drawingml/2006/main" noGrp="1"/>
          </p:cNvSpPr>
          <p:nvPr/>
        </p:nvSpPr>
        <p:spPr>
          <a:xfrm xmlns:a="http://schemas.openxmlformats.org/drawingml/2006/main">
            <a:off x="10881360" y="6446520"/>
            <a:ext cx="7315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r">
              <a:buNone/>
              <a:defRPr>
                <a:solidFill>
                  <a:srgbClr val="CBD5E1"/>
                </a:solidFill>
              </a:defRPr>
            </a:pPr>
            <a:r>
              <a:rPr sz="1000" b="0">
                <a:solidFill>
                  <a:srgbClr val="CBD5E1"/>
                </a:solidFill>
                <a:latin typeface="Calibri"/>
                <a:ea typeface="Calibri"/>
                <a:cs typeface="Calibri"/>
              </a:rPr>
              <a:t>4</a:t>
            </a:r>
          </a:p>
        </p:txBody>
      </p:sp>
      <p:sp>
        <p:nvSpPr>
          <p:cNvPr id="10" name="Pentagon 9">
            <a:extLst xmlns:a="http://schemas.openxmlformats.org/drawingml/2006/main">
              <a:ext uri="{FF2B5EF4-FFF2-40B4-BE49-F238E27FC236}">
                <a16:creationId xmlns:a16="http://schemas.microsoft.com/office/drawing/2014/main" id="{9886BCD0-7D05-406F-88CB-CADD3CCA7BE5}"/>
              </a:ext>
            </a:extLst>
          </p:cNvPr>
          <p:cNvSpPr>
            <a:spLocks xmlns:a="http://schemas.openxmlformats.org/drawingml/2006/main" noGrp="1"/>
          </p:cNvSpPr>
          <p:nvPr/>
        </p:nvSpPr>
        <p:spPr>
          <a:xfrm xmlns:a="http://schemas.openxmlformats.org/drawingml/2006/main">
            <a:off x="640080" y="2011680"/>
            <a:ext cx="1517904" cy="868680"/>
          </a:xfrm>
          <a:prstGeom xmlns:a="http://schemas.openxmlformats.org/drawingml/2006/main" prst="homePlate">
            <a:avLst/>
          </a:prstGeom>
          <a:solidFill xmlns:a="http://schemas.openxmlformats.org/drawingml/2006/main">
            <a:srgbClr val="2DD4B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wrap="none" lIns="0" rIns="0" anchor="ctr"/>
          <a:lstStyle xmlns:a="http://schemas.openxmlformats.org/drawingml/2006/main"/>
          <a:p xmlns:a="http://schemas.openxmlformats.org/drawingml/2006/main">
            <a:pPr algn="ctr">
              <a:buNone/>
              <a:defRPr>
                <a:solidFill>
                  <a:srgbClr val="0B1220"/>
                </a:solidFill>
              </a:defRPr>
            </a:pPr>
            <a:r>
              <a:rPr sz="1600" b="1">
                <a:solidFill>
                  <a:srgbClr val="0B1220"/>
                </a:solidFill>
                <a:latin typeface="Calibri"/>
                <a:ea typeface="Calibri"/>
                <a:cs typeface="Calibri"/>
              </a:rPr>
              <a:t>Upload</a:t>
            </a:r>
          </a:p>
        </p:txBody>
      </p:sp>
      <p:sp>
        <p:nvSpPr>
          <p:cNvPr id="11" name="Chevron 10">
            <a:extLst xmlns:a="http://schemas.openxmlformats.org/drawingml/2006/main">
              <a:ext uri="{FF2B5EF4-FFF2-40B4-BE49-F238E27FC236}">
                <a16:creationId xmlns:a16="http://schemas.microsoft.com/office/drawing/2014/main" id="{94DAC358-2867-4239-BB37-AAB3AE5193F6}"/>
              </a:ext>
            </a:extLst>
          </p:cNvPr>
          <p:cNvSpPr>
            <a:spLocks xmlns:a="http://schemas.openxmlformats.org/drawingml/2006/main" noGrp="1"/>
          </p:cNvSpPr>
          <p:nvPr/>
        </p:nvSpPr>
        <p:spPr>
          <a:xfrm xmlns:a="http://schemas.openxmlformats.org/drawingml/2006/main">
            <a:off x="2249424" y="2011680"/>
            <a:ext cx="1517904" cy="868680"/>
          </a:xfrm>
          <a:prstGeom xmlns:a="http://schemas.openxmlformats.org/drawingml/2006/main" prst="chevron">
            <a:avLst/>
          </a:prstGeom>
          <a:solidFill xmlns:a="http://schemas.openxmlformats.org/drawingml/2006/main">
            <a:srgbClr val="2DD4B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wrap="none" lIns="0" rIns="0" anchor="ctr"/>
          <a:lstStyle xmlns:a="http://schemas.openxmlformats.org/drawingml/2006/main"/>
          <a:p xmlns:a="http://schemas.openxmlformats.org/drawingml/2006/main">
            <a:pPr algn="ctr">
              <a:buNone/>
              <a:defRPr>
                <a:solidFill>
                  <a:srgbClr val="0B1220"/>
                </a:solidFill>
              </a:defRPr>
            </a:pPr>
            <a:r>
              <a:rPr sz="1600" b="1">
                <a:solidFill>
                  <a:srgbClr val="0B1220"/>
                </a:solidFill>
                <a:latin typeface="Calibri"/>
                <a:ea typeface="Calibri"/>
                <a:cs typeface="Calibri"/>
              </a:rPr>
              <a:t>Read</a:t>
            </a:r>
          </a:p>
        </p:txBody>
      </p:sp>
      <p:sp>
        <p:nvSpPr>
          <p:cNvPr id="12" name="Chevron 11">
            <a:extLst xmlns:a="http://schemas.openxmlformats.org/drawingml/2006/main">
              <a:ext uri="{FF2B5EF4-FFF2-40B4-BE49-F238E27FC236}">
                <a16:creationId xmlns:a16="http://schemas.microsoft.com/office/drawing/2014/main" id="{D2004653-3FBD-4EBE-B722-05275AF9150D}"/>
              </a:ext>
            </a:extLst>
          </p:cNvPr>
          <p:cNvSpPr>
            <a:spLocks xmlns:a="http://schemas.openxmlformats.org/drawingml/2006/main" noGrp="1"/>
          </p:cNvSpPr>
          <p:nvPr/>
        </p:nvSpPr>
        <p:spPr>
          <a:xfrm xmlns:a="http://schemas.openxmlformats.org/drawingml/2006/main">
            <a:off x="3858768" y="2011680"/>
            <a:ext cx="1517904" cy="868680"/>
          </a:xfrm>
          <a:prstGeom xmlns:a="http://schemas.openxmlformats.org/drawingml/2006/main" prst="chevron">
            <a:avLst/>
          </a:prstGeom>
          <a:solidFill xmlns:a="http://schemas.openxmlformats.org/drawingml/2006/main">
            <a:srgbClr val="2DD4B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wrap="none" lIns="0" rIns="0" anchor="ctr"/>
          <a:lstStyle xmlns:a="http://schemas.openxmlformats.org/drawingml/2006/main"/>
          <a:p xmlns:a="http://schemas.openxmlformats.org/drawingml/2006/main">
            <a:pPr algn="ctr">
              <a:buNone/>
              <a:defRPr>
                <a:solidFill>
                  <a:srgbClr val="0B1220"/>
                </a:solidFill>
              </a:defRPr>
            </a:pPr>
            <a:r>
              <a:rPr sz="1600" b="1">
                <a:solidFill>
                  <a:srgbClr val="0B1220"/>
                </a:solidFill>
                <a:latin typeface="Calibri"/>
                <a:ea typeface="Calibri"/>
                <a:cs typeface="Calibri"/>
              </a:rPr>
              <a:t>Extract</a:t>
            </a:r>
          </a:p>
        </p:txBody>
      </p:sp>
      <p:sp>
        <p:nvSpPr>
          <p:cNvPr id="13" name="Chevron 12">
            <a:extLst xmlns:a="http://schemas.openxmlformats.org/drawingml/2006/main">
              <a:ext uri="{FF2B5EF4-FFF2-40B4-BE49-F238E27FC236}">
                <a16:creationId xmlns:a16="http://schemas.microsoft.com/office/drawing/2014/main" id="{1BA0170B-4ECE-45BD-9A69-75E9594AB968}"/>
              </a:ext>
            </a:extLst>
          </p:cNvPr>
          <p:cNvSpPr>
            <a:spLocks xmlns:a="http://schemas.openxmlformats.org/drawingml/2006/main" noGrp="1"/>
          </p:cNvSpPr>
          <p:nvPr/>
        </p:nvSpPr>
        <p:spPr>
          <a:xfrm xmlns:a="http://schemas.openxmlformats.org/drawingml/2006/main">
            <a:off x="5468112" y="2011680"/>
            <a:ext cx="1517904" cy="868680"/>
          </a:xfrm>
          <a:prstGeom xmlns:a="http://schemas.openxmlformats.org/drawingml/2006/main" prst="chevron">
            <a:avLst/>
          </a:prstGeom>
          <a:solidFill xmlns:a="http://schemas.openxmlformats.org/drawingml/2006/main">
            <a:srgbClr val="2DD4B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wrap="none" lIns="0" rIns="0" anchor="ctr"/>
          <a:lstStyle xmlns:a="http://schemas.openxmlformats.org/drawingml/2006/main"/>
          <a:p xmlns:a="http://schemas.openxmlformats.org/drawingml/2006/main">
            <a:pPr algn="ctr">
              <a:buNone/>
              <a:defRPr>
                <a:solidFill>
                  <a:srgbClr val="0B1220"/>
                </a:solidFill>
              </a:defRPr>
            </a:pPr>
            <a:r>
              <a:rPr sz="1600" b="1">
                <a:solidFill>
                  <a:srgbClr val="0B1220"/>
                </a:solidFill>
                <a:latin typeface="Calibri"/>
                <a:ea typeface="Calibri"/>
                <a:cs typeface="Calibri"/>
              </a:rPr>
              <a:t>Verify</a:t>
            </a:r>
          </a:p>
        </p:txBody>
      </p:sp>
      <p:sp>
        <p:nvSpPr>
          <p:cNvPr id="14" name="Chevron 13">
            <a:extLst xmlns:a="http://schemas.openxmlformats.org/drawingml/2006/main">
              <a:ext uri="{FF2B5EF4-FFF2-40B4-BE49-F238E27FC236}">
                <a16:creationId xmlns:a16="http://schemas.microsoft.com/office/drawing/2014/main" id="{9834FCBE-6101-4AB0-B68D-D53B83DFC986}"/>
              </a:ext>
            </a:extLst>
          </p:cNvPr>
          <p:cNvSpPr>
            <a:spLocks xmlns:a="http://schemas.openxmlformats.org/drawingml/2006/main" noGrp="1"/>
          </p:cNvSpPr>
          <p:nvPr/>
        </p:nvSpPr>
        <p:spPr>
          <a:xfrm xmlns:a="http://schemas.openxmlformats.org/drawingml/2006/main">
            <a:off x="7077456" y="2011680"/>
            <a:ext cx="1517904" cy="868680"/>
          </a:xfrm>
          <a:prstGeom xmlns:a="http://schemas.openxmlformats.org/drawingml/2006/main" prst="chevron">
            <a:avLst/>
          </a:prstGeom>
          <a:solidFill xmlns:a="http://schemas.openxmlformats.org/drawingml/2006/main">
            <a:srgbClr val="2DD4B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wrap="none" lIns="0" rIns="0" anchor="ctr"/>
          <a:lstStyle xmlns:a="http://schemas.openxmlformats.org/drawingml/2006/main"/>
          <a:p xmlns:a="http://schemas.openxmlformats.org/drawingml/2006/main">
            <a:pPr algn="ctr">
              <a:buNone/>
              <a:defRPr>
                <a:solidFill>
                  <a:srgbClr val="0B1220"/>
                </a:solidFill>
              </a:defRPr>
            </a:pPr>
            <a:r>
              <a:rPr sz="1600" b="1">
                <a:solidFill>
                  <a:srgbClr val="0B1220"/>
                </a:solidFill>
                <a:latin typeface="Calibri"/>
                <a:ea typeface="Calibri"/>
                <a:cs typeface="Calibri"/>
              </a:rPr>
              <a:t>Fraud</a:t>
            </a:r>
          </a:p>
        </p:txBody>
      </p:sp>
      <p:sp>
        <p:nvSpPr>
          <p:cNvPr id="15" name="Chevron 14">
            <a:extLst xmlns:a="http://schemas.openxmlformats.org/drawingml/2006/main">
              <a:ext uri="{FF2B5EF4-FFF2-40B4-BE49-F238E27FC236}">
                <a16:creationId xmlns:a16="http://schemas.microsoft.com/office/drawing/2014/main" id="{AB4C2B3B-830E-4FB8-A503-5FF8B55E8D8C}"/>
              </a:ext>
            </a:extLst>
          </p:cNvPr>
          <p:cNvSpPr>
            <a:spLocks xmlns:a="http://schemas.openxmlformats.org/drawingml/2006/main" noGrp="1"/>
          </p:cNvSpPr>
          <p:nvPr/>
        </p:nvSpPr>
        <p:spPr>
          <a:xfrm xmlns:a="http://schemas.openxmlformats.org/drawingml/2006/main">
            <a:off x="8686800" y="2011680"/>
            <a:ext cx="1517904" cy="868680"/>
          </a:xfrm>
          <a:prstGeom xmlns:a="http://schemas.openxmlformats.org/drawingml/2006/main" prst="chevron">
            <a:avLst/>
          </a:prstGeom>
          <a:solidFill xmlns:a="http://schemas.openxmlformats.org/drawingml/2006/main">
            <a:srgbClr val="2DD4B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wrap="none" lIns="0" rIns="0" anchor="ctr"/>
          <a:lstStyle xmlns:a="http://schemas.openxmlformats.org/drawingml/2006/main"/>
          <a:p xmlns:a="http://schemas.openxmlformats.org/drawingml/2006/main">
            <a:pPr algn="ctr">
              <a:buNone/>
              <a:defRPr>
                <a:solidFill>
                  <a:srgbClr val="0B1220"/>
                </a:solidFill>
              </a:defRPr>
            </a:pPr>
            <a:r>
              <a:rPr sz="1600" b="1">
                <a:solidFill>
                  <a:srgbClr val="0B1220"/>
                </a:solidFill>
                <a:latin typeface="Calibri"/>
                <a:ea typeface="Calibri"/>
                <a:cs typeface="Calibri"/>
              </a:rPr>
              <a:t>Decide</a:t>
            </a:r>
          </a:p>
        </p:txBody>
      </p:sp>
      <p:sp>
        <p:nvSpPr>
          <p:cNvPr id="16" name="Chevron 15">
            <a:extLst xmlns:a="http://schemas.openxmlformats.org/drawingml/2006/main">
              <a:ext uri="{FF2B5EF4-FFF2-40B4-BE49-F238E27FC236}">
                <a16:creationId xmlns:a16="http://schemas.microsoft.com/office/drawing/2014/main" id="{A59A28F8-5A83-4315-983B-4FB2AF293DEA}"/>
              </a:ext>
            </a:extLst>
          </p:cNvPr>
          <p:cNvSpPr>
            <a:spLocks xmlns:a="http://schemas.openxmlformats.org/drawingml/2006/main" noGrp="1"/>
          </p:cNvSpPr>
          <p:nvPr/>
        </p:nvSpPr>
        <p:spPr>
          <a:xfrm xmlns:a="http://schemas.openxmlformats.org/drawingml/2006/main">
            <a:off x="10296144" y="2011680"/>
            <a:ext cx="1517904" cy="868680"/>
          </a:xfrm>
          <a:prstGeom xmlns:a="http://schemas.openxmlformats.org/drawingml/2006/main" prst="chevron">
            <a:avLst/>
          </a:prstGeom>
          <a:solidFill xmlns:a="http://schemas.openxmlformats.org/drawingml/2006/main">
            <a:srgbClr val="FBBF2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wrap="none" lIns="0" rIns="0" anchor="ctr"/>
          <a:lstStyle xmlns:a="http://schemas.openxmlformats.org/drawingml/2006/main"/>
          <a:p xmlns:a="http://schemas.openxmlformats.org/drawingml/2006/main">
            <a:pPr algn="ctr">
              <a:buNone/>
              <a:defRPr>
                <a:solidFill>
                  <a:srgbClr val="0B1220"/>
                </a:solidFill>
              </a:defRPr>
            </a:pPr>
            <a:r>
              <a:rPr sz="1600" b="1">
                <a:solidFill>
                  <a:srgbClr val="0B1220"/>
                </a:solidFill>
                <a:latin typeface="Calibri"/>
                <a:ea typeface="Calibri"/>
                <a:cs typeface="Calibri"/>
              </a:rPr>
              <a:t>Review</a:t>
            </a:r>
          </a:p>
        </p:txBody>
      </p:sp>
      <p:sp>
        <p:nvSpPr>
          <p:cNvPr id="17" name="Rounded Rectangle 16">
            <a:extLst xmlns:a="http://schemas.openxmlformats.org/drawingml/2006/main">
              <a:ext uri="{FF2B5EF4-FFF2-40B4-BE49-F238E27FC236}">
                <a16:creationId xmlns:a16="http://schemas.microsoft.com/office/drawing/2014/main" id="{8901A4E8-4641-450B-A875-94E6DD899EE9}"/>
              </a:ext>
            </a:extLst>
          </p:cNvPr>
          <p:cNvSpPr>
            <a:spLocks xmlns:a="http://schemas.openxmlformats.org/drawingml/2006/main" noGrp="1"/>
          </p:cNvSpPr>
          <p:nvPr/>
        </p:nvSpPr>
        <p:spPr>
          <a:xfrm xmlns:a="http://schemas.openxmlformats.org/drawingml/2006/main">
            <a:off x="640080" y="3657600"/>
            <a:ext cx="3474720" cy="1828800"/>
          </a:xfrm>
          <a:prstGeom xmlns:a="http://schemas.openxmlformats.org/drawingml/2006/main" prst="roundRect">
            <a:avLst>
              <a:gd name="adj" fmla="val 8000"/>
            </a:avLst>
          </a:prstGeom>
          <a:solidFill xmlns:a="http://schemas.openxmlformats.org/drawingml/2006/main">
            <a:srgbClr val="19334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8" name="TextBox 17">
            <a:extLst xmlns:a="http://schemas.openxmlformats.org/drawingml/2006/main">
              <a:ext uri="{FF2B5EF4-FFF2-40B4-BE49-F238E27FC236}">
                <a16:creationId xmlns:a16="http://schemas.microsoft.com/office/drawing/2014/main" id="{E125C49D-57AD-462D-BDD4-7EB48F7D1CBA}"/>
              </a:ext>
            </a:extLst>
          </p:cNvPr>
          <p:cNvSpPr>
            <a:spLocks xmlns:a="http://schemas.openxmlformats.org/drawingml/2006/main" noGrp="1"/>
          </p:cNvSpPr>
          <p:nvPr/>
        </p:nvSpPr>
        <p:spPr>
          <a:xfrm xmlns:a="http://schemas.openxmlformats.org/drawingml/2006/main">
            <a:off x="914400" y="3931920"/>
            <a:ext cx="2926080" cy="60960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buNone/>
              <a:defRPr>
                <a:solidFill>
                  <a:srgbClr val="F8FAFC"/>
                </a:solidFill>
              </a:defRPr>
            </a:pPr>
            <a:r>
              <a:rPr sz="2000" b="1">
                <a:solidFill>
                  <a:srgbClr val="F8FAFC"/>
                </a:solidFill>
                <a:latin typeface="Calibri"/>
                <a:ea typeface="Calibri"/>
                <a:cs typeface="Calibri"/>
              </a:rPr>
              <a:t>Rules decide</a:t>
            </a:r>
          </a:p>
        </p:txBody>
      </p:sp>
      <p:sp>
        <p:nvSpPr>
          <p:cNvPr id="19" name="TextBox 18">
            <a:extLst xmlns:a="http://schemas.openxmlformats.org/drawingml/2006/main">
              <a:ext uri="{FF2B5EF4-FFF2-40B4-BE49-F238E27FC236}">
                <a16:creationId xmlns:a16="http://schemas.microsoft.com/office/drawing/2014/main" id="{A5C9CAFB-A8AC-4086-A112-EBB4B0C05677}"/>
              </a:ext>
            </a:extLst>
          </p:cNvPr>
          <p:cNvSpPr>
            <a:spLocks xmlns:a="http://schemas.openxmlformats.org/drawingml/2006/main" noGrp="1"/>
          </p:cNvSpPr>
          <p:nvPr/>
        </p:nvSpPr>
        <p:spPr>
          <a:xfrm xmlns:a="http://schemas.openxmlformats.org/drawingml/2006/main">
            <a:off x="914400" y="4480560"/>
            <a:ext cx="292608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buNone/>
              <a:defRPr>
                <a:solidFill>
                  <a:srgbClr val="CBD5E1"/>
                </a:solidFill>
              </a:defRPr>
            </a:pPr>
            <a:r>
              <a:rPr sz="1500" b="0">
                <a:solidFill>
                  <a:srgbClr val="CBD5E1"/>
                </a:solidFill>
                <a:latin typeface="Calibri"/>
                <a:ea typeface="Calibri"/>
                <a:cs typeface="Calibri"/>
              </a:rPr>
              <a:t>A rule file decides, not the model</a:t>
            </a:r>
          </a:p>
        </p:txBody>
      </p:sp>
      <p:sp>
        <p:nvSpPr>
          <p:cNvPr id="20" name="Rounded Rectangle 19">
            <a:extLst xmlns:a="http://schemas.openxmlformats.org/drawingml/2006/main">
              <a:ext uri="{FF2B5EF4-FFF2-40B4-BE49-F238E27FC236}">
                <a16:creationId xmlns:a16="http://schemas.microsoft.com/office/drawing/2014/main" id="{A57D925B-93B3-4972-9C81-9B0B54592987}"/>
              </a:ext>
            </a:extLst>
          </p:cNvPr>
          <p:cNvSpPr>
            <a:spLocks xmlns:a="http://schemas.openxmlformats.org/drawingml/2006/main" noGrp="1"/>
          </p:cNvSpPr>
          <p:nvPr/>
        </p:nvSpPr>
        <p:spPr>
          <a:xfrm xmlns:a="http://schemas.openxmlformats.org/drawingml/2006/main">
            <a:off x="4343400" y="3657600"/>
            <a:ext cx="3474720" cy="1828800"/>
          </a:xfrm>
          <a:prstGeom xmlns:a="http://schemas.openxmlformats.org/drawingml/2006/main" prst="roundRect">
            <a:avLst>
              <a:gd name="adj" fmla="val 8000"/>
            </a:avLst>
          </a:prstGeom>
          <a:solidFill xmlns:a="http://schemas.openxmlformats.org/drawingml/2006/main">
            <a:srgbClr val="19334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1" name="TextBox 20">
            <a:extLst xmlns:a="http://schemas.openxmlformats.org/drawingml/2006/main">
              <a:ext uri="{FF2B5EF4-FFF2-40B4-BE49-F238E27FC236}">
                <a16:creationId xmlns:a16="http://schemas.microsoft.com/office/drawing/2014/main" id="{61CD61E9-9C39-48F5-A15A-26EA4D3823CA}"/>
              </a:ext>
            </a:extLst>
          </p:cNvPr>
          <p:cNvSpPr>
            <a:spLocks xmlns:a="http://schemas.openxmlformats.org/drawingml/2006/main" noGrp="1"/>
          </p:cNvSpPr>
          <p:nvPr/>
        </p:nvSpPr>
        <p:spPr>
          <a:xfrm xmlns:a="http://schemas.openxmlformats.org/drawingml/2006/main">
            <a:off x="4617720" y="3931920"/>
            <a:ext cx="2926080" cy="60960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buNone/>
              <a:defRPr>
                <a:solidFill>
                  <a:srgbClr val="F8FAFC"/>
                </a:solidFill>
              </a:defRPr>
            </a:pPr>
            <a:r>
              <a:rPr sz="2000" b="1">
                <a:solidFill>
                  <a:srgbClr val="F8FAFC"/>
                </a:solidFill>
                <a:latin typeface="Calibri"/>
                <a:ea typeface="Calibri"/>
                <a:cs typeface="Calibri"/>
              </a:rPr>
              <a:t>Review missing checks</a:t>
            </a:r>
          </a:p>
        </p:txBody>
      </p:sp>
      <p:sp>
        <p:nvSpPr>
          <p:cNvPr id="22" name="TextBox 21">
            <a:extLst xmlns:a="http://schemas.openxmlformats.org/drawingml/2006/main">
              <a:ext uri="{FF2B5EF4-FFF2-40B4-BE49-F238E27FC236}">
                <a16:creationId xmlns:a16="http://schemas.microsoft.com/office/drawing/2014/main" id="{4ED322C2-776D-450B-A759-B9B6BAC6607E}"/>
              </a:ext>
            </a:extLst>
          </p:cNvPr>
          <p:cNvSpPr>
            <a:spLocks xmlns:a="http://schemas.openxmlformats.org/drawingml/2006/main" noGrp="1"/>
          </p:cNvSpPr>
          <p:nvPr/>
        </p:nvSpPr>
        <p:spPr>
          <a:xfrm xmlns:a="http://schemas.openxmlformats.org/drawingml/2006/main">
            <a:off x="4617720" y="4480560"/>
            <a:ext cx="292608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buNone/>
              <a:defRPr>
                <a:solidFill>
                  <a:srgbClr val="CBD5E1"/>
                </a:solidFill>
              </a:defRPr>
            </a:pPr>
            <a:r>
              <a:rPr sz="1500" b="0">
                <a:solidFill>
                  <a:srgbClr val="CBD5E1"/>
                </a:solidFill>
                <a:latin typeface="Calibri"/>
                <a:ea typeface="Calibri"/>
                <a:cs typeface="Calibri"/>
              </a:rPr>
              <a:t>Claims match an active member record</a:t>
            </a:r>
          </a:p>
        </p:txBody>
      </p:sp>
      <p:sp>
        <p:nvSpPr>
          <p:cNvPr id="23" name="Rounded Rectangle 22">
            <a:extLst xmlns:a="http://schemas.openxmlformats.org/drawingml/2006/main">
              <a:ext uri="{FF2B5EF4-FFF2-40B4-BE49-F238E27FC236}">
                <a16:creationId xmlns:a16="http://schemas.microsoft.com/office/drawing/2014/main" id="{6A1E4215-9C2A-4233-B0A6-2CC396D2DACE}"/>
              </a:ext>
            </a:extLst>
          </p:cNvPr>
          <p:cNvSpPr>
            <a:spLocks xmlns:a="http://schemas.openxmlformats.org/drawingml/2006/main" noGrp="1"/>
          </p:cNvSpPr>
          <p:nvPr/>
        </p:nvSpPr>
        <p:spPr>
          <a:xfrm xmlns:a="http://schemas.openxmlformats.org/drawingml/2006/main">
            <a:off x="8046719" y="3657600"/>
            <a:ext cx="3474720" cy="1828800"/>
          </a:xfrm>
          <a:prstGeom xmlns:a="http://schemas.openxmlformats.org/drawingml/2006/main" prst="roundRect">
            <a:avLst>
              <a:gd name="adj" fmla="val 8000"/>
            </a:avLst>
          </a:prstGeom>
          <a:solidFill xmlns:a="http://schemas.openxmlformats.org/drawingml/2006/main">
            <a:srgbClr val="19334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4" name="TextBox 23">
            <a:extLst xmlns:a="http://schemas.openxmlformats.org/drawingml/2006/main">
              <a:ext uri="{FF2B5EF4-FFF2-40B4-BE49-F238E27FC236}">
                <a16:creationId xmlns:a16="http://schemas.microsoft.com/office/drawing/2014/main" id="{527F3E71-C8D2-4ACA-A4AB-08FA429F1018}"/>
              </a:ext>
            </a:extLst>
          </p:cNvPr>
          <p:cNvSpPr>
            <a:spLocks xmlns:a="http://schemas.openxmlformats.org/drawingml/2006/main" noGrp="1"/>
          </p:cNvSpPr>
          <p:nvPr/>
        </p:nvSpPr>
        <p:spPr>
          <a:xfrm xmlns:a="http://schemas.openxmlformats.org/drawingml/2006/main">
            <a:off x="8321039" y="3931920"/>
            <a:ext cx="292608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buNone/>
              <a:defRPr>
                <a:solidFill>
                  <a:srgbClr val="F8FAFC"/>
                </a:solidFill>
              </a:defRPr>
            </a:pPr>
            <a:r>
              <a:rPr sz="2000" b="1">
                <a:solidFill>
                  <a:srgbClr val="F8FAFC"/>
                </a:solidFill>
                <a:latin typeface="Calibri"/>
                <a:ea typeface="Calibri"/>
                <a:cs typeface="Calibri"/>
              </a:rPr>
              <a:t>Live demo · 90 sec</a:t>
            </a:r>
          </a:p>
        </p:txBody>
      </p:sp>
      <p:sp>
        <p:nvSpPr>
          <p:cNvPr id="25" name="TextBox 24">
            <a:extLst xmlns:a="http://schemas.openxmlformats.org/drawingml/2006/main">
              <a:ext uri="{FF2B5EF4-FFF2-40B4-BE49-F238E27FC236}">
                <a16:creationId xmlns:a16="http://schemas.microsoft.com/office/drawing/2014/main" id="{50477E19-FE00-4440-8F10-3F19E2BF0D5F}"/>
              </a:ext>
            </a:extLst>
          </p:cNvPr>
          <p:cNvSpPr>
            <a:spLocks xmlns:a="http://schemas.openxmlformats.org/drawingml/2006/main" noGrp="1"/>
          </p:cNvSpPr>
          <p:nvPr/>
        </p:nvSpPr>
        <p:spPr>
          <a:xfrm xmlns:a="http://schemas.openxmlformats.org/drawingml/2006/main">
            <a:off x="8321039" y="4480560"/>
            <a:ext cx="292608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buNone/>
              <a:defRPr>
                <a:solidFill>
                  <a:srgbClr val="CBD5E1"/>
                </a:solidFill>
              </a:defRPr>
            </a:pPr>
            <a:r>
              <a:rPr sz="1500" b="0">
                <a:solidFill>
                  <a:srgbClr val="CBD5E1"/>
                </a:solidFill>
                <a:latin typeface="Calibri"/>
                <a:ea typeface="Calibri"/>
                <a:cs typeface="Calibri"/>
              </a:rPr>
              <a:t>Upload → evidence → review → audit PDF</a:t>
            </a:r>
          </a:p>
        </p:txBody>
      </p:sp>
    </p:spTree>
    <p:extLst>
      <p:ext uri="{BB962C8B-B14F-4D97-AF65-F5344CB8AC3E}">
        <p14:creationId xmlns:p14="http://schemas.microsoft.com/office/powerpoint/2010/main" val="1109981051"/>
      </p:ext>
    </p:extLst>
  </p:cSld>
</p:sld>
</file>

<file path=ppt/slides/slide5.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1B328726-CA78-4BFC-9AC3-69360FC12A78}"/>
              </a:ext>
            </a:extLst>
          </p:cNvPr>
          <p:cNvSpPr>
            <a:spLocks xmlns:a="http://schemas.openxmlformats.org/drawingml/2006/main" noGrp="1"/>
          </p:cNvSpPr>
          <p:nvPr/>
        </p:nvSpPr>
        <p:spPr>
          <a:xfrm xmlns:a="http://schemas.openxmlformats.org/drawingml/2006/main">
            <a:off x="0" y="0"/>
            <a:ext cx="12191695" cy="109728"/>
          </a:xfrm>
          <a:prstGeom xmlns:a="http://schemas.openxmlformats.org/drawingml/2006/main" prst="rect">
            <a:avLst/>
          </a:prstGeom>
          <a:solidFill xmlns:a="http://schemas.openxmlformats.org/drawingml/2006/main">
            <a:srgbClr val="2DD4B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174E7C76-C881-471A-A779-2269E375A427}"/>
              </a:ext>
            </a:extLst>
          </p:cNvPr>
          <p:cNvSpPr>
            <a:spLocks xmlns:a="http://schemas.openxmlformats.org/drawingml/2006/main" noGrp="1"/>
          </p:cNvSpPr>
          <p:nvPr/>
        </p:nvSpPr>
        <p:spPr>
          <a:xfrm xmlns:a="http://schemas.openxmlformats.org/drawingml/2006/main">
            <a:off x="640080" y="411480"/>
            <a:ext cx="91440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buNone/>
              <a:defRPr>
                <a:solidFill>
                  <a:srgbClr val="2DD4BF"/>
                </a:solidFill>
              </a:defRPr>
            </a:pPr>
            <a:r>
              <a:rPr sz="1200" b="1">
                <a:solidFill>
                  <a:srgbClr val="2DD4BF"/>
                </a:solidFill>
                <a:latin typeface="Calibri"/>
                <a:ea typeface="Calibri"/>
                <a:cs typeface="Calibri"/>
              </a:rPr>
              <a:t>RESULTS</a:t>
            </a:r>
          </a:p>
        </p:txBody>
      </p:sp>
      <p:sp>
        <p:nvSpPr>
          <p:cNvPr id="4" name="TextBox 3">
            <a:extLst xmlns:a="http://schemas.openxmlformats.org/drawingml/2006/main">
              <a:ext uri="{FF2B5EF4-FFF2-40B4-BE49-F238E27FC236}">
                <a16:creationId xmlns:a16="http://schemas.microsoft.com/office/drawing/2014/main" id="{4B5BDB49-0ADC-4275-96BC-BA84EEC64116}"/>
              </a:ext>
            </a:extLst>
          </p:cNvPr>
          <p:cNvSpPr>
            <a:spLocks xmlns:a="http://schemas.openxmlformats.org/drawingml/2006/main" noGrp="1"/>
          </p:cNvSpPr>
          <p:nvPr/>
        </p:nvSpPr>
        <p:spPr>
          <a:xfrm xmlns:a="http://schemas.openxmlformats.org/drawingml/2006/main">
            <a:off x="640080" y="685800"/>
            <a:ext cx="1097280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buNone/>
              <a:defRPr>
                <a:solidFill>
                  <a:srgbClr val="F8FAFC"/>
                </a:solidFill>
              </a:defRPr>
            </a:pPr>
            <a:r>
              <a:rPr sz="3200" b="1">
                <a:solidFill>
                  <a:srgbClr val="F8FAFC"/>
                </a:solidFill>
                <a:latin typeface="Calibri"/>
                <a:ea typeface="Calibri"/>
                <a:cs typeface="Calibri"/>
              </a:rPr>
              <a:t>Measured on the official held-out split</a:t>
            </a:r>
          </a:p>
        </p:txBody>
      </p:sp>
      <p:sp>
        <p:nvSpPr>
          <p:cNvPr id="5" name="Pentagon 4">
            <a:extLst xmlns:a="http://schemas.openxmlformats.org/drawingml/2006/main">
              <a:ext uri="{FF2B5EF4-FFF2-40B4-BE49-F238E27FC236}">
                <a16:creationId xmlns:a16="http://schemas.microsoft.com/office/drawing/2014/main" id="{9CD9CADA-32D4-4F43-9C4F-B2443ECD2C91}"/>
              </a:ext>
            </a:extLst>
          </p:cNvPr>
          <p:cNvSpPr>
            <a:spLocks xmlns:a="http://schemas.openxmlformats.org/drawingml/2006/main" noGrp="1"/>
          </p:cNvSpPr>
          <p:nvPr/>
        </p:nvSpPr>
        <p:spPr>
          <a:xfrm xmlns:a="http://schemas.openxmlformats.org/drawingml/2006/main" rot="5400000">
            <a:off x="11201400" y="384048"/>
            <a:ext cx="384048" cy="384048"/>
          </a:xfrm>
          <a:prstGeom xmlns:a="http://schemas.openxmlformats.org/drawingml/2006/main" prst="homePlate">
            <a:avLst/>
          </a:prstGeom>
          <a:solidFill xmlns:a="http://schemas.openxmlformats.org/drawingml/2006/main">
            <a:srgbClr val="2DD4B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Rectangle 5">
            <a:extLst xmlns:a="http://schemas.openxmlformats.org/drawingml/2006/main">
              <a:ext uri="{FF2B5EF4-FFF2-40B4-BE49-F238E27FC236}">
                <a16:creationId xmlns:a16="http://schemas.microsoft.com/office/drawing/2014/main" id="{F19A08FF-1B60-4D0F-AF07-3E40E74A0956}"/>
              </a:ext>
            </a:extLst>
          </p:cNvPr>
          <p:cNvSpPr>
            <a:spLocks xmlns:a="http://schemas.openxmlformats.org/drawingml/2006/main" noGrp="1"/>
          </p:cNvSpPr>
          <p:nvPr/>
        </p:nvSpPr>
        <p:spPr>
          <a:xfrm xmlns:a="http://schemas.openxmlformats.org/drawingml/2006/main">
            <a:off x="11358860" y="453177"/>
            <a:ext cx="69128" cy="215066"/>
          </a:xfrm>
          <a:prstGeom xmlns:a="http://schemas.openxmlformats.org/drawingml/2006/main" prst="rect">
            <a:avLst/>
          </a:prstGeom>
          <a:solidFill xmlns:a="http://schemas.openxmlformats.org/drawingml/2006/main">
            <a:srgbClr val="14223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Rectangle 6">
            <a:extLst xmlns:a="http://schemas.openxmlformats.org/drawingml/2006/main">
              <a:ext uri="{FF2B5EF4-FFF2-40B4-BE49-F238E27FC236}">
                <a16:creationId xmlns:a16="http://schemas.microsoft.com/office/drawing/2014/main" id="{263A13D5-78E7-4C7D-A7A8-B52D8C770CAB}"/>
              </a:ext>
            </a:extLst>
          </p:cNvPr>
          <p:cNvSpPr>
            <a:spLocks xmlns:a="http://schemas.openxmlformats.org/drawingml/2006/main" noGrp="1"/>
          </p:cNvSpPr>
          <p:nvPr/>
        </p:nvSpPr>
        <p:spPr>
          <a:xfrm xmlns:a="http://schemas.openxmlformats.org/drawingml/2006/main">
            <a:off x="11285891" y="526146"/>
            <a:ext cx="215066" cy="69128"/>
          </a:xfrm>
          <a:prstGeom xmlns:a="http://schemas.openxmlformats.org/drawingml/2006/main" prst="rect">
            <a:avLst/>
          </a:prstGeom>
          <a:solidFill xmlns:a="http://schemas.openxmlformats.org/drawingml/2006/main">
            <a:srgbClr val="14223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 name="TextBox 7">
            <a:extLst xmlns:a="http://schemas.openxmlformats.org/drawingml/2006/main">
              <a:ext uri="{FF2B5EF4-FFF2-40B4-BE49-F238E27FC236}">
                <a16:creationId xmlns:a16="http://schemas.microsoft.com/office/drawing/2014/main" id="{71E880B7-F759-4C7C-B4D4-3E824262129B}"/>
              </a:ext>
            </a:extLst>
          </p:cNvPr>
          <p:cNvSpPr>
            <a:spLocks xmlns:a="http://schemas.openxmlformats.org/drawingml/2006/main" noGrp="1"/>
          </p:cNvSpPr>
          <p:nvPr/>
        </p:nvSpPr>
        <p:spPr>
          <a:xfrm xmlns:a="http://schemas.openxmlformats.org/drawingml/2006/main">
            <a:off x="640080" y="6446520"/>
            <a:ext cx="7315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buNone/>
              <a:defRPr>
                <a:solidFill>
                  <a:srgbClr val="CBD5E1"/>
                </a:solidFill>
              </a:defRPr>
            </a:pPr>
            <a:r>
              <a:rPr sz="1000" b="0">
                <a:solidFill>
                  <a:srgbClr val="CBD5E1"/>
                </a:solidFill>
                <a:latin typeface="Calibri"/>
                <a:ea typeface="Calibri"/>
                <a:cs typeface="Calibri"/>
              </a:rPr>
              <a:t>MediShield Health · Capstone review</a:t>
            </a:r>
          </a:p>
        </p:txBody>
      </p:sp>
      <p:sp>
        <p:nvSpPr>
          <p:cNvPr id="9" name="TextBox 8">
            <a:extLst xmlns:a="http://schemas.openxmlformats.org/drawingml/2006/main">
              <a:ext uri="{FF2B5EF4-FFF2-40B4-BE49-F238E27FC236}">
                <a16:creationId xmlns:a16="http://schemas.microsoft.com/office/drawing/2014/main" id="{A50FF5E3-8543-4255-B5DD-FB5736C58AC0}"/>
              </a:ext>
            </a:extLst>
          </p:cNvPr>
          <p:cNvSpPr>
            <a:spLocks xmlns:a="http://schemas.openxmlformats.org/drawingml/2006/main" noGrp="1"/>
          </p:cNvSpPr>
          <p:nvPr/>
        </p:nvSpPr>
        <p:spPr>
          <a:xfrm xmlns:a="http://schemas.openxmlformats.org/drawingml/2006/main">
            <a:off x="10881360" y="6446520"/>
            <a:ext cx="7315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r">
              <a:buNone/>
              <a:defRPr>
                <a:solidFill>
                  <a:srgbClr val="CBD5E1"/>
                </a:solidFill>
              </a:defRPr>
            </a:pPr>
            <a:r>
              <a:rPr sz="1000" b="0">
                <a:solidFill>
                  <a:srgbClr val="CBD5E1"/>
                </a:solidFill>
                <a:latin typeface="Calibri"/>
                <a:ea typeface="Calibri"/>
                <a:cs typeface="Calibri"/>
              </a:rPr>
              <a:t>5</a:t>
            </a:r>
          </a:p>
        </p:txBody>
      </p:sp>
      <p:sp>
        <p:nvSpPr>
          <p:cNvPr id="10" name="Rounded Rectangle 9">
            <a:extLst xmlns:a="http://schemas.openxmlformats.org/drawingml/2006/main">
              <a:ext uri="{FF2B5EF4-FFF2-40B4-BE49-F238E27FC236}">
                <a16:creationId xmlns:a16="http://schemas.microsoft.com/office/drawing/2014/main" id="{4AFAB189-B674-4043-94B9-D405BB469074}"/>
              </a:ext>
            </a:extLst>
          </p:cNvPr>
          <p:cNvSpPr>
            <a:spLocks xmlns:a="http://schemas.openxmlformats.org/drawingml/2006/main" noGrp="1"/>
          </p:cNvSpPr>
          <p:nvPr/>
        </p:nvSpPr>
        <p:spPr>
          <a:xfrm xmlns:a="http://schemas.openxmlformats.org/drawingml/2006/main">
            <a:off x="640080" y="1737360"/>
            <a:ext cx="3474720" cy="1783080"/>
          </a:xfrm>
          <a:prstGeom xmlns:a="http://schemas.openxmlformats.org/drawingml/2006/main" prst="roundRect">
            <a:avLst>
              <a:gd name="adj" fmla="val 8000"/>
            </a:avLst>
          </a:prstGeom>
          <a:solidFill xmlns:a="http://schemas.openxmlformats.org/drawingml/2006/main">
            <a:srgbClr val="142238"/>
          </a:solidFill>
          <a:ln xmlns:a="http://schemas.openxmlformats.org/drawingml/2006/main" w="12700">
            <a:solidFill>
              <a:srgbClr val="D8E4E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 name="TextBox 10">
            <a:extLst xmlns:a="http://schemas.openxmlformats.org/drawingml/2006/main">
              <a:ext uri="{FF2B5EF4-FFF2-40B4-BE49-F238E27FC236}">
                <a16:creationId xmlns:a16="http://schemas.microsoft.com/office/drawing/2014/main" id="{966ABCC6-4A1B-43F3-87AA-B8F16784E0EC}"/>
              </a:ext>
            </a:extLst>
          </p:cNvPr>
          <p:cNvSpPr>
            <a:spLocks xmlns:a="http://schemas.openxmlformats.org/drawingml/2006/main" noGrp="1"/>
          </p:cNvSpPr>
          <p:nvPr/>
        </p:nvSpPr>
        <p:spPr>
          <a:xfrm xmlns:a="http://schemas.openxmlformats.org/drawingml/2006/main">
            <a:off x="868680" y="1920240"/>
            <a:ext cx="301752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buNone/>
              <a:defRPr>
                <a:solidFill>
                  <a:srgbClr val="2DD4BF"/>
                </a:solidFill>
              </a:defRPr>
            </a:pPr>
            <a:r>
              <a:rPr sz="3400" b="1">
                <a:solidFill>
                  <a:srgbClr val="2DD4BF"/>
                </a:solidFill>
                <a:latin typeface="Calibri"/>
                <a:ea typeface="Calibri"/>
                <a:cs typeface="Calibri"/>
              </a:rPr>
              <a:t>100%</a:t>
            </a:r>
          </a:p>
        </p:txBody>
      </p:sp>
      <p:sp>
        <p:nvSpPr>
          <p:cNvPr id="12" name="TextBox 11">
            <a:extLst xmlns:a="http://schemas.openxmlformats.org/drawingml/2006/main">
              <a:ext uri="{FF2B5EF4-FFF2-40B4-BE49-F238E27FC236}">
                <a16:creationId xmlns:a16="http://schemas.microsoft.com/office/drawing/2014/main" id="{78B8C0F8-06A0-40FF-8019-7605D5F9AE88}"/>
              </a:ext>
            </a:extLst>
          </p:cNvPr>
          <p:cNvSpPr>
            <a:spLocks xmlns:a="http://schemas.openxmlformats.org/drawingml/2006/main" noGrp="1"/>
          </p:cNvSpPr>
          <p:nvPr/>
        </p:nvSpPr>
        <p:spPr>
          <a:xfrm xmlns:a="http://schemas.openxmlformats.org/drawingml/2006/main">
            <a:off x="868680" y="2606040"/>
            <a:ext cx="301752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buNone/>
              <a:defRPr>
                <a:solidFill>
                  <a:srgbClr val="F8FAFC"/>
                </a:solidFill>
              </a:defRPr>
            </a:pPr>
            <a:r>
              <a:rPr sz="1400" b="1">
                <a:solidFill>
                  <a:srgbClr val="F8FAFC"/>
                </a:solidFill>
                <a:latin typeface="Calibri"/>
                <a:ea typeface="Calibri"/>
                <a:cs typeface="Calibri"/>
              </a:rPr>
              <a:t>classification · 78 docs</a:t>
            </a:r>
          </a:p>
        </p:txBody>
      </p:sp>
      <p:sp>
        <p:nvSpPr>
          <p:cNvPr id="13" name="Rounded Rectangle 12">
            <a:extLst xmlns:a="http://schemas.openxmlformats.org/drawingml/2006/main">
              <a:ext uri="{FF2B5EF4-FFF2-40B4-BE49-F238E27FC236}">
                <a16:creationId xmlns:a16="http://schemas.microsoft.com/office/drawing/2014/main" id="{4FD2BEA3-3DDA-4989-94E6-F96B2331733D}"/>
              </a:ext>
            </a:extLst>
          </p:cNvPr>
          <p:cNvSpPr>
            <a:spLocks xmlns:a="http://schemas.openxmlformats.org/drawingml/2006/main" noGrp="1"/>
          </p:cNvSpPr>
          <p:nvPr/>
        </p:nvSpPr>
        <p:spPr>
          <a:xfrm xmlns:a="http://schemas.openxmlformats.org/drawingml/2006/main">
            <a:off x="4343400" y="1737360"/>
            <a:ext cx="3474720" cy="1783080"/>
          </a:xfrm>
          <a:prstGeom xmlns:a="http://schemas.openxmlformats.org/drawingml/2006/main" prst="roundRect">
            <a:avLst>
              <a:gd name="adj" fmla="val 8000"/>
            </a:avLst>
          </a:prstGeom>
          <a:solidFill xmlns:a="http://schemas.openxmlformats.org/drawingml/2006/main">
            <a:srgbClr val="142238"/>
          </a:solidFill>
          <a:ln xmlns:a="http://schemas.openxmlformats.org/drawingml/2006/main" w="12700">
            <a:solidFill>
              <a:srgbClr val="D8E4E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4" name="TextBox 13">
            <a:extLst xmlns:a="http://schemas.openxmlformats.org/drawingml/2006/main">
              <a:ext uri="{FF2B5EF4-FFF2-40B4-BE49-F238E27FC236}">
                <a16:creationId xmlns:a16="http://schemas.microsoft.com/office/drawing/2014/main" id="{6EC21E55-38F8-47C7-9DB1-80C2B6FFFEED}"/>
              </a:ext>
            </a:extLst>
          </p:cNvPr>
          <p:cNvSpPr>
            <a:spLocks xmlns:a="http://schemas.openxmlformats.org/drawingml/2006/main" noGrp="1"/>
          </p:cNvSpPr>
          <p:nvPr/>
        </p:nvSpPr>
        <p:spPr>
          <a:xfrm xmlns:a="http://schemas.openxmlformats.org/drawingml/2006/main">
            <a:off x="4572000" y="1920240"/>
            <a:ext cx="301752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buNone/>
              <a:defRPr>
                <a:solidFill>
                  <a:srgbClr val="2DD4BF"/>
                </a:solidFill>
              </a:defRPr>
            </a:pPr>
            <a:r>
              <a:rPr sz="3400" b="1">
                <a:solidFill>
                  <a:srgbClr val="2DD4BF"/>
                </a:solidFill>
                <a:latin typeface="Calibri"/>
                <a:ea typeface="Calibri"/>
                <a:cs typeface="Calibri"/>
              </a:rPr>
              <a:t>100%</a:t>
            </a:r>
          </a:p>
        </p:txBody>
      </p:sp>
      <p:sp>
        <p:nvSpPr>
          <p:cNvPr id="15" name="TextBox 14">
            <a:extLst xmlns:a="http://schemas.openxmlformats.org/drawingml/2006/main">
              <a:ext uri="{FF2B5EF4-FFF2-40B4-BE49-F238E27FC236}">
                <a16:creationId xmlns:a16="http://schemas.microsoft.com/office/drawing/2014/main" id="{11DD5F2D-5ABA-41B6-8ECA-CAD9CF4C12B7}"/>
              </a:ext>
            </a:extLst>
          </p:cNvPr>
          <p:cNvSpPr>
            <a:spLocks xmlns:a="http://schemas.openxmlformats.org/drawingml/2006/main" noGrp="1"/>
          </p:cNvSpPr>
          <p:nvPr/>
        </p:nvSpPr>
        <p:spPr>
          <a:xfrm xmlns:a="http://schemas.openxmlformats.org/drawingml/2006/main">
            <a:off x="4572000" y="2606040"/>
            <a:ext cx="301752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buNone/>
              <a:defRPr>
                <a:solidFill>
                  <a:srgbClr val="F8FAFC"/>
                </a:solidFill>
              </a:defRPr>
            </a:pPr>
            <a:r>
              <a:rPr sz="1400" b="1">
                <a:solidFill>
                  <a:srgbClr val="F8FAFC"/>
                </a:solidFill>
                <a:latin typeface="Calibri"/>
                <a:ea typeface="Calibri"/>
                <a:cs typeface="Calibri"/>
              </a:rPr>
              <a:t>94 required claim fields</a:t>
            </a:r>
          </a:p>
        </p:txBody>
      </p:sp>
      <p:sp>
        <p:nvSpPr>
          <p:cNvPr id="16" name="Rounded Rectangle 15">
            <a:extLst xmlns:a="http://schemas.openxmlformats.org/drawingml/2006/main">
              <a:ext uri="{FF2B5EF4-FFF2-40B4-BE49-F238E27FC236}">
                <a16:creationId xmlns:a16="http://schemas.microsoft.com/office/drawing/2014/main" id="{249DC937-31CA-46AC-A612-FFA4F920A0D1}"/>
              </a:ext>
            </a:extLst>
          </p:cNvPr>
          <p:cNvSpPr>
            <a:spLocks xmlns:a="http://schemas.openxmlformats.org/drawingml/2006/main" noGrp="1"/>
          </p:cNvSpPr>
          <p:nvPr/>
        </p:nvSpPr>
        <p:spPr>
          <a:xfrm xmlns:a="http://schemas.openxmlformats.org/drawingml/2006/main">
            <a:off x="8046719" y="1737360"/>
            <a:ext cx="3474720" cy="1783080"/>
          </a:xfrm>
          <a:prstGeom xmlns:a="http://schemas.openxmlformats.org/drawingml/2006/main" prst="roundRect">
            <a:avLst>
              <a:gd name="adj" fmla="val 8000"/>
            </a:avLst>
          </a:prstGeom>
          <a:solidFill xmlns:a="http://schemas.openxmlformats.org/drawingml/2006/main">
            <a:srgbClr val="142238"/>
          </a:solidFill>
          <a:ln xmlns:a="http://schemas.openxmlformats.org/drawingml/2006/main" w="12700">
            <a:solidFill>
              <a:srgbClr val="D8E4E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7" name="TextBox 16">
            <a:extLst xmlns:a="http://schemas.openxmlformats.org/drawingml/2006/main">
              <a:ext uri="{FF2B5EF4-FFF2-40B4-BE49-F238E27FC236}">
                <a16:creationId xmlns:a16="http://schemas.microsoft.com/office/drawing/2014/main" id="{A07C1923-DD71-4603-93CF-D8520FA5B557}"/>
              </a:ext>
            </a:extLst>
          </p:cNvPr>
          <p:cNvSpPr>
            <a:spLocks xmlns:a="http://schemas.openxmlformats.org/drawingml/2006/main" noGrp="1"/>
          </p:cNvSpPr>
          <p:nvPr/>
        </p:nvSpPr>
        <p:spPr>
          <a:xfrm xmlns:a="http://schemas.openxmlformats.org/drawingml/2006/main">
            <a:off x="8275319" y="1920240"/>
            <a:ext cx="301752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buNone/>
              <a:defRPr>
                <a:solidFill>
                  <a:srgbClr val="2DD4BF"/>
                </a:solidFill>
              </a:defRPr>
            </a:pPr>
            <a:r>
              <a:rPr sz="3400" b="1">
                <a:solidFill>
                  <a:srgbClr val="2DD4BF"/>
                </a:solidFill>
                <a:latin typeface="Calibri"/>
                <a:ea typeface="Calibri"/>
                <a:cs typeface="Calibri"/>
              </a:rPr>
              <a:t>100%</a:t>
            </a:r>
          </a:p>
        </p:txBody>
      </p:sp>
      <p:sp>
        <p:nvSpPr>
          <p:cNvPr id="18" name="TextBox 17">
            <a:extLst xmlns:a="http://schemas.openxmlformats.org/drawingml/2006/main">
              <a:ext uri="{FF2B5EF4-FFF2-40B4-BE49-F238E27FC236}">
                <a16:creationId xmlns:a16="http://schemas.microsoft.com/office/drawing/2014/main" id="{FF63B450-7F8F-40F1-A336-5ED52BDCD45B}"/>
              </a:ext>
            </a:extLst>
          </p:cNvPr>
          <p:cNvSpPr>
            <a:spLocks xmlns:a="http://schemas.openxmlformats.org/drawingml/2006/main" noGrp="1"/>
          </p:cNvSpPr>
          <p:nvPr/>
        </p:nvSpPr>
        <p:spPr>
          <a:xfrm xmlns:a="http://schemas.openxmlformats.org/drawingml/2006/main">
            <a:off x="8275319" y="2606040"/>
            <a:ext cx="301752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buNone/>
              <a:defRPr>
                <a:solidFill>
                  <a:srgbClr val="F8FAFC"/>
                </a:solidFill>
              </a:defRPr>
            </a:pPr>
            <a:r>
              <a:rPr sz="1400" b="1">
                <a:solidFill>
                  <a:srgbClr val="F8FAFC"/>
                </a:solidFill>
                <a:latin typeface="Calibri"/>
                <a:ea typeface="Calibri"/>
                <a:cs typeface="Calibri"/>
              </a:rPr>
              <a:t>Recall@3 · 44 expected queries</a:t>
            </a:r>
          </a:p>
        </p:txBody>
      </p:sp>
      <p:sp>
        <p:nvSpPr>
          <p:cNvPr id="19" name="Rounded Rectangle 18">
            <a:extLst xmlns:a="http://schemas.openxmlformats.org/drawingml/2006/main">
              <a:ext uri="{FF2B5EF4-FFF2-40B4-BE49-F238E27FC236}">
                <a16:creationId xmlns:a16="http://schemas.microsoft.com/office/drawing/2014/main" id="{AD8DCA27-7422-4CBD-8597-4FEF20245871}"/>
              </a:ext>
            </a:extLst>
          </p:cNvPr>
          <p:cNvSpPr>
            <a:spLocks xmlns:a="http://schemas.openxmlformats.org/drawingml/2006/main" noGrp="1"/>
          </p:cNvSpPr>
          <p:nvPr/>
        </p:nvSpPr>
        <p:spPr>
          <a:xfrm xmlns:a="http://schemas.openxmlformats.org/drawingml/2006/main">
            <a:off x="640080" y="3749039"/>
            <a:ext cx="3474720" cy="1783080"/>
          </a:xfrm>
          <a:prstGeom xmlns:a="http://schemas.openxmlformats.org/drawingml/2006/main" prst="roundRect">
            <a:avLst>
              <a:gd name="adj" fmla="val 8000"/>
            </a:avLst>
          </a:prstGeom>
          <a:solidFill xmlns:a="http://schemas.openxmlformats.org/drawingml/2006/main">
            <a:srgbClr val="142238"/>
          </a:solidFill>
          <a:ln xmlns:a="http://schemas.openxmlformats.org/drawingml/2006/main" w="12700">
            <a:solidFill>
              <a:srgbClr val="D8E4E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0" name="TextBox 19">
            <a:extLst xmlns:a="http://schemas.openxmlformats.org/drawingml/2006/main">
              <a:ext uri="{FF2B5EF4-FFF2-40B4-BE49-F238E27FC236}">
                <a16:creationId xmlns:a16="http://schemas.microsoft.com/office/drawing/2014/main" id="{8121A8CA-765A-4877-A951-C75CDA7A852F}"/>
              </a:ext>
            </a:extLst>
          </p:cNvPr>
          <p:cNvSpPr>
            <a:spLocks xmlns:a="http://schemas.openxmlformats.org/drawingml/2006/main" noGrp="1"/>
          </p:cNvSpPr>
          <p:nvPr/>
        </p:nvSpPr>
        <p:spPr>
          <a:xfrm xmlns:a="http://schemas.openxmlformats.org/drawingml/2006/main">
            <a:off x="868680" y="3931919"/>
            <a:ext cx="301752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buNone/>
              <a:defRPr>
                <a:solidFill>
                  <a:srgbClr val="2DD4BF"/>
                </a:solidFill>
              </a:defRPr>
            </a:pPr>
            <a:r>
              <a:rPr sz="3400" b="1">
                <a:solidFill>
                  <a:srgbClr val="2DD4BF"/>
                </a:solidFill>
                <a:latin typeface="Calibri"/>
                <a:ea typeface="Calibri"/>
                <a:cs typeface="Calibri"/>
              </a:rPr>
              <a:t>96.2%</a:t>
            </a:r>
          </a:p>
        </p:txBody>
      </p:sp>
      <p:sp>
        <p:nvSpPr>
          <p:cNvPr id="21" name="TextBox 20">
            <a:extLst xmlns:a="http://schemas.openxmlformats.org/drawingml/2006/main">
              <a:ext uri="{FF2B5EF4-FFF2-40B4-BE49-F238E27FC236}">
                <a16:creationId xmlns:a16="http://schemas.microsoft.com/office/drawing/2014/main" id="{71AE2300-5A09-4964-92CA-B10ED20A814B}"/>
              </a:ext>
            </a:extLst>
          </p:cNvPr>
          <p:cNvSpPr>
            <a:spLocks xmlns:a="http://schemas.openxmlformats.org/drawingml/2006/main" noGrp="1"/>
          </p:cNvSpPr>
          <p:nvPr/>
        </p:nvSpPr>
        <p:spPr>
          <a:xfrm xmlns:a="http://schemas.openxmlformats.org/drawingml/2006/main">
            <a:off x="868680" y="4617719"/>
            <a:ext cx="301752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buNone/>
              <a:defRPr>
                <a:solidFill>
                  <a:srgbClr val="F8FAFC"/>
                </a:solidFill>
              </a:defRPr>
            </a:pPr>
            <a:r>
              <a:rPr sz="1400" b="1">
                <a:solidFill>
                  <a:srgbClr val="F8FAFC"/>
                </a:solidFill>
                <a:latin typeface="Calibri"/>
                <a:ea typeface="Calibri"/>
                <a:cs typeface="Calibri"/>
              </a:rPr>
              <a:t>all 78 document labels</a:t>
            </a:r>
          </a:p>
        </p:txBody>
      </p:sp>
      <p:sp>
        <p:nvSpPr>
          <p:cNvPr id="22" name="Rounded Rectangle 21">
            <a:extLst xmlns:a="http://schemas.openxmlformats.org/drawingml/2006/main">
              <a:ext uri="{FF2B5EF4-FFF2-40B4-BE49-F238E27FC236}">
                <a16:creationId xmlns:a16="http://schemas.microsoft.com/office/drawing/2014/main" id="{6C843734-825F-42A4-BC68-920C574FFDEA}"/>
              </a:ext>
            </a:extLst>
          </p:cNvPr>
          <p:cNvSpPr>
            <a:spLocks xmlns:a="http://schemas.openxmlformats.org/drawingml/2006/main" noGrp="1"/>
          </p:cNvSpPr>
          <p:nvPr/>
        </p:nvSpPr>
        <p:spPr>
          <a:xfrm xmlns:a="http://schemas.openxmlformats.org/drawingml/2006/main">
            <a:off x="4343400" y="3749039"/>
            <a:ext cx="3474720" cy="1783080"/>
          </a:xfrm>
          <a:prstGeom xmlns:a="http://schemas.openxmlformats.org/drawingml/2006/main" prst="roundRect">
            <a:avLst>
              <a:gd name="adj" fmla="val 8000"/>
            </a:avLst>
          </a:prstGeom>
          <a:solidFill xmlns:a="http://schemas.openxmlformats.org/drawingml/2006/main">
            <a:srgbClr val="142238"/>
          </a:solidFill>
          <a:ln xmlns:a="http://schemas.openxmlformats.org/drawingml/2006/main" w="12700">
            <a:solidFill>
              <a:srgbClr val="D8E4E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3" name="TextBox 22">
            <a:extLst xmlns:a="http://schemas.openxmlformats.org/drawingml/2006/main">
              <a:ext uri="{FF2B5EF4-FFF2-40B4-BE49-F238E27FC236}">
                <a16:creationId xmlns:a16="http://schemas.microsoft.com/office/drawing/2014/main" id="{C7F9F580-E1B1-4589-87E9-3E38599DA760}"/>
              </a:ext>
            </a:extLst>
          </p:cNvPr>
          <p:cNvSpPr>
            <a:spLocks xmlns:a="http://schemas.openxmlformats.org/drawingml/2006/main" noGrp="1"/>
          </p:cNvSpPr>
          <p:nvPr/>
        </p:nvSpPr>
        <p:spPr>
          <a:xfrm xmlns:a="http://schemas.openxmlformats.org/drawingml/2006/main">
            <a:off x="4572000" y="3931919"/>
            <a:ext cx="301752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buNone/>
              <a:defRPr>
                <a:solidFill>
                  <a:srgbClr val="2DD4BF"/>
                </a:solidFill>
              </a:defRPr>
            </a:pPr>
            <a:r>
              <a:rPr sz="3400" b="1">
                <a:solidFill>
                  <a:srgbClr val="2DD4BF"/>
                </a:solidFill>
                <a:latin typeface="Calibri"/>
                <a:ea typeface="Calibri"/>
                <a:cs typeface="Calibri"/>
              </a:rPr>
              <a:t>88.2%</a:t>
            </a:r>
          </a:p>
        </p:txBody>
      </p:sp>
      <p:sp>
        <p:nvSpPr>
          <p:cNvPr id="24" name="TextBox 23">
            <a:extLst xmlns:a="http://schemas.openxmlformats.org/drawingml/2006/main">
              <a:ext uri="{FF2B5EF4-FFF2-40B4-BE49-F238E27FC236}">
                <a16:creationId xmlns:a16="http://schemas.microsoft.com/office/drawing/2014/main" id="{9FB7817B-35A8-4C85-AAF9-0A8F88FA16E4}"/>
              </a:ext>
            </a:extLst>
          </p:cNvPr>
          <p:cNvSpPr>
            <a:spLocks xmlns:a="http://schemas.openxmlformats.org/drawingml/2006/main" noGrp="1"/>
          </p:cNvSpPr>
          <p:nvPr/>
        </p:nvSpPr>
        <p:spPr>
          <a:xfrm xmlns:a="http://schemas.openxmlformats.org/drawingml/2006/main">
            <a:off x="4572000" y="4617719"/>
            <a:ext cx="301752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buNone/>
              <a:defRPr>
                <a:solidFill>
                  <a:srgbClr val="F8FAFC"/>
                </a:solidFill>
              </a:defRPr>
            </a:pPr>
            <a:r>
              <a:rPr sz="1400" b="1">
                <a:solidFill>
                  <a:srgbClr val="F8FAFC"/>
                </a:solidFill>
                <a:latin typeface="Calibri"/>
                <a:ea typeface="Calibri"/>
                <a:cs typeface="Calibri"/>
              </a:rPr>
              <a:t>17 case decisions</a:t>
            </a:r>
          </a:p>
        </p:txBody>
      </p:sp>
      <p:sp>
        <p:nvSpPr>
          <p:cNvPr id="25" name="Rounded Rectangle 24">
            <a:extLst xmlns:a="http://schemas.openxmlformats.org/drawingml/2006/main">
              <a:ext uri="{FF2B5EF4-FFF2-40B4-BE49-F238E27FC236}">
                <a16:creationId xmlns:a16="http://schemas.microsoft.com/office/drawing/2014/main" id="{0DBFA790-511C-443F-9198-5AA23152A513}"/>
              </a:ext>
            </a:extLst>
          </p:cNvPr>
          <p:cNvSpPr>
            <a:spLocks xmlns:a="http://schemas.openxmlformats.org/drawingml/2006/main" noGrp="1"/>
          </p:cNvSpPr>
          <p:nvPr/>
        </p:nvSpPr>
        <p:spPr>
          <a:xfrm xmlns:a="http://schemas.openxmlformats.org/drawingml/2006/main">
            <a:off x="8046719" y="3749039"/>
            <a:ext cx="3474720" cy="1783080"/>
          </a:xfrm>
          <a:prstGeom xmlns:a="http://schemas.openxmlformats.org/drawingml/2006/main" prst="roundRect">
            <a:avLst>
              <a:gd name="adj" fmla="val 8000"/>
            </a:avLst>
          </a:prstGeom>
          <a:solidFill xmlns:a="http://schemas.openxmlformats.org/drawingml/2006/main">
            <a:srgbClr val="142238"/>
          </a:solidFill>
          <a:ln xmlns:a="http://schemas.openxmlformats.org/drawingml/2006/main" w="12700">
            <a:solidFill>
              <a:srgbClr val="D8E4E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6" name="TextBox 25">
            <a:extLst xmlns:a="http://schemas.openxmlformats.org/drawingml/2006/main">
              <a:ext uri="{FF2B5EF4-FFF2-40B4-BE49-F238E27FC236}">
                <a16:creationId xmlns:a16="http://schemas.microsoft.com/office/drawing/2014/main" id="{F41D8351-E219-44F3-8A30-B9DE182A953E}"/>
              </a:ext>
            </a:extLst>
          </p:cNvPr>
          <p:cNvSpPr>
            <a:spLocks xmlns:a="http://schemas.openxmlformats.org/drawingml/2006/main" noGrp="1"/>
          </p:cNvSpPr>
          <p:nvPr/>
        </p:nvSpPr>
        <p:spPr>
          <a:xfrm xmlns:a="http://schemas.openxmlformats.org/drawingml/2006/main">
            <a:off x="8275319" y="3931919"/>
            <a:ext cx="301752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buNone/>
              <a:defRPr>
                <a:solidFill>
                  <a:srgbClr val="5EE3A0"/>
                </a:solidFill>
              </a:defRPr>
            </a:pPr>
            <a:r>
              <a:rPr sz="3400" b="1">
                <a:solidFill>
                  <a:srgbClr val="5EE3A0"/>
                </a:solidFill>
                <a:latin typeface="Calibri"/>
                <a:ea typeface="Calibri"/>
                <a:cs typeface="Calibri"/>
              </a:rPr>
              <a:t>100%</a:t>
            </a:r>
          </a:p>
        </p:txBody>
      </p:sp>
      <p:sp>
        <p:nvSpPr>
          <p:cNvPr id="27" name="TextBox 26">
            <a:extLst xmlns:a="http://schemas.openxmlformats.org/drawingml/2006/main">
              <a:ext uri="{FF2B5EF4-FFF2-40B4-BE49-F238E27FC236}">
                <a16:creationId xmlns:a16="http://schemas.microsoft.com/office/drawing/2014/main" id="{349F74D4-DF1A-42EB-8D7A-2C3869400CB7}"/>
              </a:ext>
            </a:extLst>
          </p:cNvPr>
          <p:cNvSpPr>
            <a:spLocks xmlns:a="http://schemas.openxmlformats.org/drawingml/2006/main" noGrp="1"/>
          </p:cNvSpPr>
          <p:nvPr/>
        </p:nvSpPr>
        <p:spPr>
          <a:xfrm xmlns:a="http://schemas.openxmlformats.org/drawingml/2006/main">
            <a:off x="8275319" y="4617719"/>
            <a:ext cx="301752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buNone/>
              <a:defRPr>
                <a:solidFill>
                  <a:srgbClr val="F8FAFC"/>
                </a:solidFill>
              </a:defRPr>
            </a:pPr>
            <a:r>
              <a:rPr sz="1400" b="1">
                <a:solidFill>
                  <a:srgbClr val="F8FAFC"/>
                </a:solidFill>
                <a:latin typeface="Calibri"/>
                <a:ea typeface="Calibri"/>
                <a:cs typeface="Calibri"/>
              </a:rPr>
              <a:t>75 visible-label documents</a:t>
            </a:r>
          </a:p>
        </p:txBody>
      </p:sp>
      <p:sp>
        <p:nvSpPr>
          <p:cNvPr id="28" name="TextBox 27">
            <a:extLst xmlns:a="http://schemas.openxmlformats.org/drawingml/2006/main">
              <a:ext uri="{FF2B5EF4-FFF2-40B4-BE49-F238E27FC236}">
                <a16:creationId xmlns:a16="http://schemas.microsoft.com/office/drawing/2014/main" id="{7F631355-EDDD-45C7-B76C-999CCE22A3DE}"/>
              </a:ext>
            </a:extLst>
          </p:cNvPr>
          <p:cNvSpPr>
            <a:spLocks xmlns:a="http://schemas.openxmlformats.org/drawingml/2006/main" noGrp="1"/>
          </p:cNvSpPr>
          <p:nvPr/>
        </p:nvSpPr>
        <p:spPr>
          <a:xfrm xmlns:a="http://schemas.openxmlformats.org/drawingml/2006/main">
            <a:off x="640080" y="5897880"/>
            <a:ext cx="108813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buNone/>
              <a:defRPr>
                <a:solidFill>
                  <a:srgbClr val="CBD5E1"/>
                </a:solidFill>
              </a:defRPr>
            </a:pPr>
            <a:r>
              <a:rPr sz="1300" b="0">
                <a:solidFill>
                  <a:srgbClr val="CBD5E1"/>
                </a:solidFill>
                <a:latin typeface="Calibri"/>
                <a:ea typeface="Calibri"/>
                <a:cs typeface="Calibri"/>
              </a:rPr>
              <a:t>Synthetic data · OCR-first replay · 114/133 model calls cached · not a production accuracy estimate</a:t>
            </a:r>
          </a:p>
        </p:txBody>
      </p:sp>
    </p:spTree>
    <p:extLst>
      <p:ext uri="{BB962C8B-B14F-4D97-AF65-F5344CB8AC3E}">
        <p14:creationId xmlns:p14="http://schemas.microsoft.com/office/powerpoint/2010/main" val="1627924936"/>
      </p:ext>
    </p:extLst>
  </p:cSld>
</p:sld>
</file>

<file path=ppt/slides/slide6.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72A01D76-E71A-49F7-9769-EC63FFF2630C}"/>
              </a:ext>
            </a:extLst>
          </p:cNvPr>
          <p:cNvSpPr>
            <a:spLocks xmlns:a="http://schemas.openxmlformats.org/drawingml/2006/main" noGrp="1"/>
          </p:cNvSpPr>
          <p:nvPr/>
        </p:nvSpPr>
        <p:spPr>
          <a:xfrm xmlns:a="http://schemas.openxmlformats.org/drawingml/2006/main">
            <a:off x="0" y="0"/>
            <a:ext cx="12191695" cy="109728"/>
          </a:xfrm>
          <a:prstGeom xmlns:a="http://schemas.openxmlformats.org/drawingml/2006/main" prst="rect">
            <a:avLst/>
          </a:prstGeom>
          <a:solidFill xmlns:a="http://schemas.openxmlformats.org/drawingml/2006/main">
            <a:srgbClr val="2DD4B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34067AA4-09F6-46CD-9B1D-419E314BA980}"/>
              </a:ext>
            </a:extLst>
          </p:cNvPr>
          <p:cNvSpPr>
            <a:spLocks xmlns:a="http://schemas.openxmlformats.org/drawingml/2006/main" noGrp="1"/>
          </p:cNvSpPr>
          <p:nvPr/>
        </p:nvSpPr>
        <p:spPr>
          <a:xfrm xmlns:a="http://schemas.openxmlformats.org/drawingml/2006/main">
            <a:off x="640080" y="411480"/>
            <a:ext cx="91440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buNone/>
              <a:defRPr>
                <a:solidFill>
                  <a:srgbClr val="2DD4BF"/>
                </a:solidFill>
              </a:defRPr>
            </a:pPr>
            <a:r>
              <a:rPr sz="1200" b="1">
                <a:solidFill>
                  <a:srgbClr val="2DD4BF"/>
                </a:solidFill>
                <a:latin typeface="Calibri"/>
                <a:ea typeface="Calibri"/>
                <a:cs typeface="Calibri"/>
              </a:rPr>
              <a:t>SAFETY AND REVIEW</a:t>
            </a:r>
          </a:p>
        </p:txBody>
      </p:sp>
      <p:sp>
        <p:nvSpPr>
          <p:cNvPr id="4" name="TextBox 3">
            <a:extLst xmlns:a="http://schemas.openxmlformats.org/drawingml/2006/main">
              <a:ext uri="{FF2B5EF4-FFF2-40B4-BE49-F238E27FC236}">
                <a16:creationId xmlns:a16="http://schemas.microsoft.com/office/drawing/2014/main" id="{F8529278-4005-499C-BAAE-0D866C4A65C7}"/>
              </a:ext>
            </a:extLst>
          </p:cNvPr>
          <p:cNvSpPr>
            <a:spLocks xmlns:a="http://schemas.openxmlformats.org/drawingml/2006/main" noGrp="1"/>
          </p:cNvSpPr>
          <p:nvPr/>
        </p:nvSpPr>
        <p:spPr>
          <a:xfrm xmlns:a="http://schemas.openxmlformats.org/drawingml/2006/main">
            <a:off x="640080" y="685800"/>
            <a:ext cx="1097280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buNone/>
              <a:defRPr>
                <a:solidFill>
                  <a:srgbClr val="F8FAFC"/>
                </a:solidFill>
              </a:defRPr>
            </a:pPr>
            <a:r>
              <a:rPr sz="3200" b="1">
                <a:solidFill>
                  <a:srgbClr val="F8FAFC"/>
                </a:solidFill>
                <a:latin typeface="Calibri"/>
                <a:ea typeface="Calibri"/>
                <a:cs typeface="Calibri"/>
              </a:rPr>
              <a:t>Controls are implemented; limits are visible</a:t>
            </a:r>
          </a:p>
        </p:txBody>
      </p:sp>
      <p:sp>
        <p:nvSpPr>
          <p:cNvPr id="5" name="Pentagon 4">
            <a:extLst xmlns:a="http://schemas.openxmlformats.org/drawingml/2006/main">
              <a:ext uri="{FF2B5EF4-FFF2-40B4-BE49-F238E27FC236}">
                <a16:creationId xmlns:a16="http://schemas.microsoft.com/office/drawing/2014/main" id="{E15FA232-13CD-4280-BF50-AAC11428FA85}"/>
              </a:ext>
            </a:extLst>
          </p:cNvPr>
          <p:cNvSpPr>
            <a:spLocks xmlns:a="http://schemas.openxmlformats.org/drawingml/2006/main" noGrp="1"/>
          </p:cNvSpPr>
          <p:nvPr/>
        </p:nvSpPr>
        <p:spPr>
          <a:xfrm xmlns:a="http://schemas.openxmlformats.org/drawingml/2006/main" rot="5400000">
            <a:off x="11201400" y="384048"/>
            <a:ext cx="384048" cy="384048"/>
          </a:xfrm>
          <a:prstGeom xmlns:a="http://schemas.openxmlformats.org/drawingml/2006/main" prst="homePlate">
            <a:avLst/>
          </a:prstGeom>
          <a:solidFill xmlns:a="http://schemas.openxmlformats.org/drawingml/2006/main">
            <a:srgbClr val="2DD4B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Rectangle 5">
            <a:extLst xmlns:a="http://schemas.openxmlformats.org/drawingml/2006/main">
              <a:ext uri="{FF2B5EF4-FFF2-40B4-BE49-F238E27FC236}">
                <a16:creationId xmlns:a16="http://schemas.microsoft.com/office/drawing/2014/main" id="{0FB2F97F-CE1F-4000-A9EE-FF3776FA172B}"/>
              </a:ext>
            </a:extLst>
          </p:cNvPr>
          <p:cNvSpPr>
            <a:spLocks xmlns:a="http://schemas.openxmlformats.org/drawingml/2006/main" noGrp="1"/>
          </p:cNvSpPr>
          <p:nvPr/>
        </p:nvSpPr>
        <p:spPr>
          <a:xfrm xmlns:a="http://schemas.openxmlformats.org/drawingml/2006/main">
            <a:off x="11358860" y="453177"/>
            <a:ext cx="69128" cy="215066"/>
          </a:xfrm>
          <a:prstGeom xmlns:a="http://schemas.openxmlformats.org/drawingml/2006/main" prst="rect">
            <a:avLst/>
          </a:prstGeom>
          <a:solidFill xmlns:a="http://schemas.openxmlformats.org/drawingml/2006/main">
            <a:srgbClr val="14223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Rectangle 6">
            <a:extLst xmlns:a="http://schemas.openxmlformats.org/drawingml/2006/main">
              <a:ext uri="{FF2B5EF4-FFF2-40B4-BE49-F238E27FC236}">
                <a16:creationId xmlns:a16="http://schemas.microsoft.com/office/drawing/2014/main" id="{D75501E6-B659-45A4-9F6E-C30ADD9CEF4A}"/>
              </a:ext>
            </a:extLst>
          </p:cNvPr>
          <p:cNvSpPr>
            <a:spLocks xmlns:a="http://schemas.openxmlformats.org/drawingml/2006/main" noGrp="1"/>
          </p:cNvSpPr>
          <p:nvPr/>
        </p:nvSpPr>
        <p:spPr>
          <a:xfrm xmlns:a="http://schemas.openxmlformats.org/drawingml/2006/main">
            <a:off x="11285891" y="526146"/>
            <a:ext cx="215066" cy="69128"/>
          </a:xfrm>
          <a:prstGeom xmlns:a="http://schemas.openxmlformats.org/drawingml/2006/main" prst="rect">
            <a:avLst/>
          </a:prstGeom>
          <a:solidFill xmlns:a="http://schemas.openxmlformats.org/drawingml/2006/main">
            <a:srgbClr val="14223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 name="TextBox 7">
            <a:extLst xmlns:a="http://schemas.openxmlformats.org/drawingml/2006/main">
              <a:ext uri="{FF2B5EF4-FFF2-40B4-BE49-F238E27FC236}">
                <a16:creationId xmlns:a16="http://schemas.microsoft.com/office/drawing/2014/main" id="{62CDE27D-C2B5-4508-9AE3-7B53776DDA46}"/>
              </a:ext>
            </a:extLst>
          </p:cNvPr>
          <p:cNvSpPr>
            <a:spLocks xmlns:a="http://schemas.openxmlformats.org/drawingml/2006/main" noGrp="1"/>
          </p:cNvSpPr>
          <p:nvPr/>
        </p:nvSpPr>
        <p:spPr>
          <a:xfrm xmlns:a="http://schemas.openxmlformats.org/drawingml/2006/main">
            <a:off x="640080" y="6446520"/>
            <a:ext cx="7315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buNone/>
              <a:defRPr>
                <a:solidFill>
                  <a:srgbClr val="CBD5E1"/>
                </a:solidFill>
              </a:defRPr>
            </a:pPr>
            <a:r>
              <a:rPr sz="1000" b="0">
                <a:solidFill>
                  <a:srgbClr val="CBD5E1"/>
                </a:solidFill>
                <a:latin typeface="Calibri"/>
                <a:ea typeface="Calibri"/>
                <a:cs typeface="Calibri"/>
              </a:rPr>
              <a:t>MediShield Health · Capstone review</a:t>
            </a:r>
          </a:p>
        </p:txBody>
      </p:sp>
      <p:sp>
        <p:nvSpPr>
          <p:cNvPr id="9" name="TextBox 8">
            <a:extLst xmlns:a="http://schemas.openxmlformats.org/drawingml/2006/main">
              <a:ext uri="{FF2B5EF4-FFF2-40B4-BE49-F238E27FC236}">
                <a16:creationId xmlns:a16="http://schemas.microsoft.com/office/drawing/2014/main" id="{41E09E46-331E-4B6E-BDE5-2FF13CFC318D}"/>
              </a:ext>
            </a:extLst>
          </p:cNvPr>
          <p:cNvSpPr>
            <a:spLocks xmlns:a="http://schemas.openxmlformats.org/drawingml/2006/main" noGrp="1"/>
          </p:cNvSpPr>
          <p:nvPr/>
        </p:nvSpPr>
        <p:spPr>
          <a:xfrm xmlns:a="http://schemas.openxmlformats.org/drawingml/2006/main">
            <a:off x="10881360" y="6446520"/>
            <a:ext cx="7315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r">
              <a:buNone/>
              <a:defRPr>
                <a:solidFill>
                  <a:srgbClr val="CBD5E1"/>
                </a:solidFill>
              </a:defRPr>
            </a:pPr>
            <a:r>
              <a:rPr sz="1000" b="0">
                <a:solidFill>
                  <a:srgbClr val="CBD5E1"/>
                </a:solidFill>
                <a:latin typeface="Calibri"/>
                <a:ea typeface="Calibri"/>
                <a:cs typeface="Calibri"/>
              </a:rPr>
              <a:t>6</a:t>
            </a:r>
          </a:p>
        </p:txBody>
      </p:sp>
      <p:sp>
        <p:nvSpPr>
          <p:cNvPr id="10" name="Rounded Rectangle 9">
            <a:extLst xmlns:a="http://schemas.openxmlformats.org/drawingml/2006/main">
              <a:ext uri="{FF2B5EF4-FFF2-40B4-BE49-F238E27FC236}">
                <a16:creationId xmlns:a16="http://schemas.microsoft.com/office/drawing/2014/main" id="{F827C51C-E62E-4DEF-86EC-BC2D9A001A7A}"/>
              </a:ext>
            </a:extLst>
          </p:cNvPr>
          <p:cNvSpPr>
            <a:spLocks xmlns:a="http://schemas.openxmlformats.org/drawingml/2006/main" noGrp="1"/>
          </p:cNvSpPr>
          <p:nvPr/>
        </p:nvSpPr>
        <p:spPr>
          <a:xfrm xmlns:a="http://schemas.openxmlformats.org/drawingml/2006/main">
            <a:off x="640080" y="1737360"/>
            <a:ext cx="3474720" cy="1828800"/>
          </a:xfrm>
          <a:prstGeom xmlns:a="http://schemas.openxmlformats.org/drawingml/2006/main" prst="roundRect">
            <a:avLst>
              <a:gd name="adj" fmla="val 8000"/>
            </a:avLst>
          </a:prstGeom>
          <a:solidFill xmlns:a="http://schemas.openxmlformats.org/drawingml/2006/main">
            <a:srgbClr val="142238"/>
          </a:solidFill>
          <a:ln xmlns:a="http://schemas.openxmlformats.org/drawingml/2006/main" w="12700">
            <a:solidFill>
              <a:srgbClr val="D8E4E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 name="TextBox 10">
            <a:extLst xmlns:a="http://schemas.openxmlformats.org/drawingml/2006/main">
              <a:ext uri="{FF2B5EF4-FFF2-40B4-BE49-F238E27FC236}">
                <a16:creationId xmlns:a16="http://schemas.microsoft.com/office/drawing/2014/main" id="{9DC529B4-AD29-4773-B553-6D2C3CBE9825}"/>
              </a:ext>
            </a:extLst>
          </p:cNvPr>
          <p:cNvSpPr>
            <a:spLocks xmlns:a="http://schemas.openxmlformats.org/drawingml/2006/main" noGrp="1"/>
          </p:cNvSpPr>
          <p:nvPr/>
        </p:nvSpPr>
        <p:spPr>
          <a:xfrm xmlns:a="http://schemas.openxmlformats.org/drawingml/2006/main">
            <a:off x="914400" y="2011680"/>
            <a:ext cx="292608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buNone/>
              <a:defRPr>
                <a:solidFill>
                  <a:srgbClr val="F8FAFC"/>
                </a:solidFill>
              </a:defRPr>
            </a:pPr>
            <a:r>
              <a:rPr sz="2000" b="1">
                <a:solidFill>
                  <a:srgbClr val="F8FAFC"/>
                </a:solidFill>
                <a:latin typeface="Calibri"/>
                <a:ea typeface="Calibri"/>
                <a:cs typeface="Calibri"/>
              </a:rPr>
              <a:t>Role-based access</a:t>
            </a:r>
          </a:p>
        </p:txBody>
      </p:sp>
      <p:sp>
        <p:nvSpPr>
          <p:cNvPr id="12" name="TextBox 11">
            <a:extLst xmlns:a="http://schemas.openxmlformats.org/drawingml/2006/main">
              <a:ext uri="{FF2B5EF4-FFF2-40B4-BE49-F238E27FC236}">
                <a16:creationId xmlns:a16="http://schemas.microsoft.com/office/drawing/2014/main" id="{80735A03-024D-4B95-90F3-32C36DEAA0E0}"/>
              </a:ext>
            </a:extLst>
          </p:cNvPr>
          <p:cNvSpPr>
            <a:spLocks xmlns:a="http://schemas.openxmlformats.org/drawingml/2006/main" noGrp="1"/>
          </p:cNvSpPr>
          <p:nvPr/>
        </p:nvSpPr>
        <p:spPr>
          <a:xfrm xmlns:a="http://schemas.openxmlformats.org/drawingml/2006/main">
            <a:off x="914400" y="2560320"/>
            <a:ext cx="292608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buNone/>
              <a:defRPr>
                <a:solidFill>
                  <a:srgbClr val="CBD5E1"/>
                </a:solidFill>
              </a:defRPr>
            </a:pPr>
            <a:r>
              <a:rPr sz="1500" b="0">
                <a:solidFill>
                  <a:srgbClr val="CBD5E1"/>
                </a:solidFill>
                <a:latin typeface="Calibri"/>
                <a:ea typeface="Calibri"/>
                <a:cs typeface="Calibri"/>
              </a:rPr>
              <a:t>Enforced at the data</a:t>
            </a:r>
          </a:p>
        </p:txBody>
      </p:sp>
      <p:sp>
        <p:nvSpPr>
          <p:cNvPr id="13" name="Rounded Rectangle 12">
            <a:extLst xmlns:a="http://schemas.openxmlformats.org/drawingml/2006/main">
              <a:ext uri="{FF2B5EF4-FFF2-40B4-BE49-F238E27FC236}">
                <a16:creationId xmlns:a16="http://schemas.microsoft.com/office/drawing/2014/main" id="{E032F58F-0A64-4A2D-B5B0-EA24B6C6A5CB}"/>
              </a:ext>
            </a:extLst>
          </p:cNvPr>
          <p:cNvSpPr>
            <a:spLocks xmlns:a="http://schemas.openxmlformats.org/drawingml/2006/main" noGrp="1"/>
          </p:cNvSpPr>
          <p:nvPr/>
        </p:nvSpPr>
        <p:spPr>
          <a:xfrm xmlns:a="http://schemas.openxmlformats.org/drawingml/2006/main">
            <a:off x="4343400" y="1737360"/>
            <a:ext cx="3474720" cy="1828800"/>
          </a:xfrm>
          <a:prstGeom xmlns:a="http://schemas.openxmlformats.org/drawingml/2006/main" prst="roundRect">
            <a:avLst>
              <a:gd name="adj" fmla="val 8000"/>
            </a:avLst>
          </a:prstGeom>
          <a:solidFill xmlns:a="http://schemas.openxmlformats.org/drawingml/2006/main">
            <a:srgbClr val="142238"/>
          </a:solidFill>
          <a:ln xmlns:a="http://schemas.openxmlformats.org/drawingml/2006/main" w="12700">
            <a:solidFill>
              <a:srgbClr val="D8E4E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4" name="TextBox 13">
            <a:extLst xmlns:a="http://schemas.openxmlformats.org/drawingml/2006/main">
              <a:ext uri="{FF2B5EF4-FFF2-40B4-BE49-F238E27FC236}">
                <a16:creationId xmlns:a16="http://schemas.microsoft.com/office/drawing/2014/main" id="{95D98A27-2A32-4999-83FB-6024A99AB524}"/>
              </a:ext>
            </a:extLst>
          </p:cNvPr>
          <p:cNvSpPr>
            <a:spLocks xmlns:a="http://schemas.openxmlformats.org/drawingml/2006/main" noGrp="1"/>
          </p:cNvSpPr>
          <p:nvPr/>
        </p:nvSpPr>
        <p:spPr>
          <a:xfrm xmlns:a="http://schemas.openxmlformats.org/drawingml/2006/main">
            <a:off x="4617720" y="2011680"/>
            <a:ext cx="292608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buNone/>
              <a:defRPr>
                <a:solidFill>
                  <a:srgbClr val="F8FAFC"/>
                </a:solidFill>
              </a:defRPr>
            </a:pPr>
            <a:r>
              <a:rPr sz="2000" b="1">
                <a:solidFill>
                  <a:srgbClr val="F8FAFC"/>
                </a:solidFill>
                <a:latin typeface="Calibri"/>
                <a:ea typeface="Calibri"/>
                <a:cs typeface="Calibri"/>
              </a:rPr>
              <a:t>Four-eyes approval</a:t>
            </a:r>
          </a:p>
        </p:txBody>
      </p:sp>
      <p:sp>
        <p:nvSpPr>
          <p:cNvPr id="15" name="TextBox 14">
            <a:extLst xmlns:a="http://schemas.openxmlformats.org/drawingml/2006/main">
              <a:ext uri="{FF2B5EF4-FFF2-40B4-BE49-F238E27FC236}">
                <a16:creationId xmlns:a16="http://schemas.microsoft.com/office/drawing/2014/main" id="{6D26C5D4-8434-45A4-88D3-71A6FC9D84D4}"/>
              </a:ext>
            </a:extLst>
          </p:cNvPr>
          <p:cNvSpPr>
            <a:spLocks xmlns:a="http://schemas.openxmlformats.org/drawingml/2006/main" noGrp="1"/>
          </p:cNvSpPr>
          <p:nvPr/>
        </p:nvSpPr>
        <p:spPr>
          <a:xfrm xmlns:a="http://schemas.openxmlformats.org/drawingml/2006/main">
            <a:off x="4617720" y="2560320"/>
            <a:ext cx="292608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buNone/>
              <a:defRPr>
                <a:solidFill>
                  <a:srgbClr val="CBD5E1"/>
                </a:solidFill>
              </a:defRPr>
            </a:pPr>
            <a:r>
              <a:rPr sz="1500" b="0">
                <a:solidFill>
                  <a:srgbClr val="CBD5E1"/>
                </a:solidFill>
                <a:latin typeface="Calibri"/>
                <a:ea typeface="Calibri"/>
                <a:cs typeface="Calibri"/>
              </a:rPr>
              <a:t>Overrides over $10k</a:t>
            </a:r>
          </a:p>
        </p:txBody>
      </p:sp>
      <p:sp>
        <p:nvSpPr>
          <p:cNvPr id="16" name="Rounded Rectangle 15">
            <a:extLst xmlns:a="http://schemas.openxmlformats.org/drawingml/2006/main">
              <a:ext uri="{FF2B5EF4-FFF2-40B4-BE49-F238E27FC236}">
                <a16:creationId xmlns:a16="http://schemas.microsoft.com/office/drawing/2014/main" id="{D4E866A8-F522-4AE4-8C66-1911DD8574CD}"/>
              </a:ext>
            </a:extLst>
          </p:cNvPr>
          <p:cNvSpPr>
            <a:spLocks xmlns:a="http://schemas.openxmlformats.org/drawingml/2006/main" noGrp="1"/>
          </p:cNvSpPr>
          <p:nvPr/>
        </p:nvSpPr>
        <p:spPr>
          <a:xfrm xmlns:a="http://schemas.openxmlformats.org/drawingml/2006/main">
            <a:off x="8046719" y="1737360"/>
            <a:ext cx="3474720" cy="1828800"/>
          </a:xfrm>
          <a:prstGeom xmlns:a="http://schemas.openxmlformats.org/drawingml/2006/main" prst="roundRect">
            <a:avLst>
              <a:gd name="adj" fmla="val 8000"/>
            </a:avLst>
          </a:prstGeom>
          <a:solidFill xmlns:a="http://schemas.openxmlformats.org/drawingml/2006/main">
            <a:srgbClr val="142238"/>
          </a:solidFill>
          <a:ln xmlns:a="http://schemas.openxmlformats.org/drawingml/2006/main" w="12700">
            <a:solidFill>
              <a:srgbClr val="D8E4E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7" name="TextBox 16">
            <a:extLst xmlns:a="http://schemas.openxmlformats.org/drawingml/2006/main">
              <a:ext uri="{FF2B5EF4-FFF2-40B4-BE49-F238E27FC236}">
                <a16:creationId xmlns:a16="http://schemas.microsoft.com/office/drawing/2014/main" id="{F3C46F05-6295-4AD2-ABE3-2EA414AF44B8}"/>
              </a:ext>
            </a:extLst>
          </p:cNvPr>
          <p:cNvSpPr>
            <a:spLocks xmlns:a="http://schemas.openxmlformats.org/drawingml/2006/main" noGrp="1"/>
          </p:cNvSpPr>
          <p:nvPr/>
        </p:nvSpPr>
        <p:spPr>
          <a:xfrm xmlns:a="http://schemas.openxmlformats.org/drawingml/2006/main">
            <a:off x="8321039" y="2011680"/>
            <a:ext cx="292608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buNone/>
              <a:defRPr>
                <a:solidFill>
                  <a:srgbClr val="F8FAFC"/>
                </a:solidFill>
              </a:defRPr>
            </a:pPr>
            <a:r>
              <a:rPr sz="2000" b="1">
                <a:solidFill>
                  <a:srgbClr val="F8FAFC"/>
                </a:solidFill>
                <a:latin typeface="Calibri"/>
                <a:ea typeface="Calibri"/>
                <a:cs typeface="Calibri"/>
              </a:rPr>
              <a:t>Tamper-evident audit</a:t>
            </a:r>
          </a:p>
        </p:txBody>
      </p:sp>
      <p:sp>
        <p:nvSpPr>
          <p:cNvPr id="18" name="TextBox 17">
            <a:extLst xmlns:a="http://schemas.openxmlformats.org/drawingml/2006/main">
              <a:ext uri="{FF2B5EF4-FFF2-40B4-BE49-F238E27FC236}">
                <a16:creationId xmlns:a16="http://schemas.microsoft.com/office/drawing/2014/main" id="{A047F1A5-D6EB-4C41-90EC-07A5AB345834}"/>
              </a:ext>
            </a:extLst>
          </p:cNvPr>
          <p:cNvSpPr>
            <a:spLocks xmlns:a="http://schemas.openxmlformats.org/drawingml/2006/main" noGrp="1"/>
          </p:cNvSpPr>
          <p:nvPr/>
        </p:nvSpPr>
        <p:spPr>
          <a:xfrm xmlns:a="http://schemas.openxmlformats.org/drawingml/2006/main">
            <a:off x="8321039" y="2560320"/>
            <a:ext cx="292608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buNone/>
              <a:defRPr>
                <a:solidFill>
                  <a:srgbClr val="CBD5E1"/>
                </a:solidFill>
              </a:defRPr>
            </a:pPr>
            <a:r>
              <a:rPr sz="1500" b="0">
                <a:solidFill>
                  <a:srgbClr val="CBD5E1"/>
                </a:solidFill>
                <a:latin typeface="Calibri"/>
                <a:ea typeface="Calibri"/>
                <a:cs typeface="Calibri"/>
              </a:rPr>
              <a:t>Recorded events hash-chained</a:t>
            </a:r>
          </a:p>
        </p:txBody>
      </p:sp>
      <p:sp>
        <p:nvSpPr>
          <p:cNvPr id="19" name="Rounded Rectangle 18">
            <a:extLst xmlns:a="http://schemas.openxmlformats.org/drawingml/2006/main">
              <a:ext uri="{FF2B5EF4-FFF2-40B4-BE49-F238E27FC236}">
                <a16:creationId xmlns:a16="http://schemas.microsoft.com/office/drawing/2014/main" id="{C2679AD6-AEC1-4806-9039-8CCBF2551028}"/>
              </a:ext>
            </a:extLst>
          </p:cNvPr>
          <p:cNvSpPr>
            <a:spLocks xmlns:a="http://schemas.openxmlformats.org/drawingml/2006/main" noGrp="1"/>
          </p:cNvSpPr>
          <p:nvPr/>
        </p:nvSpPr>
        <p:spPr>
          <a:xfrm xmlns:a="http://schemas.openxmlformats.org/drawingml/2006/main">
            <a:off x="640080" y="3840479"/>
            <a:ext cx="3474720" cy="1828800"/>
          </a:xfrm>
          <a:prstGeom xmlns:a="http://schemas.openxmlformats.org/drawingml/2006/main" prst="roundRect">
            <a:avLst>
              <a:gd name="adj" fmla="val 8000"/>
            </a:avLst>
          </a:prstGeom>
          <a:solidFill xmlns:a="http://schemas.openxmlformats.org/drawingml/2006/main">
            <a:srgbClr val="142238"/>
          </a:solidFill>
          <a:ln xmlns:a="http://schemas.openxmlformats.org/drawingml/2006/main" w="12700">
            <a:solidFill>
              <a:srgbClr val="D8E4E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0" name="TextBox 19">
            <a:extLst xmlns:a="http://schemas.openxmlformats.org/drawingml/2006/main">
              <a:ext uri="{FF2B5EF4-FFF2-40B4-BE49-F238E27FC236}">
                <a16:creationId xmlns:a16="http://schemas.microsoft.com/office/drawing/2014/main" id="{517515D8-0F01-4569-B6BB-075306FCAA5D}"/>
              </a:ext>
            </a:extLst>
          </p:cNvPr>
          <p:cNvSpPr>
            <a:spLocks xmlns:a="http://schemas.openxmlformats.org/drawingml/2006/main" noGrp="1"/>
          </p:cNvSpPr>
          <p:nvPr/>
        </p:nvSpPr>
        <p:spPr>
          <a:xfrm xmlns:a="http://schemas.openxmlformats.org/drawingml/2006/main">
            <a:off x="914400" y="4114799"/>
            <a:ext cx="292608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buNone/>
              <a:defRPr>
                <a:solidFill>
                  <a:srgbClr val="F8FAFC"/>
                </a:solidFill>
              </a:defRPr>
            </a:pPr>
            <a:r>
              <a:rPr sz="2000" b="1">
                <a:solidFill>
                  <a:srgbClr val="F8FAFC"/>
                </a:solidFill>
                <a:latin typeface="Calibri"/>
                <a:ea typeface="Calibri"/>
                <a:cs typeface="Calibri"/>
              </a:rPr>
              <a:t>Injection tests</a:t>
            </a:r>
          </a:p>
        </p:txBody>
      </p:sp>
      <p:sp>
        <p:nvSpPr>
          <p:cNvPr id="21" name="TextBox 20">
            <a:extLst xmlns:a="http://schemas.openxmlformats.org/drawingml/2006/main">
              <a:ext uri="{FF2B5EF4-FFF2-40B4-BE49-F238E27FC236}">
                <a16:creationId xmlns:a16="http://schemas.microsoft.com/office/drawing/2014/main" id="{F0A94A1F-88BB-4239-B03A-B2056B86C15A}"/>
              </a:ext>
            </a:extLst>
          </p:cNvPr>
          <p:cNvSpPr>
            <a:spLocks xmlns:a="http://schemas.openxmlformats.org/drawingml/2006/main" noGrp="1"/>
          </p:cNvSpPr>
          <p:nvPr/>
        </p:nvSpPr>
        <p:spPr>
          <a:xfrm xmlns:a="http://schemas.openxmlformats.org/drawingml/2006/main">
            <a:off x="914400" y="4663439"/>
            <a:ext cx="292608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buNone/>
              <a:defRPr>
                <a:solidFill>
                  <a:srgbClr val="CBD5E1"/>
                </a:solidFill>
              </a:defRPr>
            </a:pPr>
            <a:r>
              <a:rPr sz="1500" b="0">
                <a:solidFill>
                  <a:srgbClr val="CBD5E1"/>
                </a:solidFill>
                <a:latin typeface="Calibri"/>
                <a:ea typeface="Calibri"/>
                <a:cs typeface="Calibri"/>
              </a:rPr>
              <a:t>0 flips in 7 attack documents</a:t>
            </a:r>
          </a:p>
        </p:txBody>
      </p:sp>
      <p:sp>
        <p:nvSpPr>
          <p:cNvPr id="22" name="Rounded Rectangle 21">
            <a:extLst xmlns:a="http://schemas.openxmlformats.org/drawingml/2006/main">
              <a:ext uri="{FF2B5EF4-FFF2-40B4-BE49-F238E27FC236}">
                <a16:creationId xmlns:a16="http://schemas.microsoft.com/office/drawing/2014/main" id="{DD441E66-61E2-4EDF-AC9D-7D836A32E1D1}"/>
              </a:ext>
            </a:extLst>
          </p:cNvPr>
          <p:cNvSpPr>
            <a:spLocks xmlns:a="http://schemas.openxmlformats.org/drawingml/2006/main" noGrp="1"/>
          </p:cNvSpPr>
          <p:nvPr/>
        </p:nvSpPr>
        <p:spPr>
          <a:xfrm xmlns:a="http://schemas.openxmlformats.org/drawingml/2006/main">
            <a:off x="4343400" y="3840479"/>
            <a:ext cx="3474720" cy="1828800"/>
          </a:xfrm>
          <a:prstGeom xmlns:a="http://schemas.openxmlformats.org/drawingml/2006/main" prst="roundRect">
            <a:avLst>
              <a:gd name="adj" fmla="val 8000"/>
            </a:avLst>
          </a:prstGeom>
          <a:solidFill xmlns:a="http://schemas.openxmlformats.org/drawingml/2006/main">
            <a:srgbClr val="142238"/>
          </a:solidFill>
          <a:ln xmlns:a="http://schemas.openxmlformats.org/drawingml/2006/main" w="12700">
            <a:solidFill>
              <a:srgbClr val="D8E4E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3" name="TextBox 22">
            <a:extLst xmlns:a="http://schemas.openxmlformats.org/drawingml/2006/main">
              <a:ext uri="{FF2B5EF4-FFF2-40B4-BE49-F238E27FC236}">
                <a16:creationId xmlns:a16="http://schemas.microsoft.com/office/drawing/2014/main" id="{64FE5D54-A313-4766-A4D1-462E4417A88A}"/>
              </a:ext>
            </a:extLst>
          </p:cNvPr>
          <p:cNvSpPr>
            <a:spLocks xmlns:a="http://schemas.openxmlformats.org/drawingml/2006/main" noGrp="1"/>
          </p:cNvSpPr>
          <p:nvPr/>
        </p:nvSpPr>
        <p:spPr>
          <a:xfrm xmlns:a="http://schemas.openxmlformats.org/drawingml/2006/main">
            <a:off x="4617720" y="4114799"/>
            <a:ext cx="292608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buNone/>
              <a:defRPr>
                <a:solidFill>
                  <a:srgbClr val="F8FAFC"/>
                </a:solidFill>
              </a:defRPr>
            </a:pPr>
            <a:r>
              <a:rPr sz="2000" b="1">
                <a:solidFill>
                  <a:srgbClr val="F8FAFC"/>
                </a:solidFill>
                <a:latin typeface="Calibri"/>
                <a:ea typeface="Calibri"/>
                <a:cs typeface="Calibri"/>
              </a:rPr>
              <a:t>Trace redaction</a:t>
            </a:r>
          </a:p>
        </p:txBody>
      </p:sp>
      <p:sp>
        <p:nvSpPr>
          <p:cNvPr id="24" name="TextBox 23">
            <a:extLst xmlns:a="http://schemas.openxmlformats.org/drawingml/2006/main">
              <a:ext uri="{FF2B5EF4-FFF2-40B4-BE49-F238E27FC236}">
                <a16:creationId xmlns:a16="http://schemas.microsoft.com/office/drawing/2014/main" id="{16A62B1F-D6E0-4B15-9E7E-0AE37EC3CA30}"/>
              </a:ext>
            </a:extLst>
          </p:cNvPr>
          <p:cNvSpPr>
            <a:spLocks xmlns:a="http://schemas.openxmlformats.org/drawingml/2006/main" noGrp="1"/>
          </p:cNvSpPr>
          <p:nvPr/>
        </p:nvSpPr>
        <p:spPr>
          <a:xfrm xmlns:a="http://schemas.openxmlformats.org/drawingml/2006/main">
            <a:off x="4617720" y="4663439"/>
            <a:ext cx="292608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buNone/>
              <a:defRPr>
                <a:solidFill>
                  <a:srgbClr val="CBD5E1"/>
                </a:solidFill>
              </a:defRPr>
            </a:pPr>
            <a:r>
              <a:rPr sz="1500" b="0">
                <a:solidFill>
                  <a:srgbClr val="CBD5E1"/>
                </a:solidFill>
                <a:latin typeface="Calibri"/>
                <a:ea typeface="Calibri"/>
                <a:cs typeface="Calibri"/>
              </a:rPr>
              <a:t>Privacy review before real data</a:t>
            </a:r>
          </a:p>
        </p:txBody>
      </p:sp>
      <p:sp>
        <p:nvSpPr>
          <p:cNvPr id="25" name="Rounded Rectangle 24">
            <a:extLst xmlns:a="http://schemas.openxmlformats.org/drawingml/2006/main">
              <a:ext uri="{FF2B5EF4-FFF2-40B4-BE49-F238E27FC236}">
                <a16:creationId xmlns:a16="http://schemas.microsoft.com/office/drawing/2014/main" id="{39A43813-2DAE-417B-B929-EA351D568E15}"/>
              </a:ext>
            </a:extLst>
          </p:cNvPr>
          <p:cNvSpPr>
            <a:spLocks xmlns:a="http://schemas.openxmlformats.org/drawingml/2006/main" noGrp="1"/>
          </p:cNvSpPr>
          <p:nvPr/>
        </p:nvSpPr>
        <p:spPr>
          <a:xfrm xmlns:a="http://schemas.openxmlformats.org/drawingml/2006/main">
            <a:off x="8046719" y="3840479"/>
            <a:ext cx="3474720" cy="1828800"/>
          </a:xfrm>
          <a:prstGeom xmlns:a="http://schemas.openxmlformats.org/drawingml/2006/main" prst="roundRect">
            <a:avLst>
              <a:gd name="adj" fmla="val 8000"/>
            </a:avLst>
          </a:prstGeom>
          <a:solidFill xmlns:a="http://schemas.openxmlformats.org/drawingml/2006/main">
            <a:srgbClr val="142238"/>
          </a:solidFill>
          <a:ln xmlns:a="http://schemas.openxmlformats.org/drawingml/2006/main" w="12700">
            <a:solidFill>
              <a:srgbClr val="D8E4E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6" name="TextBox 25">
            <a:extLst xmlns:a="http://schemas.openxmlformats.org/drawingml/2006/main">
              <a:ext uri="{FF2B5EF4-FFF2-40B4-BE49-F238E27FC236}">
                <a16:creationId xmlns:a16="http://schemas.microsoft.com/office/drawing/2014/main" id="{ED7E82DB-6983-45F2-A201-698EF0BA01EB}"/>
              </a:ext>
            </a:extLst>
          </p:cNvPr>
          <p:cNvSpPr>
            <a:spLocks xmlns:a="http://schemas.openxmlformats.org/drawingml/2006/main" noGrp="1"/>
          </p:cNvSpPr>
          <p:nvPr/>
        </p:nvSpPr>
        <p:spPr>
          <a:xfrm xmlns:a="http://schemas.openxmlformats.org/drawingml/2006/main">
            <a:off x="8321039" y="4114799"/>
            <a:ext cx="292608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buNone/>
              <a:defRPr>
                <a:solidFill>
                  <a:srgbClr val="F8FAFC"/>
                </a:solidFill>
              </a:defRPr>
            </a:pPr>
            <a:r>
              <a:rPr sz="2000" b="1">
                <a:solidFill>
                  <a:srgbClr val="F8FAFC"/>
                </a:solidFill>
                <a:latin typeface="Calibri"/>
                <a:ea typeface="Calibri"/>
                <a:cs typeface="Calibri"/>
              </a:rPr>
              <a:t>Spend caps</a:t>
            </a:r>
          </a:p>
        </p:txBody>
      </p:sp>
      <p:sp>
        <p:nvSpPr>
          <p:cNvPr id="27" name="TextBox 26">
            <a:extLst xmlns:a="http://schemas.openxmlformats.org/drawingml/2006/main">
              <a:ext uri="{FF2B5EF4-FFF2-40B4-BE49-F238E27FC236}">
                <a16:creationId xmlns:a16="http://schemas.microsoft.com/office/drawing/2014/main" id="{6CF8534E-95CF-4A56-85C9-DFAE2CD7F29E}"/>
              </a:ext>
            </a:extLst>
          </p:cNvPr>
          <p:cNvSpPr>
            <a:spLocks xmlns:a="http://schemas.openxmlformats.org/drawingml/2006/main" noGrp="1"/>
          </p:cNvSpPr>
          <p:nvPr/>
        </p:nvSpPr>
        <p:spPr>
          <a:xfrm xmlns:a="http://schemas.openxmlformats.org/drawingml/2006/main">
            <a:off x="8321039" y="4663439"/>
            <a:ext cx="292608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buNone/>
              <a:defRPr>
                <a:solidFill>
                  <a:srgbClr val="CBD5E1"/>
                </a:solidFill>
              </a:defRPr>
            </a:pPr>
            <a:r>
              <a:rPr sz="1500" b="0">
                <a:solidFill>
                  <a:srgbClr val="CBD5E1"/>
                </a:solidFill>
                <a:latin typeface="Calibri"/>
                <a:ea typeface="Calibri"/>
                <a:cs typeface="Calibri"/>
              </a:rPr>
              <a:t>Enforced in code</a:t>
            </a:r>
          </a:p>
        </p:txBody>
      </p:sp>
    </p:spTree>
    <p:extLst>
      <p:ext uri="{BB962C8B-B14F-4D97-AF65-F5344CB8AC3E}">
        <p14:creationId xmlns:p14="http://schemas.microsoft.com/office/powerpoint/2010/main" val="373234785"/>
      </p:ext>
    </p:extLst>
  </p:cSld>
</p:sld>
</file>

<file path=ppt/slides/slide7.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AD95BC01-9C62-44A1-B455-BD5758FB6107}"/>
              </a:ext>
            </a:extLst>
          </p:cNvPr>
          <p:cNvSpPr>
            <a:spLocks xmlns:a="http://schemas.openxmlformats.org/drawingml/2006/main" noGrp="1"/>
          </p:cNvSpPr>
          <p:nvPr/>
        </p:nvSpPr>
        <p:spPr>
          <a:xfrm xmlns:a="http://schemas.openxmlformats.org/drawingml/2006/main">
            <a:off x="0" y="0"/>
            <a:ext cx="12191695" cy="109728"/>
          </a:xfrm>
          <a:prstGeom xmlns:a="http://schemas.openxmlformats.org/drawingml/2006/main" prst="rect">
            <a:avLst/>
          </a:prstGeom>
          <a:solidFill xmlns:a="http://schemas.openxmlformats.org/drawingml/2006/main">
            <a:srgbClr val="2DD4B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85D68D66-EA71-44C6-804E-5C1F954165FD}"/>
              </a:ext>
            </a:extLst>
          </p:cNvPr>
          <p:cNvSpPr>
            <a:spLocks xmlns:a="http://schemas.openxmlformats.org/drawingml/2006/main" noGrp="1"/>
          </p:cNvSpPr>
          <p:nvPr/>
        </p:nvSpPr>
        <p:spPr>
          <a:xfrm xmlns:a="http://schemas.openxmlformats.org/drawingml/2006/main">
            <a:off x="640080" y="411480"/>
            <a:ext cx="91440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buNone/>
              <a:defRPr>
                <a:solidFill>
                  <a:srgbClr val="2DD4BF"/>
                </a:solidFill>
              </a:defRPr>
            </a:pPr>
            <a:r>
              <a:rPr sz="1200" b="1">
                <a:solidFill>
                  <a:srgbClr val="2DD4BF"/>
                </a:solidFill>
                <a:latin typeface="Calibri"/>
                <a:ea typeface="Calibri"/>
                <a:cs typeface="Calibri"/>
              </a:rPr>
              <a:t>RISKS</a:t>
            </a:r>
          </a:p>
        </p:txBody>
      </p:sp>
      <p:sp>
        <p:nvSpPr>
          <p:cNvPr id="4" name="TextBox 3">
            <a:extLst xmlns:a="http://schemas.openxmlformats.org/drawingml/2006/main">
              <a:ext uri="{FF2B5EF4-FFF2-40B4-BE49-F238E27FC236}">
                <a16:creationId xmlns:a16="http://schemas.microsoft.com/office/drawing/2014/main" id="{F382B53E-BB07-45BF-A3B7-5EAA277E2B17}"/>
              </a:ext>
            </a:extLst>
          </p:cNvPr>
          <p:cNvSpPr>
            <a:spLocks xmlns:a="http://schemas.openxmlformats.org/drawingml/2006/main" noGrp="1"/>
          </p:cNvSpPr>
          <p:nvPr/>
        </p:nvSpPr>
        <p:spPr>
          <a:xfrm xmlns:a="http://schemas.openxmlformats.org/drawingml/2006/main">
            <a:off x="640080" y="685800"/>
            <a:ext cx="1097280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buNone/>
              <a:defRPr>
                <a:solidFill>
                  <a:srgbClr val="F8FAFC"/>
                </a:solidFill>
              </a:defRPr>
            </a:pPr>
            <a:r>
              <a:rPr sz="3200" b="1">
                <a:solidFill>
                  <a:srgbClr val="F8FAFC"/>
                </a:solidFill>
                <a:latin typeface="Calibri"/>
                <a:ea typeface="Calibri"/>
                <a:cs typeface="Calibri"/>
              </a:rPr>
              <a:t>What remains unproven</a:t>
            </a:r>
          </a:p>
        </p:txBody>
      </p:sp>
      <p:sp>
        <p:nvSpPr>
          <p:cNvPr id="5" name="Pentagon 4">
            <a:extLst xmlns:a="http://schemas.openxmlformats.org/drawingml/2006/main">
              <a:ext uri="{FF2B5EF4-FFF2-40B4-BE49-F238E27FC236}">
                <a16:creationId xmlns:a16="http://schemas.microsoft.com/office/drawing/2014/main" id="{EB7F6895-60B0-42BE-89D2-1991651443C4}"/>
              </a:ext>
            </a:extLst>
          </p:cNvPr>
          <p:cNvSpPr>
            <a:spLocks xmlns:a="http://schemas.openxmlformats.org/drawingml/2006/main" noGrp="1"/>
          </p:cNvSpPr>
          <p:nvPr/>
        </p:nvSpPr>
        <p:spPr>
          <a:xfrm xmlns:a="http://schemas.openxmlformats.org/drawingml/2006/main" rot="5400000">
            <a:off x="11201400" y="384048"/>
            <a:ext cx="384048" cy="384048"/>
          </a:xfrm>
          <a:prstGeom xmlns:a="http://schemas.openxmlformats.org/drawingml/2006/main" prst="homePlate">
            <a:avLst/>
          </a:prstGeom>
          <a:solidFill xmlns:a="http://schemas.openxmlformats.org/drawingml/2006/main">
            <a:srgbClr val="2DD4B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Rectangle 5">
            <a:extLst xmlns:a="http://schemas.openxmlformats.org/drawingml/2006/main">
              <a:ext uri="{FF2B5EF4-FFF2-40B4-BE49-F238E27FC236}">
                <a16:creationId xmlns:a16="http://schemas.microsoft.com/office/drawing/2014/main" id="{1CEDC70B-E1CA-4085-9634-C90A9E3F831D}"/>
              </a:ext>
            </a:extLst>
          </p:cNvPr>
          <p:cNvSpPr>
            <a:spLocks xmlns:a="http://schemas.openxmlformats.org/drawingml/2006/main" noGrp="1"/>
          </p:cNvSpPr>
          <p:nvPr/>
        </p:nvSpPr>
        <p:spPr>
          <a:xfrm xmlns:a="http://schemas.openxmlformats.org/drawingml/2006/main">
            <a:off x="11358860" y="453177"/>
            <a:ext cx="69128" cy="215066"/>
          </a:xfrm>
          <a:prstGeom xmlns:a="http://schemas.openxmlformats.org/drawingml/2006/main" prst="rect">
            <a:avLst/>
          </a:prstGeom>
          <a:solidFill xmlns:a="http://schemas.openxmlformats.org/drawingml/2006/main">
            <a:srgbClr val="14223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Rectangle 6">
            <a:extLst xmlns:a="http://schemas.openxmlformats.org/drawingml/2006/main">
              <a:ext uri="{FF2B5EF4-FFF2-40B4-BE49-F238E27FC236}">
                <a16:creationId xmlns:a16="http://schemas.microsoft.com/office/drawing/2014/main" id="{5B78C39B-F2BF-4BAF-976E-F0DBA838A682}"/>
              </a:ext>
            </a:extLst>
          </p:cNvPr>
          <p:cNvSpPr>
            <a:spLocks xmlns:a="http://schemas.openxmlformats.org/drawingml/2006/main" noGrp="1"/>
          </p:cNvSpPr>
          <p:nvPr/>
        </p:nvSpPr>
        <p:spPr>
          <a:xfrm xmlns:a="http://schemas.openxmlformats.org/drawingml/2006/main">
            <a:off x="11285891" y="526146"/>
            <a:ext cx="215066" cy="69128"/>
          </a:xfrm>
          <a:prstGeom xmlns:a="http://schemas.openxmlformats.org/drawingml/2006/main" prst="rect">
            <a:avLst/>
          </a:prstGeom>
          <a:solidFill xmlns:a="http://schemas.openxmlformats.org/drawingml/2006/main">
            <a:srgbClr val="14223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 name="TextBox 7">
            <a:extLst xmlns:a="http://schemas.openxmlformats.org/drawingml/2006/main">
              <a:ext uri="{FF2B5EF4-FFF2-40B4-BE49-F238E27FC236}">
                <a16:creationId xmlns:a16="http://schemas.microsoft.com/office/drawing/2014/main" id="{E90DC95F-94AD-4A00-ADA6-7A512D087314}"/>
              </a:ext>
            </a:extLst>
          </p:cNvPr>
          <p:cNvSpPr>
            <a:spLocks xmlns:a="http://schemas.openxmlformats.org/drawingml/2006/main" noGrp="1"/>
          </p:cNvSpPr>
          <p:nvPr/>
        </p:nvSpPr>
        <p:spPr>
          <a:xfrm xmlns:a="http://schemas.openxmlformats.org/drawingml/2006/main">
            <a:off x="640080" y="6446520"/>
            <a:ext cx="7315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buNone/>
              <a:defRPr>
                <a:solidFill>
                  <a:srgbClr val="CBD5E1"/>
                </a:solidFill>
              </a:defRPr>
            </a:pPr>
            <a:r>
              <a:rPr sz="1000" b="0">
                <a:solidFill>
                  <a:srgbClr val="CBD5E1"/>
                </a:solidFill>
                <a:latin typeface="Calibri"/>
                <a:ea typeface="Calibri"/>
                <a:cs typeface="Calibri"/>
              </a:rPr>
              <a:t>MediShield Health · Capstone review</a:t>
            </a:r>
          </a:p>
        </p:txBody>
      </p:sp>
      <p:sp>
        <p:nvSpPr>
          <p:cNvPr id="9" name="TextBox 8">
            <a:extLst xmlns:a="http://schemas.openxmlformats.org/drawingml/2006/main">
              <a:ext uri="{FF2B5EF4-FFF2-40B4-BE49-F238E27FC236}">
                <a16:creationId xmlns:a16="http://schemas.microsoft.com/office/drawing/2014/main" id="{3943D9B7-D608-4D2D-B47D-6549D0406DC2}"/>
              </a:ext>
            </a:extLst>
          </p:cNvPr>
          <p:cNvSpPr>
            <a:spLocks xmlns:a="http://schemas.openxmlformats.org/drawingml/2006/main" noGrp="1"/>
          </p:cNvSpPr>
          <p:nvPr/>
        </p:nvSpPr>
        <p:spPr>
          <a:xfrm xmlns:a="http://schemas.openxmlformats.org/drawingml/2006/main">
            <a:off x="10881360" y="6446520"/>
            <a:ext cx="7315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r">
              <a:buNone/>
              <a:defRPr>
                <a:solidFill>
                  <a:srgbClr val="CBD5E1"/>
                </a:solidFill>
              </a:defRPr>
            </a:pPr>
            <a:r>
              <a:rPr sz="1000" b="0">
                <a:solidFill>
                  <a:srgbClr val="CBD5E1"/>
                </a:solidFill>
                <a:latin typeface="Calibri"/>
                <a:ea typeface="Calibri"/>
                <a:cs typeface="Calibri"/>
              </a:rPr>
              <a:t>7</a:t>
            </a:r>
          </a:p>
        </p:txBody>
      </p:sp>
      <p:graphicFrame>
        <p:nvGraphicFramePr>
          <p:cNvPr id="19" name="Table 9"/>
          <p:cNvGraphicFramePr/>
          <p:nvPr/>
        </p:nvGraphicFramePr>
        <p:xfrm>
          <a:off xmlns:a="http://schemas.openxmlformats.org/drawingml/2006/main" x="640080" y="1828800"/>
          <a:ext xmlns:a="http://schemas.openxmlformats.org/drawingml/2006/main" cx="10881360" cy="3840480"/>
        </p:xfrm>
        <a:graphic xmlns:a="http://schemas.openxmlformats.org/drawingml/2006/main">
          <a:graphicData uri="http://schemas.openxmlformats.org/drawingml/2006/table">
            <a:tbl>
              <a:tblPr firstRow="1" bandRow="1">
                <a:tableStyleId>{5C22544A-7EE6-4342-B048-85BDC9FD1C3A}</a:tableStyleId>
              </a:tblPr>
              <a:tblGrid>
                <a:gridCol w="5440680"/>
                <a:gridCol w="5440680"/>
              </a:tblGrid>
              <a:tr h="640080">
                <a:tc>
                  <a:txBody>
                    <a:bodyPr/>
                    <a:lstStyle/>
                    <a:p>
                      <a:r>
                        <a:rPr sz="1725" b="1">
                          <a:solidFill>
                            <a:srgbClr val="2DD4BF"/>
                          </a:solidFill>
                          <a:latin typeface="Calibri"/>
                          <a:ea typeface="Calibri"/>
                          <a:cs typeface="Calibri"/>
                        </a:rPr>
                        <a:t>Risk / missing evidence</a:t>
                      </a:r>
                    </a:p>
                  </a:txBody>
                  <a:tcPr marL="91440" marR="91440" marT="45720" marB="45720" anchor="ctr">
                    <a:solidFill>
                      <a:srgbClr val="193344"/>
                    </a:solidFill>
                  </a:tcPr>
                </a:tc>
                <a:tc>
                  <a:txBody>
                    <a:bodyPr/>
                    <a:lstStyle/>
                    <a:p>
                      <a:r>
                        <a:rPr sz="1725" b="1">
                          <a:solidFill>
                            <a:srgbClr val="2DD4BF"/>
                          </a:solidFill>
                          <a:latin typeface="Calibri"/>
                          <a:ea typeface="Calibri"/>
                          <a:cs typeface="Calibri"/>
                        </a:rPr>
                        <a:t>Next validation</a:t>
                      </a:r>
                    </a:p>
                  </a:txBody>
                  <a:tcPr marL="91440" marR="91440" marT="45720" marB="45720" anchor="ctr">
                    <a:solidFill>
                      <a:srgbClr val="193344"/>
                    </a:solidFill>
                  </a:tcPr>
                </a:tc>
              </a:tr>
              <a:tr h="640080">
                <a:tc>
                  <a:txBody>
                    <a:bodyPr/>
                    <a:lstStyle/>
                    <a:p>
                      <a:r>
                        <a:rPr sz="1575" b="1">
                          <a:solidFill>
                            <a:srgbClr val="F8FAFC"/>
                          </a:solidFill>
                          <a:latin typeface="Calibri"/>
                          <a:ea typeface="Calibri"/>
                          <a:cs typeface="Calibri"/>
                        </a:rPr>
                        <a:t>Real scans and new policy families</a:t>
                      </a:r>
                    </a:p>
                  </a:txBody>
                  <a:tcPr marL="91440" marR="91440" marT="45720" marB="45720" anchor="ctr">
                    <a:solidFill>
                      <a:srgbClr val="142238"/>
                    </a:solidFill>
                  </a:tcPr>
                </a:tc>
                <a:tc>
                  <a:txBody>
                    <a:bodyPr/>
                    <a:lstStyle/>
                    <a:p>
                      <a:r>
                        <a:rPr sz="1575" b="0">
                          <a:solidFill>
                            <a:srgbClr val="F8FAFC"/>
                          </a:solidFill>
                          <a:latin typeface="Calibri"/>
                          <a:ea typeface="Calibri"/>
                          <a:cs typeface="Calibri"/>
                        </a:rPr>
                        <a:t>Shadow pilot; independently adjudicated cases</a:t>
                      </a:r>
                    </a:p>
                  </a:txBody>
                  <a:tcPr marL="91440" marR="91440" marT="45720" marB="45720" anchor="ctr">
                    <a:solidFill>
                      <a:srgbClr val="142238"/>
                    </a:solidFill>
                  </a:tcPr>
                </a:tc>
              </a:tr>
              <a:tr h="640080">
                <a:tc>
                  <a:txBody>
                    <a:bodyPr/>
                    <a:lstStyle/>
                    <a:p>
                      <a:r>
                        <a:rPr sz="1575" b="1">
                          <a:solidFill>
                            <a:srgbClr val="F8FAFC"/>
                          </a:solidFill>
                          <a:latin typeface="Calibri"/>
                          <a:ea typeface="Calibri"/>
                          <a:cs typeface="Calibri"/>
                        </a:rPr>
                        <a:t>Subtle or forged identity documents</a:t>
                      </a:r>
                    </a:p>
                  </a:txBody>
                  <a:tcPr marL="91440" marR="91440" marT="45720" marB="45720" anchor="ctr">
                    <a:solidFill>
                      <a:srgbClr val="0F1B2D"/>
                    </a:solidFill>
                  </a:tcPr>
                </a:tc>
                <a:tc>
                  <a:txBody>
                    <a:bodyPr/>
                    <a:lstStyle/>
                    <a:p>
                      <a:r>
                        <a:rPr sz="1575" b="0">
                          <a:solidFill>
                            <a:srgbClr val="F8FAFC"/>
                          </a:solidFill>
                          <a:latin typeface="Calibri"/>
                          <a:ea typeface="Calibri"/>
                          <a:cs typeface="Calibri"/>
                        </a:rPr>
                        <a:t>Specialist review; broader tamper test set</a:t>
                      </a:r>
                    </a:p>
                  </a:txBody>
                  <a:tcPr marL="91440" marR="91440" marT="45720" marB="45720" anchor="ctr">
                    <a:solidFill>
                      <a:srgbClr val="0F1B2D"/>
                    </a:solidFill>
                  </a:tcPr>
                </a:tc>
              </a:tr>
              <a:tr h="640080">
                <a:tc>
                  <a:txBody>
                    <a:bodyPr/>
                    <a:lstStyle/>
                    <a:p>
                      <a:r>
                        <a:rPr sz="1575" b="1">
                          <a:solidFill>
                            <a:srgbClr val="F8FAFC"/>
                          </a:solidFill>
                          <a:latin typeface="Calibri"/>
                          <a:ea typeface="Calibri"/>
                          <a:cs typeface="Calibri"/>
                        </a:rPr>
                        <a:t>Privacy and external model boundary</a:t>
                      </a:r>
                    </a:p>
                  </a:txBody>
                  <a:tcPr marL="91440" marR="91440" marT="45720" marB="45720" anchor="ctr">
                    <a:solidFill>
                      <a:srgbClr val="142238"/>
                    </a:solidFill>
                  </a:tcPr>
                </a:tc>
                <a:tc>
                  <a:txBody>
                    <a:bodyPr/>
                    <a:lstStyle/>
                    <a:p>
                      <a:r>
                        <a:rPr sz="1575" b="0">
                          <a:solidFill>
                            <a:srgbClr val="F8FAFC"/>
                          </a:solidFill>
                          <a:latin typeface="Calibri"/>
                          <a:ea typeface="Calibri"/>
                          <a:cs typeface="Calibri"/>
                        </a:rPr>
                        <a:t>Provider review, SSO and retention validation</a:t>
                      </a:r>
                    </a:p>
                  </a:txBody>
                  <a:tcPr marL="91440" marR="91440" marT="45720" marB="45720" anchor="ctr">
                    <a:solidFill>
                      <a:srgbClr val="142238"/>
                    </a:solidFill>
                  </a:tcPr>
                </a:tc>
              </a:tr>
              <a:tr h="640080">
                <a:tc>
                  <a:txBody>
                    <a:bodyPr/>
                    <a:lstStyle/>
                    <a:p>
                      <a:r>
                        <a:rPr sz="1575" b="1">
                          <a:solidFill>
                            <a:srgbClr val="F8FAFC"/>
                          </a:solidFill>
                          <a:latin typeface="Calibri"/>
                          <a:ea typeface="Calibri"/>
                          <a:cs typeface="Calibri"/>
                        </a:rPr>
                        <a:t>Durable resume across AWS restarts</a:t>
                      </a:r>
                    </a:p>
                  </a:txBody>
                  <a:tcPr marL="91440" marR="91440" marT="45720" marB="45720" anchor="ctr">
                    <a:solidFill>
                      <a:srgbClr val="0F1B2D"/>
                    </a:solidFill>
                  </a:tcPr>
                </a:tc>
                <a:tc>
                  <a:txBody>
                    <a:bodyPr/>
                    <a:lstStyle/>
                    <a:p>
                      <a:r>
                        <a:rPr sz="1575" b="0">
                          <a:solidFill>
                            <a:srgbClr val="F8FAFC"/>
                          </a:solidFill>
                          <a:latin typeface="Calibri"/>
                          <a:ea typeface="Calibri"/>
                          <a:cs typeface="Calibri"/>
                        </a:rPr>
                        <a:t>Persistent graph checkpoint design and tests</a:t>
                      </a:r>
                    </a:p>
                  </a:txBody>
                  <a:tcPr marL="91440" marR="91440" marT="45720" marB="45720" anchor="ctr">
                    <a:solidFill>
                      <a:srgbClr val="0F1B2D"/>
                    </a:solidFill>
                  </a:tcPr>
                </a:tc>
              </a:tr>
              <a:tr h="640080">
                <a:tc>
                  <a:txBody>
                    <a:bodyPr/>
                    <a:lstStyle/>
                    <a:p>
                      <a:r>
                        <a:rPr sz="1575" b="1">
                          <a:solidFill>
                            <a:srgbClr val="F8FAFC"/>
                          </a:solidFill>
                          <a:latin typeface="Calibri"/>
                          <a:ea typeface="Calibri"/>
                          <a:cs typeface="Calibri"/>
                        </a:rPr>
                        <a:t>Cold latency and review effort</a:t>
                      </a:r>
                    </a:p>
                  </a:txBody>
                  <a:tcPr marL="91440" marR="91440" marT="45720" marB="45720" anchor="ctr">
                    <a:solidFill>
                      <a:srgbClr val="142238"/>
                    </a:solidFill>
                  </a:tcPr>
                </a:tc>
                <a:tc>
                  <a:txBody>
                    <a:bodyPr/>
                    <a:lstStyle/>
                    <a:p>
                      <a:r>
                        <a:rPr sz="1575" b="0">
                          <a:solidFill>
                            <a:srgbClr val="F8FAFC"/>
                          </a:solidFill>
                          <a:latin typeface="Calibri"/>
                          <a:ea typeface="Calibri"/>
                          <a:cs typeface="Calibri"/>
                        </a:rPr>
                        <a:t>Uncached benchmark and timed reviewer study</a:t>
                      </a:r>
                    </a:p>
                  </a:txBody>
                  <a:tcPr marL="91440" marR="91440" marT="45720" marB="45720" anchor="ctr">
                    <a:solidFill>
                      <a:srgbClr val="142238"/>
                    </a:solidFill>
                  </a:tcPr>
                </a:tc>
              </a:tr>
            </a:tbl>
          </a:graphicData>
        </a:graphic>
      </p:graphicFrame>
    </p:spTree>
    <p:extLst>
      <p:ext uri="{BB962C8B-B14F-4D97-AF65-F5344CB8AC3E}">
        <p14:creationId xmlns:p14="http://schemas.microsoft.com/office/powerpoint/2010/main" val="1961313571"/>
      </p:ext>
    </p:extLst>
  </p:cSld>
</p:sld>
</file>

<file path=ppt/slides/slide8.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41FBCE46-F143-47F0-9B19-6E1AA950A709}"/>
              </a:ext>
            </a:extLst>
          </p:cNvPr>
          <p:cNvSpPr>
            <a:spLocks xmlns:a="http://schemas.openxmlformats.org/drawingml/2006/main" noGrp="1"/>
          </p:cNvSpPr>
          <p:nvPr/>
        </p:nvSpPr>
        <p:spPr>
          <a:xfrm xmlns:a="http://schemas.openxmlformats.org/drawingml/2006/main">
            <a:off x="0" y="0"/>
            <a:ext cx="12191695" cy="109728"/>
          </a:xfrm>
          <a:prstGeom xmlns:a="http://schemas.openxmlformats.org/drawingml/2006/main" prst="rect">
            <a:avLst/>
          </a:prstGeom>
          <a:solidFill xmlns:a="http://schemas.openxmlformats.org/drawingml/2006/main">
            <a:srgbClr val="2DD4B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E1D05A81-6587-4466-9BBD-873762908B44}"/>
              </a:ext>
            </a:extLst>
          </p:cNvPr>
          <p:cNvSpPr>
            <a:spLocks xmlns:a="http://schemas.openxmlformats.org/drawingml/2006/main" noGrp="1"/>
          </p:cNvSpPr>
          <p:nvPr/>
        </p:nvSpPr>
        <p:spPr>
          <a:xfrm xmlns:a="http://schemas.openxmlformats.org/drawingml/2006/main">
            <a:off x="640080" y="411480"/>
            <a:ext cx="91440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buNone/>
              <a:defRPr>
                <a:solidFill>
                  <a:srgbClr val="2DD4BF"/>
                </a:solidFill>
              </a:defRPr>
            </a:pPr>
            <a:r>
              <a:rPr sz="1200" b="1">
                <a:solidFill>
                  <a:srgbClr val="2DD4BF"/>
                </a:solidFill>
                <a:latin typeface="Calibri"/>
                <a:ea typeface="Calibri"/>
                <a:cs typeface="Calibri"/>
              </a:rPr>
              <a:t>RECOMMENDATION</a:t>
            </a:r>
          </a:p>
        </p:txBody>
      </p:sp>
      <p:sp>
        <p:nvSpPr>
          <p:cNvPr id="4" name="TextBox 3">
            <a:extLst xmlns:a="http://schemas.openxmlformats.org/drawingml/2006/main">
              <a:ext uri="{FF2B5EF4-FFF2-40B4-BE49-F238E27FC236}">
                <a16:creationId xmlns:a16="http://schemas.microsoft.com/office/drawing/2014/main" id="{9AB88663-183F-4C5C-A943-CB60CA6B79FB}"/>
              </a:ext>
            </a:extLst>
          </p:cNvPr>
          <p:cNvSpPr>
            <a:spLocks xmlns:a="http://schemas.openxmlformats.org/drawingml/2006/main" noGrp="1"/>
          </p:cNvSpPr>
          <p:nvPr/>
        </p:nvSpPr>
        <p:spPr>
          <a:xfrm xmlns:a="http://schemas.openxmlformats.org/drawingml/2006/main">
            <a:off x="640080" y="685800"/>
            <a:ext cx="1097280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buNone/>
              <a:defRPr>
                <a:solidFill>
                  <a:srgbClr val="F8FAFC"/>
                </a:solidFill>
              </a:defRPr>
            </a:pPr>
            <a:r>
              <a:rPr sz="3200" b="1">
                <a:solidFill>
                  <a:srgbClr val="F8FAFC"/>
                </a:solidFill>
                <a:latin typeface="Calibri"/>
                <a:ea typeface="Calibri"/>
                <a:cs typeface="Calibri"/>
              </a:rPr>
              <a:t>Earn trust in stages</a:t>
            </a:r>
          </a:p>
        </p:txBody>
      </p:sp>
      <p:sp>
        <p:nvSpPr>
          <p:cNvPr id="5" name="Pentagon 4">
            <a:extLst xmlns:a="http://schemas.openxmlformats.org/drawingml/2006/main">
              <a:ext uri="{FF2B5EF4-FFF2-40B4-BE49-F238E27FC236}">
                <a16:creationId xmlns:a16="http://schemas.microsoft.com/office/drawing/2014/main" id="{1D1EFDA1-79D3-4F20-B5BB-6BEFE7387A84}"/>
              </a:ext>
            </a:extLst>
          </p:cNvPr>
          <p:cNvSpPr>
            <a:spLocks xmlns:a="http://schemas.openxmlformats.org/drawingml/2006/main" noGrp="1"/>
          </p:cNvSpPr>
          <p:nvPr/>
        </p:nvSpPr>
        <p:spPr>
          <a:xfrm xmlns:a="http://schemas.openxmlformats.org/drawingml/2006/main" rot="5400000">
            <a:off x="11201400" y="384048"/>
            <a:ext cx="384048" cy="384048"/>
          </a:xfrm>
          <a:prstGeom xmlns:a="http://schemas.openxmlformats.org/drawingml/2006/main" prst="homePlate">
            <a:avLst/>
          </a:prstGeom>
          <a:solidFill xmlns:a="http://schemas.openxmlformats.org/drawingml/2006/main">
            <a:srgbClr val="2DD4B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Rectangle 5">
            <a:extLst xmlns:a="http://schemas.openxmlformats.org/drawingml/2006/main">
              <a:ext uri="{FF2B5EF4-FFF2-40B4-BE49-F238E27FC236}">
                <a16:creationId xmlns:a16="http://schemas.microsoft.com/office/drawing/2014/main" id="{8C4546E2-3AAF-47D4-9A2A-E856E81A8B84}"/>
              </a:ext>
            </a:extLst>
          </p:cNvPr>
          <p:cNvSpPr>
            <a:spLocks xmlns:a="http://schemas.openxmlformats.org/drawingml/2006/main" noGrp="1"/>
          </p:cNvSpPr>
          <p:nvPr/>
        </p:nvSpPr>
        <p:spPr>
          <a:xfrm xmlns:a="http://schemas.openxmlformats.org/drawingml/2006/main">
            <a:off x="11358860" y="453177"/>
            <a:ext cx="69128" cy="215066"/>
          </a:xfrm>
          <a:prstGeom xmlns:a="http://schemas.openxmlformats.org/drawingml/2006/main" prst="rect">
            <a:avLst/>
          </a:prstGeom>
          <a:solidFill xmlns:a="http://schemas.openxmlformats.org/drawingml/2006/main">
            <a:srgbClr val="14223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Rectangle 6">
            <a:extLst xmlns:a="http://schemas.openxmlformats.org/drawingml/2006/main">
              <a:ext uri="{FF2B5EF4-FFF2-40B4-BE49-F238E27FC236}">
                <a16:creationId xmlns:a16="http://schemas.microsoft.com/office/drawing/2014/main" id="{EC060C4B-ABF8-4344-8E6A-FA997D910B9D}"/>
              </a:ext>
            </a:extLst>
          </p:cNvPr>
          <p:cNvSpPr>
            <a:spLocks xmlns:a="http://schemas.openxmlformats.org/drawingml/2006/main" noGrp="1"/>
          </p:cNvSpPr>
          <p:nvPr/>
        </p:nvSpPr>
        <p:spPr>
          <a:xfrm xmlns:a="http://schemas.openxmlformats.org/drawingml/2006/main">
            <a:off x="11285891" y="526146"/>
            <a:ext cx="215066" cy="69128"/>
          </a:xfrm>
          <a:prstGeom xmlns:a="http://schemas.openxmlformats.org/drawingml/2006/main" prst="rect">
            <a:avLst/>
          </a:prstGeom>
          <a:solidFill xmlns:a="http://schemas.openxmlformats.org/drawingml/2006/main">
            <a:srgbClr val="14223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 name="TextBox 7">
            <a:extLst xmlns:a="http://schemas.openxmlformats.org/drawingml/2006/main">
              <a:ext uri="{FF2B5EF4-FFF2-40B4-BE49-F238E27FC236}">
                <a16:creationId xmlns:a16="http://schemas.microsoft.com/office/drawing/2014/main" id="{89C4F163-AC71-4B9A-B4E0-9CD2C9CE89A1}"/>
              </a:ext>
            </a:extLst>
          </p:cNvPr>
          <p:cNvSpPr>
            <a:spLocks xmlns:a="http://schemas.openxmlformats.org/drawingml/2006/main" noGrp="1"/>
          </p:cNvSpPr>
          <p:nvPr/>
        </p:nvSpPr>
        <p:spPr>
          <a:xfrm xmlns:a="http://schemas.openxmlformats.org/drawingml/2006/main">
            <a:off x="640080" y="6446520"/>
            <a:ext cx="7315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buNone/>
              <a:defRPr>
                <a:solidFill>
                  <a:srgbClr val="CBD5E1"/>
                </a:solidFill>
              </a:defRPr>
            </a:pPr>
            <a:r>
              <a:rPr sz="1000" b="0">
                <a:solidFill>
                  <a:srgbClr val="CBD5E1"/>
                </a:solidFill>
                <a:latin typeface="Calibri"/>
                <a:ea typeface="Calibri"/>
                <a:cs typeface="Calibri"/>
              </a:rPr>
              <a:t>MediShield Health · Capstone review</a:t>
            </a:r>
          </a:p>
        </p:txBody>
      </p:sp>
      <p:sp>
        <p:nvSpPr>
          <p:cNvPr id="9" name="TextBox 8">
            <a:extLst xmlns:a="http://schemas.openxmlformats.org/drawingml/2006/main">
              <a:ext uri="{FF2B5EF4-FFF2-40B4-BE49-F238E27FC236}">
                <a16:creationId xmlns:a16="http://schemas.microsoft.com/office/drawing/2014/main" id="{B9E659D2-80A3-4C6C-A67F-DB7B8D304FF8}"/>
              </a:ext>
            </a:extLst>
          </p:cNvPr>
          <p:cNvSpPr>
            <a:spLocks xmlns:a="http://schemas.openxmlformats.org/drawingml/2006/main" noGrp="1"/>
          </p:cNvSpPr>
          <p:nvPr/>
        </p:nvSpPr>
        <p:spPr>
          <a:xfrm xmlns:a="http://schemas.openxmlformats.org/drawingml/2006/main">
            <a:off x="10881360" y="6446520"/>
            <a:ext cx="7315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r">
              <a:buNone/>
              <a:defRPr>
                <a:solidFill>
                  <a:srgbClr val="CBD5E1"/>
                </a:solidFill>
              </a:defRPr>
            </a:pPr>
            <a:r>
              <a:rPr sz="1000" b="0">
                <a:solidFill>
                  <a:srgbClr val="CBD5E1"/>
                </a:solidFill>
                <a:latin typeface="Calibri"/>
                <a:ea typeface="Calibri"/>
                <a:cs typeface="Calibri"/>
              </a:rPr>
              <a:t>8</a:t>
            </a:r>
          </a:p>
        </p:txBody>
      </p:sp>
      <p:sp>
        <p:nvSpPr>
          <p:cNvPr id="10" name="Rounded Rectangle 9">
            <a:extLst xmlns:a="http://schemas.openxmlformats.org/drawingml/2006/main">
              <a:ext uri="{FF2B5EF4-FFF2-40B4-BE49-F238E27FC236}">
                <a16:creationId xmlns:a16="http://schemas.microsoft.com/office/drawing/2014/main" id="{FE8B26BC-9B18-4217-AFB4-AB995DA2CCF6}"/>
              </a:ext>
            </a:extLst>
          </p:cNvPr>
          <p:cNvSpPr>
            <a:spLocks xmlns:a="http://schemas.openxmlformats.org/drawingml/2006/main" noGrp="1"/>
          </p:cNvSpPr>
          <p:nvPr/>
        </p:nvSpPr>
        <p:spPr>
          <a:xfrm xmlns:a="http://schemas.openxmlformats.org/drawingml/2006/main">
            <a:off x="640080" y="1691640"/>
            <a:ext cx="3474720" cy="2240280"/>
          </a:xfrm>
          <a:prstGeom xmlns:a="http://schemas.openxmlformats.org/drawingml/2006/main" prst="roundRect">
            <a:avLst>
              <a:gd name="adj" fmla="val 8000"/>
            </a:avLst>
          </a:prstGeom>
          <a:solidFill xmlns:a="http://schemas.openxmlformats.org/drawingml/2006/main">
            <a:srgbClr val="142238"/>
          </a:solidFill>
          <a:ln xmlns:a="http://schemas.openxmlformats.org/drawingml/2006/main" w="12700">
            <a:solidFill>
              <a:srgbClr val="D8E4E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 name="TextBox 10">
            <a:extLst xmlns:a="http://schemas.openxmlformats.org/drawingml/2006/main">
              <a:ext uri="{FF2B5EF4-FFF2-40B4-BE49-F238E27FC236}">
                <a16:creationId xmlns:a16="http://schemas.microsoft.com/office/drawing/2014/main" id="{7605D186-4BAB-453F-B572-7F0774745A87}"/>
              </a:ext>
            </a:extLst>
          </p:cNvPr>
          <p:cNvSpPr>
            <a:spLocks xmlns:a="http://schemas.openxmlformats.org/drawingml/2006/main" noGrp="1"/>
          </p:cNvSpPr>
          <p:nvPr/>
        </p:nvSpPr>
        <p:spPr>
          <a:xfrm xmlns:a="http://schemas.openxmlformats.org/drawingml/2006/main">
            <a:off x="914400" y="1920240"/>
            <a:ext cx="292608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buNone/>
              <a:defRPr>
                <a:solidFill>
                  <a:srgbClr val="2DD4BF"/>
                </a:solidFill>
              </a:defRPr>
            </a:pPr>
            <a:r>
              <a:rPr sz="2000" b="1">
                <a:solidFill>
                  <a:srgbClr val="2DD4BF"/>
                </a:solidFill>
                <a:latin typeface="Calibri"/>
                <a:ea typeface="Calibri"/>
                <a:cs typeface="Calibri"/>
              </a:rPr>
              <a:t>1 · Shadow pilot</a:t>
            </a:r>
          </a:p>
        </p:txBody>
      </p:sp>
      <p:sp>
        <p:nvSpPr>
          <p:cNvPr id="12" name="TextBox 11">
            <a:extLst xmlns:a="http://schemas.openxmlformats.org/drawingml/2006/main">
              <a:ext uri="{FF2B5EF4-FFF2-40B4-BE49-F238E27FC236}">
                <a16:creationId xmlns:a16="http://schemas.microsoft.com/office/drawing/2014/main" id="{6C855175-AB8B-48A1-B5B2-2488654D273C}"/>
              </a:ext>
            </a:extLst>
          </p:cNvPr>
          <p:cNvSpPr>
            <a:spLocks xmlns:a="http://schemas.openxmlformats.org/drawingml/2006/main" noGrp="1"/>
          </p:cNvSpPr>
          <p:nvPr/>
        </p:nvSpPr>
        <p:spPr>
          <a:xfrm xmlns:a="http://schemas.openxmlformats.org/drawingml/2006/main">
            <a:off x="914400" y="2468880"/>
            <a:ext cx="292608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buNone/>
              <a:defRPr>
                <a:solidFill>
                  <a:srgbClr val="F8FAFC"/>
                </a:solidFill>
              </a:defRPr>
            </a:pPr>
            <a:r>
              <a:rPr sz="1500" b="0">
                <a:solidFill>
                  <a:srgbClr val="F8FAFC"/>
                </a:solidFill>
                <a:latin typeface="Calibri"/>
                <a:ea typeface="Calibri"/>
                <a:cs typeface="Calibri"/>
              </a:rPr>
              <a:t>Beside one team, real scans</a:t>
            </a:r>
          </a:p>
        </p:txBody>
      </p:sp>
      <p:sp>
        <p:nvSpPr>
          <p:cNvPr id="13" name="TextBox 12">
            <a:extLst xmlns:a="http://schemas.openxmlformats.org/drawingml/2006/main">
              <a:ext uri="{FF2B5EF4-FFF2-40B4-BE49-F238E27FC236}">
                <a16:creationId xmlns:a16="http://schemas.microsoft.com/office/drawing/2014/main" id="{2EEAEDDF-0749-403D-9663-F1FA1D7A6DED}"/>
              </a:ext>
            </a:extLst>
          </p:cNvPr>
          <p:cNvSpPr>
            <a:spLocks xmlns:a="http://schemas.openxmlformats.org/drawingml/2006/main" noGrp="1"/>
          </p:cNvSpPr>
          <p:nvPr/>
        </p:nvSpPr>
        <p:spPr>
          <a:xfrm xmlns:a="http://schemas.openxmlformats.org/drawingml/2006/main">
            <a:off x="914400" y="3246120"/>
            <a:ext cx="292608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buNone/>
              <a:defRPr>
                <a:solidFill>
                  <a:srgbClr val="F8FAFC"/>
                </a:solidFill>
              </a:defRPr>
            </a:pPr>
            <a:r>
              <a:rPr sz="1400" b="1">
                <a:solidFill>
                  <a:srgbClr val="F8FAFC"/>
                </a:solidFill>
                <a:latin typeface="Calibri"/>
                <a:ea typeface="Calibri"/>
                <a:cs typeface="Calibri"/>
              </a:rPr>
              <a:t>Exit: ≥ 95% agreement</a:t>
            </a:r>
          </a:p>
        </p:txBody>
      </p:sp>
      <p:sp>
        <p:nvSpPr>
          <p:cNvPr id="14" name="Rounded Rectangle 13">
            <a:extLst xmlns:a="http://schemas.openxmlformats.org/drawingml/2006/main">
              <a:ext uri="{FF2B5EF4-FFF2-40B4-BE49-F238E27FC236}">
                <a16:creationId xmlns:a16="http://schemas.microsoft.com/office/drawing/2014/main" id="{A7F832D0-CA7E-4B44-8281-8A947E256DE9}"/>
              </a:ext>
            </a:extLst>
          </p:cNvPr>
          <p:cNvSpPr>
            <a:spLocks xmlns:a="http://schemas.openxmlformats.org/drawingml/2006/main" noGrp="1"/>
          </p:cNvSpPr>
          <p:nvPr/>
        </p:nvSpPr>
        <p:spPr>
          <a:xfrm xmlns:a="http://schemas.openxmlformats.org/drawingml/2006/main">
            <a:off x="4343400" y="1691640"/>
            <a:ext cx="3474720" cy="2240280"/>
          </a:xfrm>
          <a:prstGeom xmlns:a="http://schemas.openxmlformats.org/drawingml/2006/main" prst="roundRect">
            <a:avLst>
              <a:gd name="adj" fmla="val 8000"/>
            </a:avLst>
          </a:prstGeom>
          <a:solidFill xmlns:a="http://schemas.openxmlformats.org/drawingml/2006/main">
            <a:srgbClr val="142238"/>
          </a:solidFill>
          <a:ln xmlns:a="http://schemas.openxmlformats.org/drawingml/2006/main" w="12700">
            <a:solidFill>
              <a:srgbClr val="D8E4E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5" name="TextBox 14">
            <a:extLst xmlns:a="http://schemas.openxmlformats.org/drawingml/2006/main">
              <a:ext uri="{FF2B5EF4-FFF2-40B4-BE49-F238E27FC236}">
                <a16:creationId xmlns:a16="http://schemas.microsoft.com/office/drawing/2014/main" id="{CB2D53CA-F052-4E8B-B107-CFCB611F6A14}"/>
              </a:ext>
            </a:extLst>
          </p:cNvPr>
          <p:cNvSpPr>
            <a:spLocks xmlns:a="http://schemas.openxmlformats.org/drawingml/2006/main" noGrp="1"/>
          </p:cNvSpPr>
          <p:nvPr/>
        </p:nvSpPr>
        <p:spPr>
          <a:xfrm xmlns:a="http://schemas.openxmlformats.org/drawingml/2006/main">
            <a:off x="4617720" y="1920240"/>
            <a:ext cx="292608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buNone/>
              <a:defRPr>
                <a:solidFill>
                  <a:srgbClr val="2DD4BF"/>
                </a:solidFill>
              </a:defRPr>
            </a:pPr>
            <a:r>
              <a:rPr sz="2000" b="1">
                <a:solidFill>
                  <a:srgbClr val="2DD4BF"/>
                </a:solidFill>
                <a:latin typeface="Calibri"/>
                <a:ea typeface="Calibri"/>
                <a:cs typeface="Calibri"/>
              </a:rPr>
              <a:t>2 · Assisted</a:t>
            </a:r>
          </a:p>
        </p:txBody>
      </p:sp>
      <p:sp>
        <p:nvSpPr>
          <p:cNvPr id="16" name="TextBox 15">
            <a:extLst xmlns:a="http://schemas.openxmlformats.org/drawingml/2006/main">
              <a:ext uri="{FF2B5EF4-FFF2-40B4-BE49-F238E27FC236}">
                <a16:creationId xmlns:a16="http://schemas.microsoft.com/office/drawing/2014/main" id="{D12111D0-6CC5-4C9A-A960-B6BAFDA9BC3C}"/>
              </a:ext>
            </a:extLst>
          </p:cNvPr>
          <p:cNvSpPr>
            <a:spLocks xmlns:a="http://schemas.openxmlformats.org/drawingml/2006/main" noGrp="1"/>
          </p:cNvSpPr>
          <p:nvPr/>
        </p:nvSpPr>
        <p:spPr>
          <a:xfrm xmlns:a="http://schemas.openxmlformats.org/drawingml/2006/main">
            <a:off x="4617720" y="2468880"/>
            <a:ext cx="292608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buNone/>
              <a:defRPr>
                <a:solidFill>
                  <a:srgbClr val="F8FAFC"/>
                </a:solidFill>
              </a:defRPr>
            </a:pPr>
            <a:r>
              <a:rPr sz="1500" b="0">
                <a:solidFill>
                  <a:srgbClr val="F8FAFC"/>
                </a:solidFill>
                <a:latin typeface="Calibri"/>
                <a:ea typeface="Calibri"/>
                <a:cs typeface="Calibri"/>
              </a:rPr>
              <a:t>People confirm recommendations</a:t>
            </a:r>
          </a:p>
        </p:txBody>
      </p:sp>
      <p:sp>
        <p:nvSpPr>
          <p:cNvPr id="17" name="TextBox 16">
            <a:extLst xmlns:a="http://schemas.openxmlformats.org/drawingml/2006/main">
              <a:ext uri="{FF2B5EF4-FFF2-40B4-BE49-F238E27FC236}">
                <a16:creationId xmlns:a16="http://schemas.microsoft.com/office/drawing/2014/main" id="{808B7ADE-7FCA-47C7-A8BB-BA511DB27438}"/>
              </a:ext>
            </a:extLst>
          </p:cNvPr>
          <p:cNvSpPr>
            <a:spLocks xmlns:a="http://schemas.openxmlformats.org/drawingml/2006/main" noGrp="1"/>
          </p:cNvSpPr>
          <p:nvPr/>
        </p:nvSpPr>
        <p:spPr>
          <a:xfrm xmlns:a="http://schemas.openxmlformats.org/drawingml/2006/main">
            <a:off x="4617720" y="3246120"/>
            <a:ext cx="292608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buNone/>
              <a:defRPr>
                <a:solidFill>
                  <a:srgbClr val="F8FAFC"/>
                </a:solidFill>
              </a:defRPr>
            </a:pPr>
            <a:r>
              <a:rPr sz="1400" b="1">
                <a:solidFill>
                  <a:srgbClr val="F8FAFC"/>
                </a:solidFill>
                <a:latin typeface="Calibri"/>
                <a:ea typeface="Calibri"/>
                <a:cs typeface="Calibri"/>
              </a:rPr>
              <a:t>Exit: &lt; 5% overrides</a:t>
            </a:r>
          </a:p>
        </p:txBody>
      </p:sp>
      <p:sp>
        <p:nvSpPr>
          <p:cNvPr id="18" name="Rounded Rectangle 17">
            <a:extLst xmlns:a="http://schemas.openxmlformats.org/drawingml/2006/main">
              <a:ext uri="{FF2B5EF4-FFF2-40B4-BE49-F238E27FC236}">
                <a16:creationId xmlns:a16="http://schemas.microsoft.com/office/drawing/2014/main" id="{46D3EDE6-555D-4940-8BB3-80FC78648739}"/>
              </a:ext>
            </a:extLst>
          </p:cNvPr>
          <p:cNvSpPr>
            <a:spLocks xmlns:a="http://schemas.openxmlformats.org/drawingml/2006/main" noGrp="1"/>
          </p:cNvSpPr>
          <p:nvPr/>
        </p:nvSpPr>
        <p:spPr>
          <a:xfrm xmlns:a="http://schemas.openxmlformats.org/drawingml/2006/main">
            <a:off x="8046719" y="1691640"/>
            <a:ext cx="3474720" cy="2240280"/>
          </a:xfrm>
          <a:prstGeom xmlns:a="http://schemas.openxmlformats.org/drawingml/2006/main" prst="roundRect">
            <a:avLst>
              <a:gd name="adj" fmla="val 8000"/>
            </a:avLst>
          </a:prstGeom>
          <a:solidFill xmlns:a="http://schemas.openxmlformats.org/drawingml/2006/main">
            <a:srgbClr val="142238"/>
          </a:solidFill>
          <a:ln xmlns:a="http://schemas.openxmlformats.org/drawingml/2006/main" w="12700">
            <a:solidFill>
              <a:srgbClr val="D8E4E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9" name="TextBox 18">
            <a:extLst xmlns:a="http://schemas.openxmlformats.org/drawingml/2006/main">
              <a:ext uri="{FF2B5EF4-FFF2-40B4-BE49-F238E27FC236}">
                <a16:creationId xmlns:a16="http://schemas.microsoft.com/office/drawing/2014/main" id="{5D080D82-5456-4D60-8300-EF86F7D0CCFE}"/>
              </a:ext>
            </a:extLst>
          </p:cNvPr>
          <p:cNvSpPr>
            <a:spLocks xmlns:a="http://schemas.openxmlformats.org/drawingml/2006/main" noGrp="1"/>
          </p:cNvSpPr>
          <p:nvPr/>
        </p:nvSpPr>
        <p:spPr>
          <a:xfrm xmlns:a="http://schemas.openxmlformats.org/drawingml/2006/main">
            <a:off x="8321039" y="1920240"/>
            <a:ext cx="292608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buNone/>
              <a:defRPr>
                <a:solidFill>
                  <a:srgbClr val="2DD4BF"/>
                </a:solidFill>
              </a:defRPr>
            </a:pPr>
            <a:r>
              <a:rPr sz="2000" b="1">
                <a:solidFill>
                  <a:srgbClr val="2DD4BF"/>
                </a:solidFill>
                <a:latin typeface="Calibri"/>
                <a:ea typeface="Calibri"/>
                <a:cs typeface="Calibri"/>
              </a:rPr>
              <a:t>3 · Straight-through</a:t>
            </a:r>
          </a:p>
        </p:txBody>
      </p:sp>
      <p:sp>
        <p:nvSpPr>
          <p:cNvPr id="20" name="TextBox 19">
            <a:extLst xmlns:a="http://schemas.openxmlformats.org/drawingml/2006/main">
              <a:ext uri="{FF2B5EF4-FFF2-40B4-BE49-F238E27FC236}">
                <a16:creationId xmlns:a16="http://schemas.microsoft.com/office/drawing/2014/main" id="{0AABA66E-86F9-40C1-A1D0-8EC1C73CAFC5}"/>
              </a:ext>
            </a:extLst>
          </p:cNvPr>
          <p:cNvSpPr>
            <a:spLocks xmlns:a="http://schemas.openxmlformats.org/drawingml/2006/main" noGrp="1"/>
          </p:cNvSpPr>
          <p:nvPr/>
        </p:nvSpPr>
        <p:spPr>
          <a:xfrm xmlns:a="http://schemas.openxmlformats.org/drawingml/2006/main">
            <a:off x="8321039" y="2468880"/>
            <a:ext cx="292608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buNone/>
              <a:defRPr>
                <a:solidFill>
                  <a:srgbClr val="F8FAFC"/>
                </a:solidFill>
              </a:defRPr>
            </a:pPr>
            <a:r>
              <a:rPr sz="1500" b="0">
                <a:solidFill>
                  <a:srgbClr val="F8FAFC"/>
                </a:solidFill>
                <a:latin typeface="Calibri"/>
                <a:ea typeface="Calibri"/>
                <a:cs typeface="Calibri"/>
              </a:rPr>
              <a:t>Clean claims go automatically</a:t>
            </a:r>
          </a:p>
        </p:txBody>
      </p:sp>
      <p:sp>
        <p:nvSpPr>
          <p:cNvPr id="21" name="TextBox 20">
            <a:extLst xmlns:a="http://schemas.openxmlformats.org/drawingml/2006/main">
              <a:ext uri="{FF2B5EF4-FFF2-40B4-BE49-F238E27FC236}">
                <a16:creationId xmlns:a16="http://schemas.microsoft.com/office/drawing/2014/main" id="{309B0DD6-616C-44AF-A44C-DEA98BC09AC7}"/>
              </a:ext>
            </a:extLst>
          </p:cNvPr>
          <p:cNvSpPr>
            <a:spLocks xmlns:a="http://schemas.openxmlformats.org/drawingml/2006/main" noGrp="1"/>
          </p:cNvSpPr>
          <p:nvPr/>
        </p:nvSpPr>
        <p:spPr>
          <a:xfrm xmlns:a="http://schemas.openxmlformats.org/drawingml/2006/main">
            <a:off x="8321039" y="3246120"/>
            <a:ext cx="292608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buNone/>
              <a:defRPr>
                <a:solidFill>
                  <a:srgbClr val="F8FAFC"/>
                </a:solidFill>
              </a:defRPr>
            </a:pPr>
            <a:r>
              <a:rPr sz="1400" b="1">
                <a:solidFill>
                  <a:srgbClr val="F8FAFC"/>
                </a:solidFill>
                <a:latin typeface="Calibri"/>
                <a:ea typeface="Calibri"/>
                <a:cs typeface="Calibri"/>
              </a:rPr>
              <a:t>Escalations stay human</a:t>
            </a:r>
          </a:p>
        </p:txBody>
      </p:sp>
      <p:sp>
        <p:nvSpPr>
          <p:cNvPr id="22" name="Rounded Rectangle 21">
            <a:extLst xmlns:a="http://schemas.openxmlformats.org/drawingml/2006/main">
              <a:ext uri="{FF2B5EF4-FFF2-40B4-BE49-F238E27FC236}">
                <a16:creationId xmlns:a16="http://schemas.microsoft.com/office/drawing/2014/main" id="{22AF3734-321B-45E2-BC2E-5C36294462C1}"/>
              </a:ext>
            </a:extLst>
          </p:cNvPr>
          <p:cNvSpPr>
            <a:spLocks xmlns:a="http://schemas.openxmlformats.org/drawingml/2006/main" noGrp="1"/>
          </p:cNvSpPr>
          <p:nvPr/>
        </p:nvSpPr>
        <p:spPr>
          <a:xfrm xmlns:a="http://schemas.openxmlformats.org/drawingml/2006/main">
            <a:off x="640080" y="4251960"/>
            <a:ext cx="10881360" cy="1828800"/>
          </a:xfrm>
          <a:prstGeom xmlns:a="http://schemas.openxmlformats.org/drawingml/2006/main" prst="roundRect">
            <a:avLst>
              <a:gd name="adj" fmla="val 8000"/>
            </a:avLst>
          </a:prstGeom>
          <a:solidFill xmlns:a="http://schemas.openxmlformats.org/drawingml/2006/main">
            <a:srgbClr val="203A4D"/>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3" name="TextBox 22">
            <a:extLst xmlns:a="http://schemas.openxmlformats.org/drawingml/2006/main">
              <a:ext uri="{FF2B5EF4-FFF2-40B4-BE49-F238E27FC236}">
                <a16:creationId xmlns:a16="http://schemas.microsoft.com/office/drawing/2014/main" id="{9E5004CD-413A-46DF-83FA-20B511AE9BBD}"/>
              </a:ext>
            </a:extLst>
          </p:cNvPr>
          <p:cNvSpPr>
            <a:spLocks xmlns:a="http://schemas.openxmlformats.org/drawingml/2006/main" noGrp="1"/>
          </p:cNvSpPr>
          <p:nvPr/>
        </p:nvSpPr>
        <p:spPr>
          <a:xfrm xmlns:a="http://schemas.openxmlformats.org/drawingml/2006/main">
            <a:off x="914400" y="4480560"/>
            <a:ext cx="104241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buNone/>
              <a:defRPr>
                <a:solidFill>
                  <a:srgbClr val="2DD4BF"/>
                </a:solidFill>
              </a:defRPr>
            </a:pPr>
            <a:r>
              <a:rPr sz="1300" b="1">
                <a:solidFill>
                  <a:srgbClr val="2DD4BF"/>
                </a:solidFill>
                <a:latin typeface="Calibri"/>
                <a:ea typeface="Calibri"/>
                <a:cs typeface="Calibri"/>
              </a:rPr>
              <a:t>DECISIONS I NEED TODAY</a:t>
            </a:r>
          </a:p>
        </p:txBody>
      </p:sp>
      <p:sp>
        <p:nvSpPr>
          <p:cNvPr id="24" name="TextBox 23">
            <a:extLst xmlns:a="http://schemas.openxmlformats.org/drawingml/2006/main">
              <a:ext uri="{FF2B5EF4-FFF2-40B4-BE49-F238E27FC236}">
                <a16:creationId xmlns:a16="http://schemas.microsoft.com/office/drawing/2014/main" id="{28A40D63-A51F-4F6E-AFB6-38F6080119D0}"/>
              </a:ext>
            </a:extLst>
          </p:cNvPr>
          <p:cNvSpPr>
            <a:spLocks xmlns:a="http://schemas.openxmlformats.org/drawingml/2006/main" noGrp="1"/>
          </p:cNvSpPr>
          <p:nvPr/>
        </p:nvSpPr>
        <p:spPr>
          <a:xfrm xmlns:a="http://schemas.openxmlformats.org/drawingml/2006/main">
            <a:off x="914400" y="4892040"/>
            <a:ext cx="1042416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buNone/>
              <a:defRPr>
                <a:solidFill>
                  <a:srgbClr val="F8FAFC"/>
                </a:solidFill>
              </a:defRPr>
            </a:pPr>
            <a:r>
              <a:rPr sz="1700" b="0">
                <a:solidFill>
                  <a:srgbClr val="F8FAFC"/>
                </a:solidFill>
                <a:latin typeface="Calibri"/>
                <a:ea typeface="Calibri"/>
                <a:cs typeface="Calibri"/>
              </a:rPr>
              <a:t>1.  Name a pilot team and adjudication owner</a:t>
            </a:r>
          </a:p>
          <a:p xmlns:a="http://schemas.openxmlformats.org/drawingml/2006/main">
            <a:pPr algn="l">
              <a:buNone/>
              <a:defRPr>
                <a:solidFill>
                  <a:srgbClr val="F8FAFC"/>
                </a:solidFill>
              </a:defRPr>
            </a:pPr>
            <a:r>
              <a:rPr sz="1700" b="0">
                <a:solidFill>
                  <a:srgbClr val="F8FAFC"/>
                </a:solidFill>
                <a:latin typeface="Calibri"/>
                <a:ea typeface="Calibri"/>
                <a:cs typeface="Calibri"/>
              </a:rPr>
              <a:t>2.  Review model-provider and data controls</a:t>
            </a:r>
          </a:p>
          <a:p xmlns:a="http://schemas.openxmlformats.org/drawingml/2006/main">
            <a:pPr algn="l">
              <a:buNone/>
              <a:defRPr>
                <a:solidFill>
                  <a:srgbClr val="F8FAFC"/>
                </a:solidFill>
              </a:defRPr>
            </a:pPr>
            <a:r>
              <a:rPr sz="1700" b="0">
                <a:solidFill>
                  <a:srgbClr val="F8FAFC"/>
                </a:solidFill>
                <a:latin typeface="Calibri"/>
                <a:ea typeface="Calibri"/>
                <a:cs typeface="Calibri"/>
              </a:rPr>
              <a:t>3.  Scope SSO and durable AWS checkpoints</a:t>
            </a:r>
          </a:p>
        </p:txBody>
      </p:sp>
    </p:spTree>
    <p:extLst>
      <p:ext uri="{BB962C8B-B14F-4D97-AF65-F5344CB8AC3E}">
        <p14:creationId xmlns:p14="http://schemas.microsoft.com/office/powerpoint/2010/main" val="1874153889"/>
      </p:ext>
    </p:extLst>
  </p:cSld>
</p:sld>
</file>

<file path=ppt/slides/slide9.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1667EF3C-FDF8-4E6D-B87E-29DB5BF5B8AE}"/>
              </a:ext>
            </a:extLst>
          </p:cNvPr>
          <p:cNvSpPr>
            <a:spLocks xmlns:a="http://schemas.openxmlformats.org/drawingml/2006/main" noGrp="1"/>
          </p:cNvSpPr>
          <p:nvPr/>
        </p:nvSpPr>
        <p:spPr>
          <a:xfrm xmlns:a="http://schemas.openxmlformats.org/drawingml/2006/main">
            <a:off x="0" y="0"/>
            <a:ext cx="12191695" cy="109728"/>
          </a:xfrm>
          <a:prstGeom xmlns:a="http://schemas.openxmlformats.org/drawingml/2006/main" prst="rect">
            <a:avLst/>
          </a:prstGeom>
          <a:solidFill xmlns:a="http://schemas.openxmlformats.org/drawingml/2006/main">
            <a:srgbClr val="2DD4B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3F121303-960A-4224-9757-053459FD8D20}"/>
              </a:ext>
            </a:extLst>
          </p:cNvPr>
          <p:cNvSpPr>
            <a:spLocks xmlns:a="http://schemas.openxmlformats.org/drawingml/2006/main" noGrp="1"/>
          </p:cNvSpPr>
          <p:nvPr/>
        </p:nvSpPr>
        <p:spPr>
          <a:xfrm xmlns:a="http://schemas.openxmlformats.org/drawingml/2006/main">
            <a:off x="640080" y="411480"/>
            <a:ext cx="91440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buNone/>
              <a:defRPr>
                <a:solidFill>
                  <a:srgbClr val="2DD4BF"/>
                </a:solidFill>
              </a:defRPr>
            </a:pPr>
            <a:r>
              <a:rPr sz="1200" b="1">
                <a:solidFill>
                  <a:srgbClr val="2DD4BF"/>
                </a:solidFill>
                <a:latin typeface="Calibri"/>
                <a:ea typeface="Calibri"/>
                <a:cs typeface="Calibri"/>
              </a:rPr>
              <a:t>APPENDIX · SCOPE</a:t>
            </a:r>
          </a:p>
        </p:txBody>
      </p:sp>
      <p:sp>
        <p:nvSpPr>
          <p:cNvPr id="4" name="TextBox 3">
            <a:extLst xmlns:a="http://schemas.openxmlformats.org/drawingml/2006/main">
              <a:ext uri="{FF2B5EF4-FFF2-40B4-BE49-F238E27FC236}">
                <a16:creationId xmlns:a16="http://schemas.microsoft.com/office/drawing/2014/main" id="{6FFBD274-AD70-4BBD-A876-934E4E48EFD8}"/>
              </a:ext>
            </a:extLst>
          </p:cNvPr>
          <p:cNvSpPr>
            <a:spLocks xmlns:a="http://schemas.openxmlformats.org/drawingml/2006/main" noGrp="1"/>
          </p:cNvSpPr>
          <p:nvPr/>
        </p:nvSpPr>
        <p:spPr>
          <a:xfrm xmlns:a="http://schemas.openxmlformats.org/drawingml/2006/main">
            <a:off x="640080" y="685800"/>
            <a:ext cx="1097280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buNone/>
              <a:defRPr>
                <a:solidFill>
                  <a:srgbClr val="F8FAFC"/>
                </a:solidFill>
              </a:defRPr>
            </a:pPr>
            <a:r>
              <a:rPr sz="3200" b="1">
                <a:solidFill>
                  <a:srgbClr val="F8FAFC"/>
                </a:solidFill>
                <a:latin typeface="Calibri"/>
                <a:ea typeface="Calibri"/>
                <a:cs typeface="Calibri"/>
              </a:rPr>
              <a:t>Required scope is implemented</a:t>
            </a:r>
          </a:p>
        </p:txBody>
      </p:sp>
      <p:sp>
        <p:nvSpPr>
          <p:cNvPr id="5" name="Pentagon 4">
            <a:extLst xmlns:a="http://schemas.openxmlformats.org/drawingml/2006/main">
              <a:ext uri="{FF2B5EF4-FFF2-40B4-BE49-F238E27FC236}">
                <a16:creationId xmlns:a16="http://schemas.microsoft.com/office/drawing/2014/main" id="{F4F64720-93AC-4BBD-8702-394723F05DB2}"/>
              </a:ext>
            </a:extLst>
          </p:cNvPr>
          <p:cNvSpPr>
            <a:spLocks xmlns:a="http://schemas.openxmlformats.org/drawingml/2006/main" noGrp="1"/>
          </p:cNvSpPr>
          <p:nvPr/>
        </p:nvSpPr>
        <p:spPr>
          <a:xfrm xmlns:a="http://schemas.openxmlformats.org/drawingml/2006/main" rot="5400000">
            <a:off x="11201400" y="384048"/>
            <a:ext cx="384048" cy="384048"/>
          </a:xfrm>
          <a:prstGeom xmlns:a="http://schemas.openxmlformats.org/drawingml/2006/main" prst="homePlate">
            <a:avLst/>
          </a:prstGeom>
          <a:solidFill xmlns:a="http://schemas.openxmlformats.org/drawingml/2006/main">
            <a:srgbClr val="2DD4B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Rectangle 5">
            <a:extLst xmlns:a="http://schemas.openxmlformats.org/drawingml/2006/main">
              <a:ext uri="{FF2B5EF4-FFF2-40B4-BE49-F238E27FC236}">
                <a16:creationId xmlns:a16="http://schemas.microsoft.com/office/drawing/2014/main" id="{41B532C9-30D2-4098-A968-D698B7F12466}"/>
              </a:ext>
            </a:extLst>
          </p:cNvPr>
          <p:cNvSpPr>
            <a:spLocks xmlns:a="http://schemas.openxmlformats.org/drawingml/2006/main" noGrp="1"/>
          </p:cNvSpPr>
          <p:nvPr/>
        </p:nvSpPr>
        <p:spPr>
          <a:xfrm xmlns:a="http://schemas.openxmlformats.org/drawingml/2006/main">
            <a:off x="11358860" y="453177"/>
            <a:ext cx="69128" cy="215066"/>
          </a:xfrm>
          <a:prstGeom xmlns:a="http://schemas.openxmlformats.org/drawingml/2006/main" prst="rect">
            <a:avLst/>
          </a:prstGeom>
          <a:solidFill xmlns:a="http://schemas.openxmlformats.org/drawingml/2006/main">
            <a:srgbClr val="14223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Rectangle 6">
            <a:extLst xmlns:a="http://schemas.openxmlformats.org/drawingml/2006/main">
              <a:ext uri="{FF2B5EF4-FFF2-40B4-BE49-F238E27FC236}">
                <a16:creationId xmlns:a16="http://schemas.microsoft.com/office/drawing/2014/main" id="{E296A8A1-56A0-49DE-A5F8-22FB260A5861}"/>
              </a:ext>
            </a:extLst>
          </p:cNvPr>
          <p:cNvSpPr>
            <a:spLocks xmlns:a="http://schemas.openxmlformats.org/drawingml/2006/main" noGrp="1"/>
          </p:cNvSpPr>
          <p:nvPr/>
        </p:nvSpPr>
        <p:spPr>
          <a:xfrm xmlns:a="http://schemas.openxmlformats.org/drawingml/2006/main">
            <a:off x="11285891" y="526146"/>
            <a:ext cx="215066" cy="69128"/>
          </a:xfrm>
          <a:prstGeom xmlns:a="http://schemas.openxmlformats.org/drawingml/2006/main" prst="rect">
            <a:avLst/>
          </a:prstGeom>
          <a:solidFill xmlns:a="http://schemas.openxmlformats.org/drawingml/2006/main">
            <a:srgbClr val="14223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 name="TextBox 7">
            <a:extLst xmlns:a="http://schemas.openxmlformats.org/drawingml/2006/main">
              <a:ext uri="{FF2B5EF4-FFF2-40B4-BE49-F238E27FC236}">
                <a16:creationId xmlns:a16="http://schemas.microsoft.com/office/drawing/2014/main" id="{F42A9A6E-22E9-4C37-882A-4A858C297E6D}"/>
              </a:ext>
            </a:extLst>
          </p:cNvPr>
          <p:cNvSpPr>
            <a:spLocks xmlns:a="http://schemas.openxmlformats.org/drawingml/2006/main" noGrp="1"/>
          </p:cNvSpPr>
          <p:nvPr/>
        </p:nvSpPr>
        <p:spPr>
          <a:xfrm xmlns:a="http://schemas.openxmlformats.org/drawingml/2006/main">
            <a:off x="640080" y="6446520"/>
            <a:ext cx="7315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buNone/>
              <a:defRPr>
                <a:solidFill>
                  <a:srgbClr val="CBD5E1"/>
                </a:solidFill>
              </a:defRPr>
            </a:pPr>
            <a:r>
              <a:rPr sz="1000" b="0">
                <a:solidFill>
                  <a:srgbClr val="CBD5E1"/>
                </a:solidFill>
                <a:latin typeface="Calibri"/>
                <a:ea typeface="Calibri"/>
                <a:cs typeface="Calibri"/>
              </a:rPr>
              <a:t>MediShield Health · Appendix</a:t>
            </a:r>
          </a:p>
        </p:txBody>
      </p:sp>
      <p:sp>
        <p:nvSpPr>
          <p:cNvPr id="9" name="TextBox 8">
            <a:extLst xmlns:a="http://schemas.openxmlformats.org/drawingml/2006/main">
              <a:ext uri="{FF2B5EF4-FFF2-40B4-BE49-F238E27FC236}">
                <a16:creationId xmlns:a16="http://schemas.microsoft.com/office/drawing/2014/main" id="{E907C623-4121-4BB2-8C9D-D579660C7159}"/>
              </a:ext>
            </a:extLst>
          </p:cNvPr>
          <p:cNvSpPr>
            <a:spLocks xmlns:a="http://schemas.openxmlformats.org/drawingml/2006/main" noGrp="1"/>
          </p:cNvSpPr>
          <p:nvPr/>
        </p:nvSpPr>
        <p:spPr>
          <a:xfrm xmlns:a="http://schemas.openxmlformats.org/drawingml/2006/main">
            <a:off x="10881360" y="6446520"/>
            <a:ext cx="7315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r">
              <a:buNone/>
              <a:defRPr>
                <a:solidFill>
                  <a:srgbClr val="CBD5E1"/>
                </a:solidFill>
              </a:defRPr>
            </a:pPr>
            <a:r>
              <a:rPr sz="1000" b="0">
                <a:solidFill>
                  <a:srgbClr val="CBD5E1"/>
                </a:solidFill>
                <a:latin typeface="Calibri"/>
                <a:ea typeface="Calibri"/>
                <a:cs typeface="Calibri"/>
              </a:rPr>
              <a:t>9</a:t>
            </a:r>
          </a:p>
        </p:txBody>
      </p:sp>
      <p:sp>
        <p:nvSpPr>
          <p:cNvPr id="10" name="Rounded Rectangle 9">
            <a:extLst xmlns:a="http://schemas.openxmlformats.org/drawingml/2006/main">
              <a:ext uri="{FF2B5EF4-FFF2-40B4-BE49-F238E27FC236}">
                <a16:creationId xmlns:a16="http://schemas.microsoft.com/office/drawing/2014/main" id="{B66C690B-7BDE-4254-944C-DACB8084B947}"/>
              </a:ext>
            </a:extLst>
          </p:cNvPr>
          <p:cNvSpPr>
            <a:spLocks xmlns:a="http://schemas.openxmlformats.org/drawingml/2006/main" noGrp="1"/>
          </p:cNvSpPr>
          <p:nvPr/>
        </p:nvSpPr>
        <p:spPr>
          <a:xfrm xmlns:a="http://schemas.openxmlformats.org/drawingml/2006/main">
            <a:off x="640080" y="1691640"/>
            <a:ext cx="3474720" cy="4434840"/>
          </a:xfrm>
          <a:prstGeom xmlns:a="http://schemas.openxmlformats.org/drawingml/2006/main" prst="roundRect">
            <a:avLst>
              <a:gd name="adj" fmla="val 8000"/>
            </a:avLst>
          </a:prstGeom>
          <a:solidFill xmlns:a="http://schemas.openxmlformats.org/drawingml/2006/main">
            <a:srgbClr val="142238"/>
          </a:solidFill>
          <a:ln xmlns:a="http://schemas.openxmlformats.org/drawingml/2006/main" w="12700">
            <a:solidFill>
              <a:srgbClr val="D8E4E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 name="TextBox 10">
            <a:extLst xmlns:a="http://schemas.openxmlformats.org/drawingml/2006/main">
              <a:ext uri="{FF2B5EF4-FFF2-40B4-BE49-F238E27FC236}">
                <a16:creationId xmlns:a16="http://schemas.microsoft.com/office/drawing/2014/main" id="{EC0927BE-ADA3-45ED-9AF8-43B0833BE2F0}"/>
              </a:ext>
            </a:extLst>
          </p:cNvPr>
          <p:cNvSpPr>
            <a:spLocks xmlns:a="http://schemas.openxmlformats.org/drawingml/2006/main" noGrp="1"/>
          </p:cNvSpPr>
          <p:nvPr/>
        </p:nvSpPr>
        <p:spPr>
          <a:xfrm xmlns:a="http://schemas.openxmlformats.org/drawingml/2006/main">
            <a:off x="960120" y="1920240"/>
            <a:ext cx="292608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buNone/>
              <a:defRPr>
                <a:solidFill>
                  <a:srgbClr val="2DD4BF"/>
                </a:solidFill>
              </a:defRPr>
            </a:pPr>
            <a:r>
              <a:rPr sz="2000" b="1">
                <a:solidFill>
                  <a:srgbClr val="2DD4BF"/>
                </a:solidFill>
                <a:latin typeface="Calibri"/>
                <a:ea typeface="Calibri"/>
                <a:cs typeface="Calibri"/>
              </a:rPr>
              <a:t>The brief</a:t>
            </a:r>
          </a:p>
        </p:txBody>
      </p:sp>
      <p:sp>
        <p:nvSpPr>
          <p:cNvPr id="12" name="TextBox 11">
            <a:extLst xmlns:a="http://schemas.openxmlformats.org/drawingml/2006/main">
              <a:ext uri="{FF2B5EF4-FFF2-40B4-BE49-F238E27FC236}">
                <a16:creationId xmlns:a16="http://schemas.microsoft.com/office/drawing/2014/main" id="{69A80022-C11C-4D52-B4DB-5204AC4CCC2E}"/>
              </a:ext>
            </a:extLst>
          </p:cNvPr>
          <p:cNvSpPr>
            <a:spLocks xmlns:a="http://schemas.openxmlformats.org/drawingml/2006/main" noGrp="1"/>
          </p:cNvSpPr>
          <p:nvPr/>
        </p:nvSpPr>
        <p:spPr>
          <a:xfrm xmlns:a="http://schemas.openxmlformats.org/drawingml/2006/main">
            <a:off x="960120" y="2377440"/>
            <a:ext cx="292608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buNone/>
              <a:defRPr>
                <a:solidFill>
                  <a:srgbClr val="CBD5E1"/>
                </a:solidFill>
              </a:defRPr>
            </a:pPr>
            <a:r>
              <a:rPr sz="1400" b="0">
                <a:solidFill>
                  <a:srgbClr val="CBD5E1"/>
                </a:solidFill>
                <a:latin typeface="Calibri"/>
                <a:ea typeface="Calibri"/>
                <a:cs typeface="Calibri"/>
              </a:rPr>
              <a:t>Replaces the manual sorting and checking</a:t>
            </a:r>
          </a:p>
        </p:txBody>
      </p:sp>
      <p:sp>
        <p:nvSpPr>
          <p:cNvPr id="13" name="TextBox 12">
            <a:extLst xmlns:a="http://schemas.openxmlformats.org/drawingml/2006/main">
              <a:ext uri="{FF2B5EF4-FFF2-40B4-BE49-F238E27FC236}">
                <a16:creationId xmlns:a16="http://schemas.microsoft.com/office/drawing/2014/main" id="{DC185E13-120F-4BE3-B347-4B632029C70F}"/>
              </a:ext>
            </a:extLst>
          </p:cNvPr>
          <p:cNvSpPr>
            <a:spLocks xmlns:a="http://schemas.openxmlformats.org/drawingml/2006/main" noGrp="1"/>
          </p:cNvSpPr>
          <p:nvPr/>
        </p:nvSpPr>
        <p:spPr>
          <a:xfrm xmlns:a="http://schemas.openxmlformats.org/drawingml/2006/main">
            <a:off x="960120" y="3154680"/>
            <a:ext cx="2926080" cy="283464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buNone/>
              <a:defRPr>
                <a:solidFill>
                  <a:srgbClr val="F8FAFC"/>
                </a:solidFill>
              </a:defRPr>
            </a:pPr>
            <a:r>
              <a:rPr sz="1600" b="0">
                <a:solidFill>
                  <a:srgbClr val="F8FAFC"/>
                </a:solidFill>
                <a:latin typeface="Calibri"/>
                <a:ea typeface="Calibri"/>
                <a:cs typeface="Calibri"/>
              </a:rPr>
              <a:t>✓  Seven agent roles, routed by type</a:t>
            </a:r>
          </a:p>
          <a:p xmlns:a="http://schemas.openxmlformats.org/drawingml/2006/main">
            <a:pPr algn="l">
              <a:buNone/>
              <a:defRPr>
                <a:solidFill>
                  <a:srgbClr val="F8FAFC"/>
                </a:solidFill>
              </a:defRPr>
            </a:pPr>
            <a:r>
              <a:rPr sz="1600" b="0">
                <a:solidFill>
                  <a:srgbClr val="F8FAFC"/>
                </a:solidFill>
                <a:latin typeface="Calibri"/>
                <a:ea typeface="Calibri"/>
                <a:cs typeface="Calibri"/>
              </a:rPr>
              <a:t>✓  Intake API and case workflow</a:t>
            </a:r>
          </a:p>
          <a:p xmlns:a="http://schemas.openxmlformats.org/drawingml/2006/main">
            <a:pPr algn="l">
              <a:buNone/>
              <a:defRPr>
                <a:solidFill>
                  <a:srgbClr val="F8FAFC"/>
                </a:solidFill>
              </a:defRPr>
            </a:pPr>
            <a:r>
              <a:rPr sz="1600" b="0">
                <a:solidFill>
                  <a:srgbClr val="F8FAFC"/>
                </a:solidFill>
                <a:latin typeface="Calibri"/>
                <a:ea typeface="Calibri"/>
                <a:cs typeface="Calibri"/>
              </a:rPr>
              <a:t>✓  Policy checks with page refs</a:t>
            </a:r>
          </a:p>
          <a:p xmlns:a="http://schemas.openxmlformats.org/drawingml/2006/main">
            <a:pPr algn="l">
              <a:buNone/>
              <a:defRPr>
                <a:solidFill>
                  <a:srgbClr val="F8FAFC"/>
                </a:solidFill>
              </a:defRPr>
            </a:pPr>
            <a:r>
              <a:rPr sz="1600" b="0">
                <a:solidFill>
                  <a:srgbClr val="F8FAFC"/>
                </a:solidFill>
                <a:latin typeface="Calibri"/>
                <a:ea typeface="Calibri"/>
                <a:cs typeface="Calibri"/>
              </a:rPr>
              <a:t>✓  Operations and review screens</a:t>
            </a:r>
          </a:p>
          <a:p xmlns:a="http://schemas.openxmlformats.org/drawingml/2006/main">
            <a:pPr algn="l">
              <a:buNone/>
              <a:defRPr>
                <a:solidFill>
                  <a:srgbClr val="F8FAFC"/>
                </a:solidFill>
              </a:defRPr>
            </a:pPr>
            <a:r>
              <a:rPr sz="1600" b="0">
                <a:solidFill>
                  <a:srgbClr val="F8FAFC"/>
                </a:solidFill>
                <a:latin typeface="Calibri"/>
                <a:ea typeface="Calibri"/>
                <a:cs typeface="Calibri"/>
              </a:rPr>
              <a:t>✓  Labelled evaluation</a:t>
            </a:r>
          </a:p>
        </p:txBody>
      </p:sp>
      <p:sp>
        <p:nvSpPr>
          <p:cNvPr id="14" name="Rounded Rectangle 13">
            <a:extLst xmlns:a="http://schemas.openxmlformats.org/drawingml/2006/main">
              <a:ext uri="{FF2B5EF4-FFF2-40B4-BE49-F238E27FC236}">
                <a16:creationId xmlns:a16="http://schemas.microsoft.com/office/drawing/2014/main" id="{33DE36B2-64D9-4E7F-AFF1-BE2888AC27DA}"/>
              </a:ext>
            </a:extLst>
          </p:cNvPr>
          <p:cNvSpPr>
            <a:spLocks xmlns:a="http://schemas.openxmlformats.org/drawingml/2006/main" noGrp="1"/>
          </p:cNvSpPr>
          <p:nvPr/>
        </p:nvSpPr>
        <p:spPr>
          <a:xfrm xmlns:a="http://schemas.openxmlformats.org/drawingml/2006/main">
            <a:off x="4343400" y="1691640"/>
            <a:ext cx="3474720" cy="4434840"/>
          </a:xfrm>
          <a:prstGeom xmlns:a="http://schemas.openxmlformats.org/drawingml/2006/main" prst="roundRect">
            <a:avLst>
              <a:gd name="adj" fmla="val 8000"/>
            </a:avLst>
          </a:prstGeom>
          <a:solidFill xmlns:a="http://schemas.openxmlformats.org/drawingml/2006/main">
            <a:srgbClr val="142238"/>
          </a:solidFill>
          <a:ln xmlns:a="http://schemas.openxmlformats.org/drawingml/2006/main" w="12700">
            <a:solidFill>
              <a:srgbClr val="D8E4E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5" name="TextBox 14">
            <a:extLst xmlns:a="http://schemas.openxmlformats.org/drawingml/2006/main">
              <a:ext uri="{FF2B5EF4-FFF2-40B4-BE49-F238E27FC236}">
                <a16:creationId xmlns:a16="http://schemas.microsoft.com/office/drawing/2014/main" id="{D3702C0C-F5D4-445B-A63A-0510395BF2C3}"/>
              </a:ext>
            </a:extLst>
          </p:cNvPr>
          <p:cNvSpPr>
            <a:spLocks xmlns:a="http://schemas.openxmlformats.org/drawingml/2006/main" noGrp="1"/>
          </p:cNvSpPr>
          <p:nvPr/>
        </p:nvSpPr>
        <p:spPr>
          <a:xfrm xmlns:a="http://schemas.openxmlformats.org/drawingml/2006/main">
            <a:off x="4663440" y="1920240"/>
            <a:ext cx="292608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buNone/>
              <a:defRPr>
                <a:solidFill>
                  <a:srgbClr val="2DD4BF"/>
                </a:solidFill>
              </a:defRPr>
            </a:pPr>
            <a:r>
              <a:rPr sz="2000" b="1">
                <a:solidFill>
                  <a:srgbClr val="2DD4BF"/>
                </a:solidFill>
                <a:latin typeface="Calibri"/>
                <a:ea typeface="Calibri"/>
                <a:cs typeface="Calibri"/>
              </a:rPr>
              <a:t>The bonus items</a:t>
            </a:r>
          </a:p>
        </p:txBody>
      </p:sp>
      <p:sp>
        <p:nvSpPr>
          <p:cNvPr id="16" name="TextBox 15">
            <a:extLst xmlns:a="http://schemas.openxmlformats.org/drawingml/2006/main">
              <a:ext uri="{FF2B5EF4-FFF2-40B4-BE49-F238E27FC236}">
                <a16:creationId xmlns:a16="http://schemas.microsoft.com/office/drawing/2014/main" id="{ECA97B7F-4CC8-416F-B9E8-91D31499B9A5}"/>
              </a:ext>
            </a:extLst>
          </p:cNvPr>
          <p:cNvSpPr>
            <a:spLocks xmlns:a="http://schemas.openxmlformats.org/drawingml/2006/main" noGrp="1"/>
          </p:cNvSpPr>
          <p:nvPr/>
        </p:nvSpPr>
        <p:spPr>
          <a:xfrm xmlns:a="http://schemas.openxmlformats.org/drawingml/2006/main">
            <a:off x="4663440" y="2377440"/>
            <a:ext cx="292608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buNone/>
              <a:defRPr>
                <a:solidFill>
                  <a:srgbClr val="CBD5E1"/>
                </a:solidFill>
              </a:defRPr>
            </a:pPr>
            <a:r>
              <a:rPr sz="1400" b="0">
                <a:solidFill>
                  <a:srgbClr val="CBD5E1"/>
                </a:solidFill>
                <a:latin typeface="Calibri"/>
                <a:ea typeface="Calibri"/>
                <a:cs typeface="Calibri"/>
              </a:rPr>
              <a:t>Answers risk and audit questions</a:t>
            </a:r>
          </a:p>
        </p:txBody>
      </p:sp>
      <p:sp>
        <p:nvSpPr>
          <p:cNvPr id="17" name="TextBox 16">
            <a:extLst xmlns:a="http://schemas.openxmlformats.org/drawingml/2006/main">
              <a:ext uri="{FF2B5EF4-FFF2-40B4-BE49-F238E27FC236}">
                <a16:creationId xmlns:a16="http://schemas.microsoft.com/office/drawing/2014/main" id="{0DB36A40-4F68-4BB2-A947-B053CEF43143}"/>
              </a:ext>
            </a:extLst>
          </p:cNvPr>
          <p:cNvSpPr>
            <a:spLocks xmlns:a="http://schemas.openxmlformats.org/drawingml/2006/main" noGrp="1"/>
          </p:cNvSpPr>
          <p:nvPr/>
        </p:nvSpPr>
        <p:spPr>
          <a:xfrm xmlns:a="http://schemas.openxmlformats.org/drawingml/2006/main">
            <a:off x="4663440" y="3154680"/>
            <a:ext cx="2926080" cy="283464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buNone/>
              <a:defRPr>
                <a:solidFill>
                  <a:srgbClr val="F8FAFC"/>
                </a:solidFill>
              </a:defRPr>
            </a:pPr>
            <a:r>
              <a:rPr sz="1600" b="0">
                <a:solidFill>
                  <a:srgbClr val="F8FAFC"/>
                </a:solidFill>
                <a:latin typeface="Calibri"/>
                <a:ea typeface="Calibri"/>
                <a:cs typeface="Calibri"/>
              </a:rPr>
              <a:t>✓  Confidence calibration</a:t>
            </a:r>
          </a:p>
          <a:p xmlns:a="http://schemas.openxmlformats.org/drawingml/2006/main">
            <a:pPr algn="l">
              <a:buNone/>
              <a:defRPr>
                <a:solidFill>
                  <a:srgbClr val="F8FAFC"/>
                </a:solidFill>
              </a:defRPr>
            </a:pPr>
            <a:r>
              <a:rPr sz="1600" b="0">
                <a:solidFill>
                  <a:srgbClr val="F8FAFC"/>
                </a:solidFill>
                <a:latin typeface="Calibri"/>
                <a:ea typeface="Calibri"/>
                <a:cs typeface="Calibri"/>
              </a:rPr>
              <a:t>✓  ID tamper signals</a:t>
            </a:r>
          </a:p>
          <a:p xmlns:a="http://schemas.openxmlformats.org/drawingml/2006/main">
            <a:pPr algn="l">
              <a:buNone/>
              <a:defRPr>
                <a:solidFill>
                  <a:srgbClr val="F8FAFC"/>
                </a:solidFill>
              </a:defRPr>
            </a:pPr>
            <a:r>
              <a:rPr sz="1600" b="0">
                <a:solidFill>
                  <a:srgbClr val="F8FAFC"/>
                </a:solidFill>
                <a:latin typeface="Calibri"/>
                <a:ea typeface="Calibri"/>
                <a:cs typeface="Calibri"/>
              </a:rPr>
              <a:t>✓  Spanish and Hindi samples</a:t>
            </a:r>
          </a:p>
          <a:p xmlns:a="http://schemas.openxmlformats.org/drawingml/2006/main">
            <a:pPr algn="l">
              <a:buNone/>
              <a:defRPr>
                <a:solidFill>
                  <a:srgbClr val="F8FAFC"/>
                </a:solidFill>
              </a:defRPr>
            </a:pPr>
            <a:r>
              <a:rPr sz="1600" b="0">
                <a:solidFill>
                  <a:srgbClr val="F8FAFC"/>
                </a:solidFill>
                <a:latin typeface="Calibri"/>
                <a:ea typeface="Calibri"/>
                <a:cs typeface="Calibri"/>
              </a:rPr>
              <a:t>✓  Audit PDF export</a:t>
            </a:r>
          </a:p>
          <a:p xmlns:a="http://schemas.openxmlformats.org/drawingml/2006/main">
            <a:pPr algn="l">
              <a:buNone/>
              <a:defRPr>
                <a:solidFill>
                  <a:srgbClr val="F8FAFC"/>
                </a:solidFill>
              </a:defRPr>
            </a:pPr>
            <a:r>
              <a:rPr sz="1600" b="0">
                <a:solidFill>
                  <a:srgbClr val="F8FAFC"/>
                </a:solidFill>
                <a:latin typeface="Calibri"/>
                <a:ea typeface="Calibri"/>
                <a:cs typeface="Calibri"/>
              </a:rPr>
              <a:t>✓  Optional AI tracing</a:t>
            </a:r>
          </a:p>
        </p:txBody>
      </p:sp>
      <p:sp>
        <p:nvSpPr>
          <p:cNvPr id="18" name="Rounded Rectangle 17">
            <a:extLst xmlns:a="http://schemas.openxmlformats.org/drawingml/2006/main">
              <a:ext uri="{FF2B5EF4-FFF2-40B4-BE49-F238E27FC236}">
                <a16:creationId xmlns:a16="http://schemas.microsoft.com/office/drawing/2014/main" id="{8C16C13D-2E84-4407-8688-F8C4B19FF5EE}"/>
              </a:ext>
            </a:extLst>
          </p:cNvPr>
          <p:cNvSpPr>
            <a:spLocks xmlns:a="http://schemas.openxmlformats.org/drawingml/2006/main" noGrp="1"/>
          </p:cNvSpPr>
          <p:nvPr/>
        </p:nvSpPr>
        <p:spPr>
          <a:xfrm xmlns:a="http://schemas.openxmlformats.org/drawingml/2006/main">
            <a:off x="8046719" y="1691640"/>
            <a:ext cx="3474720" cy="4434840"/>
          </a:xfrm>
          <a:prstGeom xmlns:a="http://schemas.openxmlformats.org/drawingml/2006/main" prst="roundRect">
            <a:avLst>
              <a:gd name="adj" fmla="val 8000"/>
            </a:avLst>
          </a:prstGeom>
          <a:solidFill xmlns:a="http://schemas.openxmlformats.org/drawingml/2006/main">
            <a:srgbClr val="19334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9" name="TextBox 18">
            <a:extLst xmlns:a="http://schemas.openxmlformats.org/drawingml/2006/main">
              <a:ext uri="{FF2B5EF4-FFF2-40B4-BE49-F238E27FC236}">
                <a16:creationId xmlns:a16="http://schemas.microsoft.com/office/drawing/2014/main" id="{4FCBC6E1-D3DB-4C5E-BD55-B64E752E6F84}"/>
              </a:ext>
            </a:extLst>
          </p:cNvPr>
          <p:cNvSpPr>
            <a:spLocks xmlns:a="http://schemas.openxmlformats.org/drawingml/2006/main" noGrp="1"/>
          </p:cNvSpPr>
          <p:nvPr/>
        </p:nvSpPr>
        <p:spPr>
          <a:xfrm xmlns:a="http://schemas.openxmlformats.org/drawingml/2006/main">
            <a:off x="8366759" y="1920240"/>
            <a:ext cx="292608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buNone/>
              <a:defRPr>
                <a:solidFill>
                  <a:srgbClr val="F8FAFC"/>
                </a:solidFill>
              </a:defRPr>
            </a:pPr>
            <a:r>
              <a:rPr sz="2000" b="1">
                <a:solidFill>
                  <a:srgbClr val="F8FAFC"/>
                </a:solidFill>
                <a:latin typeface="Calibri"/>
                <a:ea typeface="Calibri"/>
                <a:cs typeface="Calibri"/>
              </a:rPr>
              <a:t>Beyond the brief</a:t>
            </a:r>
          </a:p>
        </p:txBody>
      </p:sp>
      <p:sp>
        <p:nvSpPr>
          <p:cNvPr id="20" name="TextBox 19">
            <a:extLst xmlns:a="http://schemas.openxmlformats.org/drawingml/2006/main">
              <a:ext uri="{FF2B5EF4-FFF2-40B4-BE49-F238E27FC236}">
                <a16:creationId xmlns:a16="http://schemas.microsoft.com/office/drawing/2014/main" id="{E593A555-66E1-4C87-802D-E0D907F6D79B}"/>
              </a:ext>
            </a:extLst>
          </p:cNvPr>
          <p:cNvSpPr>
            <a:spLocks xmlns:a="http://schemas.openxmlformats.org/drawingml/2006/main" noGrp="1"/>
          </p:cNvSpPr>
          <p:nvPr/>
        </p:nvSpPr>
        <p:spPr>
          <a:xfrm xmlns:a="http://schemas.openxmlformats.org/drawingml/2006/main">
            <a:off x="8366759" y="2377440"/>
            <a:ext cx="292608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buNone/>
              <a:defRPr>
                <a:solidFill>
                  <a:srgbClr val="CBD5E1"/>
                </a:solidFill>
              </a:defRPr>
            </a:pPr>
            <a:r>
              <a:rPr sz="1400" b="0">
                <a:solidFill>
                  <a:srgbClr val="CBD5E1"/>
                </a:solidFill>
                <a:latin typeface="Calibri"/>
                <a:ea typeface="Calibri"/>
                <a:cs typeface="Calibri"/>
              </a:rPr>
              <a:t>Pilot capabilities</a:t>
            </a:r>
          </a:p>
        </p:txBody>
      </p:sp>
      <p:sp>
        <p:nvSpPr>
          <p:cNvPr id="21" name="TextBox 20">
            <a:extLst xmlns:a="http://schemas.openxmlformats.org/drawingml/2006/main">
              <a:ext uri="{FF2B5EF4-FFF2-40B4-BE49-F238E27FC236}">
                <a16:creationId xmlns:a16="http://schemas.microsoft.com/office/drawing/2014/main" id="{4D882848-7F5E-4A9E-8EA3-46A564FDB1E6}"/>
              </a:ext>
            </a:extLst>
          </p:cNvPr>
          <p:cNvSpPr>
            <a:spLocks xmlns:a="http://schemas.openxmlformats.org/drawingml/2006/main" noGrp="1"/>
          </p:cNvSpPr>
          <p:nvPr/>
        </p:nvSpPr>
        <p:spPr>
          <a:xfrm xmlns:a="http://schemas.openxmlformats.org/drawingml/2006/main">
            <a:off x="8366759" y="3154680"/>
            <a:ext cx="2926080" cy="283464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buNone/>
              <a:defRPr>
                <a:solidFill>
                  <a:srgbClr val="F8FAFC"/>
                </a:solidFill>
              </a:defRPr>
            </a:pPr>
            <a:r>
              <a:rPr sz="1600" b="0">
                <a:solidFill>
                  <a:srgbClr val="F8FAFC"/>
                </a:solidFill>
                <a:latin typeface="Calibri"/>
                <a:ea typeface="Calibri"/>
                <a:cs typeface="Calibri"/>
              </a:rPr>
              <a:t>✓  Assistant with sources</a:t>
            </a:r>
          </a:p>
          <a:p xmlns:a="http://schemas.openxmlformats.org/drawingml/2006/main">
            <a:pPr algn="l">
              <a:buNone/>
              <a:defRPr>
                <a:solidFill>
                  <a:srgbClr val="F8FAFC"/>
                </a:solidFill>
              </a:defRPr>
            </a:pPr>
            <a:r>
              <a:rPr sz="1600" b="0">
                <a:solidFill>
                  <a:srgbClr val="F8FAFC"/>
                </a:solidFill>
                <a:latin typeface="Calibri"/>
                <a:ea typeface="Calibri"/>
                <a:cs typeface="Calibri"/>
              </a:rPr>
              <a:t>✓  Email intake</a:t>
            </a:r>
          </a:p>
          <a:p xmlns:a="http://schemas.openxmlformats.org/drawingml/2006/main">
            <a:pPr algn="l">
              <a:buNone/>
              <a:defRPr>
                <a:solidFill>
                  <a:srgbClr val="F8FAFC"/>
                </a:solidFill>
              </a:defRPr>
            </a:pPr>
            <a:r>
              <a:rPr sz="1600" b="0">
                <a:solidFill>
                  <a:srgbClr val="F8FAFC"/>
                </a:solidFill>
                <a:latin typeface="Calibri"/>
                <a:ea typeface="Calibri"/>
                <a:cs typeface="Calibri"/>
              </a:rPr>
              <a:t>✓  Policy version updates</a:t>
            </a:r>
          </a:p>
          <a:p xmlns:a="http://schemas.openxmlformats.org/drawingml/2006/main">
            <a:pPr algn="l">
              <a:buNone/>
              <a:defRPr>
                <a:solidFill>
                  <a:srgbClr val="F8FAFC"/>
                </a:solidFill>
              </a:defRPr>
            </a:pPr>
            <a:r>
              <a:rPr sz="1600" b="0">
                <a:solidFill>
                  <a:srgbClr val="F8FAFC"/>
                </a:solidFill>
                <a:latin typeface="Calibri"/>
                <a:ea typeface="Calibri"/>
                <a:cs typeface="Calibri"/>
              </a:rPr>
              <a:t>✓  Review quality monitor</a:t>
            </a:r>
          </a:p>
          <a:p xmlns:a="http://schemas.openxmlformats.org/drawingml/2006/main">
            <a:pPr algn="l">
              <a:buNone/>
              <a:defRPr>
                <a:solidFill>
                  <a:srgbClr val="F8FAFC"/>
                </a:solidFill>
              </a:defRPr>
            </a:pPr>
            <a:r>
              <a:rPr sz="1600" b="0">
                <a:solidFill>
                  <a:srgbClr val="F8FAFC"/>
                </a:solidFill>
                <a:latin typeface="Calibri"/>
                <a:ea typeface="Calibri"/>
                <a:cs typeface="Calibri"/>
              </a:rPr>
              <a:t>✓  Regression tests in CI</a:t>
            </a:r>
          </a:p>
        </p:txBody>
      </p:sp>
    </p:spTree>
    <p:extLst>
      <p:ext uri="{BB962C8B-B14F-4D97-AF65-F5344CB8AC3E}">
        <p14:creationId xmlns:p14="http://schemas.microsoft.com/office/powerpoint/2010/main" val="2104608529"/>
      </p:ext>
    </p:extLst>
  </p:cSld>
</p:sld>
</file>

<file path=ppt/slides/slide10.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F1F74C63-9D24-495B-B252-D8869D12B4B9}"/>
              </a:ext>
            </a:extLst>
          </p:cNvPr>
          <p:cNvSpPr>
            <a:spLocks xmlns:a="http://schemas.openxmlformats.org/drawingml/2006/main" noGrp="1"/>
          </p:cNvSpPr>
          <p:nvPr/>
        </p:nvSpPr>
        <p:spPr>
          <a:xfrm xmlns:a="http://schemas.openxmlformats.org/drawingml/2006/main">
            <a:off x="0" y="0"/>
            <a:ext cx="12191695" cy="109728"/>
          </a:xfrm>
          <a:prstGeom xmlns:a="http://schemas.openxmlformats.org/drawingml/2006/main" prst="rect">
            <a:avLst/>
          </a:prstGeom>
          <a:solidFill xmlns:a="http://schemas.openxmlformats.org/drawingml/2006/main">
            <a:srgbClr val="2DD4B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56E2F6CE-B339-47C2-AF04-45FD1724A27C}"/>
              </a:ext>
            </a:extLst>
          </p:cNvPr>
          <p:cNvSpPr>
            <a:spLocks xmlns:a="http://schemas.openxmlformats.org/drawingml/2006/main" noGrp="1"/>
          </p:cNvSpPr>
          <p:nvPr/>
        </p:nvSpPr>
        <p:spPr>
          <a:xfrm xmlns:a="http://schemas.openxmlformats.org/drawingml/2006/main">
            <a:off x="640080" y="411480"/>
            <a:ext cx="91440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buNone/>
              <a:defRPr>
                <a:solidFill>
                  <a:srgbClr val="2DD4BF"/>
                </a:solidFill>
              </a:defRPr>
            </a:pPr>
            <a:r>
              <a:rPr sz="1200" b="1">
                <a:solidFill>
                  <a:srgbClr val="2DD4BF"/>
                </a:solidFill>
                <a:latin typeface="Calibri"/>
                <a:ea typeface="Calibri"/>
                <a:cs typeface="Calibri"/>
              </a:rPr>
              <a:t>APPENDIX · ARCHITECTURE</a:t>
            </a:r>
          </a:p>
        </p:txBody>
      </p:sp>
      <p:sp>
        <p:nvSpPr>
          <p:cNvPr id="4" name="TextBox 3">
            <a:extLst xmlns:a="http://schemas.openxmlformats.org/drawingml/2006/main">
              <a:ext uri="{FF2B5EF4-FFF2-40B4-BE49-F238E27FC236}">
                <a16:creationId xmlns:a16="http://schemas.microsoft.com/office/drawing/2014/main" id="{9C846A4B-3E18-4562-9DD0-459F69D7562C}"/>
              </a:ext>
            </a:extLst>
          </p:cNvPr>
          <p:cNvSpPr>
            <a:spLocks xmlns:a="http://schemas.openxmlformats.org/drawingml/2006/main" noGrp="1"/>
          </p:cNvSpPr>
          <p:nvPr/>
        </p:nvSpPr>
        <p:spPr>
          <a:xfrm xmlns:a="http://schemas.openxmlformats.org/drawingml/2006/main">
            <a:off x="640080" y="685800"/>
            <a:ext cx="1097280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buNone/>
              <a:defRPr>
                <a:solidFill>
                  <a:srgbClr val="F8FAFC"/>
                </a:solidFill>
              </a:defRPr>
            </a:pPr>
            <a:r>
              <a:rPr sz="3200" b="1">
                <a:solidFill>
                  <a:srgbClr val="F8FAFC"/>
                </a:solidFill>
                <a:latin typeface="Calibri"/>
                <a:ea typeface="Calibri"/>
                <a:cs typeface="Calibri"/>
              </a:rPr>
              <a:t>AWS components and current boundaries</a:t>
            </a:r>
          </a:p>
        </p:txBody>
      </p:sp>
      <p:sp>
        <p:nvSpPr>
          <p:cNvPr id="5" name="Pentagon 4">
            <a:extLst xmlns:a="http://schemas.openxmlformats.org/drawingml/2006/main">
              <a:ext uri="{FF2B5EF4-FFF2-40B4-BE49-F238E27FC236}">
                <a16:creationId xmlns:a16="http://schemas.microsoft.com/office/drawing/2014/main" id="{7B0C1241-C63A-43D0-8D46-BB6398554017}"/>
              </a:ext>
            </a:extLst>
          </p:cNvPr>
          <p:cNvSpPr>
            <a:spLocks xmlns:a="http://schemas.openxmlformats.org/drawingml/2006/main" noGrp="1"/>
          </p:cNvSpPr>
          <p:nvPr/>
        </p:nvSpPr>
        <p:spPr>
          <a:xfrm xmlns:a="http://schemas.openxmlformats.org/drawingml/2006/main" rot="5400000">
            <a:off x="11201400" y="384048"/>
            <a:ext cx="384048" cy="384048"/>
          </a:xfrm>
          <a:prstGeom xmlns:a="http://schemas.openxmlformats.org/drawingml/2006/main" prst="homePlate">
            <a:avLst/>
          </a:prstGeom>
          <a:solidFill xmlns:a="http://schemas.openxmlformats.org/drawingml/2006/main">
            <a:srgbClr val="2DD4B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Rectangle 5">
            <a:extLst xmlns:a="http://schemas.openxmlformats.org/drawingml/2006/main">
              <a:ext uri="{FF2B5EF4-FFF2-40B4-BE49-F238E27FC236}">
                <a16:creationId xmlns:a16="http://schemas.microsoft.com/office/drawing/2014/main" id="{757B538F-488C-41D5-AFBD-6611309320A2}"/>
              </a:ext>
            </a:extLst>
          </p:cNvPr>
          <p:cNvSpPr>
            <a:spLocks xmlns:a="http://schemas.openxmlformats.org/drawingml/2006/main" noGrp="1"/>
          </p:cNvSpPr>
          <p:nvPr/>
        </p:nvSpPr>
        <p:spPr>
          <a:xfrm xmlns:a="http://schemas.openxmlformats.org/drawingml/2006/main">
            <a:off x="11358860" y="453177"/>
            <a:ext cx="69128" cy="215066"/>
          </a:xfrm>
          <a:prstGeom xmlns:a="http://schemas.openxmlformats.org/drawingml/2006/main" prst="rect">
            <a:avLst/>
          </a:prstGeom>
          <a:solidFill xmlns:a="http://schemas.openxmlformats.org/drawingml/2006/main">
            <a:srgbClr val="14223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Rectangle 6">
            <a:extLst xmlns:a="http://schemas.openxmlformats.org/drawingml/2006/main">
              <a:ext uri="{FF2B5EF4-FFF2-40B4-BE49-F238E27FC236}">
                <a16:creationId xmlns:a16="http://schemas.microsoft.com/office/drawing/2014/main" id="{27633905-ACE7-497B-ABA8-D21D21BB3703}"/>
              </a:ext>
            </a:extLst>
          </p:cNvPr>
          <p:cNvSpPr>
            <a:spLocks xmlns:a="http://schemas.openxmlformats.org/drawingml/2006/main" noGrp="1"/>
          </p:cNvSpPr>
          <p:nvPr/>
        </p:nvSpPr>
        <p:spPr>
          <a:xfrm xmlns:a="http://schemas.openxmlformats.org/drawingml/2006/main">
            <a:off x="11285891" y="526146"/>
            <a:ext cx="215066" cy="69128"/>
          </a:xfrm>
          <a:prstGeom xmlns:a="http://schemas.openxmlformats.org/drawingml/2006/main" prst="rect">
            <a:avLst/>
          </a:prstGeom>
          <a:solidFill xmlns:a="http://schemas.openxmlformats.org/drawingml/2006/main">
            <a:srgbClr val="14223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 name="TextBox 7">
            <a:extLst xmlns:a="http://schemas.openxmlformats.org/drawingml/2006/main">
              <a:ext uri="{FF2B5EF4-FFF2-40B4-BE49-F238E27FC236}">
                <a16:creationId xmlns:a16="http://schemas.microsoft.com/office/drawing/2014/main" id="{7A324CB9-0B9D-4DE5-AB9A-2FE72BB35D4D}"/>
              </a:ext>
            </a:extLst>
          </p:cNvPr>
          <p:cNvSpPr>
            <a:spLocks xmlns:a="http://schemas.openxmlformats.org/drawingml/2006/main" noGrp="1"/>
          </p:cNvSpPr>
          <p:nvPr/>
        </p:nvSpPr>
        <p:spPr>
          <a:xfrm xmlns:a="http://schemas.openxmlformats.org/drawingml/2006/main">
            <a:off x="640080" y="6446520"/>
            <a:ext cx="7315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buNone/>
              <a:defRPr>
                <a:solidFill>
                  <a:srgbClr val="CBD5E1"/>
                </a:solidFill>
              </a:defRPr>
            </a:pPr>
            <a:r>
              <a:rPr sz="1000" b="0">
                <a:solidFill>
                  <a:srgbClr val="CBD5E1"/>
                </a:solidFill>
                <a:latin typeface="Calibri"/>
                <a:ea typeface="Calibri"/>
                <a:cs typeface="Calibri"/>
              </a:rPr>
              <a:t>MediShield Health · Appendix</a:t>
            </a:r>
          </a:p>
        </p:txBody>
      </p:sp>
      <p:sp>
        <p:nvSpPr>
          <p:cNvPr id="9" name="TextBox 8">
            <a:extLst xmlns:a="http://schemas.openxmlformats.org/drawingml/2006/main">
              <a:ext uri="{FF2B5EF4-FFF2-40B4-BE49-F238E27FC236}">
                <a16:creationId xmlns:a16="http://schemas.microsoft.com/office/drawing/2014/main" id="{478C73F2-689B-412C-AE71-0FD1A358380A}"/>
              </a:ext>
            </a:extLst>
          </p:cNvPr>
          <p:cNvSpPr>
            <a:spLocks xmlns:a="http://schemas.openxmlformats.org/drawingml/2006/main" noGrp="1"/>
          </p:cNvSpPr>
          <p:nvPr/>
        </p:nvSpPr>
        <p:spPr>
          <a:xfrm xmlns:a="http://schemas.openxmlformats.org/drawingml/2006/main">
            <a:off x="10881360" y="6446520"/>
            <a:ext cx="7315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r">
              <a:buNone/>
              <a:defRPr>
                <a:solidFill>
                  <a:srgbClr val="CBD5E1"/>
                </a:solidFill>
              </a:defRPr>
            </a:pPr>
            <a:r>
              <a:rPr sz="1000" b="0">
                <a:solidFill>
                  <a:srgbClr val="CBD5E1"/>
                </a:solidFill>
                <a:latin typeface="Calibri"/>
                <a:ea typeface="Calibri"/>
                <a:cs typeface="Calibri"/>
              </a:rPr>
              <a:t>10</a:t>
            </a:r>
          </a:p>
        </p:txBody>
      </p:sp>
      <p:sp>
        <p:nvSpPr>
          <p:cNvPr id="10" name="Rounded Rectangle 9">
            <a:extLst xmlns:a="http://schemas.openxmlformats.org/drawingml/2006/main">
              <a:ext uri="{FF2B5EF4-FFF2-40B4-BE49-F238E27FC236}">
                <a16:creationId xmlns:a16="http://schemas.microsoft.com/office/drawing/2014/main" id="{7316DAE9-CC0C-4E8F-8AA1-BB16F2AB1549}"/>
              </a:ext>
            </a:extLst>
          </p:cNvPr>
          <p:cNvSpPr>
            <a:spLocks xmlns:a="http://schemas.openxmlformats.org/drawingml/2006/main" noGrp="1"/>
          </p:cNvSpPr>
          <p:nvPr/>
        </p:nvSpPr>
        <p:spPr>
          <a:xfrm xmlns:a="http://schemas.openxmlformats.org/drawingml/2006/main">
            <a:off x="640080" y="1828800"/>
            <a:ext cx="2377440" cy="1143000"/>
          </a:xfrm>
          <a:prstGeom xmlns:a="http://schemas.openxmlformats.org/drawingml/2006/main" prst="roundRect">
            <a:avLst>
              <a:gd name="adj" fmla="val 8000"/>
            </a:avLst>
          </a:prstGeom>
          <a:solidFill xmlns:a="http://schemas.openxmlformats.org/drawingml/2006/main">
            <a:srgbClr val="142238"/>
          </a:solidFill>
          <a:ln xmlns:a="http://schemas.openxmlformats.org/drawingml/2006/main" w="12700">
            <a:solidFill>
              <a:srgbClr val="D8E4E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 name="TextBox 10">
            <a:extLst xmlns:a="http://schemas.openxmlformats.org/drawingml/2006/main">
              <a:ext uri="{FF2B5EF4-FFF2-40B4-BE49-F238E27FC236}">
                <a16:creationId xmlns:a16="http://schemas.microsoft.com/office/drawing/2014/main" id="{1B6D6D66-B4C9-4845-A8BC-B78A38AEAA73}"/>
              </a:ext>
            </a:extLst>
          </p:cNvPr>
          <p:cNvSpPr>
            <a:spLocks xmlns:a="http://schemas.openxmlformats.org/drawingml/2006/main" noGrp="1"/>
          </p:cNvSpPr>
          <p:nvPr/>
        </p:nvSpPr>
        <p:spPr>
          <a:xfrm xmlns:a="http://schemas.openxmlformats.org/drawingml/2006/main">
            <a:off x="868680" y="2011680"/>
            <a:ext cx="192024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buNone/>
              <a:defRPr>
                <a:solidFill>
                  <a:srgbClr val="F8FAFC"/>
                </a:solidFill>
              </a:defRPr>
            </a:pPr>
            <a:r>
              <a:rPr sz="1700" b="1">
                <a:solidFill>
                  <a:srgbClr val="F8FAFC"/>
                </a:solidFill>
                <a:latin typeface="Calibri"/>
                <a:ea typeface="Calibri"/>
                <a:cs typeface="Calibri"/>
              </a:rPr>
              <a:t>Web app</a:t>
            </a:r>
          </a:p>
        </p:txBody>
      </p:sp>
      <p:sp>
        <p:nvSpPr>
          <p:cNvPr id="12" name="TextBox 11">
            <a:extLst xmlns:a="http://schemas.openxmlformats.org/drawingml/2006/main">
              <a:ext uri="{FF2B5EF4-FFF2-40B4-BE49-F238E27FC236}">
                <a16:creationId xmlns:a16="http://schemas.microsoft.com/office/drawing/2014/main" id="{427BD63C-1A10-4E84-BCD3-1BA241D41D56}"/>
              </a:ext>
            </a:extLst>
          </p:cNvPr>
          <p:cNvSpPr>
            <a:spLocks xmlns:a="http://schemas.openxmlformats.org/drawingml/2006/main" noGrp="1"/>
          </p:cNvSpPr>
          <p:nvPr/>
        </p:nvSpPr>
        <p:spPr>
          <a:xfrm xmlns:a="http://schemas.openxmlformats.org/drawingml/2006/main">
            <a:off x="868680" y="2450592"/>
            <a:ext cx="19202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buNone/>
              <a:defRPr>
                <a:solidFill>
                  <a:srgbClr val="CBD5E1"/>
                </a:solidFill>
              </a:defRPr>
            </a:pPr>
            <a:r>
              <a:rPr sz="1300" b="0">
                <a:solidFill>
                  <a:srgbClr val="CBD5E1"/>
                </a:solidFill>
                <a:latin typeface="Calibri"/>
                <a:ea typeface="Calibri"/>
                <a:cs typeface="Calibri"/>
              </a:rPr>
              <a:t>CloudFront</a:t>
            </a:r>
          </a:p>
        </p:txBody>
      </p:sp>
      <p:sp>
        <p:nvSpPr>
          <p:cNvPr id="13" name="Rounded Rectangle 12">
            <a:extLst xmlns:a="http://schemas.openxmlformats.org/drawingml/2006/main">
              <a:ext uri="{FF2B5EF4-FFF2-40B4-BE49-F238E27FC236}">
                <a16:creationId xmlns:a16="http://schemas.microsoft.com/office/drawing/2014/main" id="{6C673015-11AA-42F5-BC20-B7FC74892498}"/>
              </a:ext>
            </a:extLst>
          </p:cNvPr>
          <p:cNvSpPr>
            <a:spLocks xmlns:a="http://schemas.openxmlformats.org/drawingml/2006/main" noGrp="1"/>
          </p:cNvSpPr>
          <p:nvPr/>
        </p:nvSpPr>
        <p:spPr>
          <a:xfrm xmlns:a="http://schemas.openxmlformats.org/drawingml/2006/main">
            <a:off x="3657600" y="1828800"/>
            <a:ext cx="2377440" cy="1143000"/>
          </a:xfrm>
          <a:prstGeom xmlns:a="http://schemas.openxmlformats.org/drawingml/2006/main" prst="roundRect">
            <a:avLst>
              <a:gd name="adj" fmla="val 8000"/>
            </a:avLst>
          </a:prstGeom>
          <a:solidFill xmlns:a="http://schemas.openxmlformats.org/drawingml/2006/main">
            <a:srgbClr val="142238"/>
          </a:solidFill>
          <a:ln xmlns:a="http://schemas.openxmlformats.org/drawingml/2006/main" w="12700">
            <a:solidFill>
              <a:srgbClr val="D8E4E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4" name="TextBox 13">
            <a:extLst xmlns:a="http://schemas.openxmlformats.org/drawingml/2006/main">
              <a:ext uri="{FF2B5EF4-FFF2-40B4-BE49-F238E27FC236}">
                <a16:creationId xmlns:a16="http://schemas.microsoft.com/office/drawing/2014/main" id="{99F21282-DA56-4BAC-A23D-FC708D7FBD8B}"/>
              </a:ext>
            </a:extLst>
          </p:cNvPr>
          <p:cNvSpPr>
            <a:spLocks xmlns:a="http://schemas.openxmlformats.org/drawingml/2006/main" noGrp="1"/>
          </p:cNvSpPr>
          <p:nvPr/>
        </p:nvSpPr>
        <p:spPr>
          <a:xfrm xmlns:a="http://schemas.openxmlformats.org/drawingml/2006/main">
            <a:off x="3886200" y="2011680"/>
            <a:ext cx="192024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buNone/>
              <a:defRPr>
                <a:solidFill>
                  <a:srgbClr val="F8FAFC"/>
                </a:solidFill>
              </a:defRPr>
            </a:pPr>
            <a:r>
              <a:rPr sz="1700" b="1">
                <a:solidFill>
                  <a:srgbClr val="F8FAFC"/>
                </a:solidFill>
                <a:latin typeface="Calibri"/>
                <a:ea typeface="Calibri"/>
                <a:cs typeface="Calibri"/>
              </a:rPr>
              <a:t>API</a:t>
            </a:r>
          </a:p>
        </p:txBody>
      </p:sp>
      <p:sp>
        <p:nvSpPr>
          <p:cNvPr id="15" name="TextBox 14">
            <a:extLst xmlns:a="http://schemas.openxmlformats.org/drawingml/2006/main">
              <a:ext uri="{FF2B5EF4-FFF2-40B4-BE49-F238E27FC236}">
                <a16:creationId xmlns:a16="http://schemas.microsoft.com/office/drawing/2014/main" id="{7015D36F-EF7F-4D6C-93E1-BEC6D03C9326}"/>
              </a:ext>
            </a:extLst>
          </p:cNvPr>
          <p:cNvSpPr>
            <a:spLocks xmlns:a="http://schemas.openxmlformats.org/drawingml/2006/main" noGrp="1"/>
          </p:cNvSpPr>
          <p:nvPr/>
        </p:nvSpPr>
        <p:spPr>
          <a:xfrm xmlns:a="http://schemas.openxmlformats.org/drawingml/2006/main">
            <a:off x="3886200" y="2450592"/>
            <a:ext cx="19202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buNone/>
              <a:defRPr>
                <a:solidFill>
                  <a:srgbClr val="CBD5E1"/>
                </a:solidFill>
              </a:defRPr>
            </a:pPr>
            <a:r>
              <a:rPr sz="1300" b="0">
                <a:solidFill>
                  <a:srgbClr val="CBD5E1"/>
                </a:solidFill>
                <a:latin typeface="Calibri"/>
                <a:ea typeface="Calibri"/>
                <a:cs typeface="Calibri"/>
              </a:rPr>
              <a:t>Lambda</a:t>
            </a:r>
          </a:p>
        </p:txBody>
      </p:sp>
      <p:sp>
        <p:nvSpPr>
          <p:cNvPr id="16" name="Rounded Rectangle 15">
            <a:extLst xmlns:a="http://schemas.openxmlformats.org/drawingml/2006/main">
              <a:ext uri="{FF2B5EF4-FFF2-40B4-BE49-F238E27FC236}">
                <a16:creationId xmlns:a16="http://schemas.microsoft.com/office/drawing/2014/main" id="{EA320BC6-75D2-4DAD-B00E-743A9B253381}"/>
              </a:ext>
            </a:extLst>
          </p:cNvPr>
          <p:cNvSpPr>
            <a:spLocks xmlns:a="http://schemas.openxmlformats.org/drawingml/2006/main" noGrp="1"/>
          </p:cNvSpPr>
          <p:nvPr/>
        </p:nvSpPr>
        <p:spPr>
          <a:xfrm xmlns:a="http://schemas.openxmlformats.org/drawingml/2006/main">
            <a:off x="6766560" y="1691640"/>
            <a:ext cx="4754880" cy="1280160"/>
          </a:xfrm>
          <a:prstGeom xmlns:a="http://schemas.openxmlformats.org/drawingml/2006/main" prst="roundRect">
            <a:avLst>
              <a:gd name="adj" fmla="val 8000"/>
            </a:avLst>
          </a:prstGeom>
          <a:solidFill xmlns:a="http://schemas.openxmlformats.org/drawingml/2006/main">
            <a:srgbClr val="203A4D"/>
          </a:solidFill>
          <a:ln xmlns:a="http://schemas.openxmlformats.org/drawingml/2006/main" w="12700">
            <a:solidFill>
              <a:srgbClr val="D8E4E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7" name="TextBox 16">
            <a:extLst xmlns:a="http://schemas.openxmlformats.org/drawingml/2006/main">
              <a:ext uri="{FF2B5EF4-FFF2-40B4-BE49-F238E27FC236}">
                <a16:creationId xmlns:a16="http://schemas.microsoft.com/office/drawing/2014/main" id="{3D4BA869-2610-459E-958E-3F464F48CE80}"/>
              </a:ext>
            </a:extLst>
          </p:cNvPr>
          <p:cNvSpPr>
            <a:spLocks xmlns:a="http://schemas.openxmlformats.org/drawingml/2006/main" noGrp="1"/>
          </p:cNvSpPr>
          <p:nvPr/>
        </p:nvSpPr>
        <p:spPr>
          <a:xfrm xmlns:a="http://schemas.openxmlformats.org/drawingml/2006/main">
            <a:off x="6995160" y="1874520"/>
            <a:ext cx="429768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buNone/>
              <a:defRPr>
                <a:solidFill>
                  <a:srgbClr val="F8FAFC"/>
                </a:solidFill>
              </a:defRPr>
            </a:pPr>
            <a:r>
              <a:rPr sz="1700" b="1">
                <a:solidFill>
                  <a:srgbClr val="F8FAFC"/>
                </a:solidFill>
                <a:latin typeface="Calibri"/>
                <a:ea typeface="Calibri"/>
                <a:cs typeface="Calibri"/>
              </a:rPr>
              <a:t>Case pipeline</a:t>
            </a:r>
          </a:p>
        </p:txBody>
      </p:sp>
      <p:sp>
        <p:nvSpPr>
          <p:cNvPr id="18" name="TextBox 17">
            <a:extLst xmlns:a="http://schemas.openxmlformats.org/drawingml/2006/main">
              <a:ext uri="{FF2B5EF4-FFF2-40B4-BE49-F238E27FC236}">
                <a16:creationId xmlns:a16="http://schemas.microsoft.com/office/drawing/2014/main" id="{B7149C5E-9F15-44EB-8654-8975716C05B3}"/>
              </a:ext>
            </a:extLst>
          </p:cNvPr>
          <p:cNvSpPr>
            <a:spLocks xmlns:a="http://schemas.openxmlformats.org/drawingml/2006/main" noGrp="1"/>
          </p:cNvSpPr>
          <p:nvPr/>
        </p:nvSpPr>
        <p:spPr>
          <a:xfrm xmlns:a="http://schemas.openxmlformats.org/drawingml/2006/main">
            <a:off x="6995160" y="2313432"/>
            <a:ext cx="4297680" cy="59436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buNone/>
              <a:defRPr>
                <a:solidFill>
                  <a:srgbClr val="CBD5E1"/>
                </a:solidFill>
              </a:defRPr>
            </a:pPr>
            <a:r>
              <a:rPr sz="1300" b="0">
                <a:solidFill>
                  <a:srgbClr val="CBD5E1"/>
                </a:solidFill>
                <a:latin typeface="Calibri"/>
                <a:ea typeface="Calibri"/>
                <a:cs typeface="Calibri"/>
              </a:rPr>
              <a:t>Bedrock AgentCore · LangGraph</a:t>
            </a:r>
          </a:p>
        </p:txBody>
      </p:sp>
      <p:sp>
        <p:nvSpPr>
          <p:cNvPr id="19" name="Rounded Rectangle 18">
            <a:extLst xmlns:a="http://schemas.openxmlformats.org/drawingml/2006/main">
              <a:ext uri="{FF2B5EF4-FFF2-40B4-BE49-F238E27FC236}">
                <a16:creationId xmlns:a16="http://schemas.microsoft.com/office/drawing/2014/main" id="{059ADDF5-60F1-48A5-8E6A-8B9C2C7C0FCC}"/>
              </a:ext>
            </a:extLst>
          </p:cNvPr>
          <p:cNvSpPr>
            <a:spLocks xmlns:a="http://schemas.openxmlformats.org/drawingml/2006/main" noGrp="1"/>
          </p:cNvSpPr>
          <p:nvPr/>
        </p:nvSpPr>
        <p:spPr>
          <a:xfrm xmlns:a="http://schemas.openxmlformats.org/drawingml/2006/main">
            <a:off x="6766560" y="3200400"/>
            <a:ext cx="4754880" cy="1280160"/>
          </a:xfrm>
          <a:prstGeom xmlns:a="http://schemas.openxmlformats.org/drawingml/2006/main" prst="roundRect">
            <a:avLst>
              <a:gd name="adj" fmla="val 8000"/>
            </a:avLst>
          </a:prstGeom>
          <a:solidFill xmlns:a="http://schemas.openxmlformats.org/drawingml/2006/main">
            <a:srgbClr val="203A4D"/>
          </a:solidFill>
          <a:ln xmlns:a="http://schemas.openxmlformats.org/drawingml/2006/main" w="12700">
            <a:solidFill>
              <a:srgbClr val="D8E4E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0" name="TextBox 19">
            <a:extLst xmlns:a="http://schemas.openxmlformats.org/drawingml/2006/main">
              <a:ext uri="{FF2B5EF4-FFF2-40B4-BE49-F238E27FC236}">
                <a16:creationId xmlns:a16="http://schemas.microsoft.com/office/drawing/2014/main" id="{55D66D16-5F27-4586-85B8-7415910F3543}"/>
              </a:ext>
            </a:extLst>
          </p:cNvPr>
          <p:cNvSpPr>
            <a:spLocks xmlns:a="http://schemas.openxmlformats.org/drawingml/2006/main" noGrp="1"/>
          </p:cNvSpPr>
          <p:nvPr/>
        </p:nvSpPr>
        <p:spPr>
          <a:xfrm xmlns:a="http://schemas.openxmlformats.org/drawingml/2006/main">
            <a:off x="6995160" y="3383280"/>
            <a:ext cx="429768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buNone/>
              <a:defRPr>
                <a:solidFill>
                  <a:srgbClr val="F8FAFC"/>
                </a:solidFill>
              </a:defRPr>
            </a:pPr>
            <a:r>
              <a:rPr sz="1700" b="1">
                <a:solidFill>
                  <a:srgbClr val="F8FAFC"/>
                </a:solidFill>
                <a:latin typeface="Calibri"/>
                <a:ea typeface="Calibri"/>
                <a:cs typeface="Calibri"/>
              </a:rPr>
              <a:t>Assistant</a:t>
            </a:r>
          </a:p>
        </p:txBody>
      </p:sp>
      <p:sp>
        <p:nvSpPr>
          <p:cNvPr id="21" name="TextBox 20">
            <a:extLst xmlns:a="http://schemas.openxmlformats.org/drawingml/2006/main">
              <a:ext uri="{FF2B5EF4-FFF2-40B4-BE49-F238E27FC236}">
                <a16:creationId xmlns:a16="http://schemas.microsoft.com/office/drawing/2014/main" id="{80E078F9-77F5-4216-98EE-813AADBF9E04}"/>
              </a:ext>
            </a:extLst>
          </p:cNvPr>
          <p:cNvSpPr>
            <a:spLocks xmlns:a="http://schemas.openxmlformats.org/drawingml/2006/main" noGrp="1"/>
          </p:cNvSpPr>
          <p:nvPr/>
        </p:nvSpPr>
        <p:spPr>
          <a:xfrm xmlns:a="http://schemas.openxmlformats.org/drawingml/2006/main">
            <a:off x="6995160" y="3822192"/>
            <a:ext cx="4297680" cy="59436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buNone/>
              <a:defRPr>
                <a:solidFill>
                  <a:srgbClr val="CBD5E1"/>
                </a:solidFill>
              </a:defRPr>
            </a:pPr>
            <a:r>
              <a:rPr sz="1300" b="0">
                <a:solidFill>
                  <a:srgbClr val="CBD5E1"/>
                </a:solidFill>
                <a:latin typeface="Calibri"/>
                <a:ea typeface="Calibri"/>
                <a:cs typeface="Calibri"/>
              </a:rPr>
              <a:t>Bedrock AgentCore · Memory</a:t>
            </a:r>
          </a:p>
        </p:txBody>
      </p:sp>
      <p:sp>
        <p:nvSpPr>
          <p:cNvPr id="22" name="Rounded Rectangle 21">
            <a:extLst xmlns:a="http://schemas.openxmlformats.org/drawingml/2006/main">
              <a:ext uri="{FF2B5EF4-FFF2-40B4-BE49-F238E27FC236}">
                <a16:creationId xmlns:a16="http://schemas.microsoft.com/office/drawing/2014/main" id="{571E7677-482A-4E2C-8AC1-03C886C1B30C}"/>
              </a:ext>
            </a:extLst>
          </p:cNvPr>
          <p:cNvSpPr>
            <a:spLocks xmlns:a="http://schemas.openxmlformats.org/drawingml/2006/main" noGrp="1"/>
          </p:cNvSpPr>
          <p:nvPr/>
        </p:nvSpPr>
        <p:spPr>
          <a:xfrm xmlns:a="http://schemas.openxmlformats.org/drawingml/2006/main">
            <a:off x="640080" y="3337560"/>
            <a:ext cx="2377440" cy="1143000"/>
          </a:xfrm>
          <a:prstGeom xmlns:a="http://schemas.openxmlformats.org/drawingml/2006/main" prst="roundRect">
            <a:avLst>
              <a:gd name="adj" fmla="val 8000"/>
            </a:avLst>
          </a:prstGeom>
          <a:solidFill xmlns:a="http://schemas.openxmlformats.org/drawingml/2006/main">
            <a:srgbClr val="142238"/>
          </a:solidFill>
          <a:ln xmlns:a="http://schemas.openxmlformats.org/drawingml/2006/main" w="12700">
            <a:solidFill>
              <a:srgbClr val="D8E4E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3" name="TextBox 22">
            <a:extLst xmlns:a="http://schemas.openxmlformats.org/drawingml/2006/main">
              <a:ext uri="{FF2B5EF4-FFF2-40B4-BE49-F238E27FC236}">
                <a16:creationId xmlns:a16="http://schemas.microsoft.com/office/drawing/2014/main" id="{B81CC725-7E73-4E5E-AF7A-B722DC604A6C}"/>
              </a:ext>
            </a:extLst>
          </p:cNvPr>
          <p:cNvSpPr>
            <a:spLocks xmlns:a="http://schemas.openxmlformats.org/drawingml/2006/main" noGrp="1"/>
          </p:cNvSpPr>
          <p:nvPr/>
        </p:nvSpPr>
        <p:spPr>
          <a:xfrm xmlns:a="http://schemas.openxmlformats.org/drawingml/2006/main">
            <a:off x="868680" y="3520440"/>
            <a:ext cx="192024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buNone/>
              <a:defRPr>
                <a:solidFill>
                  <a:srgbClr val="F8FAFC"/>
                </a:solidFill>
              </a:defRPr>
            </a:pPr>
            <a:r>
              <a:rPr sz="1700" b="1">
                <a:solidFill>
                  <a:srgbClr val="F8FAFC"/>
                </a:solidFill>
                <a:latin typeface="Calibri"/>
                <a:ea typeface="Calibri"/>
                <a:cs typeface="Calibri"/>
              </a:rPr>
              <a:t>Data</a:t>
            </a:r>
          </a:p>
        </p:txBody>
      </p:sp>
      <p:sp>
        <p:nvSpPr>
          <p:cNvPr id="24" name="TextBox 23">
            <a:extLst xmlns:a="http://schemas.openxmlformats.org/drawingml/2006/main">
              <a:ext uri="{FF2B5EF4-FFF2-40B4-BE49-F238E27FC236}">
                <a16:creationId xmlns:a16="http://schemas.microsoft.com/office/drawing/2014/main" id="{67FF9EA6-2B71-439C-959B-D6BC9A17DF8B}"/>
              </a:ext>
            </a:extLst>
          </p:cNvPr>
          <p:cNvSpPr>
            <a:spLocks xmlns:a="http://schemas.openxmlformats.org/drawingml/2006/main" noGrp="1"/>
          </p:cNvSpPr>
          <p:nvPr/>
        </p:nvSpPr>
        <p:spPr>
          <a:xfrm xmlns:a="http://schemas.openxmlformats.org/drawingml/2006/main">
            <a:off x="868680" y="3959352"/>
            <a:ext cx="19202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buNone/>
              <a:defRPr>
                <a:solidFill>
                  <a:srgbClr val="CBD5E1"/>
                </a:solidFill>
              </a:defRPr>
            </a:pPr>
            <a:r>
              <a:rPr sz="1300" b="0">
                <a:solidFill>
                  <a:srgbClr val="CBD5E1"/>
                </a:solidFill>
                <a:latin typeface="Calibri"/>
                <a:ea typeface="Calibri"/>
                <a:cs typeface="Calibri"/>
              </a:rPr>
              <a:t>DynamoDB · S3</a:t>
            </a:r>
          </a:p>
        </p:txBody>
      </p:sp>
      <p:sp>
        <p:nvSpPr>
          <p:cNvPr id="25" name="Rounded Rectangle 24">
            <a:extLst xmlns:a="http://schemas.openxmlformats.org/drawingml/2006/main">
              <a:ext uri="{FF2B5EF4-FFF2-40B4-BE49-F238E27FC236}">
                <a16:creationId xmlns:a16="http://schemas.microsoft.com/office/drawing/2014/main" id="{71E78C35-E192-4B38-BBDE-1F742D4A7C55}"/>
              </a:ext>
            </a:extLst>
          </p:cNvPr>
          <p:cNvSpPr>
            <a:spLocks xmlns:a="http://schemas.openxmlformats.org/drawingml/2006/main" noGrp="1"/>
          </p:cNvSpPr>
          <p:nvPr/>
        </p:nvSpPr>
        <p:spPr>
          <a:xfrm xmlns:a="http://schemas.openxmlformats.org/drawingml/2006/main">
            <a:off x="3657600" y="3337560"/>
            <a:ext cx="2377440" cy="1143000"/>
          </a:xfrm>
          <a:prstGeom xmlns:a="http://schemas.openxmlformats.org/drawingml/2006/main" prst="roundRect">
            <a:avLst>
              <a:gd name="adj" fmla="val 8000"/>
            </a:avLst>
          </a:prstGeom>
          <a:solidFill xmlns:a="http://schemas.openxmlformats.org/drawingml/2006/main">
            <a:srgbClr val="142238"/>
          </a:solidFill>
          <a:ln xmlns:a="http://schemas.openxmlformats.org/drawingml/2006/main" w="12700">
            <a:solidFill>
              <a:srgbClr val="D8E4E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6" name="TextBox 25">
            <a:extLst xmlns:a="http://schemas.openxmlformats.org/drawingml/2006/main">
              <a:ext uri="{FF2B5EF4-FFF2-40B4-BE49-F238E27FC236}">
                <a16:creationId xmlns:a16="http://schemas.microsoft.com/office/drawing/2014/main" id="{646DE2DB-7B1D-4B3E-80B8-51C8A3263CFC}"/>
              </a:ext>
            </a:extLst>
          </p:cNvPr>
          <p:cNvSpPr>
            <a:spLocks xmlns:a="http://schemas.openxmlformats.org/drawingml/2006/main" noGrp="1"/>
          </p:cNvSpPr>
          <p:nvPr/>
        </p:nvSpPr>
        <p:spPr>
          <a:xfrm xmlns:a="http://schemas.openxmlformats.org/drawingml/2006/main">
            <a:off x="3886200" y="3520440"/>
            <a:ext cx="192024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buNone/>
              <a:defRPr>
                <a:solidFill>
                  <a:srgbClr val="F8FAFC"/>
                </a:solidFill>
              </a:defRPr>
            </a:pPr>
            <a:r>
              <a:rPr sz="1700" b="1">
                <a:solidFill>
                  <a:srgbClr val="F8FAFC"/>
                </a:solidFill>
                <a:latin typeface="Calibri"/>
                <a:ea typeface="Calibri"/>
                <a:cs typeface="Calibri"/>
              </a:rPr>
              <a:t>AI models</a:t>
            </a:r>
          </a:p>
        </p:txBody>
      </p:sp>
      <p:sp>
        <p:nvSpPr>
          <p:cNvPr id="27" name="TextBox 26">
            <a:extLst xmlns:a="http://schemas.openxmlformats.org/drawingml/2006/main">
              <a:ext uri="{FF2B5EF4-FFF2-40B4-BE49-F238E27FC236}">
                <a16:creationId xmlns:a16="http://schemas.microsoft.com/office/drawing/2014/main" id="{58C6826E-0A4B-4EA6-8BEF-7F0868600DD2}"/>
              </a:ext>
            </a:extLst>
          </p:cNvPr>
          <p:cNvSpPr>
            <a:spLocks xmlns:a="http://schemas.openxmlformats.org/drawingml/2006/main" noGrp="1"/>
          </p:cNvSpPr>
          <p:nvPr/>
        </p:nvSpPr>
        <p:spPr>
          <a:xfrm xmlns:a="http://schemas.openxmlformats.org/drawingml/2006/main">
            <a:off x="3886200" y="3959352"/>
            <a:ext cx="19202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buNone/>
              <a:defRPr>
                <a:solidFill>
                  <a:srgbClr val="CBD5E1"/>
                </a:solidFill>
              </a:defRPr>
            </a:pPr>
            <a:r>
              <a:rPr sz="1300" b="0">
                <a:solidFill>
                  <a:srgbClr val="CBD5E1"/>
                </a:solidFill>
                <a:latin typeface="Calibri"/>
                <a:ea typeface="Calibri"/>
                <a:cs typeface="Calibri"/>
              </a:rPr>
              <a:t>Claude Sonnet · Opus</a:t>
            </a:r>
          </a:p>
        </p:txBody>
      </p:sp>
      <p:sp>
        <p:nvSpPr>
          <p:cNvPr id="28" name="Connector 27">
            <a:extLst xmlns:a="http://schemas.openxmlformats.org/drawingml/2006/main">
              <a:ext uri="{FF2B5EF4-FFF2-40B4-BE49-F238E27FC236}">
                <a16:creationId xmlns:a16="http://schemas.microsoft.com/office/drawing/2014/main" id="{291D0B96-8763-4ECA-8A86-8C2727C6D7E7}"/>
              </a:ext>
            </a:extLst>
          </p:cNvPr>
          <p:cNvSpPr>
            <a:spLocks xmlns:a="http://schemas.openxmlformats.org/drawingml/2006/main" noGrp="1"/>
          </p:cNvSpPr>
          <p:nvPr/>
        </p:nvSpPr>
        <p:spPr>
          <a:xfrm xmlns:a="http://schemas.openxmlformats.org/drawingml/2006/main">
            <a:off x="3017520" y="2395728"/>
            <a:ext cx="640080" cy="0"/>
          </a:xfrm>
          <a:prstGeom xmlns:a="http://schemas.openxmlformats.org/drawingml/2006/main" prst="line">
            <a:avLst/>
          </a:prstGeom>
          <a:ln xmlns:a="http://schemas.openxmlformats.org/drawingml/2006/main" w="25400">
            <a:solidFill>
              <a:srgbClr val="0F7F8A"/>
            </a:solidFill>
            <a:tailEnd type="triangle"/>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txBody xmlns:a="http://schemas.openxmlformats.org/drawingml/2006/main">
          <a:bodyPr/>
          <a:p/>
        </p:txBody>
      </p:sp>
      <p:sp>
        <p:nvSpPr>
          <p:cNvPr id="29" name="Connector 28">
            <a:extLst xmlns:a="http://schemas.openxmlformats.org/drawingml/2006/main">
              <a:ext uri="{FF2B5EF4-FFF2-40B4-BE49-F238E27FC236}">
                <a16:creationId xmlns:a16="http://schemas.microsoft.com/office/drawing/2014/main" id="{02ADE3B3-7A3B-4947-8C44-FE6C07E4CD5D}"/>
              </a:ext>
            </a:extLst>
          </p:cNvPr>
          <p:cNvSpPr>
            <a:spLocks xmlns:a="http://schemas.openxmlformats.org/drawingml/2006/main" noGrp="1"/>
          </p:cNvSpPr>
          <p:nvPr/>
        </p:nvSpPr>
        <p:spPr>
          <a:xfrm xmlns:a="http://schemas.openxmlformats.org/drawingml/2006/main">
            <a:off x="6035040" y="2286000"/>
            <a:ext cx="731520" cy="0"/>
          </a:xfrm>
          <a:prstGeom xmlns:a="http://schemas.openxmlformats.org/drawingml/2006/main" prst="line">
            <a:avLst/>
          </a:prstGeom>
          <a:ln xmlns:a="http://schemas.openxmlformats.org/drawingml/2006/main" w="25400">
            <a:solidFill>
              <a:srgbClr val="0F7F8A"/>
            </a:solidFill>
            <a:tailEnd type="triangle"/>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txBody xmlns:a="http://schemas.openxmlformats.org/drawingml/2006/main">
          <a:bodyPr/>
          <a:p/>
        </p:txBody>
      </p:sp>
      <p:sp>
        <p:nvSpPr>
          <p:cNvPr id="30" name="Connector 29">
            <a:extLst xmlns:a="http://schemas.openxmlformats.org/drawingml/2006/main">
              <a:ext uri="{FF2B5EF4-FFF2-40B4-BE49-F238E27FC236}">
                <a16:creationId xmlns:a16="http://schemas.microsoft.com/office/drawing/2014/main" id="{17333355-D05C-46CE-B12A-5E6A8F79F08D}"/>
              </a:ext>
            </a:extLst>
          </p:cNvPr>
          <p:cNvSpPr>
            <a:spLocks xmlns:a="http://schemas.openxmlformats.org/drawingml/2006/main" noGrp="1"/>
          </p:cNvSpPr>
          <p:nvPr/>
        </p:nvSpPr>
        <p:spPr>
          <a:xfrm xmlns:a="http://schemas.openxmlformats.org/drawingml/2006/main">
            <a:off x="6035040" y="2651760"/>
            <a:ext cx="731520" cy="1188720"/>
          </a:xfrm>
          <a:prstGeom xmlns:a="http://schemas.openxmlformats.org/drawingml/2006/main" prst="line">
            <a:avLst/>
          </a:prstGeom>
          <a:ln xmlns:a="http://schemas.openxmlformats.org/drawingml/2006/main" w="25400">
            <a:solidFill>
              <a:srgbClr val="0F7F8A"/>
            </a:solidFill>
            <a:tailEnd type="triangle"/>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txBody xmlns:a="http://schemas.openxmlformats.org/drawingml/2006/main">
          <a:bodyPr/>
          <a:p/>
        </p:txBody>
      </p:sp>
      <p:sp>
        <p:nvSpPr>
          <p:cNvPr id="31" name="TextBox 30">
            <a:extLst xmlns:a="http://schemas.openxmlformats.org/drawingml/2006/main">
              <a:ext uri="{FF2B5EF4-FFF2-40B4-BE49-F238E27FC236}">
                <a16:creationId xmlns:a16="http://schemas.microsoft.com/office/drawing/2014/main" id="{EA1F7A4F-A956-49F8-B38D-41F2CEB6D749}"/>
              </a:ext>
            </a:extLst>
          </p:cNvPr>
          <p:cNvSpPr>
            <a:spLocks xmlns:a="http://schemas.openxmlformats.org/drawingml/2006/main" noGrp="1"/>
          </p:cNvSpPr>
          <p:nvPr/>
        </p:nvSpPr>
        <p:spPr>
          <a:xfrm xmlns:a="http://schemas.openxmlformats.org/drawingml/2006/main">
            <a:off x="640080" y="5120640"/>
            <a:ext cx="1088136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buNone/>
              <a:defRPr>
                <a:solidFill>
                  <a:srgbClr val="F8FAFC"/>
                </a:solidFill>
              </a:defRPr>
            </a:pPr>
            <a:r>
              <a:rPr sz="1700" b="1">
                <a:solidFill>
                  <a:srgbClr val="F8FAFC"/>
                </a:solidFill>
                <a:latin typeface="Calibri"/>
                <a:ea typeface="Calibri"/>
                <a:cs typeface="Calibri"/>
              </a:rPr>
              <a:t>Current: AgentCore runtime + DynamoDB/S3. Durable AWS graph checkpoints remain future work.</a:t>
            </a:r>
          </a:p>
        </p:txBody>
      </p:sp>
    </p:spTree>
    <p:extLst>
      <p:ext uri="{BB962C8B-B14F-4D97-AF65-F5344CB8AC3E}">
        <p14:creationId xmlns:p14="http://schemas.microsoft.com/office/powerpoint/2010/main" val="1199942129"/>
      </p:ext>
    </p:extLst>
  </p:cSld>
</p:sld>
</file>

<file path=ppt/slides/slide11.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51F63438-17E8-4F9E-8FE9-8AF2F728320A}"/>
              </a:ext>
            </a:extLst>
          </p:cNvPr>
          <p:cNvSpPr>
            <a:spLocks xmlns:a="http://schemas.openxmlformats.org/drawingml/2006/main" noGrp="1"/>
          </p:cNvSpPr>
          <p:nvPr/>
        </p:nvSpPr>
        <p:spPr>
          <a:xfrm xmlns:a="http://schemas.openxmlformats.org/drawingml/2006/main">
            <a:off x="0" y="0"/>
            <a:ext cx="12191695" cy="109728"/>
          </a:xfrm>
          <a:prstGeom xmlns:a="http://schemas.openxmlformats.org/drawingml/2006/main" prst="rect">
            <a:avLst/>
          </a:prstGeom>
          <a:solidFill xmlns:a="http://schemas.openxmlformats.org/drawingml/2006/main">
            <a:srgbClr val="2DD4B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18E5D131-D1FF-47E5-8EDE-D5C91077917C}"/>
              </a:ext>
            </a:extLst>
          </p:cNvPr>
          <p:cNvSpPr>
            <a:spLocks xmlns:a="http://schemas.openxmlformats.org/drawingml/2006/main" noGrp="1"/>
          </p:cNvSpPr>
          <p:nvPr/>
        </p:nvSpPr>
        <p:spPr>
          <a:xfrm xmlns:a="http://schemas.openxmlformats.org/drawingml/2006/main">
            <a:off x="640080" y="411480"/>
            <a:ext cx="91440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buNone/>
              <a:defRPr>
                <a:solidFill>
                  <a:srgbClr val="2DD4BF"/>
                </a:solidFill>
              </a:defRPr>
            </a:pPr>
            <a:r>
              <a:rPr sz="1200" b="1">
                <a:solidFill>
                  <a:srgbClr val="2DD4BF"/>
                </a:solidFill>
                <a:latin typeface="Calibri"/>
                <a:ea typeface="Calibri"/>
                <a:cs typeface="Calibri"/>
              </a:rPr>
              <a:t>APPENDIX · OPERATIONS</a:t>
            </a:r>
          </a:p>
        </p:txBody>
      </p:sp>
      <p:sp>
        <p:nvSpPr>
          <p:cNvPr id="4" name="TextBox 3">
            <a:extLst xmlns:a="http://schemas.openxmlformats.org/drawingml/2006/main">
              <a:ext uri="{FF2B5EF4-FFF2-40B4-BE49-F238E27FC236}">
                <a16:creationId xmlns:a16="http://schemas.microsoft.com/office/drawing/2014/main" id="{FDB114A1-8151-485E-BF68-824FFCE4BD84}"/>
              </a:ext>
            </a:extLst>
          </p:cNvPr>
          <p:cNvSpPr>
            <a:spLocks xmlns:a="http://schemas.openxmlformats.org/drawingml/2006/main" noGrp="1"/>
          </p:cNvSpPr>
          <p:nvPr/>
        </p:nvSpPr>
        <p:spPr>
          <a:xfrm xmlns:a="http://schemas.openxmlformats.org/drawingml/2006/main">
            <a:off x="640080" y="685800"/>
            <a:ext cx="1097280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buNone/>
              <a:defRPr>
                <a:solidFill>
                  <a:srgbClr val="F8FAFC"/>
                </a:solidFill>
              </a:defRPr>
            </a:pPr>
            <a:r>
              <a:rPr sz="3200" b="1">
                <a:solidFill>
                  <a:srgbClr val="F8FAFC"/>
                </a:solidFill>
                <a:latin typeface="Calibri"/>
                <a:ea typeface="Calibri"/>
                <a:cs typeface="Calibri"/>
              </a:rPr>
              <a:t>Tests separate code safety from model quality</a:t>
            </a:r>
          </a:p>
        </p:txBody>
      </p:sp>
      <p:sp>
        <p:nvSpPr>
          <p:cNvPr id="5" name="Pentagon 4">
            <a:extLst xmlns:a="http://schemas.openxmlformats.org/drawingml/2006/main">
              <a:ext uri="{FF2B5EF4-FFF2-40B4-BE49-F238E27FC236}">
                <a16:creationId xmlns:a16="http://schemas.microsoft.com/office/drawing/2014/main" id="{9552768B-F5C2-4131-A23F-631068D4A16A}"/>
              </a:ext>
            </a:extLst>
          </p:cNvPr>
          <p:cNvSpPr>
            <a:spLocks xmlns:a="http://schemas.openxmlformats.org/drawingml/2006/main" noGrp="1"/>
          </p:cNvSpPr>
          <p:nvPr/>
        </p:nvSpPr>
        <p:spPr>
          <a:xfrm xmlns:a="http://schemas.openxmlformats.org/drawingml/2006/main" rot="5400000">
            <a:off x="11201400" y="384048"/>
            <a:ext cx="384048" cy="384048"/>
          </a:xfrm>
          <a:prstGeom xmlns:a="http://schemas.openxmlformats.org/drawingml/2006/main" prst="homePlate">
            <a:avLst/>
          </a:prstGeom>
          <a:solidFill xmlns:a="http://schemas.openxmlformats.org/drawingml/2006/main">
            <a:srgbClr val="2DD4B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Rectangle 5">
            <a:extLst xmlns:a="http://schemas.openxmlformats.org/drawingml/2006/main">
              <a:ext uri="{FF2B5EF4-FFF2-40B4-BE49-F238E27FC236}">
                <a16:creationId xmlns:a16="http://schemas.microsoft.com/office/drawing/2014/main" id="{A911B70D-44F3-4B7D-BDAE-E7D56EA3929F}"/>
              </a:ext>
            </a:extLst>
          </p:cNvPr>
          <p:cNvSpPr>
            <a:spLocks xmlns:a="http://schemas.openxmlformats.org/drawingml/2006/main" noGrp="1"/>
          </p:cNvSpPr>
          <p:nvPr/>
        </p:nvSpPr>
        <p:spPr>
          <a:xfrm xmlns:a="http://schemas.openxmlformats.org/drawingml/2006/main">
            <a:off x="11358860" y="453177"/>
            <a:ext cx="69128" cy="215066"/>
          </a:xfrm>
          <a:prstGeom xmlns:a="http://schemas.openxmlformats.org/drawingml/2006/main" prst="rect">
            <a:avLst/>
          </a:prstGeom>
          <a:solidFill xmlns:a="http://schemas.openxmlformats.org/drawingml/2006/main">
            <a:srgbClr val="14223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Rectangle 6">
            <a:extLst xmlns:a="http://schemas.openxmlformats.org/drawingml/2006/main">
              <a:ext uri="{FF2B5EF4-FFF2-40B4-BE49-F238E27FC236}">
                <a16:creationId xmlns:a16="http://schemas.microsoft.com/office/drawing/2014/main" id="{5D8D7872-39B4-4952-AB7A-BE1C95087CC2}"/>
              </a:ext>
            </a:extLst>
          </p:cNvPr>
          <p:cNvSpPr>
            <a:spLocks xmlns:a="http://schemas.openxmlformats.org/drawingml/2006/main" noGrp="1"/>
          </p:cNvSpPr>
          <p:nvPr/>
        </p:nvSpPr>
        <p:spPr>
          <a:xfrm xmlns:a="http://schemas.openxmlformats.org/drawingml/2006/main">
            <a:off x="11285891" y="526146"/>
            <a:ext cx="215066" cy="69128"/>
          </a:xfrm>
          <a:prstGeom xmlns:a="http://schemas.openxmlformats.org/drawingml/2006/main" prst="rect">
            <a:avLst/>
          </a:prstGeom>
          <a:solidFill xmlns:a="http://schemas.openxmlformats.org/drawingml/2006/main">
            <a:srgbClr val="14223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 name="TextBox 7">
            <a:extLst xmlns:a="http://schemas.openxmlformats.org/drawingml/2006/main">
              <a:ext uri="{FF2B5EF4-FFF2-40B4-BE49-F238E27FC236}">
                <a16:creationId xmlns:a16="http://schemas.microsoft.com/office/drawing/2014/main" id="{95077F3E-09FC-44FE-BB8D-AF49CDBA4C5D}"/>
              </a:ext>
            </a:extLst>
          </p:cNvPr>
          <p:cNvSpPr>
            <a:spLocks xmlns:a="http://schemas.openxmlformats.org/drawingml/2006/main" noGrp="1"/>
          </p:cNvSpPr>
          <p:nvPr/>
        </p:nvSpPr>
        <p:spPr>
          <a:xfrm xmlns:a="http://schemas.openxmlformats.org/drawingml/2006/main">
            <a:off x="640080" y="6446520"/>
            <a:ext cx="7315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buNone/>
              <a:defRPr>
                <a:solidFill>
                  <a:srgbClr val="CBD5E1"/>
                </a:solidFill>
              </a:defRPr>
            </a:pPr>
            <a:r>
              <a:rPr sz="1000" b="0">
                <a:solidFill>
                  <a:srgbClr val="CBD5E1"/>
                </a:solidFill>
                <a:latin typeface="Calibri"/>
                <a:ea typeface="Calibri"/>
                <a:cs typeface="Calibri"/>
              </a:rPr>
              <a:t>MediShield Health · Appendix</a:t>
            </a:r>
          </a:p>
        </p:txBody>
      </p:sp>
      <p:sp>
        <p:nvSpPr>
          <p:cNvPr id="9" name="TextBox 8">
            <a:extLst xmlns:a="http://schemas.openxmlformats.org/drawingml/2006/main">
              <a:ext uri="{FF2B5EF4-FFF2-40B4-BE49-F238E27FC236}">
                <a16:creationId xmlns:a16="http://schemas.microsoft.com/office/drawing/2014/main" id="{24AA11B2-70F5-4328-8EC8-E27E87993BFD}"/>
              </a:ext>
            </a:extLst>
          </p:cNvPr>
          <p:cNvSpPr>
            <a:spLocks xmlns:a="http://schemas.openxmlformats.org/drawingml/2006/main" noGrp="1"/>
          </p:cNvSpPr>
          <p:nvPr/>
        </p:nvSpPr>
        <p:spPr>
          <a:xfrm xmlns:a="http://schemas.openxmlformats.org/drawingml/2006/main">
            <a:off x="10881360" y="6446520"/>
            <a:ext cx="7315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r">
              <a:buNone/>
              <a:defRPr>
                <a:solidFill>
                  <a:srgbClr val="CBD5E1"/>
                </a:solidFill>
              </a:defRPr>
            </a:pPr>
            <a:r>
              <a:rPr sz="1000" b="0">
                <a:solidFill>
                  <a:srgbClr val="CBD5E1"/>
                </a:solidFill>
                <a:latin typeface="Calibri"/>
                <a:ea typeface="Calibri"/>
                <a:cs typeface="Calibri"/>
              </a:rPr>
              <a:t>11</a:t>
            </a:r>
          </a:p>
        </p:txBody>
      </p:sp>
      <p:sp>
        <p:nvSpPr>
          <p:cNvPr id="10" name="Rounded Rectangle 9">
            <a:extLst xmlns:a="http://schemas.openxmlformats.org/drawingml/2006/main">
              <a:ext uri="{FF2B5EF4-FFF2-40B4-BE49-F238E27FC236}">
                <a16:creationId xmlns:a16="http://schemas.microsoft.com/office/drawing/2014/main" id="{A3149592-4D34-451C-8BEF-5B935E4C99FE}"/>
              </a:ext>
            </a:extLst>
          </p:cNvPr>
          <p:cNvSpPr>
            <a:spLocks xmlns:a="http://schemas.openxmlformats.org/drawingml/2006/main" noGrp="1"/>
          </p:cNvSpPr>
          <p:nvPr/>
        </p:nvSpPr>
        <p:spPr>
          <a:xfrm xmlns:a="http://schemas.openxmlformats.org/drawingml/2006/main">
            <a:off x="640080" y="1737360"/>
            <a:ext cx="5349240" cy="1828800"/>
          </a:xfrm>
          <a:prstGeom xmlns:a="http://schemas.openxmlformats.org/drawingml/2006/main" prst="roundRect">
            <a:avLst>
              <a:gd name="adj" fmla="val 8000"/>
            </a:avLst>
          </a:prstGeom>
          <a:solidFill xmlns:a="http://schemas.openxmlformats.org/drawingml/2006/main">
            <a:srgbClr val="142238"/>
          </a:solidFill>
          <a:ln xmlns:a="http://schemas.openxmlformats.org/drawingml/2006/main" w="12700">
            <a:solidFill>
              <a:srgbClr val="D8E4E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 name="TextBox 10">
            <a:extLst xmlns:a="http://schemas.openxmlformats.org/drawingml/2006/main">
              <a:ext uri="{FF2B5EF4-FFF2-40B4-BE49-F238E27FC236}">
                <a16:creationId xmlns:a16="http://schemas.microsoft.com/office/drawing/2014/main" id="{27587ACE-A22F-4FC5-8AF6-3F4E77B782DF}"/>
              </a:ext>
            </a:extLst>
          </p:cNvPr>
          <p:cNvSpPr>
            <a:spLocks xmlns:a="http://schemas.openxmlformats.org/drawingml/2006/main" noGrp="1"/>
          </p:cNvSpPr>
          <p:nvPr/>
        </p:nvSpPr>
        <p:spPr>
          <a:xfrm xmlns:a="http://schemas.openxmlformats.org/drawingml/2006/main">
            <a:off x="914400" y="2011680"/>
            <a:ext cx="48006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buNone/>
              <a:defRPr>
                <a:solidFill>
                  <a:srgbClr val="F8FAFC"/>
                </a:solidFill>
              </a:defRPr>
            </a:pPr>
            <a:r>
              <a:rPr sz="2000" b="1">
                <a:solidFill>
                  <a:srgbClr val="F8FAFC"/>
                </a:solidFill>
                <a:latin typeface="Calibri"/>
                <a:ea typeface="Calibri"/>
                <a:cs typeface="Calibri"/>
              </a:rPr>
              <a:t>Every case traceable</a:t>
            </a:r>
          </a:p>
        </p:txBody>
      </p:sp>
      <p:sp>
        <p:nvSpPr>
          <p:cNvPr id="12" name="TextBox 11">
            <a:extLst xmlns:a="http://schemas.openxmlformats.org/drawingml/2006/main">
              <a:ext uri="{FF2B5EF4-FFF2-40B4-BE49-F238E27FC236}">
                <a16:creationId xmlns:a16="http://schemas.microsoft.com/office/drawing/2014/main" id="{8B93F9AD-34D3-4036-83EC-04C2EDF7503E}"/>
              </a:ext>
            </a:extLst>
          </p:cNvPr>
          <p:cNvSpPr>
            <a:spLocks xmlns:a="http://schemas.openxmlformats.org/drawingml/2006/main" noGrp="1"/>
          </p:cNvSpPr>
          <p:nvPr/>
        </p:nvSpPr>
        <p:spPr>
          <a:xfrm xmlns:a="http://schemas.openxmlformats.org/drawingml/2006/main">
            <a:off x="914400" y="2560320"/>
            <a:ext cx="48006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buNone/>
              <a:defRPr>
                <a:solidFill>
                  <a:srgbClr val="CBD5E1"/>
                </a:solidFill>
              </a:defRPr>
            </a:pPr>
            <a:r>
              <a:rPr sz="1500" b="0">
                <a:solidFill>
                  <a:srgbClr val="CBD5E1"/>
                </a:solidFill>
                <a:latin typeface="Calibri"/>
                <a:ea typeface="Calibri"/>
                <a:cs typeface="Calibri"/>
              </a:rPr>
              <a:t>Agent runs, costs and review history</a:t>
            </a:r>
          </a:p>
        </p:txBody>
      </p:sp>
      <p:sp>
        <p:nvSpPr>
          <p:cNvPr id="13" name="Rounded Rectangle 12">
            <a:extLst xmlns:a="http://schemas.openxmlformats.org/drawingml/2006/main">
              <a:ext uri="{FF2B5EF4-FFF2-40B4-BE49-F238E27FC236}">
                <a16:creationId xmlns:a16="http://schemas.microsoft.com/office/drawing/2014/main" id="{AF8E250C-EA21-4B0C-9DBB-9454C424B4D3}"/>
              </a:ext>
            </a:extLst>
          </p:cNvPr>
          <p:cNvSpPr>
            <a:spLocks xmlns:a="http://schemas.openxmlformats.org/drawingml/2006/main" noGrp="1"/>
          </p:cNvSpPr>
          <p:nvPr/>
        </p:nvSpPr>
        <p:spPr>
          <a:xfrm xmlns:a="http://schemas.openxmlformats.org/drawingml/2006/main">
            <a:off x="6217920" y="1737360"/>
            <a:ext cx="5349240" cy="1828800"/>
          </a:xfrm>
          <a:prstGeom xmlns:a="http://schemas.openxmlformats.org/drawingml/2006/main" prst="roundRect">
            <a:avLst>
              <a:gd name="adj" fmla="val 8000"/>
            </a:avLst>
          </a:prstGeom>
          <a:solidFill xmlns:a="http://schemas.openxmlformats.org/drawingml/2006/main">
            <a:srgbClr val="142238"/>
          </a:solidFill>
          <a:ln xmlns:a="http://schemas.openxmlformats.org/drawingml/2006/main" w="12700">
            <a:solidFill>
              <a:srgbClr val="D8E4E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4" name="TextBox 13">
            <a:extLst xmlns:a="http://schemas.openxmlformats.org/drawingml/2006/main">
              <a:ext uri="{FF2B5EF4-FFF2-40B4-BE49-F238E27FC236}">
                <a16:creationId xmlns:a16="http://schemas.microsoft.com/office/drawing/2014/main" id="{7312613C-31AA-4D56-9FE4-37FEFD157045}"/>
              </a:ext>
            </a:extLst>
          </p:cNvPr>
          <p:cNvSpPr>
            <a:spLocks xmlns:a="http://schemas.openxmlformats.org/drawingml/2006/main" noGrp="1"/>
          </p:cNvSpPr>
          <p:nvPr/>
        </p:nvSpPr>
        <p:spPr>
          <a:xfrm xmlns:a="http://schemas.openxmlformats.org/drawingml/2006/main">
            <a:off x="6492240" y="2011680"/>
            <a:ext cx="48006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buNone/>
              <a:defRPr>
                <a:solidFill>
                  <a:srgbClr val="F8FAFC"/>
                </a:solidFill>
              </a:defRPr>
            </a:pPr>
            <a:r>
              <a:rPr sz="2000" b="1">
                <a:solidFill>
                  <a:srgbClr val="F8FAFC"/>
                </a:solidFill>
                <a:latin typeface="Calibri"/>
                <a:ea typeface="Calibri"/>
                <a:cs typeface="Calibri"/>
              </a:rPr>
              <a:t>312 SQLite tests passed</a:t>
            </a:r>
          </a:p>
        </p:txBody>
      </p:sp>
      <p:sp>
        <p:nvSpPr>
          <p:cNvPr id="15" name="TextBox 14">
            <a:extLst xmlns:a="http://schemas.openxmlformats.org/drawingml/2006/main">
              <a:ext uri="{FF2B5EF4-FFF2-40B4-BE49-F238E27FC236}">
                <a16:creationId xmlns:a16="http://schemas.microsoft.com/office/drawing/2014/main" id="{758691F2-27BB-46DC-A695-EF8332895EE3}"/>
              </a:ext>
            </a:extLst>
          </p:cNvPr>
          <p:cNvSpPr>
            <a:spLocks xmlns:a="http://schemas.openxmlformats.org/drawingml/2006/main" noGrp="1"/>
          </p:cNvSpPr>
          <p:nvPr/>
        </p:nvSpPr>
        <p:spPr>
          <a:xfrm xmlns:a="http://schemas.openxmlformats.org/drawingml/2006/main">
            <a:off x="6492240" y="2560320"/>
            <a:ext cx="48006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buNone/>
              <a:defRPr>
                <a:solidFill>
                  <a:srgbClr val="CBD5E1"/>
                </a:solidFill>
              </a:defRPr>
            </a:pPr>
            <a:r>
              <a:rPr sz="1500" b="0">
                <a:solidFill>
                  <a:srgbClr val="CBD5E1"/>
                </a:solidFill>
                <a:latin typeface="Calibri"/>
                <a:ea typeface="Calibri"/>
                <a:cs typeface="Calibri"/>
              </a:rPr>
              <a:t>302 DynamoDB + 2 replay tests</a:t>
            </a:r>
          </a:p>
        </p:txBody>
      </p:sp>
      <p:sp>
        <p:nvSpPr>
          <p:cNvPr id="16" name="Rounded Rectangle 15">
            <a:extLst xmlns:a="http://schemas.openxmlformats.org/drawingml/2006/main">
              <a:ext uri="{FF2B5EF4-FFF2-40B4-BE49-F238E27FC236}">
                <a16:creationId xmlns:a16="http://schemas.microsoft.com/office/drawing/2014/main" id="{233E546D-E6EE-41E4-8E06-D5BC966E9CAA}"/>
              </a:ext>
            </a:extLst>
          </p:cNvPr>
          <p:cNvSpPr>
            <a:spLocks xmlns:a="http://schemas.openxmlformats.org/drawingml/2006/main" noGrp="1"/>
          </p:cNvSpPr>
          <p:nvPr/>
        </p:nvSpPr>
        <p:spPr>
          <a:xfrm xmlns:a="http://schemas.openxmlformats.org/drawingml/2006/main">
            <a:off x="640080" y="3840479"/>
            <a:ext cx="5349240" cy="1828800"/>
          </a:xfrm>
          <a:prstGeom xmlns:a="http://schemas.openxmlformats.org/drawingml/2006/main" prst="roundRect">
            <a:avLst>
              <a:gd name="adj" fmla="val 8000"/>
            </a:avLst>
          </a:prstGeom>
          <a:solidFill xmlns:a="http://schemas.openxmlformats.org/drawingml/2006/main">
            <a:srgbClr val="142238"/>
          </a:solidFill>
          <a:ln xmlns:a="http://schemas.openxmlformats.org/drawingml/2006/main" w="12700">
            <a:solidFill>
              <a:srgbClr val="D8E4E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7" name="TextBox 16">
            <a:extLst xmlns:a="http://schemas.openxmlformats.org/drawingml/2006/main">
              <a:ext uri="{FF2B5EF4-FFF2-40B4-BE49-F238E27FC236}">
                <a16:creationId xmlns:a16="http://schemas.microsoft.com/office/drawing/2014/main" id="{86E8F9D9-BF13-4FAF-9BFF-93187944C20D}"/>
              </a:ext>
            </a:extLst>
          </p:cNvPr>
          <p:cNvSpPr>
            <a:spLocks xmlns:a="http://schemas.openxmlformats.org/drawingml/2006/main" noGrp="1"/>
          </p:cNvSpPr>
          <p:nvPr/>
        </p:nvSpPr>
        <p:spPr>
          <a:xfrm xmlns:a="http://schemas.openxmlformats.org/drawingml/2006/main">
            <a:off x="914400" y="4114799"/>
            <a:ext cx="48006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buNone/>
              <a:defRPr>
                <a:solidFill>
                  <a:srgbClr val="F8FAFC"/>
                </a:solidFill>
              </a:defRPr>
            </a:pPr>
            <a:r>
              <a:rPr sz="2000" b="1">
                <a:solidFill>
                  <a:srgbClr val="F8FAFC"/>
                </a:solidFill>
                <a:latin typeface="Calibri"/>
                <a:ea typeface="Calibri"/>
                <a:cs typeface="Calibri"/>
              </a:rPr>
              <a:t>Costs capped</a:t>
            </a:r>
          </a:p>
        </p:txBody>
      </p:sp>
      <p:sp>
        <p:nvSpPr>
          <p:cNvPr id="18" name="TextBox 17">
            <a:extLst xmlns:a="http://schemas.openxmlformats.org/drawingml/2006/main">
              <a:ext uri="{FF2B5EF4-FFF2-40B4-BE49-F238E27FC236}">
                <a16:creationId xmlns:a16="http://schemas.microsoft.com/office/drawing/2014/main" id="{666E5694-2537-4D3B-A464-9ABCC439DF69}"/>
              </a:ext>
            </a:extLst>
          </p:cNvPr>
          <p:cNvSpPr>
            <a:spLocks xmlns:a="http://schemas.openxmlformats.org/drawingml/2006/main" noGrp="1"/>
          </p:cNvSpPr>
          <p:nvPr/>
        </p:nvSpPr>
        <p:spPr>
          <a:xfrm xmlns:a="http://schemas.openxmlformats.org/drawingml/2006/main">
            <a:off x="914400" y="4663439"/>
            <a:ext cx="48006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buNone/>
              <a:defRPr>
                <a:solidFill>
                  <a:srgbClr val="CBD5E1"/>
                </a:solidFill>
              </a:defRPr>
            </a:pPr>
            <a:r>
              <a:rPr sz="1500" b="0">
                <a:solidFill>
                  <a:srgbClr val="CBD5E1"/>
                </a:solidFill>
                <a:latin typeface="Calibri"/>
                <a:ea typeface="Calibri"/>
                <a:cs typeface="Calibri"/>
              </a:rPr>
              <a:t>Budget alert and hard limits</a:t>
            </a:r>
          </a:p>
        </p:txBody>
      </p:sp>
      <p:sp>
        <p:nvSpPr>
          <p:cNvPr id="19" name="Rounded Rectangle 18">
            <a:extLst xmlns:a="http://schemas.openxmlformats.org/drawingml/2006/main">
              <a:ext uri="{FF2B5EF4-FFF2-40B4-BE49-F238E27FC236}">
                <a16:creationId xmlns:a16="http://schemas.microsoft.com/office/drawing/2014/main" id="{0A2E08FD-70F1-4818-80E6-8881A5D45C14}"/>
              </a:ext>
            </a:extLst>
          </p:cNvPr>
          <p:cNvSpPr>
            <a:spLocks xmlns:a="http://schemas.openxmlformats.org/drawingml/2006/main" noGrp="1"/>
          </p:cNvSpPr>
          <p:nvPr/>
        </p:nvSpPr>
        <p:spPr>
          <a:xfrm xmlns:a="http://schemas.openxmlformats.org/drawingml/2006/main">
            <a:off x="6217920" y="3840479"/>
            <a:ext cx="5349240" cy="1828800"/>
          </a:xfrm>
          <a:prstGeom xmlns:a="http://schemas.openxmlformats.org/drawingml/2006/main" prst="roundRect">
            <a:avLst>
              <a:gd name="adj" fmla="val 8000"/>
            </a:avLst>
          </a:prstGeom>
          <a:solidFill xmlns:a="http://schemas.openxmlformats.org/drawingml/2006/main">
            <a:srgbClr val="142238"/>
          </a:solidFill>
          <a:ln xmlns:a="http://schemas.openxmlformats.org/drawingml/2006/main" w="12700">
            <a:solidFill>
              <a:srgbClr val="D8E4E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0" name="TextBox 19">
            <a:extLst xmlns:a="http://schemas.openxmlformats.org/drawingml/2006/main">
              <a:ext uri="{FF2B5EF4-FFF2-40B4-BE49-F238E27FC236}">
                <a16:creationId xmlns:a16="http://schemas.microsoft.com/office/drawing/2014/main" id="{C295D09C-A473-47C3-B70F-3DC1085F290E}"/>
              </a:ext>
            </a:extLst>
          </p:cNvPr>
          <p:cNvSpPr>
            <a:spLocks xmlns:a="http://schemas.openxmlformats.org/drawingml/2006/main" noGrp="1"/>
          </p:cNvSpPr>
          <p:nvPr/>
        </p:nvSpPr>
        <p:spPr>
          <a:xfrm xmlns:a="http://schemas.openxmlformats.org/drawingml/2006/main">
            <a:off x="6492240" y="4114799"/>
            <a:ext cx="48006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buNone/>
              <a:defRPr>
                <a:solidFill>
                  <a:srgbClr val="F8FAFC"/>
                </a:solidFill>
              </a:defRPr>
            </a:pPr>
            <a:r>
              <a:rPr sz="2000" b="1">
                <a:solidFill>
                  <a:srgbClr val="F8FAFC"/>
                </a:solidFill>
                <a:latin typeface="Calibri"/>
                <a:ea typeface="Calibri"/>
                <a:cs typeface="Calibri"/>
              </a:rPr>
              <a:t>28 saved-result gates</a:t>
            </a:r>
          </a:p>
        </p:txBody>
      </p:sp>
      <p:sp>
        <p:nvSpPr>
          <p:cNvPr id="21" name="TextBox 20">
            <a:extLst xmlns:a="http://schemas.openxmlformats.org/drawingml/2006/main">
              <a:ext uri="{FF2B5EF4-FFF2-40B4-BE49-F238E27FC236}">
                <a16:creationId xmlns:a16="http://schemas.microsoft.com/office/drawing/2014/main" id="{74373876-FE29-49AD-B8B6-B9258333F993}"/>
              </a:ext>
            </a:extLst>
          </p:cNvPr>
          <p:cNvSpPr>
            <a:spLocks xmlns:a="http://schemas.openxmlformats.org/drawingml/2006/main" noGrp="1"/>
          </p:cNvSpPr>
          <p:nvPr/>
        </p:nvSpPr>
        <p:spPr>
          <a:xfrm xmlns:a="http://schemas.openxmlformats.org/drawingml/2006/main">
            <a:off x="6492240" y="4663439"/>
            <a:ext cx="48006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buNone/>
              <a:defRPr>
                <a:solidFill>
                  <a:srgbClr val="CBD5E1"/>
                </a:solidFill>
              </a:defRPr>
            </a:pPr>
            <a:r>
              <a:rPr sz="1500" b="0">
                <a:solidFill>
                  <a:srgbClr val="CBD5E1"/>
                </a:solidFill>
                <a:latin typeface="Calibri"/>
                <a:ea typeface="Calibri"/>
                <a:cs typeface="Calibri"/>
              </a:rPr>
              <a:t>Fresh model evaluation is separate</a:t>
            </a:r>
          </a:p>
        </p:txBody>
      </p:sp>
    </p:spTree>
    <p:extLst>
      <p:ext uri="{BB962C8B-B14F-4D97-AF65-F5344CB8AC3E}">
        <p14:creationId xmlns:p14="http://schemas.microsoft.com/office/powerpoint/2010/main" val="749263542"/>
      </p:ext>
    </p:extLst>
  </p:cSld>
</p:sld>
</file>

<file path=ppt/slides/slide12.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AF6CB826-CEE6-4FA3-B258-A93810B8540E}"/>
              </a:ext>
            </a:extLst>
          </p:cNvPr>
          <p:cNvSpPr>
            <a:spLocks xmlns:a="http://schemas.openxmlformats.org/drawingml/2006/main" noGrp="1"/>
          </p:cNvSpPr>
          <p:nvPr/>
        </p:nvSpPr>
        <p:spPr>
          <a:xfrm xmlns:a="http://schemas.openxmlformats.org/drawingml/2006/main">
            <a:off x="0" y="0"/>
            <a:ext cx="12191695" cy="109728"/>
          </a:xfrm>
          <a:prstGeom xmlns:a="http://schemas.openxmlformats.org/drawingml/2006/main" prst="rect">
            <a:avLst/>
          </a:prstGeom>
          <a:solidFill xmlns:a="http://schemas.openxmlformats.org/drawingml/2006/main">
            <a:srgbClr val="2DD4B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029F3B96-8EC3-458A-9B1F-5ED8CB4191EC}"/>
              </a:ext>
            </a:extLst>
          </p:cNvPr>
          <p:cNvSpPr>
            <a:spLocks xmlns:a="http://schemas.openxmlformats.org/drawingml/2006/main" noGrp="1"/>
          </p:cNvSpPr>
          <p:nvPr/>
        </p:nvSpPr>
        <p:spPr>
          <a:xfrm xmlns:a="http://schemas.openxmlformats.org/drawingml/2006/main">
            <a:off x="640080" y="411480"/>
            <a:ext cx="91440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buNone/>
              <a:defRPr>
                <a:solidFill>
                  <a:srgbClr val="2DD4BF"/>
                </a:solidFill>
              </a:defRPr>
            </a:pPr>
            <a:r>
              <a:rPr sz="1200" b="1">
                <a:solidFill>
                  <a:srgbClr val="2DD4BF"/>
                </a:solidFill>
                <a:latin typeface="Calibri"/>
                <a:ea typeface="Calibri"/>
                <a:cs typeface="Calibri"/>
              </a:rPr>
              <a:t>APPENDIX · ENGINEERING</a:t>
            </a:r>
          </a:p>
        </p:txBody>
      </p:sp>
      <p:sp>
        <p:nvSpPr>
          <p:cNvPr id="4" name="TextBox 3">
            <a:extLst xmlns:a="http://schemas.openxmlformats.org/drawingml/2006/main">
              <a:ext uri="{FF2B5EF4-FFF2-40B4-BE49-F238E27FC236}">
                <a16:creationId xmlns:a16="http://schemas.microsoft.com/office/drawing/2014/main" id="{34E90EFD-F258-4180-AE5E-E040ED53AC75}"/>
              </a:ext>
            </a:extLst>
          </p:cNvPr>
          <p:cNvSpPr>
            <a:spLocks xmlns:a="http://schemas.openxmlformats.org/drawingml/2006/main" noGrp="1"/>
          </p:cNvSpPr>
          <p:nvPr/>
        </p:nvSpPr>
        <p:spPr>
          <a:xfrm xmlns:a="http://schemas.openxmlformats.org/drawingml/2006/main">
            <a:off x="640080" y="685800"/>
            <a:ext cx="1097280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buNone/>
              <a:defRPr>
                <a:solidFill>
                  <a:srgbClr val="F8FAFC"/>
                </a:solidFill>
              </a:defRPr>
            </a:pPr>
            <a:r>
              <a:rPr sz="3200" b="1">
                <a:solidFill>
                  <a:srgbClr val="F8FAFC"/>
                </a:solidFill>
                <a:latin typeface="Calibri"/>
                <a:ea typeface="Calibri"/>
                <a:cs typeface="Calibri"/>
              </a:rPr>
              <a:t>Tradeoffs have evidence and limits</a:t>
            </a:r>
          </a:p>
        </p:txBody>
      </p:sp>
      <p:sp>
        <p:nvSpPr>
          <p:cNvPr id="5" name="Pentagon 4">
            <a:extLst xmlns:a="http://schemas.openxmlformats.org/drawingml/2006/main">
              <a:ext uri="{FF2B5EF4-FFF2-40B4-BE49-F238E27FC236}">
                <a16:creationId xmlns:a16="http://schemas.microsoft.com/office/drawing/2014/main" id="{8C1EA226-9E42-4DFF-AB4A-1EBC44317F61}"/>
              </a:ext>
            </a:extLst>
          </p:cNvPr>
          <p:cNvSpPr>
            <a:spLocks xmlns:a="http://schemas.openxmlformats.org/drawingml/2006/main" noGrp="1"/>
          </p:cNvSpPr>
          <p:nvPr/>
        </p:nvSpPr>
        <p:spPr>
          <a:xfrm xmlns:a="http://schemas.openxmlformats.org/drawingml/2006/main" rot="5400000">
            <a:off x="11201400" y="384048"/>
            <a:ext cx="384048" cy="384048"/>
          </a:xfrm>
          <a:prstGeom xmlns:a="http://schemas.openxmlformats.org/drawingml/2006/main" prst="homePlate">
            <a:avLst/>
          </a:prstGeom>
          <a:solidFill xmlns:a="http://schemas.openxmlformats.org/drawingml/2006/main">
            <a:srgbClr val="2DD4B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Rectangle 5">
            <a:extLst xmlns:a="http://schemas.openxmlformats.org/drawingml/2006/main">
              <a:ext uri="{FF2B5EF4-FFF2-40B4-BE49-F238E27FC236}">
                <a16:creationId xmlns:a16="http://schemas.microsoft.com/office/drawing/2014/main" id="{3F2174F7-73CD-4224-B8FD-1F246F123DDE}"/>
              </a:ext>
            </a:extLst>
          </p:cNvPr>
          <p:cNvSpPr>
            <a:spLocks xmlns:a="http://schemas.openxmlformats.org/drawingml/2006/main" noGrp="1"/>
          </p:cNvSpPr>
          <p:nvPr/>
        </p:nvSpPr>
        <p:spPr>
          <a:xfrm xmlns:a="http://schemas.openxmlformats.org/drawingml/2006/main">
            <a:off x="11358860" y="453177"/>
            <a:ext cx="69128" cy="215066"/>
          </a:xfrm>
          <a:prstGeom xmlns:a="http://schemas.openxmlformats.org/drawingml/2006/main" prst="rect">
            <a:avLst/>
          </a:prstGeom>
          <a:solidFill xmlns:a="http://schemas.openxmlformats.org/drawingml/2006/main">
            <a:srgbClr val="14223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Rectangle 6">
            <a:extLst xmlns:a="http://schemas.openxmlformats.org/drawingml/2006/main">
              <a:ext uri="{FF2B5EF4-FFF2-40B4-BE49-F238E27FC236}">
                <a16:creationId xmlns:a16="http://schemas.microsoft.com/office/drawing/2014/main" id="{D2874F55-B05D-4AC9-A498-4471B2056F4A}"/>
              </a:ext>
            </a:extLst>
          </p:cNvPr>
          <p:cNvSpPr>
            <a:spLocks xmlns:a="http://schemas.openxmlformats.org/drawingml/2006/main" noGrp="1"/>
          </p:cNvSpPr>
          <p:nvPr/>
        </p:nvSpPr>
        <p:spPr>
          <a:xfrm xmlns:a="http://schemas.openxmlformats.org/drawingml/2006/main">
            <a:off x="11285891" y="526146"/>
            <a:ext cx="215066" cy="69128"/>
          </a:xfrm>
          <a:prstGeom xmlns:a="http://schemas.openxmlformats.org/drawingml/2006/main" prst="rect">
            <a:avLst/>
          </a:prstGeom>
          <a:solidFill xmlns:a="http://schemas.openxmlformats.org/drawingml/2006/main">
            <a:srgbClr val="14223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 name="TextBox 7">
            <a:extLst xmlns:a="http://schemas.openxmlformats.org/drawingml/2006/main">
              <a:ext uri="{FF2B5EF4-FFF2-40B4-BE49-F238E27FC236}">
                <a16:creationId xmlns:a16="http://schemas.microsoft.com/office/drawing/2014/main" id="{82E228E5-4551-4B6B-9F8F-88AAC50DE0BE}"/>
              </a:ext>
            </a:extLst>
          </p:cNvPr>
          <p:cNvSpPr>
            <a:spLocks xmlns:a="http://schemas.openxmlformats.org/drawingml/2006/main" noGrp="1"/>
          </p:cNvSpPr>
          <p:nvPr/>
        </p:nvSpPr>
        <p:spPr>
          <a:xfrm xmlns:a="http://schemas.openxmlformats.org/drawingml/2006/main">
            <a:off x="640080" y="6446520"/>
            <a:ext cx="7315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buNone/>
              <a:defRPr>
                <a:solidFill>
                  <a:srgbClr val="CBD5E1"/>
                </a:solidFill>
              </a:defRPr>
            </a:pPr>
            <a:r>
              <a:rPr sz="1000" b="0">
                <a:solidFill>
                  <a:srgbClr val="CBD5E1"/>
                </a:solidFill>
                <a:latin typeface="Calibri"/>
                <a:ea typeface="Calibri"/>
                <a:cs typeface="Calibri"/>
              </a:rPr>
              <a:t>MediShield Health · Appendix</a:t>
            </a:r>
          </a:p>
        </p:txBody>
      </p:sp>
      <p:sp>
        <p:nvSpPr>
          <p:cNvPr id="9" name="TextBox 8">
            <a:extLst xmlns:a="http://schemas.openxmlformats.org/drawingml/2006/main">
              <a:ext uri="{FF2B5EF4-FFF2-40B4-BE49-F238E27FC236}">
                <a16:creationId xmlns:a16="http://schemas.microsoft.com/office/drawing/2014/main" id="{5A91BE3C-9703-4FCB-81CD-3339C5704F5C}"/>
              </a:ext>
            </a:extLst>
          </p:cNvPr>
          <p:cNvSpPr>
            <a:spLocks xmlns:a="http://schemas.openxmlformats.org/drawingml/2006/main" noGrp="1"/>
          </p:cNvSpPr>
          <p:nvPr/>
        </p:nvSpPr>
        <p:spPr>
          <a:xfrm xmlns:a="http://schemas.openxmlformats.org/drawingml/2006/main">
            <a:off x="10881360" y="6446520"/>
            <a:ext cx="7315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r">
              <a:buNone/>
              <a:defRPr>
                <a:solidFill>
                  <a:srgbClr val="CBD5E1"/>
                </a:solidFill>
              </a:defRPr>
            </a:pPr>
            <a:r>
              <a:rPr sz="1000" b="0">
                <a:solidFill>
                  <a:srgbClr val="CBD5E1"/>
                </a:solidFill>
                <a:latin typeface="Calibri"/>
                <a:ea typeface="Calibri"/>
                <a:cs typeface="Calibri"/>
              </a:rPr>
              <a:t>12</a:t>
            </a:r>
          </a:p>
        </p:txBody>
      </p:sp>
      <p:graphicFrame>
        <p:nvGraphicFramePr>
          <p:cNvPr id="19" name="Table 9"/>
          <p:cNvGraphicFramePr/>
          <p:nvPr/>
        </p:nvGraphicFramePr>
        <p:xfrm>
          <a:off xmlns:a="http://schemas.openxmlformats.org/drawingml/2006/main" x="640080" y="1828800"/>
          <a:ext xmlns:a="http://schemas.openxmlformats.org/drawingml/2006/main" cx="10881360" cy="3291840"/>
        </p:xfrm>
        <a:graphic xmlns:a="http://schemas.openxmlformats.org/drawingml/2006/main">
          <a:graphicData uri="http://schemas.openxmlformats.org/drawingml/2006/table">
            <a:tbl>
              <a:tblPr firstRow="1" bandRow="1">
                <a:tableStyleId>{5C22544A-7EE6-4342-B048-85BDC9FD1C3A}</a:tableStyleId>
              </a:tblPr>
              <a:tblGrid>
                <a:gridCol w="5394960"/>
                <a:gridCol w="3017520"/>
                <a:gridCol w="2468880"/>
              </a:tblGrid>
              <a:tr h="658368">
                <a:tc>
                  <a:txBody>
                    <a:bodyPr/>
                    <a:lstStyle/>
                    <a:p>
                      <a:r>
                        <a:rPr sz="1725" b="1">
                          <a:solidFill>
                            <a:srgbClr val="2DD4BF"/>
                          </a:solidFill>
                          <a:latin typeface="Calibri"/>
                          <a:ea typeface="Calibri"/>
                          <a:cs typeface="Calibri"/>
                        </a:rPr>
                        <a:t>Change</a:t>
                      </a:r>
                    </a:p>
                  </a:txBody>
                  <a:tcPr marL="91440" marR="91440" marT="45720" marB="45720" anchor="ctr">
                    <a:solidFill>
                      <a:srgbClr val="193344"/>
                    </a:solidFill>
                  </a:tcPr>
                </a:tc>
                <a:tc>
                  <a:txBody>
                    <a:bodyPr/>
                    <a:lstStyle/>
                    <a:p>
                      <a:r>
                        <a:rPr sz="1725" b="1">
                          <a:solidFill>
                            <a:srgbClr val="2DD4BF"/>
                          </a:solidFill>
                          <a:latin typeface="Calibri"/>
                          <a:ea typeface="Calibri"/>
                          <a:cs typeface="Calibri"/>
                        </a:rPr>
                        <a:t>Evidence</a:t>
                      </a:r>
                    </a:p>
                  </a:txBody>
                  <a:tcPr marL="91440" marR="91440" marT="45720" marB="45720" anchor="ctr">
                    <a:solidFill>
                      <a:srgbClr val="193344"/>
                    </a:solidFill>
                  </a:tcPr>
                </a:tc>
                <a:tc>
                  <a:txBody>
                    <a:bodyPr/>
                    <a:lstStyle/>
                    <a:p>
                      <a:r>
                        <a:rPr sz="1725" b="1">
                          <a:solidFill>
                            <a:srgbClr val="2DD4BF"/>
                          </a:solidFill>
                          <a:latin typeface="Calibri"/>
                          <a:ea typeface="Calibri"/>
                          <a:cs typeface="Calibri"/>
                        </a:rPr>
                        <a:t>Scope</a:t>
                      </a:r>
                    </a:p>
                  </a:txBody>
                  <a:tcPr marL="91440" marR="91440" marT="45720" marB="45720" anchor="ctr">
                    <a:solidFill>
                      <a:srgbClr val="193344"/>
                    </a:solidFill>
                  </a:tcPr>
                </a:tc>
              </a:tr>
              <a:tr h="658368">
                <a:tc>
                  <a:txBody>
                    <a:bodyPr/>
                    <a:lstStyle/>
                    <a:p>
                      <a:r>
                        <a:rPr sz="1575" b="1">
                          <a:solidFill>
                            <a:srgbClr val="F8FAFC"/>
                          </a:solidFill>
                          <a:latin typeface="Calibri"/>
                          <a:ea typeface="Calibri"/>
                          <a:cs typeface="Calibri"/>
                        </a:rPr>
                        <a:t>OCR-first routing</a:t>
                      </a:r>
                    </a:p>
                  </a:txBody>
                  <a:tcPr marL="91440" marR="91440" marT="45720" marB="45720" anchor="ctr">
                    <a:solidFill>
                      <a:srgbClr val="142238"/>
                    </a:solidFill>
                  </a:tcPr>
                </a:tc>
                <a:tc>
                  <a:txBody>
                    <a:bodyPr/>
                    <a:lstStyle/>
                    <a:p>
                      <a:r>
                        <a:rPr sz="1575" b="0">
                          <a:solidFill>
                            <a:srgbClr val="F8FAFC"/>
                          </a:solidFill>
                          <a:latin typeface="Calibri"/>
                          <a:ea typeface="Calibri"/>
                          <a:cs typeface="Calibri"/>
                        </a:rPr>
                        <a:t>Historical A/B: ~25% lower cost</a:t>
                      </a:r>
                    </a:p>
                  </a:txBody>
                  <a:tcPr marL="91440" marR="91440" marT="45720" marB="45720" anchor="ctr">
                    <a:solidFill>
                      <a:srgbClr val="142238"/>
                    </a:solidFill>
                  </a:tcPr>
                </a:tc>
                <a:tc>
                  <a:txBody>
                    <a:bodyPr/>
                    <a:lstStyle/>
                    <a:p>
                      <a:r>
                        <a:rPr sz="1575" b="0">
                          <a:solidFill>
                            <a:srgbClr val="F8FAFC"/>
                          </a:solidFill>
                          <a:latin typeface="Calibri"/>
                          <a:ea typeface="Calibri"/>
                          <a:cs typeface="Calibri"/>
                        </a:rPr>
                        <a:t>Optional auto mode</a:t>
                      </a:r>
                    </a:p>
                  </a:txBody>
                  <a:tcPr marL="91440" marR="91440" marT="45720" marB="45720" anchor="ctr">
                    <a:solidFill>
                      <a:srgbClr val="142238"/>
                    </a:solidFill>
                  </a:tcPr>
                </a:tc>
              </a:tr>
              <a:tr h="658368">
                <a:tc>
                  <a:txBody>
                    <a:bodyPr/>
                    <a:lstStyle/>
                    <a:p>
                      <a:r>
                        <a:rPr sz="1575" b="1">
                          <a:solidFill>
                            <a:srgbClr val="F8FAFC"/>
                          </a:solidFill>
                          <a:latin typeface="Calibri"/>
                          <a:ea typeface="Calibri"/>
                          <a:cs typeface="Calibri"/>
                        </a:rPr>
                        <a:t>Smaller model routing</a:t>
                      </a:r>
                    </a:p>
                  </a:txBody>
                  <a:tcPr marL="91440" marR="91440" marT="45720" marB="45720" anchor="ctr">
                    <a:solidFill>
                      <a:srgbClr val="0F1B2D"/>
                    </a:solidFill>
                  </a:tcPr>
                </a:tc>
                <a:tc>
                  <a:txBody>
                    <a:bodyPr/>
                    <a:lstStyle/>
                    <a:p>
                      <a:r>
                        <a:rPr sz="1575" b="0">
                          <a:solidFill>
                            <a:srgbClr val="F8FAFC"/>
                          </a:solidFill>
                          <a:latin typeface="Calibri"/>
                          <a:ea typeface="Calibri"/>
                          <a:cs typeface="Calibri"/>
                        </a:rPr>
                        <a:t>Historical A/B: ~36% lower cost</a:t>
                      </a:r>
                    </a:p>
                  </a:txBody>
                  <a:tcPr marL="91440" marR="91440" marT="45720" marB="45720" anchor="ctr">
                    <a:solidFill>
                      <a:srgbClr val="0F1B2D"/>
                    </a:solidFill>
                  </a:tcPr>
                </a:tc>
                <a:tc>
                  <a:txBody>
                    <a:bodyPr/>
                    <a:lstStyle/>
                    <a:p>
                      <a:r>
                        <a:rPr sz="1575" b="0">
                          <a:solidFill>
                            <a:srgbClr val="F8FAFC"/>
                          </a:solidFill>
                          <a:latin typeface="Calibri"/>
                          <a:ea typeface="Calibri"/>
                          <a:cs typeface="Calibri"/>
                        </a:rPr>
                        <a:t>Earlier evaluation</a:t>
                      </a:r>
                    </a:p>
                  </a:txBody>
                  <a:tcPr marL="91440" marR="91440" marT="45720" marB="45720" anchor="ctr">
                    <a:solidFill>
                      <a:srgbClr val="0F1B2D"/>
                    </a:solidFill>
                  </a:tcPr>
                </a:tc>
              </a:tr>
              <a:tr h="658368">
                <a:tc>
                  <a:txBody>
                    <a:bodyPr/>
                    <a:lstStyle/>
                    <a:p>
                      <a:r>
                        <a:rPr sz="1575" b="1">
                          <a:solidFill>
                            <a:srgbClr val="F8FAFC"/>
                          </a:solidFill>
                          <a:latin typeface="Calibri"/>
                          <a:ea typeface="Calibri"/>
                          <a:cs typeface="Calibri"/>
                        </a:rPr>
                        <a:t>Smaller reranker</a:t>
                      </a:r>
                    </a:p>
                  </a:txBody>
                  <a:tcPr marL="91440" marR="91440" marT="45720" marB="45720" anchor="ctr">
                    <a:solidFill>
                      <a:srgbClr val="142238"/>
                    </a:solidFill>
                  </a:tcPr>
                </a:tc>
                <a:tc>
                  <a:txBody>
                    <a:bodyPr/>
                    <a:lstStyle/>
                    <a:p>
                      <a:r>
                        <a:rPr sz="1575" b="0">
                          <a:solidFill>
                            <a:srgbClr val="F8FAFC"/>
                          </a:solidFill>
                          <a:latin typeface="Calibri"/>
                          <a:ea typeface="Calibri"/>
                          <a:cs typeface="Calibri"/>
                        </a:rPr>
                        <a:t>Gold-set retrieval comparison</a:t>
                      </a:r>
                    </a:p>
                  </a:txBody>
                  <a:tcPr marL="91440" marR="91440" marT="45720" marB="45720" anchor="ctr">
                    <a:solidFill>
                      <a:srgbClr val="142238"/>
                    </a:solidFill>
                  </a:tcPr>
                </a:tc>
                <a:tc>
                  <a:txBody>
                    <a:bodyPr/>
                    <a:lstStyle/>
                    <a:p>
                      <a:r>
                        <a:rPr sz="1575" b="0">
                          <a:solidFill>
                            <a:srgbClr val="F8FAFC"/>
                          </a:solidFill>
                          <a:latin typeface="Calibri"/>
                          <a:ea typeface="Calibri"/>
                          <a:cs typeface="Calibri"/>
                        </a:rPr>
                        <a:t>Synthetic policies</a:t>
                      </a:r>
                    </a:p>
                  </a:txBody>
                  <a:tcPr marL="91440" marR="91440" marT="45720" marB="45720" anchor="ctr">
                    <a:solidFill>
                      <a:srgbClr val="142238"/>
                    </a:solidFill>
                  </a:tcPr>
                </a:tc>
              </a:tr>
              <a:tr h="658368">
                <a:tc>
                  <a:txBody>
                    <a:bodyPr/>
                    <a:lstStyle/>
                    <a:p>
                      <a:r>
                        <a:rPr sz="1575" b="1">
                          <a:solidFill>
                            <a:srgbClr val="F8FAFC"/>
                          </a:solidFill>
                          <a:latin typeface="Calibri"/>
                          <a:ea typeface="Calibri"/>
                          <a:cs typeface="Calibri"/>
                        </a:rPr>
                        <a:t>Text-only extraction</a:t>
                      </a:r>
                    </a:p>
                  </a:txBody>
                  <a:tcPr marL="91440" marR="91440" marT="45720" marB="45720" anchor="ctr">
                    <a:solidFill>
                      <a:srgbClr val="0F1B2D"/>
                    </a:solidFill>
                  </a:tcPr>
                </a:tc>
                <a:tc>
                  <a:txBody>
                    <a:bodyPr/>
                    <a:lstStyle/>
                    <a:p>
                      <a:r>
                        <a:rPr sz="1575" b="0">
                          <a:solidFill>
                            <a:srgbClr val="F8FAFC"/>
                          </a:solidFill>
                          <a:latin typeface="Calibri"/>
                          <a:ea typeface="Calibri"/>
                          <a:cs typeface="Calibri"/>
                        </a:rPr>
                        <a:t>Lower cost; accuracy fell</a:t>
                      </a:r>
                    </a:p>
                  </a:txBody>
                  <a:tcPr marL="91440" marR="91440" marT="45720" marB="45720" anchor="ctr">
                    <a:solidFill>
                      <a:srgbClr val="0F1B2D"/>
                    </a:solidFill>
                  </a:tcPr>
                </a:tc>
                <a:tc>
                  <a:txBody>
                    <a:bodyPr/>
                    <a:lstStyle/>
                    <a:p>
                      <a:r>
                        <a:rPr sz="1575" b="0">
                          <a:solidFill>
                            <a:srgbClr val="F8FAFC"/>
                          </a:solidFill>
                          <a:latin typeface="Calibri"/>
                          <a:ea typeface="Calibri"/>
                          <a:cs typeface="Calibri"/>
                        </a:rPr>
                        <a:t>Not adopted</a:t>
                      </a:r>
                    </a:p>
                  </a:txBody>
                  <a:tcPr marL="91440" marR="91440" marT="45720" marB="45720" anchor="ctr">
                    <a:solidFill>
                      <a:srgbClr val="0F1B2D"/>
                    </a:solidFill>
                  </a:tcPr>
                </a:tc>
              </a:tr>
            </a:tbl>
          </a:graphicData>
        </a:graphic>
      </p:graphicFrame>
    </p:spTree>
    <p:extLst>
      <p:ext uri="{BB962C8B-B14F-4D97-AF65-F5344CB8AC3E}">
        <p14:creationId xmlns:p14="http://schemas.microsoft.com/office/powerpoint/2010/main" val="1241595616"/>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2026-10-06T22:00:32.6440000Z</dcterms:created>
  <dcterms:modified xsi:type="dcterms:W3CDTF">2026-10-06T22:00:32.6440000Z</dcterms:modified>
</coreProperties>
</file>
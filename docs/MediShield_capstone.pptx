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8" r:id="rId9"/>
    <p:sldId id="263" r:id="rId10"/>
    <p:sldId id="264" r:id="rId11"/>
    <p:sldId id="265" r:id="rId12"/>
    <p:sldId id="266"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52"/>
    <p:restoredTop sz="81381"/>
  </p:normalViewPr>
  <p:slideViewPr>
    <p:cSldViewPr snapToGrid="0" snapToObjects="1">
      <p:cViewPr varScale="1">
        <p:scale>
          <a:sx n="128" d="100"/>
          <a:sy n="128" d="100"/>
        </p:scale>
        <p:origin x="99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0:00–0:25. Introduce the intake problem and the recommendation: a supervised shadow pilot. The 8 main slides plus a 90-second live demo total about 8 minutes. Four appendix slides support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0:25–1:10. Lead with all-label document accuracy 96.2% and case accuracy 88.2%. The visible-label subset is secondary. Model cost is an </a:t>
            </a:r>
            <a:r>
              <a:rPr dirty="0" err="1"/>
              <a:t>uncached</a:t>
            </a:r>
            <a:r>
              <a:rPr dirty="0"/>
              <a:t> equivalent calculated from recorded usage, not this replay's spend. Cached graph timing excludes startup and prefetch. Source: docs/</a:t>
            </a:r>
            <a:r>
              <a:rPr dirty="0" err="1"/>
              <a:t>eval_results</a:t>
            </a:r>
            <a:r>
              <a:rPr dirty="0"/>
              <a:t>/official-</a:t>
            </a:r>
            <a:r>
              <a:rPr dirty="0" err="1"/>
              <a:t>heldout.json</a:t>
            </a:r>
            <a:r>
              <a:rPr dirty="0"/>
              <a:t>; provenance and limitations in docs/</a:t>
            </a:r>
            <a:r>
              <a:rPr dirty="0" err="1"/>
              <a:t>IMPLEMENTATION_REVIEW.md</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1:10–1:50. The assignment provides 85,000 documents/month, 120 reviewers, $18.4M/year and 4.2 days per claim. The model-spend projection excludes reviewers, infrastructure and operational costs. Do not compare cached graph latency with end-to-end business turnaround as a proven saving. Source: assignment brief and docs/eval_results/official-heldout.json.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1:50–2:30 explanation, then 2:30–4:00 live demo. Show a prepared case, source document and extracted evidence, per-code policy citations, decision rule and a review action. Export the audit PDF. Use a second reviewer for a four-eyes override. Missing required outputs and uncertain membership require review. An active matching member record permits claim-only intake. For recording, run the local verified build; the AWS deployment has not been updated by this change. Fallback: docs/screenshots and docs/manual_testing.md.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4:00–5:00. These are fresh graph replays using stored perception/model responses, not new live LLM calls or a new blind benchmark. 78 documents in 17 cases. Missing extraction and retrieval outputs now remain in the denominator. Report all-label document and case accuracy first. Three document-label misses remain; see the report rather than removing them from the score. Source: docs/eval_results/official-heldout.json.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5:00–5:45. Explain API role enforcement, four-eyes review and the audit chain. Seven adversarial documents produced zero decision flips in the historical test; this does not establish universal injection resistance. Redaction and spend caps are implemented, but regulated-data deployment still needs review. Sources: backend/tests, docs/redteam.md, docs/chat_redteam.md.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Frame this as the plan to take the system from pilot to production, not as a list of problems. Each row is a workstream with a clear way to close it. Real-world documents: the shadow pilot on real scans, independently reviewed. Identity fraud: specialist review and a broader tamper test set. Data privacy: a model-provider review, single sign-on and retention controls before real patient data. Resilience: durable checkpoints so a case can resume after an AWS restart. Speed and reviewer effort: the pilot is timed, so we measure cold-start latency and review time with real numbers. If asked about the data: results so far come from a labelled test set, which is why the pilot is the next step. Source: docs/IMPLEMENTATION_REVIEW.md.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6:45–7:45. Propose shadow, assisted and carefully gated straight-through phases. The 95% agreement and 5% override thresholds shown here are proposed pilot criteria, not achieved production results. Also require no unresolved critical safety defects and review of false approvals by scenario. Name the owner, data review and reliability work. Close by asking for the pilot decision.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 Seven logical agent roles are routed by document type; every document does not run every specialist. Confidence is an evaluation-calibrated estimate, not a guarantee. Tracing is optional. Repository remains private by owner instruction. Demo video remains pending. Sources: README.md; assignment brief.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B. The diagram describes current component choices, not verified production reliability. Bedrock AgentCore hosts runtimes; it does not by itself imply every model call uses the Bedrock model API. Persistent AWS graph checkpoints, SSO and scale validation remain future work. This revision is deployed on AWS. Sources: infra and docs/IMPLEMENTATION_REVIEW.md.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C. Local checks: 312 SQLite tests; 311 DynamoDB tests plus one backend-specific skip; 2 real-stack replay tests. CI runs deterministic graph failure cases and gates over saved evaluation artifacts. CI does not run a fresh live-model benchmark on every change. The local preflight verifies cached OCR/retrieval assets. Sources: docs/IMPLEMENTATION_REVIEW.md and .github/workflows/ci.yml.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D. These optimization comparisons are historical experiments, not newly measured savings in this code revision. Published results and the live AWS deployment both use OCR-first (auto) mode. Do not mix latency or costs across settings. Sources: docs/eval_results/ab/ and docs/eval_results/reranker.json; docs/EVAL_REPORT.md.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50620B-594B-4FFA-8489-D42900A615B6}"/>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4BE0DC8A-1E76-41BB-AD79-D0969C1DDDCE}"/>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B2E48BE2-B5A2-42B3-A94E-5A9E9B466765}"/>
              </a:ext>
            </a:extLst>
          </p:cNvPr>
          <p:cNvSpPr>
            <a:spLocks noGrp="1"/>
          </p:cNvSpPr>
          <p:nvPr>
            <p:ph type="dt" idx="10"/>
          </p:nvPr>
        </p:nvSpPr>
        <p:spPr/>
        <p:txBody>
          <a:bodyPr/>
          <a:lstStyle/>
          <a:p>
            <a:fld id="{5BCAD085-E8A6-8845-BD4E-CB4CCA059FC4}" type="datetimeFigureOut">
              <a:t>10/10/26</a:t>
            </a:fld>
            <a:endParaRPr/>
          </a:p>
        </p:txBody>
      </p:sp>
      <p:sp>
        <p:nvSpPr>
          <p:cNvPr id="5" name="Footer Placeholder 4">
            <a:extLst>
              <a:ext uri="{FF2B5EF4-FFF2-40B4-BE49-F238E27FC236}">
                <a16:creationId xmlns:a16="http://schemas.microsoft.com/office/drawing/2014/main" id="{6CD4CA89-E77A-4B79-91A2-36D39336DAEB}"/>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B0BEE54B-2D5C-4BFC-8031-535A32A7A18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B9736-9BBF-4FF0-9EEA-ACFEC99B32E6}"/>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A0413669-CFEE-409B-B3DF-9BAFE2594CF2}"/>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B4D3F2E-2FC7-4718-8606-1B5A704CF3F3}"/>
              </a:ext>
            </a:extLst>
          </p:cNvPr>
          <p:cNvSpPr>
            <a:spLocks noGrp="1"/>
          </p:cNvSpPr>
          <p:nvPr>
            <p:ph type="dt" idx="10"/>
          </p:nvPr>
        </p:nvSpPr>
        <p:spPr/>
        <p:txBody>
          <a:bodyPr/>
          <a:lstStyle/>
          <a:p>
            <a:fld id="{5BCAD085-E8A6-8845-BD4E-CB4CCA059FC4}" type="datetimeFigureOut">
              <a:t>10/10/26</a:t>
            </a:fld>
            <a:endParaRPr/>
          </a:p>
        </p:txBody>
      </p:sp>
      <p:sp>
        <p:nvSpPr>
          <p:cNvPr id="5" name="Footer Placeholder 4">
            <a:extLst>
              <a:ext uri="{FF2B5EF4-FFF2-40B4-BE49-F238E27FC236}">
                <a16:creationId xmlns:a16="http://schemas.microsoft.com/office/drawing/2014/main" id="{BC9BC108-D7F6-4D24-8152-7738E845C78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4970AF3A-5337-4D4F-A319-9B639EE5EA7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ECFE5-BF8E-4159-98BA-E51BEA1F6CB2}"/>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DE8EBA97-5095-492D-B9BF-FE6283785F32}"/>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3A7A407B-915F-4A41-9B0A-D0F9539CBF6B}"/>
              </a:ext>
            </a:extLst>
          </p:cNvPr>
          <p:cNvSpPr>
            <a:spLocks noGrp="1"/>
          </p:cNvSpPr>
          <p:nvPr>
            <p:ph type="dt" idx="10"/>
          </p:nvPr>
        </p:nvSpPr>
        <p:spPr/>
        <p:txBody>
          <a:bodyPr/>
          <a:lstStyle/>
          <a:p>
            <a:fld id="{5BCAD085-E8A6-8845-BD4E-CB4CCA059FC4}" type="datetimeFigureOut">
              <a:t>10/10/26</a:t>
            </a:fld>
            <a:endParaRPr/>
          </a:p>
        </p:txBody>
      </p:sp>
      <p:sp>
        <p:nvSpPr>
          <p:cNvPr id="5" name="Footer Placeholder 4">
            <a:extLst>
              <a:ext uri="{FF2B5EF4-FFF2-40B4-BE49-F238E27FC236}">
                <a16:creationId xmlns:a16="http://schemas.microsoft.com/office/drawing/2014/main" id="{698D8768-0B41-4BE7-AF9E-2FCE6BA37367}"/>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898F6B8-6104-4BC7-AA77-773D1DD1BF15}"/>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A9937-F3C9-4ED8-855C-6FD6DA9C2DC8}"/>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950F64F1-0F02-4429-8891-D2E02D218986}"/>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027D973C-8769-40E7-8113-8EAC470BB3F1}"/>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AB885668-FCE7-45B9-B2C3-5476B90860D0}"/>
              </a:ext>
            </a:extLst>
          </p:cNvPr>
          <p:cNvSpPr>
            <a:spLocks noGrp="1"/>
          </p:cNvSpPr>
          <p:nvPr>
            <p:ph type="dt" idx="10"/>
          </p:nvPr>
        </p:nvSpPr>
        <p:spPr/>
        <p:txBody>
          <a:bodyPr/>
          <a:lstStyle/>
          <a:p>
            <a:fld id="{5BCAD085-E8A6-8845-BD4E-CB4CCA059FC4}" type="datetimeFigureOut">
              <a:t>10/10/26</a:t>
            </a:fld>
            <a:endParaRPr/>
          </a:p>
        </p:txBody>
      </p:sp>
      <p:sp>
        <p:nvSpPr>
          <p:cNvPr id="6" name="Footer Placeholder 5">
            <a:extLst>
              <a:ext uri="{FF2B5EF4-FFF2-40B4-BE49-F238E27FC236}">
                <a16:creationId xmlns:a16="http://schemas.microsoft.com/office/drawing/2014/main" id="{39A74C16-1E47-4951-8CF3-0710FD4E1C3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7BE2735-B7E4-4F92-948D-AC925AEB179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87C0C1-9BA4-4418-AEC5-4427ADC37A5A}"/>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1316CD8F-E1CF-49EF-898F-EC5845573E38}"/>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187D7895-03E2-4280-993A-B69AF9772BA7}"/>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84EA9CED-A4DE-4C38-9BF8-5DB146CB40D8}"/>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19040689-8133-4360-9CA5-B410F46483C4}"/>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E4958B8E-8799-4772-9A49-E638DC227308}"/>
              </a:ext>
            </a:extLst>
          </p:cNvPr>
          <p:cNvSpPr>
            <a:spLocks noGrp="1"/>
          </p:cNvSpPr>
          <p:nvPr>
            <p:ph type="dt" idx="10"/>
          </p:nvPr>
        </p:nvSpPr>
        <p:spPr/>
        <p:txBody>
          <a:bodyPr/>
          <a:lstStyle/>
          <a:p>
            <a:fld id="{5BCAD085-E8A6-8845-BD4E-CB4CCA059FC4}" type="datetimeFigureOut">
              <a:t>10/10/26</a:t>
            </a:fld>
            <a:endParaRPr/>
          </a:p>
        </p:txBody>
      </p:sp>
      <p:sp>
        <p:nvSpPr>
          <p:cNvPr id="8" name="Footer Placeholder 7">
            <a:extLst>
              <a:ext uri="{FF2B5EF4-FFF2-40B4-BE49-F238E27FC236}">
                <a16:creationId xmlns:a16="http://schemas.microsoft.com/office/drawing/2014/main" id="{B8FB7F3F-691E-42AB-9AFC-A976303A2FAD}"/>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91827EC2-6027-4794-B4AE-14619B1B99B7}"/>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5EC56-3BAB-4BFA-B9DA-54489036F225}"/>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003A0C7D-BBFF-445B-8CF7-9036B28594F5}"/>
              </a:ext>
            </a:extLst>
          </p:cNvPr>
          <p:cNvSpPr>
            <a:spLocks noGrp="1"/>
          </p:cNvSpPr>
          <p:nvPr>
            <p:ph type="dt" idx="10"/>
          </p:nvPr>
        </p:nvSpPr>
        <p:spPr/>
        <p:txBody>
          <a:bodyPr/>
          <a:lstStyle/>
          <a:p>
            <a:fld id="{5BCAD085-E8A6-8845-BD4E-CB4CCA059FC4}" type="datetimeFigureOut">
              <a:t>10/10/26</a:t>
            </a:fld>
            <a:endParaRPr/>
          </a:p>
        </p:txBody>
      </p:sp>
      <p:sp>
        <p:nvSpPr>
          <p:cNvPr id="4" name="Footer Placeholder 3">
            <a:extLst>
              <a:ext uri="{FF2B5EF4-FFF2-40B4-BE49-F238E27FC236}">
                <a16:creationId xmlns:a16="http://schemas.microsoft.com/office/drawing/2014/main" id="{BFA9D7BF-3830-4BC5-B1E4-D8B80A315A26}"/>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9179D4D2-5F1F-4737-B5B3-F3265456DA97}"/>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24C8060-65E3-414F-B41A-FD03763B57A4}"/>
              </a:ext>
            </a:extLst>
          </p:cNvPr>
          <p:cNvSpPr>
            <a:spLocks noGrp="1"/>
          </p:cNvSpPr>
          <p:nvPr>
            <p:ph type="dt" idx="10"/>
          </p:nvPr>
        </p:nvSpPr>
        <p:spPr/>
        <p:txBody>
          <a:bodyPr/>
          <a:lstStyle/>
          <a:p>
            <a:fld id="{5BCAD085-E8A6-8845-BD4E-CB4CCA059FC4}" type="datetimeFigureOut">
              <a:t>10/10/26</a:t>
            </a:fld>
            <a:endParaRPr/>
          </a:p>
        </p:txBody>
      </p:sp>
      <p:sp>
        <p:nvSpPr>
          <p:cNvPr id="3" name="Footer Placeholder 2">
            <a:extLst>
              <a:ext uri="{FF2B5EF4-FFF2-40B4-BE49-F238E27FC236}">
                <a16:creationId xmlns:a16="http://schemas.microsoft.com/office/drawing/2014/main" id="{8E7EAFD1-A235-4624-9AE3-1ACBC17744F7}"/>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1B410979-99CD-42FC-A50B-B019E0A7EFB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492C2-20BF-46CA-9CD6-9BC153B22BA2}"/>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9ECCD848-B6BC-4AB6-A960-4A5995082BE3}"/>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E33B1448-DB45-43EF-883D-27CB430225D4}"/>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687AA65D-6D2E-48B6-80B3-F90BD37D6C3A}"/>
              </a:ext>
            </a:extLst>
          </p:cNvPr>
          <p:cNvSpPr>
            <a:spLocks noGrp="1"/>
          </p:cNvSpPr>
          <p:nvPr>
            <p:ph type="dt" idx="10"/>
          </p:nvPr>
        </p:nvSpPr>
        <p:spPr/>
        <p:txBody>
          <a:bodyPr/>
          <a:lstStyle/>
          <a:p>
            <a:fld id="{5BCAD085-E8A6-8845-BD4E-CB4CCA059FC4}" type="datetimeFigureOut">
              <a:t>10/10/26</a:t>
            </a:fld>
            <a:endParaRPr/>
          </a:p>
        </p:txBody>
      </p:sp>
      <p:sp>
        <p:nvSpPr>
          <p:cNvPr id="6" name="Footer Placeholder 5">
            <a:extLst>
              <a:ext uri="{FF2B5EF4-FFF2-40B4-BE49-F238E27FC236}">
                <a16:creationId xmlns:a16="http://schemas.microsoft.com/office/drawing/2014/main" id="{89C90077-0833-40A2-AE07-C79DB0EBBF72}"/>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8C2AD8E2-1E16-48F8-9F9C-830DBB7F5EEE}"/>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AFD78-7BCD-4FC1-AF23-8AD83BB6142E}"/>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D237ED80-7F98-411C-813C-ABDD103E8B83}"/>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880D8546-B5E2-4D07-8C14-E3B05D9522D3}"/>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1700A654-4BD2-4A3D-874A-5FBF2FFCEE81}"/>
              </a:ext>
            </a:extLst>
          </p:cNvPr>
          <p:cNvSpPr>
            <a:spLocks noGrp="1"/>
          </p:cNvSpPr>
          <p:nvPr>
            <p:ph type="dt" idx="10"/>
          </p:nvPr>
        </p:nvSpPr>
        <p:spPr/>
        <p:txBody>
          <a:bodyPr/>
          <a:lstStyle/>
          <a:p>
            <a:fld id="{5BCAD085-E8A6-8845-BD4E-CB4CCA059FC4}" type="datetimeFigureOut">
              <a:t>10/10/26</a:t>
            </a:fld>
            <a:endParaRPr/>
          </a:p>
        </p:txBody>
      </p:sp>
      <p:sp>
        <p:nvSpPr>
          <p:cNvPr id="6" name="Footer Placeholder 5">
            <a:extLst>
              <a:ext uri="{FF2B5EF4-FFF2-40B4-BE49-F238E27FC236}">
                <a16:creationId xmlns:a16="http://schemas.microsoft.com/office/drawing/2014/main" id="{F4A721A0-E3E3-43BA-B384-1F25D484520C}"/>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11E75881-495C-493A-9A57-ED4D0938819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DBF5D-74F2-476C-8E03-3FA2456AC579}"/>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F1CFF3EB-B7FA-4C2D-AD23-514DE32C9B71}"/>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7E5642B0-7C4B-403D-85CA-BCD5BE6A4D97}"/>
              </a:ext>
            </a:extLst>
          </p:cNvPr>
          <p:cNvSpPr>
            <a:spLocks noGrp="1"/>
          </p:cNvSpPr>
          <p:nvPr>
            <p:ph type="dt" idx="10"/>
          </p:nvPr>
        </p:nvSpPr>
        <p:spPr/>
        <p:txBody>
          <a:bodyPr/>
          <a:lstStyle/>
          <a:p>
            <a:fld id="{5BCAD085-E8A6-8845-BD4E-CB4CCA059FC4}" type="datetimeFigureOut">
              <a:t>10/10/26</a:t>
            </a:fld>
            <a:endParaRPr/>
          </a:p>
        </p:txBody>
      </p:sp>
      <p:sp>
        <p:nvSpPr>
          <p:cNvPr id="5" name="Footer Placeholder 4">
            <a:extLst>
              <a:ext uri="{FF2B5EF4-FFF2-40B4-BE49-F238E27FC236}">
                <a16:creationId xmlns:a16="http://schemas.microsoft.com/office/drawing/2014/main" id="{590E1EED-48D3-4262-A948-954CF304D8CA}"/>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DD69E77-F6E6-4EEC-AA66-C6BBFF6AC69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F3AB8B1-7CD7-4C03-8543-46CABF704B7E}"/>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E12416B6-E4D6-4931-B6A7-33F68D7024FE}"/>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EC338659-C038-4A3D-A236-7524D612C9AA}"/>
              </a:ext>
            </a:extLst>
          </p:cNvPr>
          <p:cNvSpPr>
            <a:spLocks noGrp="1"/>
          </p:cNvSpPr>
          <p:nvPr>
            <p:ph type="dt" idx="10"/>
          </p:nvPr>
        </p:nvSpPr>
        <p:spPr/>
        <p:txBody>
          <a:bodyPr/>
          <a:lstStyle/>
          <a:p>
            <a:fld id="{5BCAD085-E8A6-8845-BD4E-CB4CCA059FC4}" type="datetimeFigureOut">
              <a:t>10/10/26</a:t>
            </a:fld>
            <a:endParaRPr/>
          </a:p>
        </p:txBody>
      </p:sp>
      <p:sp>
        <p:nvSpPr>
          <p:cNvPr id="5" name="Footer Placeholder 4">
            <a:extLst>
              <a:ext uri="{FF2B5EF4-FFF2-40B4-BE49-F238E27FC236}">
                <a16:creationId xmlns:a16="http://schemas.microsoft.com/office/drawing/2014/main" id="{AB53A74E-C12F-4364-9663-C47F452CE71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9B882E3-8752-410A-B441-66D48A6766E9}"/>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04DEB5C-3661-400B-A072-2503FC3AEEAB}"/>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BD99EFF9-D8CC-467E-8AA5-D2DF7C75E45C}"/>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7CD2F13C-FA4E-46E9-9571-BDFA5F7E6A3F}"/>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10/10/26</a:t>
            </a:fld>
            <a:endParaRPr/>
          </a:p>
        </p:txBody>
      </p:sp>
      <p:sp>
        <p:nvSpPr>
          <p:cNvPr id="5" name="Footer Placeholder 4">
            <a:extLst>
              <a:ext uri="{FF2B5EF4-FFF2-40B4-BE49-F238E27FC236}">
                <a16:creationId xmlns:a16="http://schemas.microsoft.com/office/drawing/2014/main" id="{CEEFFEA5-B1CB-44A0-8C96-7360C9309D43}"/>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9830C566-BA1F-44E5-8834-91E061E8CBCA}"/>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Pentagon 1">
            <a:extLst>
              <a:ext uri="{FF2B5EF4-FFF2-40B4-BE49-F238E27FC236}">
                <a16:creationId xmlns:a16="http://schemas.microsoft.com/office/drawing/2014/main" id="{589644BB-DB17-4B1B-A850-A0C0F857262E}"/>
              </a:ext>
            </a:extLst>
          </p:cNvPr>
          <p:cNvSpPr>
            <a:spLocks noGrp="1"/>
          </p:cNvSpPr>
          <p:nvPr/>
        </p:nvSpPr>
        <p:spPr>
          <a:xfrm rot="5400000">
            <a:off x="731520" y="640080"/>
            <a:ext cx="685800" cy="685800"/>
          </a:xfrm>
          <a:prstGeom prst="homePlate">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3" name="Rectangle 2">
            <a:extLst>
              <a:ext uri="{FF2B5EF4-FFF2-40B4-BE49-F238E27FC236}">
                <a16:creationId xmlns:a16="http://schemas.microsoft.com/office/drawing/2014/main" id="{93E74E83-5580-4BD3-961E-F0680206FA5B}"/>
              </a:ext>
            </a:extLst>
          </p:cNvPr>
          <p:cNvSpPr>
            <a:spLocks noGrp="1"/>
          </p:cNvSpPr>
          <p:nvPr/>
        </p:nvSpPr>
        <p:spPr>
          <a:xfrm>
            <a:off x="1012698" y="763524"/>
            <a:ext cx="123444" cy="384048"/>
          </a:xfrm>
          <a:prstGeom prst="rect">
            <a:avLst/>
          </a:prstGeom>
          <a:solidFill>
            <a:srgbClr val="0B1220"/>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4" name="Rectangle 3">
            <a:extLst>
              <a:ext uri="{FF2B5EF4-FFF2-40B4-BE49-F238E27FC236}">
                <a16:creationId xmlns:a16="http://schemas.microsoft.com/office/drawing/2014/main" id="{08EF88CD-4E70-4A02-86D6-4212B1BC59A4}"/>
              </a:ext>
            </a:extLst>
          </p:cNvPr>
          <p:cNvSpPr>
            <a:spLocks noGrp="1"/>
          </p:cNvSpPr>
          <p:nvPr/>
        </p:nvSpPr>
        <p:spPr>
          <a:xfrm>
            <a:off x="882396" y="893826"/>
            <a:ext cx="384048" cy="123444"/>
          </a:xfrm>
          <a:prstGeom prst="rect">
            <a:avLst/>
          </a:prstGeom>
          <a:solidFill>
            <a:srgbClr val="0B1220"/>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84994D-A8DB-499B-A7AD-B5135DA4D3F7}"/>
              </a:ext>
            </a:extLst>
          </p:cNvPr>
          <p:cNvSpPr>
            <a:spLocks noGrp="1"/>
          </p:cNvSpPr>
          <p:nvPr/>
        </p:nvSpPr>
        <p:spPr>
          <a:xfrm>
            <a:off x="1600200" y="713232"/>
            <a:ext cx="5486400" cy="548640"/>
          </a:xfrm>
          <a:prstGeom prst="rect">
            <a:avLst/>
          </a:prstGeom>
          <a:noFill/>
        </p:spPr>
        <p:txBody>
          <a:bodyPr wrap="square" lIns="0" tIns="0" rIns="0" bIns="0" anchor="t">
            <a:spAutoFit/>
          </a:bodyPr>
          <a:lstStyle/>
          <a:p>
            <a:pPr algn="l">
              <a:buNone/>
              <a:defRPr>
                <a:solidFill>
                  <a:srgbClr val="F8FAFC"/>
                </a:solidFill>
              </a:defRPr>
            </a:pPr>
            <a:r>
              <a:rPr sz="2200" b="1">
                <a:solidFill>
                  <a:srgbClr val="F8FAFC"/>
                </a:solidFill>
                <a:latin typeface="Calibri"/>
                <a:ea typeface="Calibri"/>
                <a:cs typeface="Calibri"/>
              </a:rPr>
              <a:t>MediShield Health</a:t>
            </a:r>
          </a:p>
        </p:txBody>
      </p:sp>
      <p:sp>
        <p:nvSpPr>
          <p:cNvPr id="6" name="TextBox 5">
            <a:extLst>
              <a:ext uri="{FF2B5EF4-FFF2-40B4-BE49-F238E27FC236}">
                <a16:creationId xmlns:a16="http://schemas.microsoft.com/office/drawing/2014/main" id="{4CA652C4-308D-41EF-B1B0-8FDDD6A9A050}"/>
              </a:ext>
            </a:extLst>
          </p:cNvPr>
          <p:cNvSpPr>
            <a:spLocks noGrp="1"/>
          </p:cNvSpPr>
          <p:nvPr/>
        </p:nvSpPr>
        <p:spPr>
          <a:xfrm>
            <a:off x="731520" y="2103120"/>
            <a:ext cx="10515600" cy="1097280"/>
          </a:xfrm>
          <a:prstGeom prst="rect">
            <a:avLst/>
          </a:prstGeom>
          <a:noFill/>
        </p:spPr>
        <p:txBody>
          <a:bodyPr wrap="square" lIns="0" tIns="0" rIns="0" bIns="0" anchor="t">
            <a:spAutoFit/>
          </a:bodyPr>
          <a:lstStyle/>
          <a:p>
            <a:pPr algn="l">
              <a:buNone/>
              <a:defRPr>
                <a:solidFill>
                  <a:srgbClr val="F8FAFC"/>
                </a:solidFill>
              </a:defRPr>
            </a:pPr>
            <a:r>
              <a:rPr sz="5400" b="1">
                <a:solidFill>
                  <a:srgbClr val="F8FAFC"/>
                </a:solidFill>
                <a:latin typeface="Calibri"/>
                <a:ea typeface="Calibri"/>
                <a:cs typeface="Calibri"/>
              </a:rPr>
              <a:t>Claims intake automation</a:t>
            </a:r>
          </a:p>
        </p:txBody>
      </p:sp>
      <p:sp>
        <p:nvSpPr>
          <p:cNvPr id="7" name="TextBox 6">
            <a:extLst>
              <a:ext uri="{FF2B5EF4-FFF2-40B4-BE49-F238E27FC236}">
                <a16:creationId xmlns:a16="http://schemas.microsoft.com/office/drawing/2014/main" id="{4981F305-4554-48A4-901D-3CF85D98D7E1}"/>
              </a:ext>
            </a:extLst>
          </p:cNvPr>
          <p:cNvSpPr>
            <a:spLocks noGrp="1"/>
          </p:cNvSpPr>
          <p:nvPr/>
        </p:nvSpPr>
        <p:spPr>
          <a:xfrm>
            <a:off x="731520" y="3154680"/>
            <a:ext cx="10515600" cy="914400"/>
          </a:xfrm>
          <a:prstGeom prst="rect">
            <a:avLst/>
          </a:prstGeom>
          <a:noFill/>
        </p:spPr>
        <p:txBody>
          <a:bodyPr wrap="square" lIns="0" tIns="0" rIns="0" bIns="0" anchor="t">
            <a:spAutoFit/>
          </a:bodyPr>
          <a:lstStyle/>
          <a:p>
            <a:pPr algn="l">
              <a:buNone/>
              <a:defRPr>
                <a:solidFill>
                  <a:srgbClr val="CBD5E1"/>
                </a:solidFill>
              </a:defRPr>
            </a:pPr>
            <a:r>
              <a:rPr sz="2600" b="0">
                <a:solidFill>
                  <a:srgbClr val="CBD5E1"/>
                </a:solidFill>
                <a:latin typeface="Calibri"/>
                <a:ea typeface="Calibri"/>
                <a:cs typeface="Calibri"/>
              </a:rPr>
              <a:t>Evidence, live workflow and pilot recommendation</a:t>
            </a:r>
          </a:p>
        </p:txBody>
      </p:sp>
      <p:sp>
        <p:nvSpPr>
          <p:cNvPr id="8" name="TextBox 7">
            <a:extLst>
              <a:ext uri="{FF2B5EF4-FFF2-40B4-BE49-F238E27FC236}">
                <a16:creationId xmlns:a16="http://schemas.microsoft.com/office/drawing/2014/main" id="{52AE91C0-003A-449D-8A80-64632F972ECA}"/>
              </a:ext>
            </a:extLst>
          </p:cNvPr>
          <p:cNvSpPr>
            <a:spLocks noGrp="1"/>
          </p:cNvSpPr>
          <p:nvPr/>
        </p:nvSpPr>
        <p:spPr>
          <a:xfrm>
            <a:off x="731520" y="5669280"/>
            <a:ext cx="10515600" cy="731520"/>
          </a:xfrm>
          <a:prstGeom prst="rect">
            <a:avLst/>
          </a:prstGeom>
          <a:noFill/>
        </p:spPr>
        <p:txBody>
          <a:bodyPr wrap="square" lIns="0" tIns="0" rIns="0" bIns="0" anchor="t">
            <a:spAutoFit/>
          </a:bodyPr>
          <a:lstStyle/>
          <a:p>
            <a:pPr algn="l">
              <a:buNone/>
              <a:defRPr>
                <a:solidFill>
                  <a:srgbClr val="CBD5E1"/>
                </a:solidFill>
              </a:defRPr>
            </a:pPr>
            <a:r>
              <a:rPr sz="1400" b="0">
                <a:solidFill>
                  <a:srgbClr val="CBD5E1"/>
                </a:solidFill>
                <a:latin typeface="Calibri"/>
                <a:ea typeface="Calibri"/>
                <a:cs typeface="Calibri"/>
              </a:rPr>
              <a:t>Raghav Bansal · Solution Owner · October 2026</a:t>
            </a:r>
          </a:p>
        </p:txBody>
      </p:sp>
    </p:spTree>
    <p:extLst>
      <p:ext uri="{BB962C8B-B14F-4D97-AF65-F5344CB8AC3E}">
        <p14:creationId xmlns:p14="http://schemas.microsoft.com/office/powerpoint/2010/main" val="14606630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FBDFB1F-343A-44A4-99CF-B749439691BF}"/>
              </a:ext>
            </a:extLst>
          </p:cNvPr>
          <p:cNvSpPr>
            <a:spLocks noGrp="1"/>
          </p:cNvSpPr>
          <p:nvPr/>
        </p:nvSpPr>
        <p:spPr>
          <a:xfrm>
            <a:off x="0" y="0"/>
            <a:ext cx="12191695" cy="109728"/>
          </a:xfrm>
          <a:prstGeom prst="rect">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7FA59ACE-CB32-492E-B995-2B1673664820}"/>
              </a:ext>
            </a:extLst>
          </p:cNvPr>
          <p:cNvSpPr>
            <a:spLocks noGrp="1"/>
          </p:cNvSpPr>
          <p:nvPr/>
        </p:nvSpPr>
        <p:spPr>
          <a:xfrm>
            <a:off x="640080" y="411480"/>
            <a:ext cx="9144000" cy="320040"/>
          </a:xfrm>
          <a:prstGeom prst="rect">
            <a:avLst/>
          </a:prstGeom>
          <a:noFill/>
        </p:spPr>
        <p:txBody>
          <a:bodyPr wrap="square" lIns="0" tIns="0" rIns="0" bIns="0" anchor="t">
            <a:spAutoFit/>
          </a:bodyPr>
          <a:lstStyle/>
          <a:p>
            <a:pPr algn="l">
              <a:buNone/>
              <a:defRPr>
                <a:solidFill>
                  <a:srgbClr val="2DD4BF"/>
                </a:solidFill>
              </a:defRPr>
            </a:pPr>
            <a:r>
              <a:rPr sz="1200" b="1">
                <a:solidFill>
                  <a:srgbClr val="2DD4BF"/>
                </a:solidFill>
                <a:latin typeface="Calibri"/>
                <a:ea typeface="Calibri"/>
                <a:cs typeface="Calibri"/>
              </a:rPr>
              <a:t>EXECUTIVE SUMMARY</a:t>
            </a:r>
          </a:p>
        </p:txBody>
      </p:sp>
      <p:sp>
        <p:nvSpPr>
          <p:cNvPr id="4" name="TextBox 3">
            <a:extLst>
              <a:ext uri="{FF2B5EF4-FFF2-40B4-BE49-F238E27FC236}">
                <a16:creationId xmlns:a16="http://schemas.microsoft.com/office/drawing/2014/main" id="{B768EC94-FC3E-4A15-B63B-2C1BA234CEB2}"/>
              </a:ext>
            </a:extLst>
          </p:cNvPr>
          <p:cNvSpPr>
            <a:spLocks noGrp="1"/>
          </p:cNvSpPr>
          <p:nvPr/>
        </p:nvSpPr>
        <p:spPr>
          <a:xfrm>
            <a:off x="640080" y="685800"/>
            <a:ext cx="10972800" cy="731520"/>
          </a:xfrm>
          <a:prstGeom prst="rect">
            <a:avLst/>
          </a:prstGeom>
          <a:noFill/>
        </p:spPr>
        <p:txBody>
          <a:bodyPr wrap="square" lIns="0" tIns="0" rIns="0" bIns="0" anchor="t">
            <a:spAutoFit/>
          </a:bodyPr>
          <a:lstStyle/>
          <a:p>
            <a:pPr algn="l">
              <a:buNone/>
              <a:defRPr>
                <a:solidFill>
                  <a:srgbClr val="F8FAFC"/>
                </a:solidFill>
              </a:defRPr>
            </a:pPr>
            <a:r>
              <a:rPr sz="3200" b="1">
                <a:solidFill>
                  <a:srgbClr val="F8FAFC"/>
                </a:solidFill>
                <a:latin typeface="Calibri"/>
                <a:ea typeface="Calibri"/>
                <a:cs typeface="Calibri"/>
              </a:rPr>
              <a:t>Ready for a supervised pilot</a:t>
            </a:r>
          </a:p>
        </p:txBody>
      </p:sp>
      <p:sp>
        <p:nvSpPr>
          <p:cNvPr id="5" name="Pentagon 4">
            <a:extLst>
              <a:ext uri="{FF2B5EF4-FFF2-40B4-BE49-F238E27FC236}">
                <a16:creationId xmlns:a16="http://schemas.microsoft.com/office/drawing/2014/main" id="{0D51A2E3-E8B0-4F45-9B5B-D13B5DB9BF4E}"/>
              </a:ext>
            </a:extLst>
          </p:cNvPr>
          <p:cNvSpPr>
            <a:spLocks noGrp="1"/>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C57A33A7-D647-441E-BAA4-824007E13998}"/>
              </a:ext>
            </a:extLst>
          </p:cNvPr>
          <p:cNvSpPr>
            <a:spLocks noGrp="1"/>
          </p:cNvSpPr>
          <p:nvPr/>
        </p:nvSpPr>
        <p:spPr>
          <a:xfrm>
            <a:off x="11358860" y="453177"/>
            <a:ext cx="69128" cy="215066"/>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9E7B5A1D-2E4B-47AF-8045-19C036C1FBB1}"/>
              </a:ext>
            </a:extLst>
          </p:cNvPr>
          <p:cNvSpPr>
            <a:spLocks noGrp="1"/>
          </p:cNvSpPr>
          <p:nvPr/>
        </p:nvSpPr>
        <p:spPr>
          <a:xfrm>
            <a:off x="11285891" y="526146"/>
            <a:ext cx="215066" cy="69128"/>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293C781F-6AB4-4A80-975D-A0E3D072127E}"/>
              </a:ext>
            </a:extLst>
          </p:cNvPr>
          <p:cNvSpPr>
            <a:spLocks noGrp="1"/>
          </p:cNvSpPr>
          <p:nvPr/>
        </p:nvSpPr>
        <p:spPr>
          <a:xfrm>
            <a:off x="640080" y="6446520"/>
            <a:ext cx="7315200" cy="274320"/>
          </a:xfrm>
          <a:prstGeom prst="rect">
            <a:avLst/>
          </a:prstGeom>
          <a:noFill/>
        </p:spPr>
        <p:txBody>
          <a:bodyPr wrap="square" lIns="0" tIns="0" rIns="0" bIns="0" anchor="t">
            <a:spAutoFit/>
          </a:bodyPr>
          <a:lstStyle/>
          <a:p>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a:ext uri="{FF2B5EF4-FFF2-40B4-BE49-F238E27FC236}">
                <a16:creationId xmlns:a16="http://schemas.microsoft.com/office/drawing/2014/main" id="{B4106249-7DB0-47DE-B454-DDA108EB108D}"/>
              </a:ext>
            </a:extLst>
          </p:cNvPr>
          <p:cNvSpPr>
            <a:spLocks noGrp="1"/>
          </p:cNvSpPr>
          <p:nvPr/>
        </p:nvSpPr>
        <p:spPr>
          <a:xfrm>
            <a:off x="10881360" y="6446520"/>
            <a:ext cx="731520" cy="274320"/>
          </a:xfrm>
          <a:prstGeom prst="rect">
            <a:avLst/>
          </a:prstGeom>
          <a:noFill/>
        </p:spPr>
        <p:txBody>
          <a:bodyPr wrap="square" lIns="0" tIns="0" rIns="0" bIns="0" anchor="t">
            <a:spAutoFit/>
          </a:bodyPr>
          <a:lstStyle/>
          <a:p>
            <a:pPr algn="r">
              <a:buNone/>
              <a:defRPr>
                <a:solidFill>
                  <a:srgbClr val="CBD5E1"/>
                </a:solidFill>
              </a:defRPr>
            </a:pPr>
            <a:r>
              <a:rPr sz="1000" b="0">
                <a:solidFill>
                  <a:srgbClr val="CBD5E1"/>
                </a:solidFill>
                <a:latin typeface="Calibri"/>
                <a:ea typeface="Calibri"/>
                <a:cs typeface="Calibri"/>
              </a:rPr>
              <a:t>2</a:t>
            </a:r>
          </a:p>
        </p:txBody>
      </p:sp>
      <p:sp>
        <p:nvSpPr>
          <p:cNvPr id="10" name="Rounded Rectangle 9">
            <a:extLst>
              <a:ext uri="{FF2B5EF4-FFF2-40B4-BE49-F238E27FC236}">
                <a16:creationId xmlns:a16="http://schemas.microsoft.com/office/drawing/2014/main" id="{DA80ED81-8B21-46FE-8404-8D03617E005C}"/>
              </a:ext>
            </a:extLst>
          </p:cNvPr>
          <p:cNvSpPr>
            <a:spLocks noGrp="1"/>
          </p:cNvSpPr>
          <p:nvPr/>
        </p:nvSpPr>
        <p:spPr>
          <a:xfrm>
            <a:off x="640080" y="1828800"/>
            <a:ext cx="256032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81390A4-E062-4A65-8EE4-F7502FD34F82}"/>
              </a:ext>
            </a:extLst>
          </p:cNvPr>
          <p:cNvSpPr>
            <a:spLocks noGrp="1"/>
          </p:cNvSpPr>
          <p:nvPr/>
        </p:nvSpPr>
        <p:spPr>
          <a:xfrm>
            <a:off x="868680" y="2011680"/>
            <a:ext cx="2103120" cy="731520"/>
          </a:xfrm>
          <a:prstGeom prst="rect">
            <a:avLst/>
          </a:prstGeom>
          <a:noFill/>
        </p:spPr>
        <p:txBody>
          <a:bodyPr wrap="square" lIns="0" tIns="0" rIns="0" bIns="0" anchor="t">
            <a:spAutoFit/>
          </a:bodyPr>
          <a:lstStyle/>
          <a:p>
            <a:pPr algn="l">
              <a:buNone/>
              <a:defRPr>
                <a:solidFill>
                  <a:srgbClr val="2DD4BF"/>
                </a:solidFill>
              </a:defRPr>
            </a:pPr>
            <a:r>
              <a:rPr sz="3400" b="1">
                <a:solidFill>
                  <a:srgbClr val="2DD4BF"/>
                </a:solidFill>
                <a:latin typeface="Calibri"/>
                <a:ea typeface="Calibri"/>
                <a:cs typeface="Calibri"/>
              </a:rPr>
              <a:t>96.2%</a:t>
            </a:r>
          </a:p>
        </p:txBody>
      </p:sp>
      <p:sp>
        <p:nvSpPr>
          <p:cNvPr id="12" name="TextBox 11">
            <a:extLst>
              <a:ext uri="{FF2B5EF4-FFF2-40B4-BE49-F238E27FC236}">
                <a16:creationId xmlns:a16="http://schemas.microsoft.com/office/drawing/2014/main" id="{3605DE73-8046-416A-BF9A-508601193751}"/>
              </a:ext>
            </a:extLst>
          </p:cNvPr>
          <p:cNvSpPr>
            <a:spLocks noGrp="1"/>
          </p:cNvSpPr>
          <p:nvPr/>
        </p:nvSpPr>
        <p:spPr>
          <a:xfrm>
            <a:off x="868680" y="2697480"/>
            <a:ext cx="2103120" cy="457200"/>
          </a:xfrm>
          <a:prstGeom prst="rect">
            <a:avLst/>
          </a:prstGeom>
          <a:noFill/>
        </p:spPr>
        <p:txBody>
          <a:bodyPr wrap="square" lIns="0" tIns="0" rIns="0" bIns="0" anchor="t">
            <a:spAutoFit/>
          </a:bodyPr>
          <a:lstStyle/>
          <a:p>
            <a:pPr algn="l">
              <a:buNone/>
              <a:defRPr>
                <a:solidFill>
                  <a:srgbClr val="F8FAFC"/>
                </a:solidFill>
              </a:defRPr>
            </a:pPr>
            <a:r>
              <a:rPr sz="1400" b="1">
                <a:solidFill>
                  <a:srgbClr val="F8FAFC"/>
                </a:solidFill>
                <a:latin typeface="Calibri"/>
                <a:ea typeface="Calibri"/>
                <a:cs typeface="Calibri"/>
              </a:rPr>
              <a:t>document decisions</a:t>
            </a:r>
          </a:p>
        </p:txBody>
      </p:sp>
      <p:sp>
        <p:nvSpPr>
          <p:cNvPr id="13" name="TextBox 12">
            <a:extLst>
              <a:ext uri="{FF2B5EF4-FFF2-40B4-BE49-F238E27FC236}">
                <a16:creationId xmlns:a16="http://schemas.microsoft.com/office/drawing/2014/main" id="{39C26C62-3ACD-44CF-9AC0-632F0D163A85}"/>
              </a:ext>
            </a:extLst>
          </p:cNvPr>
          <p:cNvSpPr>
            <a:spLocks noGrp="1"/>
          </p:cNvSpPr>
          <p:nvPr/>
        </p:nvSpPr>
        <p:spPr>
          <a:xfrm>
            <a:off x="868680" y="3017520"/>
            <a:ext cx="2103120" cy="548640"/>
          </a:xfrm>
          <a:prstGeom prst="rect">
            <a:avLst/>
          </a:prstGeom>
          <a:noFill/>
        </p:spPr>
        <p:txBody>
          <a:bodyPr wrap="square" lIns="0" tIns="0" rIns="0" bIns="0" anchor="t">
            <a:spAutoFit/>
          </a:bodyPr>
          <a:lstStyle/>
          <a:p>
            <a:pPr algn="l">
              <a:buNone/>
              <a:defRPr>
                <a:solidFill>
                  <a:srgbClr val="CBD5E1"/>
                </a:solidFill>
              </a:defRPr>
            </a:pPr>
            <a:r>
              <a:rPr sz="1100" b="0">
                <a:solidFill>
                  <a:srgbClr val="CBD5E1"/>
                </a:solidFill>
                <a:latin typeface="Calibri"/>
                <a:ea typeface="Calibri"/>
                <a:cs typeface="Calibri"/>
              </a:rPr>
              <a:t>78 labels · all included</a:t>
            </a:r>
          </a:p>
        </p:txBody>
      </p:sp>
      <p:sp>
        <p:nvSpPr>
          <p:cNvPr id="14" name="Rounded Rectangle 13">
            <a:extLst>
              <a:ext uri="{FF2B5EF4-FFF2-40B4-BE49-F238E27FC236}">
                <a16:creationId xmlns:a16="http://schemas.microsoft.com/office/drawing/2014/main" id="{88191ECC-9BCF-4170-9B58-2538304D9341}"/>
              </a:ext>
            </a:extLst>
          </p:cNvPr>
          <p:cNvSpPr>
            <a:spLocks noGrp="1"/>
          </p:cNvSpPr>
          <p:nvPr/>
        </p:nvSpPr>
        <p:spPr>
          <a:xfrm>
            <a:off x="3429000" y="1828800"/>
            <a:ext cx="256032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0FF54B7-40C8-4732-BE03-8CC82338A7F3}"/>
              </a:ext>
            </a:extLst>
          </p:cNvPr>
          <p:cNvSpPr>
            <a:spLocks noGrp="1"/>
          </p:cNvSpPr>
          <p:nvPr/>
        </p:nvSpPr>
        <p:spPr>
          <a:xfrm>
            <a:off x="3657600" y="2011680"/>
            <a:ext cx="2103120" cy="731520"/>
          </a:xfrm>
          <a:prstGeom prst="rect">
            <a:avLst/>
          </a:prstGeom>
          <a:noFill/>
        </p:spPr>
        <p:txBody>
          <a:bodyPr wrap="square" lIns="0" tIns="0" rIns="0" bIns="0" anchor="t">
            <a:spAutoFit/>
          </a:bodyPr>
          <a:lstStyle/>
          <a:p>
            <a:pPr algn="l">
              <a:buNone/>
              <a:defRPr>
                <a:solidFill>
                  <a:srgbClr val="2DD4BF"/>
                </a:solidFill>
              </a:defRPr>
            </a:pPr>
            <a:r>
              <a:rPr sz="3400" b="1">
                <a:solidFill>
                  <a:srgbClr val="2DD4BF"/>
                </a:solidFill>
                <a:latin typeface="Calibri"/>
                <a:ea typeface="Calibri"/>
                <a:cs typeface="Calibri"/>
              </a:rPr>
              <a:t>88.2%</a:t>
            </a:r>
          </a:p>
        </p:txBody>
      </p:sp>
      <p:sp>
        <p:nvSpPr>
          <p:cNvPr id="16" name="TextBox 15">
            <a:extLst>
              <a:ext uri="{FF2B5EF4-FFF2-40B4-BE49-F238E27FC236}">
                <a16:creationId xmlns:a16="http://schemas.microsoft.com/office/drawing/2014/main" id="{8C94C3D1-748D-4232-B60E-BEC298D2413B}"/>
              </a:ext>
            </a:extLst>
          </p:cNvPr>
          <p:cNvSpPr>
            <a:spLocks noGrp="1"/>
          </p:cNvSpPr>
          <p:nvPr/>
        </p:nvSpPr>
        <p:spPr>
          <a:xfrm>
            <a:off x="3657600" y="2697480"/>
            <a:ext cx="2103120" cy="457200"/>
          </a:xfrm>
          <a:prstGeom prst="rect">
            <a:avLst/>
          </a:prstGeom>
          <a:noFill/>
        </p:spPr>
        <p:txBody>
          <a:bodyPr wrap="square" lIns="0" tIns="0" rIns="0" bIns="0" anchor="t">
            <a:spAutoFit/>
          </a:bodyPr>
          <a:lstStyle/>
          <a:p>
            <a:pPr algn="l">
              <a:buNone/>
              <a:defRPr>
                <a:solidFill>
                  <a:srgbClr val="F8FAFC"/>
                </a:solidFill>
              </a:defRPr>
            </a:pPr>
            <a:r>
              <a:rPr sz="1400" b="1">
                <a:solidFill>
                  <a:srgbClr val="F8FAFC"/>
                </a:solidFill>
                <a:latin typeface="Calibri"/>
                <a:ea typeface="Calibri"/>
                <a:cs typeface="Calibri"/>
              </a:rPr>
              <a:t>case decisions</a:t>
            </a:r>
          </a:p>
        </p:txBody>
      </p:sp>
      <p:sp>
        <p:nvSpPr>
          <p:cNvPr id="17" name="TextBox 16">
            <a:extLst>
              <a:ext uri="{FF2B5EF4-FFF2-40B4-BE49-F238E27FC236}">
                <a16:creationId xmlns:a16="http://schemas.microsoft.com/office/drawing/2014/main" id="{3B6CFCFB-D2C8-47F7-B489-EB6F760E1556}"/>
              </a:ext>
            </a:extLst>
          </p:cNvPr>
          <p:cNvSpPr>
            <a:spLocks noGrp="1"/>
          </p:cNvSpPr>
          <p:nvPr/>
        </p:nvSpPr>
        <p:spPr>
          <a:xfrm>
            <a:off x="3657600" y="3017520"/>
            <a:ext cx="2103120" cy="548640"/>
          </a:xfrm>
          <a:prstGeom prst="rect">
            <a:avLst/>
          </a:prstGeom>
          <a:noFill/>
        </p:spPr>
        <p:txBody>
          <a:bodyPr wrap="square" lIns="0" tIns="0" rIns="0" bIns="0" anchor="t">
            <a:spAutoFit/>
          </a:bodyPr>
          <a:lstStyle/>
          <a:p>
            <a:pPr algn="l">
              <a:buNone/>
              <a:defRPr>
                <a:solidFill>
                  <a:srgbClr val="CBD5E1"/>
                </a:solidFill>
              </a:defRPr>
            </a:pPr>
            <a:r>
              <a:rPr sz="1100" b="0">
                <a:solidFill>
                  <a:srgbClr val="CBD5E1"/>
                </a:solidFill>
                <a:latin typeface="Calibri"/>
                <a:ea typeface="Calibri"/>
                <a:cs typeface="Calibri"/>
              </a:rPr>
              <a:t>17 complete cases</a:t>
            </a:r>
          </a:p>
        </p:txBody>
      </p:sp>
      <p:sp>
        <p:nvSpPr>
          <p:cNvPr id="18" name="Rounded Rectangle 17">
            <a:extLst>
              <a:ext uri="{FF2B5EF4-FFF2-40B4-BE49-F238E27FC236}">
                <a16:creationId xmlns:a16="http://schemas.microsoft.com/office/drawing/2014/main" id="{A38AD83D-489C-4224-BCB4-BF0316F572F4}"/>
              </a:ext>
            </a:extLst>
          </p:cNvPr>
          <p:cNvSpPr>
            <a:spLocks noGrp="1"/>
          </p:cNvSpPr>
          <p:nvPr/>
        </p:nvSpPr>
        <p:spPr>
          <a:xfrm>
            <a:off x="6217920" y="1828800"/>
            <a:ext cx="256032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6689EE0C-A31C-496D-A64B-148A61603CD2}"/>
              </a:ext>
            </a:extLst>
          </p:cNvPr>
          <p:cNvSpPr>
            <a:spLocks noGrp="1"/>
          </p:cNvSpPr>
          <p:nvPr/>
        </p:nvSpPr>
        <p:spPr>
          <a:xfrm>
            <a:off x="6446520" y="2011680"/>
            <a:ext cx="2103120" cy="731520"/>
          </a:xfrm>
          <a:prstGeom prst="rect">
            <a:avLst/>
          </a:prstGeom>
          <a:noFill/>
        </p:spPr>
        <p:txBody>
          <a:bodyPr wrap="square" lIns="0" tIns="0" rIns="0" bIns="0" anchor="t">
            <a:spAutoFit/>
          </a:bodyPr>
          <a:lstStyle/>
          <a:p>
            <a:pPr algn="l">
              <a:buNone/>
              <a:defRPr>
                <a:solidFill>
                  <a:srgbClr val="2DD4BF"/>
                </a:solidFill>
              </a:defRPr>
            </a:pPr>
            <a:r>
              <a:rPr sz="3400" b="1">
                <a:solidFill>
                  <a:srgbClr val="2DD4BF"/>
                </a:solidFill>
                <a:latin typeface="Calibri"/>
                <a:ea typeface="Calibri"/>
                <a:cs typeface="Calibri"/>
              </a:rPr>
              <a:t>$0.08</a:t>
            </a:r>
          </a:p>
        </p:txBody>
      </p:sp>
      <p:sp>
        <p:nvSpPr>
          <p:cNvPr id="20" name="TextBox 19">
            <a:extLst>
              <a:ext uri="{FF2B5EF4-FFF2-40B4-BE49-F238E27FC236}">
                <a16:creationId xmlns:a16="http://schemas.microsoft.com/office/drawing/2014/main" id="{F879143E-6E44-449A-8E71-AD8B7BE0FBB8}"/>
              </a:ext>
            </a:extLst>
          </p:cNvPr>
          <p:cNvSpPr>
            <a:spLocks noGrp="1"/>
          </p:cNvSpPr>
          <p:nvPr/>
        </p:nvSpPr>
        <p:spPr>
          <a:xfrm>
            <a:off x="6446520" y="2697480"/>
            <a:ext cx="2103120" cy="457200"/>
          </a:xfrm>
          <a:prstGeom prst="rect">
            <a:avLst/>
          </a:prstGeom>
          <a:noFill/>
        </p:spPr>
        <p:txBody>
          <a:bodyPr wrap="square" lIns="0" tIns="0" rIns="0" bIns="0" anchor="t">
            <a:spAutoFit/>
          </a:bodyPr>
          <a:lstStyle/>
          <a:p>
            <a:pPr algn="l">
              <a:buNone/>
              <a:defRPr>
                <a:solidFill>
                  <a:srgbClr val="F8FAFC"/>
                </a:solidFill>
              </a:defRPr>
            </a:pPr>
            <a:r>
              <a:rPr sz="1400" b="1">
                <a:solidFill>
                  <a:srgbClr val="F8FAFC"/>
                </a:solidFill>
                <a:latin typeface="Calibri"/>
                <a:ea typeface="Calibri"/>
                <a:cs typeface="Calibri"/>
              </a:rPr>
              <a:t>model cost / case</a:t>
            </a:r>
          </a:p>
        </p:txBody>
      </p:sp>
      <p:sp>
        <p:nvSpPr>
          <p:cNvPr id="21" name="TextBox 20">
            <a:extLst>
              <a:ext uri="{FF2B5EF4-FFF2-40B4-BE49-F238E27FC236}">
                <a16:creationId xmlns:a16="http://schemas.microsoft.com/office/drawing/2014/main" id="{9290763A-039A-4481-B178-0708AF0453B9}"/>
              </a:ext>
            </a:extLst>
          </p:cNvPr>
          <p:cNvSpPr>
            <a:spLocks noGrp="1"/>
          </p:cNvSpPr>
          <p:nvPr/>
        </p:nvSpPr>
        <p:spPr>
          <a:xfrm>
            <a:off x="6446520" y="3017520"/>
            <a:ext cx="2103120" cy="548640"/>
          </a:xfrm>
          <a:prstGeom prst="rect">
            <a:avLst/>
          </a:prstGeom>
          <a:noFill/>
        </p:spPr>
        <p:txBody>
          <a:bodyPr wrap="square" lIns="0" tIns="0" rIns="0" bIns="0" anchor="t">
            <a:spAutoFit/>
          </a:bodyPr>
          <a:lstStyle/>
          <a:p>
            <a:pPr algn="l">
              <a:buNone/>
              <a:defRPr>
                <a:solidFill>
                  <a:srgbClr val="CBD5E1"/>
                </a:solidFill>
              </a:defRPr>
            </a:pPr>
            <a:r>
              <a:rPr sz="1100" b="0">
                <a:solidFill>
                  <a:srgbClr val="CBD5E1"/>
                </a:solidFill>
                <a:latin typeface="Calibri"/>
                <a:ea typeface="Calibri"/>
                <a:cs typeface="Calibri"/>
              </a:rPr>
              <a:t>uncached equivalent</a:t>
            </a:r>
          </a:p>
        </p:txBody>
      </p:sp>
      <p:sp>
        <p:nvSpPr>
          <p:cNvPr id="22" name="Rounded Rectangle 21">
            <a:extLst>
              <a:ext uri="{FF2B5EF4-FFF2-40B4-BE49-F238E27FC236}">
                <a16:creationId xmlns:a16="http://schemas.microsoft.com/office/drawing/2014/main" id="{736DB9B5-92F5-4796-9EB5-A794A5F2D68F}"/>
              </a:ext>
            </a:extLst>
          </p:cNvPr>
          <p:cNvSpPr>
            <a:spLocks noGrp="1"/>
          </p:cNvSpPr>
          <p:nvPr/>
        </p:nvSpPr>
        <p:spPr>
          <a:xfrm>
            <a:off x="9006839" y="1828800"/>
            <a:ext cx="256032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D8EFA8AE-5B36-4D55-A12D-E0261457B91E}"/>
              </a:ext>
            </a:extLst>
          </p:cNvPr>
          <p:cNvSpPr>
            <a:spLocks noGrp="1"/>
          </p:cNvSpPr>
          <p:nvPr/>
        </p:nvSpPr>
        <p:spPr>
          <a:xfrm>
            <a:off x="9235439" y="2011680"/>
            <a:ext cx="2103120" cy="731520"/>
          </a:xfrm>
          <a:prstGeom prst="rect">
            <a:avLst/>
          </a:prstGeom>
          <a:noFill/>
        </p:spPr>
        <p:txBody>
          <a:bodyPr wrap="square" lIns="0" tIns="0" rIns="0" bIns="0" anchor="t">
            <a:spAutoFit/>
          </a:bodyPr>
          <a:lstStyle/>
          <a:p>
            <a:pPr algn="l">
              <a:buNone/>
              <a:defRPr>
                <a:solidFill>
                  <a:srgbClr val="2DD4BF"/>
                </a:solidFill>
              </a:defRPr>
            </a:pPr>
            <a:r>
              <a:rPr sz="3400" b="1">
                <a:solidFill>
                  <a:srgbClr val="2DD4BF"/>
                </a:solidFill>
                <a:latin typeface="Calibri"/>
                <a:ea typeface="Calibri"/>
                <a:cs typeface="Calibri"/>
              </a:rPr>
              <a:t>≈ 1 min</a:t>
            </a:r>
          </a:p>
        </p:txBody>
      </p:sp>
      <p:sp>
        <p:nvSpPr>
          <p:cNvPr id="24" name="TextBox 23">
            <a:extLst>
              <a:ext uri="{FF2B5EF4-FFF2-40B4-BE49-F238E27FC236}">
                <a16:creationId xmlns:a16="http://schemas.microsoft.com/office/drawing/2014/main" id="{71E71185-43D3-48EE-A0A5-F67B76B341F7}"/>
              </a:ext>
            </a:extLst>
          </p:cNvPr>
          <p:cNvSpPr>
            <a:spLocks noGrp="1"/>
          </p:cNvSpPr>
          <p:nvPr/>
        </p:nvSpPr>
        <p:spPr>
          <a:xfrm>
            <a:off x="9235439" y="2697480"/>
            <a:ext cx="2103120" cy="457200"/>
          </a:xfrm>
          <a:prstGeom prst="rect">
            <a:avLst/>
          </a:prstGeom>
          <a:noFill/>
        </p:spPr>
        <p:txBody>
          <a:bodyPr wrap="square" lIns="0" tIns="0" rIns="0" bIns="0" anchor="t">
            <a:spAutoFit/>
          </a:bodyPr>
          <a:lstStyle/>
          <a:p>
            <a:pPr algn="l">
              <a:buNone/>
              <a:defRPr>
                <a:solidFill>
                  <a:srgbClr val="F8FAFC"/>
                </a:solidFill>
              </a:defRPr>
            </a:pPr>
            <a:r>
              <a:rPr sz="1400" b="1">
                <a:solidFill>
                  <a:srgbClr val="F8FAFC"/>
                </a:solidFill>
                <a:latin typeface="Calibri"/>
                <a:ea typeface="Calibri"/>
                <a:cs typeface="Calibri"/>
              </a:rPr>
              <a:t>per live case</a:t>
            </a:r>
          </a:p>
        </p:txBody>
      </p:sp>
      <p:sp>
        <p:nvSpPr>
          <p:cNvPr id="25" name="TextBox 24">
            <a:extLst>
              <a:ext uri="{FF2B5EF4-FFF2-40B4-BE49-F238E27FC236}">
                <a16:creationId xmlns:a16="http://schemas.microsoft.com/office/drawing/2014/main" id="{502C6D73-4548-4464-BAA6-328CF4DAF809}"/>
              </a:ext>
            </a:extLst>
          </p:cNvPr>
          <p:cNvSpPr>
            <a:spLocks noGrp="1"/>
          </p:cNvSpPr>
          <p:nvPr/>
        </p:nvSpPr>
        <p:spPr>
          <a:xfrm>
            <a:off x="9235439" y="3017520"/>
            <a:ext cx="2103120" cy="548640"/>
          </a:xfrm>
          <a:prstGeom prst="rect">
            <a:avLst/>
          </a:prstGeom>
          <a:noFill/>
        </p:spPr>
        <p:txBody>
          <a:bodyPr wrap="square" lIns="0" tIns="0" rIns="0" bIns="0" anchor="t">
            <a:spAutoFit/>
          </a:bodyPr>
          <a:lstStyle/>
          <a:p>
            <a:pPr algn="l">
              <a:buNone/>
              <a:defRPr>
                <a:solidFill>
                  <a:srgbClr val="CBD5E1"/>
                </a:solidFill>
              </a:defRPr>
            </a:pPr>
            <a:r>
              <a:rPr sz="1100" b="0">
                <a:solidFill>
                  <a:srgbClr val="CBD5E1"/>
                </a:solidFill>
                <a:latin typeface="Calibri"/>
                <a:ea typeface="Calibri"/>
                <a:cs typeface="Calibri"/>
              </a:rPr>
              <a:t>5 documents, on AWS</a:t>
            </a:r>
          </a:p>
        </p:txBody>
      </p:sp>
      <p:sp>
        <p:nvSpPr>
          <p:cNvPr id="26" name="Rounded Rectangle 25">
            <a:extLst>
              <a:ext uri="{FF2B5EF4-FFF2-40B4-BE49-F238E27FC236}">
                <a16:creationId xmlns:a16="http://schemas.microsoft.com/office/drawing/2014/main" id="{DEB55E1A-93C0-4C8C-BE82-475A9D6B47BA}"/>
              </a:ext>
            </a:extLst>
          </p:cNvPr>
          <p:cNvSpPr>
            <a:spLocks noGrp="1"/>
          </p:cNvSpPr>
          <p:nvPr/>
        </p:nvSpPr>
        <p:spPr>
          <a:xfrm>
            <a:off x="640080" y="4297680"/>
            <a:ext cx="10881360" cy="1280160"/>
          </a:xfrm>
          <a:prstGeom prst="roundRect">
            <a:avLst>
              <a:gd name="adj" fmla="val 8000"/>
            </a:avLst>
          </a:prstGeom>
          <a:solidFill>
            <a:srgbClr val="193344"/>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25FCF217-4BB0-4E87-A27B-FAC07C5885EE}"/>
              </a:ext>
            </a:extLst>
          </p:cNvPr>
          <p:cNvSpPr>
            <a:spLocks noGrp="1"/>
          </p:cNvSpPr>
          <p:nvPr/>
        </p:nvSpPr>
        <p:spPr>
          <a:xfrm>
            <a:off x="914400" y="4526280"/>
            <a:ext cx="10424160" cy="365760"/>
          </a:xfrm>
          <a:prstGeom prst="rect">
            <a:avLst/>
          </a:prstGeom>
          <a:noFill/>
        </p:spPr>
        <p:txBody>
          <a:bodyPr wrap="square" lIns="0" tIns="0" rIns="0" bIns="0" anchor="t">
            <a:spAutoFit/>
          </a:bodyPr>
          <a:lstStyle/>
          <a:p>
            <a:pPr algn="l">
              <a:buNone/>
              <a:defRPr>
                <a:solidFill>
                  <a:srgbClr val="2DD4BF"/>
                </a:solidFill>
              </a:defRPr>
            </a:pPr>
            <a:r>
              <a:rPr sz="1200" b="1">
                <a:solidFill>
                  <a:srgbClr val="2DD4BF"/>
                </a:solidFill>
                <a:latin typeface="Calibri"/>
                <a:ea typeface="Calibri"/>
                <a:cs typeface="Calibri"/>
              </a:rPr>
              <a:t>MY RECOMMENDATION</a:t>
            </a:r>
          </a:p>
        </p:txBody>
      </p:sp>
      <p:sp>
        <p:nvSpPr>
          <p:cNvPr id="28" name="TextBox 27">
            <a:extLst>
              <a:ext uri="{FF2B5EF4-FFF2-40B4-BE49-F238E27FC236}">
                <a16:creationId xmlns:a16="http://schemas.microsoft.com/office/drawing/2014/main" id="{26778133-4DEF-4FAF-A12F-3CD005ACD0E1}"/>
              </a:ext>
            </a:extLst>
          </p:cNvPr>
          <p:cNvSpPr>
            <a:spLocks noGrp="1"/>
          </p:cNvSpPr>
          <p:nvPr/>
        </p:nvSpPr>
        <p:spPr>
          <a:xfrm>
            <a:off x="914400" y="4892040"/>
            <a:ext cx="10424160" cy="548640"/>
          </a:xfrm>
          <a:prstGeom prst="rect">
            <a:avLst/>
          </a:prstGeom>
          <a:noFill/>
        </p:spPr>
        <p:txBody>
          <a:bodyPr wrap="square" lIns="0" tIns="0" rIns="0" bIns="0" anchor="t">
            <a:spAutoFit/>
          </a:bodyPr>
          <a:lstStyle/>
          <a:p>
            <a:pPr algn="l">
              <a:buNone/>
              <a:defRPr>
                <a:solidFill>
                  <a:srgbClr val="F8FAFC"/>
                </a:solidFill>
              </a:defRPr>
            </a:pPr>
            <a:r>
              <a:rPr sz="2400" b="1">
                <a:solidFill>
                  <a:srgbClr val="F8FAFC"/>
                </a:solidFill>
                <a:latin typeface="Calibri"/>
                <a:ea typeface="Calibri"/>
                <a:cs typeface="Calibri"/>
              </a:rPr>
              <a:t>Shadow real scans; measure safety, review effort and cost.</a:t>
            </a:r>
          </a:p>
        </p:txBody>
      </p:sp>
    </p:spTree>
    <p:extLst>
      <p:ext uri="{BB962C8B-B14F-4D97-AF65-F5344CB8AC3E}">
        <p14:creationId xmlns:p14="http://schemas.microsoft.com/office/powerpoint/2010/main" val="19646953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438EB99-DB93-402E-91CB-219AF41106B0}"/>
              </a:ext>
            </a:extLst>
          </p:cNvPr>
          <p:cNvSpPr>
            <a:spLocks noGrp="1"/>
          </p:cNvSpPr>
          <p:nvPr/>
        </p:nvSpPr>
        <p:spPr>
          <a:xfrm>
            <a:off x="0" y="0"/>
            <a:ext cx="12191695" cy="109728"/>
          </a:xfrm>
          <a:prstGeom prst="rect">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4AE105D2-7BB9-4A32-97BC-8865B272EDE7}"/>
              </a:ext>
            </a:extLst>
          </p:cNvPr>
          <p:cNvSpPr>
            <a:spLocks noGrp="1"/>
          </p:cNvSpPr>
          <p:nvPr/>
        </p:nvSpPr>
        <p:spPr>
          <a:xfrm>
            <a:off x="640080" y="411480"/>
            <a:ext cx="9144000" cy="320040"/>
          </a:xfrm>
          <a:prstGeom prst="rect">
            <a:avLst/>
          </a:prstGeom>
          <a:noFill/>
        </p:spPr>
        <p:txBody>
          <a:bodyPr wrap="square" lIns="0" tIns="0" rIns="0" bIns="0" anchor="t">
            <a:spAutoFit/>
          </a:bodyPr>
          <a:lstStyle/>
          <a:p>
            <a:pPr algn="l">
              <a:buNone/>
              <a:defRPr>
                <a:solidFill>
                  <a:srgbClr val="2DD4BF"/>
                </a:solidFill>
              </a:defRPr>
            </a:pPr>
            <a:r>
              <a:rPr sz="1200" b="1">
                <a:solidFill>
                  <a:srgbClr val="2DD4BF"/>
                </a:solidFill>
                <a:latin typeface="Calibri"/>
                <a:ea typeface="Calibri"/>
                <a:cs typeface="Calibri"/>
              </a:rPr>
              <a:t>BUSINESS CASE</a:t>
            </a:r>
          </a:p>
        </p:txBody>
      </p:sp>
      <p:sp>
        <p:nvSpPr>
          <p:cNvPr id="4" name="TextBox 3">
            <a:extLst>
              <a:ext uri="{FF2B5EF4-FFF2-40B4-BE49-F238E27FC236}">
                <a16:creationId xmlns:a16="http://schemas.microsoft.com/office/drawing/2014/main" id="{297AABB8-6DB9-42B7-A4E9-F293505CDBE7}"/>
              </a:ext>
            </a:extLst>
          </p:cNvPr>
          <p:cNvSpPr>
            <a:spLocks noGrp="1"/>
          </p:cNvSpPr>
          <p:nvPr/>
        </p:nvSpPr>
        <p:spPr>
          <a:xfrm>
            <a:off x="640080" y="685800"/>
            <a:ext cx="10972800" cy="731520"/>
          </a:xfrm>
          <a:prstGeom prst="rect">
            <a:avLst/>
          </a:prstGeom>
          <a:noFill/>
        </p:spPr>
        <p:txBody>
          <a:bodyPr wrap="square" lIns="0" tIns="0" rIns="0" bIns="0" anchor="t">
            <a:spAutoFit/>
          </a:bodyPr>
          <a:lstStyle/>
          <a:p>
            <a:pPr algn="l">
              <a:buNone/>
              <a:defRPr>
                <a:solidFill>
                  <a:srgbClr val="F8FAFC"/>
                </a:solidFill>
              </a:defRPr>
            </a:pPr>
            <a:r>
              <a:rPr sz="3200" b="1">
                <a:solidFill>
                  <a:srgbClr val="F8FAFC"/>
                </a:solidFill>
                <a:latin typeface="Calibri"/>
                <a:ea typeface="Calibri"/>
                <a:cs typeface="Calibri"/>
              </a:rPr>
              <a:t>A large intake cost; savings still need a pilot</a:t>
            </a:r>
          </a:p>
        </p:txBody>
      </p:sp>
      <p:sp>
        <p:nvSpPr>
          <p:cNvPr id="5" name="Pentagon 4">
            <a:extLst>
              <a:ext uri="{FF2B5EF4-FFF2-40B4-BE49-F238E27FC236}">
                <a16:creationId xmlns:a16="http://schemas.microsoft.com/office/drawing/2014/main" id="{10FB0C9B-8BCC-4E99-A663-EDFAA6C3E8C7}"/>
              </a:ext>
            </a:extLst>
          </p:cNvPr>
          <p:cNvSpPr>
            <a:spLocks noGrp="1"/>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46872986-6F09-4DDD-91D2-F390E2734414}"/>
              </a:ext>
            </a:extLst>
          </p:cNvPr>
          <p:cNvSpPr>
            <a:spLocks noGrp="1"/>
          </p:cNvSpPr>
          <p:nvPr/>
        </p:nvSpPr>
        <p:spPr>
          <a:xfrm>
            <a:off x="11358860" y="453177"/>
            <a:ext cx="69128" cy="215066"/>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DE9B4CB0-78FA-42A8-98A1-99EA045292FA}"/>
              </a:ext>
            </a:extLst>
          </p:cNvPr>
          <p:cNvSpPr>
            <a:spLocks noGrp="1"/>
          </p:cNvSpPr>
          <p:nvPr/>
        </p:nvSpPr>
        <p:spPr>
          <a:xfrm>
            <a:off x="11285891" y="526146"/>
            <a:ext cx="215066" cy="69128"/>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C0584A6D-235A-49C4-BFE1-CE2FE3938F70}"/>
              </a:ext>
            </a:extLst>
          </p:cNvPr>
          <p:cNvSpPr>
            <a:spLocks noGrp="1"/>
          </p:cNvSpPr>
          <p:nvPr/>
        </p:nvSpPr>
        <p:spPr>
          <a:xfrm>
            <a:off x="640080" y="6446520"/>
            <a:ext cx="7315200" cy="274320"/>
          </a:xfrm>
          <a:prstGeom prst="rect">
            <a:avLst/>
          </a:prstGeom>
          <a:noFill/>
        </p:spPr>
        <p:txBody>
          <a:bodyPr wrap="square" lIns="0" tIns="0" rIns="0" bIns="0" anchor="t">
            <a:spAutoFit/>
          </a:bodyPr>
          <a:lstStyle/>
          <a:p>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a:ext uri="{FF2B5EF4-FFF2-40B4-BE49-F238E27FC236}">
                <a16:creationId xmlns:a16="http://schemas.microsoft.com/office/drawing/2014/main" id="{0C716BDE-5B68-47B8-AFF5-70CDCBDB14A2}"/>
              </a:ext>
            </a:extLst>
          </p:cNvPr>
          <p:cNvSpPr>
            <a:spLocks noGrp="1"/>
          </p:cNvSpPr>
          <p:nvPr/>
        </p:nvSpPr>
        <p:spPr>
          <a:xfrm>
            <a:off x="10881360" y="6446520"/>
            <a:ext cx="731520" cy="274320"/>
          </a:xfrm>
          <a:prstGeom prst="rect">
            <a:avLst/>
          </a:prstGeom>
          <a:noFill/>
        </p:spPr>
        <p:txBody>
          <a:bodyPr wrap="square" lIns="0" tIns="0" rIns="0" bIns="0" anchor="t">
            <a:spAutoFit/>
          </a:bodyPr>
          <a:lstStyle/>
          <a:p>
            <a:pPr algn="r">
              <a:buNone/>
              <a:defRPr>
                <a:solidFill>
                  <a:srgbClr val="CBD5E1"/>
                </a:solidFill>
              </a:defRPr>
            </a:pPr>
            <a:r>
              <a:rPr sz="1000" b="0">
                <a:solidFill>
                  <a:srgbClr val="CBD5E1"/>
                </a:solidFill>
                <a:latin typeface="Calibri"/>
                <a:ea typeface="Calibri"/>
                <a:cs typeface="Calibri"/>
              </a:rPr>
              <a:t>3</a:t>
            </a:r>
          </a:p>
        </p:txBody>
      </p:sp>
      <p:sp>
        <p:nvSpPr>
          <p:cNvPr id="10" name="TextBox 9">
            <a:extLst>
              <a:ext uri="{FF2B5EF4-FFF2-40B4-BE49-F238E27FC236}">
                <a16:creationId xmlns:a16="http://schemas.microsoft.com/office/drawing/2014/main" id="{EE17FB4E-85AB-4C26-A5B5-FA9A076FAECD}"/>
              </a:ext>
            </a:extLst>
          </p:cNvPr>
          <p:cNvSpPr>
            <a:spLocks noGrp="1"/>
          </p:cNvSpPr>
          <p:nvPr/>
        </p:nvSpPr>
        <p:spPr>
          <a:xfrm>
            <a:off x="640080" y="1737360"/>
            <a:ext cx="5212080" cy="365760"/>
          </a:xfrm>
          <a:prstGeom prst="rect">
            <a:avLst/>
          </a:prstGeom>
          <a:noFill/>
        </p:spPr>
        <p:txBody>
          <a:bodyPr wrap="square" lIns="0" tIns="0" rIns="0" bIns="0" anchor="t">
            <a:spAutoFit/>
          </a:bodyPr>
          <a:lstStyle/>
          <a:p>
            <a:pPr algn="l">
              <a:buNone/>
              <a:defRPr>
                <a:solidFill>
                  <a:srgbClr val="FCA5A5"/>
                </a:solidFill>
              </a:defRPr>
            </a:pPr>
            <a:r>
              <a:rPr sz="1400" b="1">
                <a:solidFill>
                  <a:srgbClr val="FCA5A5"/>
                </a:solidFill>
                <a:latin typeface="Calibri"/>
                <a:ea typeface="Calibri"/>
                <a:cs typeface="Calibri"/>
              </a:rPr>
              <a:t>TODAY</a:t>
            </a:r>
          </a:p>
        </p:txBody>
      </p:sp>
      <p:sp>
        <p:nvSpPr>
          <p:cNvPr id="11" name="Rounded Rectangle 10">
            <a:extLst>
              <a:ext uri="{FF2B5EF4-FFF2-40B4-BE49-F238E27FC236}">
                <a16:creationId xmlns:a16="http://schemas.microsoft.com/office/drawing/2014/main" id="{21AB18B8-5712-434F-87CE-C1A68FDFE722}"/>
              </a:ext>
            </a:extLst>
          </p:cNvPr>
          <p:cNvSpPr>
            <a:spLocks noGrp="1"/>
          </p:cNvSpPr>
          <p:nvPr/>
        </p:nvSpPr>
        <p:spPr>
          <a:xfrm>
            <a:off x="640080" y="2240280"/>
            <a:ext cx="5212080" cy="100584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42CDCC8-0EF5-4047-A5F7-D4CF95E7FE1B}"/>
              </a:ext>
            </a:extLst>
          </p:cNvPr>
          <p:cNvSpPr>
            <a:spLocks noGrp="1"/>
          </p:cNvSpPr>
          <p:nvPr/>
        </p:nvSpPr>
        <p:spPr>
          <a:xfrm>
            <a:off x="960120" y="2423160"/>
            <a:ext cx="2377440" cy="640080"/>
          </a:xfrm>
          <a:prstGeom prst="rect">
            <a:avLst/>
          </a:prstGeom>
          <a:noFill/>
        </p:spPr>
        <p:txBody>
          <a:bodyPr wrap="square" lIns="0" tIns="0" rIns="0" bIns="0" anchor="t">
            <a:spAutoFit/>
          </a:bodyPr>
          <a:lstStyle/>
          <a:p>
            <a:pPr algn="l">
              <a:buNone/>
              <a:defRPr>
                <a:solidFill>
                  <a:srgbClr val="FCA5A5"/>
                </a:solidFill>
              </a:defRPr>
            </a:pPr>
            <a:r>
              <a:rPr sz="3200" b="1">
                <a:solidFill>
                  <a:srgbClr val="FCA5A5"/>
                </a:solidFill>
                <a:latin typeface="Calibri"/>
                <a:ea typeface="Calibri"/>
                <a:cs typeface="Calibri"/>
              </a:rPr>
              <a:t>4.2 days</a:t>
            </a:r>
          </a:p>
        </p:txBody>
      </p:sp>
      <p:sp>
        <p:nvSpPr>
          <p:cNvPr id="13" name="TextBox 12">
            <a:extLst>
              <a:ext uri="{FF2B5EF4-FFF2-40B4-BE49-F238E27FC236}">
                <a16:creationId xmlns:a16="http://schemas.microsoft.com/office/drawing/2014/main" id="{E390067C-7CC7-4F8C-8B47-D3F4018E2E32}"/>
              </a:ext>
            </a:extLst>
          </p:cNvPr>
          <p:cNvSpPr>
            <a:spLocks noGrp="1"/>
          </p:cNvSpPr>
          <p:nvPr/>
        </p:nvSpPr>
        <p:spPr>
          <a:xfrm>
            <a:off x="3383280" y="2587752"/>
            <a:ext cx="2377440" cy="457200"/>
          </a:xfrm>
          <a:prstGeom prst="rect">
            <a:avLst/>
          </a:prstGeom>
          <a:noFill/>
        </p:spPr>
        <p:txBody>
          <a:bodyPr wrap="square" lIns="0" tIns="0" rIns="0" bIns="0" anchor="t">
            <a:spAutoFit/>
          </a:bodyPr>
          <a:lstStyle/>
          <a:p>
            <a:pPr algn="l">
              <a:buNone/>
              <a:defRPr>
                <a:solidFill>
                  <a:srgbClr val="F8FAFC"/>
                </a:solidFill>
              </a:defRPr>
            </a:pPr>
            <a:r>
              <a:rPr sz="1700" b="0">
                <a:solidFill>
                  <a:srgbClr val="F8FAFC"/>
                </a:solidFill>
                <a:latin typeface="Calibri"/>
                <a:ea typeface="Calibri"/>
                <a:cs typeface="Calibri"/>
              </a:rPr>
              <a:t>per claim</a:t>
            </a:r>
          </a:p>
        </p:txBody>
      </p:sp>
      <p:sp>
        <p:nvSpPr>
          <p:cNvPr id="14" name="Rounded Rectangle 13">
            <a:extLst>
              <a:ext uri="{FF2B5EF4-FFF2-40B4-BE49-F238E27FC236}">
                <a16:creationId xmlns:a16="http://schemas.microsoft.com/office/drawing/2014/main" id="{86355666-9CD7-4B40-90D2-575AE8E52FC4}"/>
              </a:ext>
            </a:extLst>
          </p:cNvPr>
          <p:cNvSpPr>
            <a:spLocks noGrp="1"/>
          </p:cNvSpPr>
          <p:nvPr/>
        </p:nvSpPr>
        <p:spPr>
          <a:xfrm>
            <a:off x="640080" y="3429000"/>
            <a:ext cx="5212080" cy="100584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3EBFE08-1445-478E-820D-23FB00155D91}"/>
              </a:ext>
            </a:extLst>
          </p:cNvPr>
          <p:cNvSpPr>
            <a:spLocks noGrp="1"/>
          </p:cNvSpPr>
          <p:nvPr/>
        </p:nvSpPr>
        <p:spPr>
          <a:xfrm>
            <a:off x="960120" y="3611880"/>
            <a:ext cx="2377440" cy="640080"/>
          </a:xfrm>
          <a:prstGeom prst="rect">
            <a:avLst/>
          </a:prstGeom>
          <a:noFill/>
        </p:spPr>
        <p:txBody>
          <a:bodyPr wrap="square" lIns="0" tIns="0" rIns="0" bIns="0" anchor="t">
            <a:spAutoFit/>
          </a:bodyPr>
          <a:lstStyle/>
          <a:p>
            <a:pPr algn="l">
              <a:buNone/>
              <a:defRPr>
                <a:solidFill>
                  <a:srgbClr val="FCA5A5"/>
                </a:solidFill>
              </a:defRPr>
            </a:pPr>
            <a:r>
              <a:rPr sz="3200" b="1">
                <a:solidFill>
                  <a:srgbClr val="FCA5A5"/>
                </a:solidFill>
                <a:latin typeface="Calibri"/>
                <a:ea typeface="Calibri"/>
                <a:cs typeface="Calibri"/>
              </a:rPr>
              <a:t>$18.4M</a:t>
            </a:r>
          </a:p>
        </p:txBody>
      </p:sp>
      <p:sp>
        <p:nvSpPr>
          <p:cNvPr id="16" name="TextBox 15">
            <a:extLst>
              <a:ext uri="{FF2B5EF4-FFF2-40B4-BE49-F238E27FC236}">
                <a16:creationId xmlns:a16="http://schemas.microsoft.com/office/drawing/2014/main" id="{DC1B3D9A-F34A-4144-886B-4B4116093350}"/>
              </a:ext>
            </a:extLst>
          </p:cNvPr>
          <p:cNvSpPr>
            <a:spLocks noGrp="1"/>
          </p:cNvSpPr>
          <p:nvPr/>
        </p:nvSpPr>
        <p:spPr>
          <a:xfrm>
            <a:off x="3383280" y="3776472"/>
            <a:ext cx="2377440" cy="457200"/>
          </a:xfrm>
          <a:prstGeom prst="rect">
            <a:avLst/>
          </a:prstGeom>
          <a:noFill/>
        </p:spPr>
        <p:txBody>
          <a:bodyPr wrap="square" lIns="0" tIns="0" rIns="0" bIns="0" anchor="t">
            <a:spAutoFit/>
          </a:bodyPr>
          <a:lstStyle/>
          <a:p>
            <a:pPr algn="l">
              <a:buNone/>
              <a:defRPr>
                <a:solidFill>
                  <a:srgbClr val="F8FAFC"/>
                </a:solidFill>
              </a:defRPr>
            </a:pPr>
            <a:r>
              <a:rPr sz="1700" b="0">
                <a:solidFill>
                  <a:srgbClr val="F8FAFC"/>
                </a:solidFill>
                <a:latin typeface="Calibri"/>
                <a:ea typeface="Calibri"/>
                <a:cs typeface="Calibri"/>
              </a:rPr>
              <a:t>a year</a:t>
            </a:r>
          </a:p>
        </p:txBody>
      </p:sp>
      <p:sp>
        <p:nvSpPr>
          <p:cNvPr id="17" name="Rounded Rectangle 16">
            <a:extLst>
              <a:ext uri="{FF2B5EF4-FFF2-40B4-BE49-F238E27FC236}">
                <a16:creationId xmlns:a16="http://schemas.microsoft.com/office/drawing/2014/main" id="{42ED6B9E-A52A-41A8-8C85-0BCA9A91FE30}"/>
              </a:ext>
            </a:extLst>
          </p:cNvPr>
          <p:cNvSpPr>
            <a:spLocks noGrp="1"/>
          </p:cNvSpPr>
          <p:nvPr/>
        </p:nvSpPr>
        <p:spPr>
          <a:xfrm>
            <a:off x="640080" y="4617720"/>
            <a:ext cx="5212080" cy="100584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2E786DD9-FF9E-4B64-B775-36D92D7BBAA3}"/>
              </a:ext>
            </a:extLst>
          </p:cNvPr>
          <p:cNvSpPr>
            <a:spLocks noGrp="1"/>
          </p:cNvSpPr>
          <p:nvPr/>
        </p:nvSpPr>
        <p:spPr>
          <a:xfrm>
            <a:off x="960120" y="4800600"/>
            <a:ext cx="2377440" cy="640080"/>
          </a:xfrm>
          <a:prstGeom prst="rect">
            <a:avLst/>
          </a:prstGeom>
          <a:noFill/>
        </p:spPr>
        <p:txBody>
          <a:bodyPr wrap="square" lIns="0" tIns="0" rIns="0" bIns="0" anchor="t">
            <a:spAutoFit/>
          </a:bodyPr>
          <a:lstStyle/>
          <a:p>
            <a:pPr algn="l">
              <a:buNone/>
              <a:defRPr>
                <a:solidFill>
                  <a:srgbClr val="FCA5A5"/>
                </a:solidFill>
              </a:defRPr>
            </a:pPr>
            <a:r>
              <a:rPr sz="3200" b="1">
                <a:solidFill>
                  <a:srgbClr val="FCA5A5"/>
                </a:solidFill>
                <a:latin typeface="Calibri"/>
                <a:ea typeface="Calibri"/>
                <a:cs typeface="Calibri"/>
              </a:rPr>
              <a:t>≈ $18</a:t>
            </a:r>
          </a:p>
        </p:txBody>
      </p:sp>
      <p:sp>
        <p:nvSpPr>
          <p:cNvPr id="19" name="TextBox 18">
            <a:extLst>
              <a:ext uri="{FF2B5EF4-FFF2-40B4-BE49-F238E27FC236}">
                <a16:creationId xmlns:a16="http://schemas.microsoft.com/office/drawing/2014/main" id="{18452038-9A3F-42A9-ACB9-11B921968847}"/>
              </a:ext>
            </a:extLst>
          </p:cNvPr>
          <p:cNvSpPr>
            <a:spLocks noGrp="1"/>
          </p:cNvSpPr>
          <p:nvPr/>
        </p:nvSpPr>
        <p:spPr>
          <a:xfrm>
            <a:off x="3383280" y="4965192"/>
            <a:ext cx="2377440" cy="457200"/>
          </a:xfrm>
          <a:prstGeom prst="rect">
            <a:avLst/>
          </a:prstGeom>
          <a:noFill/>
        </p:spPr>
        <p:txBody>
          <a:bodyPr wrap="square" lIns="0" tIns="0" rIns="0" bIns="0" anchor="t">
            <a:spAutoFit/>
          </a:bodyPr>
          <a:lstStyle/>
          <a:p>
            <a:pPr algn="l">
              <a:buNone/>
              <a:defRPr>
                <a:solidFill>
                  <a:srgbClr val="F8FAFC"/>
                </a:solidFill>
              </a:defRPr>
            </a:pPr>
            <a:r>
              <a:rPr sz="1700" b="0">
                <a:solidFill>
                  <a:srgbClr val="F8FAFC"/>
                </a:solidFill>
                <a:latin typeface="Calibri"/>
                <a:ea typeface="Calibri"/>
                <a:cs typeface="Calibri"/>
              </a:rPr>
              <a:t>per document</a:t>
            </a:r>
          </a:p>
        </p:txBody>
      </p:sp>
      <p:sp>
        <p:nvSpPr>
          <p:cNvPr id="20" name="TextBox 19">
            <a:extLst>
              <a:ext uri="{FF2B5EF4-FFF2-40B4-BE49-F238E27FC236}">
                <a16:creationId xmlns:a16="http://schemas.microsoft.com/office/drawing/2014/main" id="{260699AA-2EE6-467F-A885-C06CE4F8BD97}"/>
              </a:ext>
            </a:extLst>
          </p:cNvPr>
          <p:cNvSpPr>
            <a:spLocks noGrp="1"/>
          </p:cNvSpPr>
          <p:nvPr/>
        </p:nvSpPr>
        <p:spPr>
          <a:xfrm>
            <a:off x="6309360" y="1737360"/>
            <a:ext cx="5212080" cy="365760"/>
          </a:xfrm>
          <a:prstGeom prst="rect">
            <a:avLst/>
          </a:prstGeom>
          <a:noFill/>
        </p:spPr>
        <p:txBody>
          <a:bodyPr wrap="square" lIns="0" tIns="0" rIns="0" bIns="0" anchor="t">
            <a:spAutoFit/>
          </a:bodyPr>
          <a:lstStyle/>
          <a:p>
            <a:pPr algn="l">
              <a:buNone/>
              <a:defRPr>
                <a:solidFill>
                  <a:srgbClr val="2DD4BF"/>
                </a:solidFill>
              </a:defRPr>
            </a:pPr>
            <a:r>
              <a:rPr sz="1400" b="1">
                <a:solidFill>
                  <a:srgbClr val="2DD4BF"/>
                </a:solidFill>
                <a:latin typeface="Calibri"/>
                <a:ea typeface="Calibri"/>
                <a:cs typeface="Calibri"/>
              </a:rPr>
              <a:t>MEASURED MODEL SPEND</a:t>
            </a:r>
          </a:p>
        </p:txBody>
      </p:sp>
      <p:sp>
        <p:nvSpPr>
          <p:cNvPr id="21" name="Rounded Rectangle 20">
            <a:extLst>
              <a:ext uri="{FF2B5EF4-FFF2-40B4-BE49-F238E27FC236}">
                <a16:creationId xmlns:a16="http://schemas.microsoft.com/office/drawing/2014/main" id="{E695911A-284E-4181-88CB-79DCE5D1EDB9}"/>
              </a:ext>
            </a:extLst>
          </p:cNvPr>
          <p:cNvSpPr>
            <a:spLocks noGrp="1"/>
          </p:cNvSpPr>
          <p:nvPr/>
        </p:nvSpPr>
        <p:spPr>
          <a:xfrm>
            <a:off x="6309360" y="2240280"/>
            <a:ext cx="5212080" cy="100584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3BCDE733-0285-4D0A-9344-38C3151CFF6E}"/>
              </a:ext>
            </a:extLst>
          </p:cNvPr>
          <p:cNvSpPr>
            <a:spLocks noGrp="1"/>
          </p:cNvSpPr>
          <p:nvPr/>
        </p:nvSpPr>
        <p:spPr>
          <a:xfrm>
            <a:off x="6629400" y="2423160"/>
            <a:ext cx="2377440" cy="640080"/>
          </a:xfrm>
          <a:prstGeom prst="rect">
            <a:avLst/>
          </a:prstGeom>
          <a:noFill/>
        </p:spPr>
        <p:txBody>
          <a:bodyPr wrap="square" lIns="0" tIns="0" rIns="0" bIns="0" anchor="t">
            <a:spAutoFit/>
          </a:bodyPr>
          <a:lstStyle/>
          <a:p>
            <a:pPr algn="l">
              <a:buNone/>
              <a:defRPr>
                <a:solidFill>
                  <a:srgbClr val="2DD4BF"/>
                </a:solidFill>
              </a:defRPr>
            </a:pPr>
            <a:r>
              <a:rPr sz="3200" b="1">
                <a:solidFill>
                  <a:srgbClr val="2DD4BF"/>
                </a:solidFill>
                <a:latin typeface="Calibri"/>
                <a:ea typeface="Calibri"/>
                <a:cs typeface="Calibri"/>
              </a:rPr>
              <a:t>≈ 1 min</a:t>
            </a:r>
          </a:p>
        </p:txBody>
      </p:sp>
      <p:sp>
        <p:nvSpPr>
          <p:cNvPr id="23" name="TextBox 22">
            <a:extLst>
              <a:ext uri="{FF2B5EF4-FFF2-40B4-BE49-F238E27FC236}">
                <a16:creationId xmlns:a16="http://schemas.microsoft.com/office/drawing/2014/main" id="{9BF29244-5756-4D45-8892-E24B31CF94C8}"/>
              </a:ext>
            </a:extLst>
          </p:cNvPr>
          <p:cNvSpPr>
            <a:spLocks noGrp="1"/>
          </p:cNvSpPr>
          <p:nvPr/>
        </p:nvSpPr>
        <p:spPr>
          <a:xfrm>
            <a:off x="9052560" y="2587752"/>
            <a:ext cx="2377440" cy="457200"/>
          </a:xfrm>
          <a:prstGeom prst="rect">
            <a:avLst/>
          </a:prstGeom>
          <a:noFill/>
        </p:spPr>
        <p:txBody>
          <a:bodyPr wrap="square" lIns="0" tIns="0" rIns="0" bIns="0" anchor="t">
            <a:spAutoFit/>
          </a:bodyPr>
          <a:lstStyle/>
          <a:p>
            <a:pPr algn="l">
              <a:buNone/>
              <a:defRPr>
                <a:solidFill>
                  <a:srgbClr val="F8FAFC"/>
                </a:solidFill>
              </a:defRPr>
            </a:pPr>
            <a:r>
              <a:rPr sz="1700" b="0">
                <a:solidFill>
                  <a:srgbClr val="F8FAFC"/>
                </a:solidFill>
                <a:latin typeface="Calibri"/>
                <a:ea typeface="Calibri"/>
                <a:cs typeface="Calibri"/>
              </a:rPr>
              <a:t>per live case on AWS</a:t>
            </a:r>
          </a:p>
        </p:txBody>
      </p:sp>
      <p:sp>
        <p:nvSpPr>
          <p:cNvPr id="24" name="Rounded Rectangle 23">
            <a:extLst>
              <a:ext uri="{FF2B5EF4-FFF2-40B4-BE49-F238E27FC236}">
                <a16:creationId xmlns:a16="http://schemas.microsoft.com/office/drawing/2014/main" id="{A979D7BE-0E1A-478B-8C20-46BE5C791B0A}"/>
              </a:ext>
            </a:extLst>
          </p:cNvPr>
          <p:cNvSpPr>
            <a:spLocks noGrp="1"/>
          </p:cNvSpPr>
          <p:nvPr/>
        </p:nvSpPr>
        <p:spPr>
          <a:xfrm>
            <a:off x="6309360" y="3429000"/>
            <a:ext cx="5212080" cy="100584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D5F90B72-B179-4499-8C0F-07FC4516BD2A}"/>
              </a:ext>
            </a:extLst>
          </p:cNvPr>
          <p:cNvSpPr>
            <a:spLocks noGrp="1"/>
          </p:cNvSpPr>
          <p:nvPr/>
        </p:nvSpPr>
        <p:spPr>
          <a:xfrm>
            <a:off x="6629400" y="3611880"/>
            <a:ext cx="2377440" cy="640080"/>
          </a:xfrm>
          <a:prstGeom prst="rect">
            <a:avLst/>
          </a:prstGeom>
          <a:noFill/>
        </p:spPr>
        <p:txBody>
          <a:bodyPr wrap="square" lIns="0" tIns="0" rIns="0" bIns="0" anchor="t">
            <a:spAutoFit/>
          </a:bodyPr>
          <a:lstStyle/>
          <a:p>
            <a:pPr algn="l">
              <a:buNone/>
              <a:defRPr>
                <a:solidFill>
                  <a:srgbClr val="2DD4BF"/>
                </a:solidFill>
              </a:defRPr>
            </a:pPr>
            <a:r>
              <a:rPr sz="3200" b="1">
                <a:solidFill>
                  <a:srgbClr val="2DD4BF"/>
                </a:solidFill>
                <a:latin typeface="Calibri"/>
                <a:ea typeface="Calibri"/>
                <a:cs typeface="Calibri"/>
              </a:rPr>
              <a:t>≈ $18k</a:t>
            </a:r>
          </a:p>
        </p:txBody>
      </p:sp>
      <p:sp>
        <p:nvSpPr>
          <p:cNvPr id="26" name="TextBox 25">
            <a:extLst>
              <a:ext uri="{FF2B5EF4-FFF2-40B4-BE49-F238E27FC236}">
                <a16:creationId xmlns:a16="http://schemas.microsoft.com/office/drawing/2014/main" id="{1154A35F-67E2-4C3F-AF12-F3751D12C230}"/>
              </a:ext>
            </a:extLst>
          </p:cNvPr>
          <p:cNvSpPr>
            <a:spLocks noGrp="1"/>
          </p:cNvSpPr>
          <p:nvPr/>
        </p:nvSpPr>
        <p:spPr>
          <a:xfrm>
            <a:off x="9052560" y="3776472"/>
            <a:ext cx="2377440" cy="457200"/>
          </a:xfrm>
          <a:prstGeom prst="rect">
            <a:avLst/>
          </a:prstGeom>
          <a:noFill/>
        </p:spPr>
        <p:txBody>
          <a:bodyPr wrap="square" lIns="0" tIns="0" rIns="0" bIns="0" anchor="t">
            <a:spAutoFit/>
          </a:bodyPr>
          <a:lstStyle/>
          <a:p>
            <a:pPr algn="l">
              <a:buNone/>
              <a:defRPr>
                <a:solidFill>
                  <a:srgbClr val="F8FAFC"/>
                </a:solidFill>
              </a:defRPr>
            </a:pPr>
            <a:r>
              <a:rPr sz="1700" b="0">
                <a:solidFill>
                  <a:srgbClr val="F8FAFC"/>
                </a:solidFill>
                <a:latin typeface="Calibri"/>
                <a:ea typeface="Calibri"/>
                <a:cs typeface="Calibri"/>
              </a:rPr>
              <a:t>a year in model spend</a:t>
            </a:r>
          </a:p>
        </p:txBody>
      </p:sp>
      <p:sp>
        <p:nvSpPr>
          <p:cNvPr id="27" name="Rounded Rectangle 26">
            <a:extLst>
              <a:ext uri="{FF2B5EF4-FFF2-40B4-BE49-F238E27FC236}">
                <a16:creationId xmlns:a16="http://schemas.microsoft.com/office/drawing/2014/main" id="{7941B310-5D52-4E35-8800-C0A6D7726402}"/>
              </a:ext>
            </a:extLst>
          </p:cNvPr>
          <p:cNvSpPr>
            <a:spLocks noGrp="1"/>
          </p:cNvSpPr>
          <p:nvPr/>
        </p:nvSpPr>
        <p:spPr>
          <a:xfrm>
            <a:off x="6309360" y="4617720"/>
            <a:ext cx="5212080" cy="100584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C7A61058-5DE7-4331-B21A-AC80AA4DA6C0}"/>
              </a:ext>
            </a:extLst>
          </p:cNvPr>
          <p:cNvSpPr>
            <a:spLocks noGrp="1"/>
          </p:cNvSpPr>
          <p:nvPr/>
        </p:nvSpPr>
        <p:spPr>
          <a:xfrm>
            <a:off x="6629400" y="4800600"/>
            <a:ext cx="2377440" cy="640080"/>
          </a:xfrm>
          <a:prstGeom prst="rect">
            <a:avLst/>
          </a:prstGeom>
          <a:noFill/>
        </p:spPr>
        <p:txBody>
          <a:bodyPr wrap="square" lIns="0" tIns="0" rIns="0" bIns="0" anchor="t">
            <a:spAutoFit/>
          </a:bodyPr>
          <a:lstStyle/>
          <a:p>
            <a:pPr algn="l">
              <a:buNone/>
              <a:defRPr>
                <a:solidFill>
                  <a:srgbClr val="2DD4BF"/>
                </a:solidFill>
              </a:defRPr>
            </a:pPr>
            <a:r>
              <a:rPr sz="3200" b="1">
                <a:solidFill>
                  <a:srgbClr val="2DD4BF"/>
                </a:solidFill>
                <a:latin typeface="Calibri"/>
                <a:ea typeface="Calibri"/>
                <a:cs typeface="Calibri"/>
              </a:rPr>
              <a:t>≈ $0.02</a:t>
            </a:r>
          </a:p>
        </p:txBody>
      </p:sp>
      <p:sp>
        <p:nvSpPr>
          <p:cNvPr id="29" name="TextBox 28">
            <a:extLst>
              <a:ext uri="{FF2B5EF4-FFF2-40B4-BE49-F238E27FC236}">
                <a16:creationId xmlns:a16="http://schemas.microsoft.com/office/drawing/2014/main" id="{F09E343D-C196-4CA3-88C4-AA962B8345DE}"/>
              </a:ext>
            </a:extLst>
          </p:cNvPr>
          <p:cNvSpPr>
            <a:spLocks noGrp="1"/>
          </p:cNvSpPr>
          <p:nvPr/>
        </p:nvSpPr>
        <p:spPr>
          <a:xfrm>
            <a:off x="9052560" y="4965192"/>
            <a:ext cx="2377440" cy="457200"/>
          </a:xfrm>
          <a:prstGeom prst="rect">
            <a:avLst/>
          </a:prstGeom>
          <a:noFill/>
        </p:spPr>
        <p:txBody>
          <a:bodyPr wrap="square" lIns="0" tIns="0" rIns="0" bIns="0" anchor="t">
            <a:spAutoFit/>
          </a:bodyPr>
          <a:lstStyle/>
          <a:p>
            <a:pPr algn="l">
              <a:buNone/>
              <a:defRPr>
                <a:solidFill>
                  <a:srgbClr val="F8FAFC"/>
                </a:solidFill>
              </a:defRPr>
            </a:pPr>
            <a:r>
              <a:rPr sz="1700" b="0">
                <a:solidFill>
                  <a:srgbClr val="F8FAFC"/>
                </a:solidFill>
                <a:latin typeface="Calibri"/>
                <a:ea typeface="Calibri"/>
                <a:cs typeface="Calibri"/>
              </a:rPr>
              <a:t>per document</a:t>
            </a:r>
          </a:p>
        </p:txBody>
      </p:sp>
      <p:sp>
        <p:nvSpPr>
          <p:cNvPr id="30" name="TextBox 29">
            <a:extLst>
              <a:ext uri="{FF2B5EF4-FFF2-40B4-BE49-F238E27FC236}">
                <a16:creationId xmlns:a16="http://schemas.microsoft.com/office/drawing/2014/main" id="{9FB9B2A7-A3DD-4846-8613-3D0B02D7BD45}"/>
              </a:ext>
            </a:extLst>
          </p:cNvPr>
          <p:cNvSpPr>
            <a:spLocks noGrp="1"/>
          </p:cNvSpPr>
          <p:nvPr/>
        </p:nvSpPr>
        <p:spPr>
          <a:xfrm>
            <a:off x="640080" y="5897880"/>
            <a:ext cx="10881360" cy="365760"/>
          </a:xfrm>
          <a:prstGeom prst="rect">
            <a:avLst/>
          </a:prstGeom>
          <a:noFill/>
        </p:spPr>
        <p:txBody>
          <a:bodyPr wrap="square" lIns="0" tIns="0" rIns="0" bIns="0" anchor="t">
            <a:spAutoFit/>
          </a:bodyPr>
          <a:lstStyle/>
          <a:p>
            <a:pPr algn="l">
              <a:buNone/>
              <a:defRPr>
                <a:solidFill>
                  <a:srgbClr val="CBD5E1"/>
                </a:solidFill>
              </a:defRPr>
            </a:pPr>
            <a:r>
              <a:rPr sz="1300" b="0">
                <a:solidFill>
                  <a:srgbClr val="CBD5E1"/>
                </a:solidFill>
                <a:latin typeface="Calibri"/>
                <a:ea typeface="Calibri"/>
                <a:cs typeface="Calibri"/>
              </a:rPr>
              <a:t>Savings depend on how much goes straight through; the pilot measures it.</a:t>
            </a:r>
          </a:p>
        </p:txBody>
      </p:sp>
    </p:spTree>
    <p:extLst>
      <p:ext uri="{BB962C8B-B14F-4D97-AF65-F5344CB8AC3E}">
        <p14:creationId xmlns:p14="http://schemas.microsoft.com/office/powerpoint/2010/main" val="24566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0FA8CC3-F19B-4F4C-9084-1981650C1C53}"/>
              </a:ext>
            </a:extLst>
          </p:cNvPr>
          <p:cNvSpPr>
            <a:spLocks noGrp="1"/>
          </p:cNvSpPr>
          <p:nvPr/>
        </p:nvSpPr>
        <p:spPr>
          <a:xfrm>
            <a:off x="0" y="0"/>
            <a:ext cx="12191695" cy="109728"/>
          </a:xfrm>
          <a:prstGeom prst="rect">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6F108C0D-E850-4A22-81EF-ABBFDF920250}"/>
              </a:ext>
            </a:extLst>
          </p:cNvPr>
          <p:cNvSpPr>
            <a:spLocks noGrp="1"/>
          </p:cNvSpPr>
          <p:nvPr/>
        </p:nvSpPr>
        <p:spPr>
          <a:xfrm>
            <a:off x="640080" y="411480"/>
            <a:ext cx="9144000" cy="320040"/>
          </a:xfrm>
          <a:prstGeom prst="rect">
            <a:avLst/>
          </a:prstGeom>
          <a:noFill/>
        </p:spPr>
        <p:txBody>
          <a:bodyPr wrap="square" lIns="0" tIns="0" rIns="0" bIns="0" anchor="t">
            <a:spAutoFit/>
          </a:bodyPr>
          <a:lstStyle/>
          <a:p>
            <a:pPr algn="l">
              <a:buNone/>
              <a:defRPr>
                <a:solidFill>
                  <a:srgbClr val="2DD4BF"/>
                </a:solidFill>
              </a:defRPr>
            </a:pPr>
            <a:r>
              <a:rPr sz="1200" b="1">
                <a:solidFill>
                  <a:srgbClr val="2DD4BF"/>
                </a:solidFill>
                <a:latin typeface="Calibri"/>
                <a:ea typeface="Calibri"/>
                <a:cs typeface="Calibri"/>
              </a:rPr>
              <a:t>HOW IT WORKS</a:t>
            </a:r>
          </a:p>
        </p:txBody>
      </p:sp>
      <p:sp>
        <p:nvSpPr>
          <p:cNvPr id="4" name="TextBox 3">
            <a:extLst>
              <a:ext uri="{FF2B5EF4-FFF2-40B4-BE49-F238E27FC236}">
                <a16:creationId xmlns:a16="http://schemas.microsoft.com/office/drawing/2014/main" id="{8E8D9333-B723-40E9-BABF-6AE8B45A7F98}"/>
              </a:ext>
            </a:extLst>
          </p:cNvPr>
          <p:cNvSpPr>
            <a:spLocks noGrp="1"/>
          </p:cNvSpPr>
          <p:nvPr/>
        </p:nvSpPr>
        <p:spPr>
          <a:xfrm>
            <a:off x="640080" y="685800"/>
            <a:ext cx="10972800" cy="731520"/>
          </a:xfrm>
          <a:prstGeom prst="rect">
            <a:avLst/>
          </a:prstGeom>
          <a:noFill/>
        </p:spPr>
        <p:txBody>
          <a:bodyPr wrap="square" lIns="0" tIns="0" rIns="0" bIns="0" anchor="t">
            <a:spAutoFit/>
          </a:bodyPr>
          <a:lstStyle/>
          <a:p>
            <a:pPr algn="l">
              <a:buNone/>
              <a:defRPr>
                <a:solidFill>
                  <a:srgbClr val="F8FAFC"/>
                </a:solidFill>
              </a:defRPr>
            </a:pPr>
            <a:r>
              <a:rPr sz="3200" b="1">
                <a:solidFill>
                  <a:srgbClr val="F8FAFC"/>
                </a:solidFill>
                <a:latin typeface="Calibri"/>
                <a:ea typeface="Calibri"/>
                <a:cs typeface="Calibri"/>
              </a:rPr>
              <a:t>Read → verify → decide → review</a:t>
            </a:r>
          </a:p>
        </p:txBody>
      </p:sp>
      <p:sp>
        <p:nvSpPr>
          <p:cNvPr id="5" name="Pentagon 4">
            <a:extLst>
              <a:ext uri="{FF2B5EF4-FFF2-40B4-BE49-F238E27FC236}">
                <a16:creationId xmlns:a16="http://schemas.microsoft.com/office/drawing/2014/main" id="{7E22831A-A9C5-4E28-91F9-178E768BBAED}"/>
              </a:ext>
            </a:extLst>
          </p:cNvPr>
          <p:cNvSpPr>
            <a:spLocks noGrp="1"/>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F10BAFC7-7D86-4BF4-985D-BFB545DE72E7}"/>
              </a:ext>
            </a:extLst>
          </p:cNvPr>
          <p:cNvSpPr>
            <a:spLocks noGrp="1"/>
          </p:cNvSpPr>
          <p:nvPr/>
        </p:nvSpPr>
        <p:spPr>
          <a:xfrm>
            <a:off x="11358860" y="453177"/>
            <a:ext cx="69128" cy="215066"/>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7C5FD8AB-9608-4E9C-86A2-79A83D9D23ED}"/>
              </a:ext>
            </a:extLst>
          </p:cNvPr>
          <p:cNvSpPr>
            <a:spLocks noGrp="1"/>
          </p:cNvSpPr>
          <p:nvPr/>
        </p:nvSpPr>
        <p:spPr>
          <a:xfrm>
            <a:off x="11285891" y="526146"/>
            <a:ext cx="215066" cy="69128"/>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02BCE34B-6CBA-4ED3-9732-1F4460FCE6D3}"/>
              </a:ext>
            </a:extLst>
          </p:cNvPr>
          <p:cNvSpPr>
            <a:spLocks noGrp="1"/>
          </p:cNvSpPr>
          <p:nvPr/>
        </p:nvSpPr>
        <p:spPr>
          <a:xfrm>
            <a:off x="640080" y="6446520"/>
            <a:ext cx="7315200" cy="274320"/>
          </a:xfrm>
          <a:prstGeom prst="rect">
            <a:avLst/>
          </a:prstGeom>
          <a:noFill/>
        </p:spPr>
        <p:txBody>
          <a:bodyPr wrap="square" lIns="0" tIns="0" rIns="0" bIns="0" anchor="t">
            <a:spAutoFit/>
          </a:bodyPr>
          <a:lstStyle/>
          <a:p>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a:ext uri="{FF2B5EF4-FFF2-40B4-BE49-F238E27FC236}">
                <a16:creationId xmlns:a16="http://schemas.microsoft.com/office/drawing/2014/main" id="{0E3C5BBB-F61E-4285-B8CC-0981532925A3}"/>
              </a:ext>
            </a:extLst>
          </p:cNvPr>
          <p:cNvSpPr>
            <a:spLocks noGrp="1"/>
          </p:cNvSpPr>
          <p:nvPr/>
        </p:nvSpPr>
        <p:spPr>
          <a:xfrm>
            <a:off x="10881360" y="6446520"/>
            <a:ext cx="731520" cy="274320"/>
          </a:xfrm>
          <a:prstGeom prst="rect">
            <a:avLst/>
          </a:prstGeom>
          <a:noFill/>
        </p:spPr>
        <p:txBody>
          <a:bodyPr wrap="square" lIns="0" tIns="0" rIns="0" bIns="0" anchor="t">
            <a:spAutoFit/>
          </a:bodyPr>
          <a:lstStyle/>
          <a:p>
            <a:pPr algn="r">
              <a:buNone/>
              <a:defRPr>
                <a:solidFill>
                  <a:srgbClr val="CBD5E1"/>
                </a:solidFill>
              </a:defRPr>
            </a:pPr>
            <a:r>
              <a:rPr sz="1000" b="0">
                <a:solidFill>
                  <a:srgbClr val="CBD5E1"/>
                </a:solidFill>
                <a:latin typeface="Calibri"/>
                <a:ea typeface="Calibri"/>
                <a:cs typeface="Calibri"/>
              </a:rPr>
              <a:t>4</a:t>
            </a:r>
          </a:p>
        </p:txBody>
      </p:sp>
      <p:sp>
        <p:nvSpPr>
          <p:cNvPr id="10" name="Pentagon 9">
            <a:extLst>
              <a:ext uri="{FF2B5EF4-FFF2-40B4-BE49-F238E27FC236}">
                <a16:creationId xmlns:a16="http://schemas.microsoft.com/office/drawing/2014/main" id="{9886BCD0-7D05-406F-88CB-CADD3CCA7BE5}"/>
              </a:ext>
            </a:extLst>
          </p:cNvPr>
          <p:cNvSpPr>
            <a:spLocks noGrp="1"/>
          </p:cNvSpPr>
          <p:nvPr/>
        </p:nvSpPr>
        <p:spPr>
          <a:xfrm>
            <a:off x="640080" y="2011680"/>
            <a:ext cx="1517904" cy="868680"/>
          </a:xfrm>
          <a:prstGeom prst="homePlate">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wrap="none" lIns="0" rIns="0" anchor="ctr"/>
          <a:lstStyle/>
          <a:p>
            <a:pPr algn="ctr">
              <a:buNone/>
              <a:defRPr>
                <a:solidFill>
                  <a:srgbClr val="0B1220"/>
                </a:solidFill>
              </a:defRPr>
            </a:pPr>
            <a:r>
              <a:rPr sz="1600" b="1">
                <a:solidFill>
                  <a:srgbClr val="0B1220"/>
                </a:solidFill>
                <a:latin typeface="Calibri"/>
                <a:ea typeface="Calibri"/>
                <a:cs typeface="Calibri"/>
              </a:rPr>
              <a:t>Upload</a:t>
            </a:r>
          </a:p>
        </p:txBody>
      </p:sp>
      <p:sp>
        <p:nvSpPr>
          <p:cNvPr id="11" name="Chevron 10">
            <a:extLst>
              <a:ext uri="{FF2B5EF4-FFF2-40B4-BE49-F238E27FC236}">
                <a16:creationId xmlns:a16="http://schemas.microsoft.com/office/drawing/2014/main" id="{94DAC358-2867-4239-BB37-AAB3AE5193F6}"/>
              </a:ext>
            </a:extLst>
          </p:cNvPr>
          <p:cNvSpPr>
            <a:spLocks noGrp="1"/>
          </p:cNvSpPr>
          <p:nvPr/>
        </p:nvSpPr>
        <p:spPr>
          <a:xfrm>
            <a:off x="2249424" y="2011680"/>
            <a:ext cx="1517904" cy="868680"/>
          </a:xfrm>
          <a:prstGeom prst="chevron">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wrap="none" lIns="0" rIns="0" anchor="ctr"/>
          <a:lstStyle/>
          <a:p>
            <a:pPr algn="ctr">
              <a:buNone/>
              <a:defRPr>
                <a:solidFill>
                  <a:srgbClr val="0B1220"/>
                </a:solidFill>
              </a:defRPr>
            </a:pPr>
            <a:r>
              <a:rPr sz="1600" b="1">
                <a:solidFill>
                  <a:srgbClr val="0B1220"/>
                </a:solidFill>
                <a:latin typeface="Calibri"/>
                <a:ea typeface="Calibri"/>
                <a:cs typeface="Calibri"/>
              </a:rPr>
              <a:t>Read</a:t>
            </a:r>
          </a:p>
        </p:txBody>
      </p:sp>
      <p:sp>
        <p:nvSpPr>
          <p:cNvPr id="12" name="Chevron 11">
            <a:extLst>
              <a:ext uri="{FF2B5EF4-FFF2-40B4-BE49-F238E27FC236}">
                <a16:creationId xmlns:a16="http://schemas.microsoft.com/office/drawing/2014/main" id="{D2004653-3FBD-4EBE-B722-05275AF9150D}"/>
              </a:ext>
            </a:extLst>
          </p:cNvPr>
          <p:cNvSpPr>
            <a:spLocks noGrp="1"/>
          </p:cNvSpPr>
          <p:nvPr/>
        </p:nvSpPr>
        <p:spPr>
          <a:xfrm>
            <a:off x="3858768" y="2011680"/>
            <a:ext cx="1517904" cy="868680"/>
          </a:xfrm>
          <a:prstGeom prst="chevron">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wrap="none" lIns="0" rIns="0" anchor="ctr"/>
          <a:lstStyle/>
          <a:p>
            <a:pPr algn="ctr">
              <a:buNone/>
              <a:defRPr>
                <a:solidFill>
                  <a:srgbClr val="0B1220"/>
                </a:solidFill>
              </a:defRPr>
            </a:pPr>
            <a:r>
              <a:rPr sz="1600" b="1">
                <a:solidFill>
                  <a:srgbClr val="0B1220"/>
                </a:solidFill>
                <a:latin typeface="Calibri"/>
                <a:ea typeface="Calibri"/>
                <a:cs typeface="Calibri"/>
              </a:rPr>
              <a:t>Extract</a:t>
            </a:r>
          </a:p>
        </p:txBody>
      </p:sp>
      <p:sp>
        <p:nvSpPr>
          <p:cNvPr id="13" name="Chevron 12">
            <a:extLst>
              <a:ext uri="{FF2B5EF4-FFF2-40B4-BE49-F238E27FC236}">
                <a16:creationId xmlns:a16="http://schemas.microsoft.com/office/drawing/2014/main" id="{1BA0170B-4ECE-45BD-9A69-75E9594AB968}"/>
              </a:ext>
            </a:extLst>
          </p:cNvPr>
          <p:cNvSpPr>
            <a:spLocks noGrp="1"/>
          </p:cNvSpPr>
          <p:nvPr/>
        </p:nvSpPr>
        <p:spPr>
          <a:xfrm>
            <a:off x="5468112" y="2011680"/>
            <a:ext cx="1517904" cy="868680"/>
          </a:xfrm>
          <a:prstGeom prst="chevron">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wrap="none" lIns="0" rIns="0" anchor="ctr"/>
          <a:lstStyle/>
          <a:p>
            <a:pPr algn="ctr">
              <a:buNone/>
              <a:defRPr>
                <a:solidFill>
                  <a:srgbClr val="0B1220"/>
                </a:solidFill>
              </a:defRPr>
            </a:pPr>
            <a:r>
              <a:rPr sz="1600" b="1">
                <a:solidFill>
                  <a:srgbClr val="0B1220"/>
                </a:solidFill>
                <a:latin typeface="Calibri"/>
                <a:ea typeface="Calibri"/>
                <a:cs typeface="Calibri"/>
              </a:rPr>
              <a:t>Verify</a:t>
            </a:r>
          </a:p>
        </p:txBody>
      </p:sp>
      <p:sp>
        <p:nvSpPr>
          <p:cNvPr id="14" name="Chevron 13">
            <a:extLst>
              <a:ext uri="{FF2B5EF4-FFF2-40B4-BE49-F238E27FC236}">
                <a16:creationId xmlns:a16="http://schemas.microsoft.com/office/drawing/2014/main" id="{9834FCBE-6101-4AB0-B68D-D53B83DFC986}"/>
              </a:ext>
            </a:extLst>
          </p:cNvPr>
          <p:cNvSpPr>
            <a:spLocks noGrp="1"/>
          </p:cNvSpPr>
          <p:nvPr/>
        </p:nvSpPr>
        <p:spPr>
          <a:xfrm>
            <a:off x="7077456" y="2011680"/>
            <a:ext cx="1517904" cy="868680"/>
          </a:xfrm>
          <a:prstGeom prst="chevron">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wrap="none" lIns="0" rIns="0" anchor="ctr"/>
          <a:lstStyle/>
          <a:p>
            <a:pPr algn="ctr">
              <a:buNone/>
              <a:defRPr>
                <a:solidFill>
                  <a:srgbClr val="0B1220"/>
                </a:solidFill>
              </a:defRPr>
            </a:pPr>
            <a:r>
              <a:rPr sz="1600" b="1">
                <a:solidFill>
                  <a:srgbClr val="0B1220"/>
                </a:solidFill>
                <a:latin typeface="Calibri"/>
                <a:ea typeface="Calibri"/>
                <a:cs typeface="Calibri"/>
              </a:rPr>
              <a:t>Fraud</a:t>
            </a:r>
          </a:p>
        </p:txBody>
      </p:sp>
      <p:sp>
        <p:nvSpPr>
          <p:cNvPr id="15" name="Chevron 14">
            <a:extLst>
              <a:ext uri="{FF2B5EF4-FFF2-40B4-BE49-F238E27FC236}">
                <a16:creationId xmlns:a16="http://schemas.microsoft.com/office/drawing/2014/main" id="{AB4C2B3B-830E-4FB8-A503-5FF8B55E8D8C}"/>
              </a:ext>
            </a:extLst>
          </p:cNvPr>
          <p:cNvSpPr>
            <a:spLocks noGrp="1"/>
          </p:cNvSpPr>
          <p:nvPr/>
        </p:nvSpPr>
        <p:spPr>
          <a:xfrm>
            <a:off x="8686800" y="2011680"/>
            <a:ext cx="1517904" cy="868680"/>
          </a:xfrm>
          <a:prstGeom prst="chevron">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wrap="none" lIns="0" rIns="0" anchor="ctr"/>
          <a:lstStyle/>
          <a:p>
            <a:pPr algn="ctr">
              <a:buNone/>
              <a:defRPr>
                <a:solidFill>
                  <a:srgbClr val="0B1220"/>
                </a:solidFill>
              </a:defRPr>
            </a:pPr>
            <a:r>
              <a:rPr sz="1600" b="1">
                <a:solidFill>
                  <a:srgbClr val="0B1220"/>
                </a:solidFill>
                <a:latin typeface="Calibri"/>
                <a:ea typeface="Calibri"/>
                <a:cs typeface="Calibri"/>
              </a:rPr>
              <a:t>Decide</a:t>
            </a:r>
          </a:p>
        </p:txBody>
      </p:sp>
      <p:sp>
        <p:nvSpPr>
          <p:cNvPr id="16" name="Chevron 15">
            <a:extLst>
              <a:ext uri="{FF2B5EF4-FFF2-40B4-BE49-F238E27FC236}">
                <a16:creationId xmlns:a16="http://schemas.microsoft.com/office/drawing/2014/main" id="{A59A28F8-5A83-4315-983B-4FB2AF293DEA}"/>
              </a:ext>
            </a:extLst>
          </p:cNvPr>
          <p:cNvSpPr>
            <a:spLocks noGrp="1"/>
          </p:cNvSpPr>
          <p:nvPr/>
        </p:nvSpPr>
        <p:spPr>
          <a:xfrm>
            <a:off x="10296144" y="2011680"/>
            <a:ext cx="1517904" cy="868680"/>
          </a:xfrm>
          <a:prstGeom prst="chevron">
            <a:avLst/>
          </a:prstGeom>
          <a:solidFill>
            <a:srgbClr val="FBBF24"/>
          </a:solidFill>
          <a:ln>
            <a:noFill/>
          </a:ln>
        </p:spPr>
        <p:style>
          <a:lnRef idx="1">
            <a:schemeClr val="accent1"/>
          </a:lnRef>
          <a:fillRef idx="3">
            <a:schemeClr val="accent1"/>
          </a:fillRef>
          <a:effectRef idx="0">
            <a:scrgbClr r="0" g="0" b="0"/>
          </a:effectRef>
          <a:fontRef idx="minor">
            <a:schemeClr val="lt1"/>
          </a:fontRef>
        </p:style>
        <p:txBody>
          <a:bodyPr wrap="none" lIns="0" rIns="0" anchor="ctr"/>
          <a:lstStyle/>
          <a:p>
            <a:pPr algn="ctr">
              <a:buNone/>
              <a:defRPr>
                <a:solidFill>
                  <a:srgbClr val="0B1220"/>
                </a:solidFill>
              </a:defRPr>
            </a:pPr>
            <a:r>
              <a:rPr sz="1600" b="1">
                <a:solidFill>
                  <a:srgbClr val="0B1220"/>
                </a:solidFill>
                <a:latin typeface="Calibri"/>
                <a:ea typeface="Calibri"/>
                <a:cs typeface="Calibri"/>
              </a:rPr>
              <a:t>Review</a:t>
            </a:r>
          </a:p>
        </p:txBody>
      </p:sp>
      <p:sp>
        <p:nvSpPr>
          <p:cNvPr id="17" name="Rounded Rectangle 16">
            <a:extLst>
              <a:ext uri="{FF2B5EF4-FFF2-40B4-BE49-F238E27FC236}">
                <a16:creationId xmlns:a16="http://schemas.microsoft.com/office/drawing/2014/main" id="{8901A4E8-4641-450B-A875-94E6DD899EE9}"/>
              </a:ext>
            </a:extLst>
          </p:cNvPr>
          <p:cNvSpPr>
            <a:spLocks noGrp="1"/>
          </p:cNvSpPr>
          <p:nvPr/>
        </p:nvSpPr>
        <p:spPr>
          <a:xfrm>
            <a:off x="640080" y="3657600"/>
            <a:ext cx="3474720" cy="1828800"/>
          </a:xfrm>
          <a:prstGeom prst="roundRect">
            <a:avLst>
              <a:gd name="adj" fmla="val 8000"/>
            </a:avLst>
          </a:prstGeom>
          <a:solidFill>
            <a:srgbClr val="193344"/>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E125C49D-57AD-462D-BDD4-7EB48F7D1CBA}"/>
              </a:ext>
            </a:extLst>
          </p:cNvPr>
          <p:cNvSpPr>
            <a:spLocks noGrp="1"/>
          </p:cNvSpPr>
          <p:nvPr/>
        </p:nvSpPr>
        <p:spPr>
          <a:xfrm>
            <a:off x="914400" y="3931920"/>
            <a:ext cx="2926080" cy="60960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Rules decide</a:t>
            </a:r>
          </a:p>
        </p:txBody>
      </p:sp>
      <p:sp>
        <p:nvSpPr>
          <p:cNvPr id="19" name="TextBox 18">
            <a:extLst>
              <a:ext uri="{FF2B5EF4-FFF2-40B4-BE49-F238E27FC236}">
                <a16:creationId xmlns:a16="http://schemas.microsoft.com/office/drawing/2014/main" id="{A5C9CAFB-A8AC-4086-A112-EBB4B0C05677}"/>
              </a:ext>
            </a:extLst>
          </p:cNvPr>
          <p:cNvSpPr>
            <a:spLocks noGrp="1"/>
          </p:cNvSpPr>
          <p:nvPr/>
        </p:nvSpPr>
        <p:spPr>
          <a:xfrm>
            <a:off x="914400" y="4480560"/>
            <a:ext cx="2926080" cy="914400"/>
          </a:xfrm>
          <a:prstGeom prst="rect">
            <a:avLst/>
          </a:prstGeom>
          <a:noFill/>
        </p:spPr>
        <p:txBody>
          <a:bodyPr wrap="square" lIns="0" tIns="0" rIns="0" bIns="0" anchor="t">
            <a:spAutoFit/>
          </a:bodyPr>
          <a:lstStyle/>
          <a:p>
            <a:pPr algn="l">
              <a:buNone/>
              <a:defRPr>
                <a:solidFill>
                  <a:srgbClr val="CBD5E1"/>
                </a:solidFill>
              </a:defRPr>
            </a:pPr>
            <a:r>
              <a:rPr sz="1500" b="0">
                <a:solidFill>
                  <a:srgbClr val="CBD5E1"/>
                </a:solidFill>
                <a:latin typeface="Calibri"/>
                <a:ea typeface="Calibri"/>
                <a:cs typeface="Calibri"/>
              </a:rPr>
              <a:t>A rule file decides, not the model</a:t>
            </a:r>
          </a:p>
        </p:txBody>
      </p:sp>
      <p:sp>
        <p:nvSpPr>
          <p:cNvPr id="20" name="Rounded Rectangle 19">
            <a:extLst>
              <a:ext uri="{FF2B5EF4-FFF2-40B4-BE49-F238E27FC236}">
                <a16:creationId xmlns:a16="http://schemas.microsoft.com/office/drawing/2014/main" id="{A57D925B-93B3-4972-9C81-9B0B54592987}"/>
              </a:ext>
            </a:extLst>
          </p:cNvPr>
          <p:cNvSpPr>
            <a:spLocks noGrp="1"/>
          </p:cNvSpPr>
          <p:nvPr/>
        </p:nvSpPr>
        <p:spPr>
          <a:xfrm>
            <a:off x="4343400" y="3657600"/>
            <a:ext cx="3474720" cy="1828800"/>
          </a:xfrm>
          <a:prstGeom prst="roundRect">
            <a:avLst>
              <a:gd name="adj" fmla="val 8000"/>
            </a:avLst>
          </a:prstGeom>
          <a:solidFill>
            <a:srgbClr val="193344"/>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61CD61E9-9C39-48F5-A15A-26EA4D3823CA}"/>
              </a:ext>
            </a:extLst>
          </p:cNvPr>
          <p:cNvSpPr>
            <a:spLocks noGrp="1"/>
          </p:cNvSpPr>
          <p:nvPr/>
        </p:nvSpPr>
        <p:spPr>
          <a:xfrm>
            <a:off x="4617720" y="3931920"/>
            <a:ext cx="2926080" cy="60960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Review missing checks</a:t>
            </a:r>
          </a:p>
        </p:txBody>
      </p:sp>
      <p:sp>
        <p:nvSpPr>
          <p:cNvPr id="22" name="TextBox 21">
            <a:extLst>
              <a:ext uri="{FF2B5EF4-FFF2-40B4-BE49-F238E27FC236}">
                <a16:creationId xmlns:a16="http://schemas.microsoft.com/office/drawing/2014/main" id="{4ED322C2-776D-450B-A759-B9B6BAC6607E}"/>
              </a:ext>
            </a:extLst>
          </p:cNvPr>
          <p:cNvSpPr>
            <a:spLocks noGrp="1"/>
          </p:cNvSpPr>
          <p:nvPr/>
        </p:nvSpPr>
        <p:spPr>
          <a:xfrm>
            <a:off x="4617720" y="4480560"/>
            <a:ext cx="2926080" cy="914400"/>
          </a:xfrm>
          <a:prstGeom prst="rect">
            <a:avLst/>
          </a:prstGeom>
          <a:noFill/>
        </p:spPr>
        <p:txBody>
          <a:bodyPr wrap="square" lIns="0" tIns="0" rIns="0" bIns="0" anchor="t">
            <a:spAutoFit/>
          </a:bodyPr>
          <a:lstStyle/>
          <a:p>
            <a:pPr algn="l">
              <a:buNone/>
              <a:defRPr>
                <a:solidFill>
                  <a:srgbClr val="CBD5E1"/>
                </a:solidFill>
              </a:defRPr>
            </a:pPr>
            <a:r>
              <a:rPr sz="1500" b="0">
                <a:solidFill>
                  <a:srgbClr val="CBD5E1"/>
                </a:solidFill>
                <a:latin typeface="Calibri"/>
                <a:ea typeface="Calibri"/>
                <a:cs typeface="Calibri"/>
              </a:rPr>
              <a:t>Claims match an active member record</a:t>
            </a:r>
          </a:p>
        </p:txBody>
      </p:sp>
      <p:sp>
        <p:nvSpPr>
          <p:cNvPr id="23" name="Rounded Rectangle 22">
            <a:extLst>
              <a:ext uri="{FF2B5EF4-FFF2-40B4-BE49-F238E27FC236}">
                <a16:creationId xmlns:a16="http://schemas.microsoft.com/office/drawing/2014/main" id="{6A1E4215-9C2A-4233-B0A6-2CC396D2DACE}"/>
              </a:ext>
            </a:extLst>
          </p:cNvPr>
          <p:cNvSpPr>
            <a:spLocks noGrp="1"/>
          </p:cNvSpPr>
          <p:nvPr/>
        </p:nvSpPr>
        <p:spPr>
          <a:xfrm>
            <a:off x="8046719" y="3657600"/>
            <a:ext cx="3474720" cy="1828800"/>
          </a:xfrm>
          <a:prstGeom prst="roundRect">
            <a:avLst>
              <a:gd name="adj" fmla="val 8000"/>
            </a:avLst>
          </a:prstGeom>
          <a:solidFill>
            <a:srgbClr val="193344"/>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527F3E71-C8D2-4ACA-A4AB-08FA429F1018}"/>
              </a:ext>
            </a:extLst>
          </p:cNvPr>
          <p:cNvSpPr>
            <a:spLocks noGrp="1"/>
          </p:cNvSpPr>
          <p:nvPr/>
        </p:nvSpPr>
        <p:spPr>
          <a:xfrm>
            <a:off x="8321039" y="3931920"/>
            <a:ext cx="2926080" cy="45720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Live demo · 90 sec</a:t>
            </a:r>
          </a:p>
        </p:txBody>
      </p:sp>
      <p:sp>
        <p:nvSpPr>
          <p:cNvPr id="25" name="TextBox 24">
            <a:extLst>
              <a:ext uri="{FF2B5EF4-FFF2-40B4-BE49-F238E27FC236}">
                <a16:creationId xmlns:a16="http://schemas.microsoft.com/office/drawing/2014/main" id="{50477E19-FE00-4440-8F10-3F19E2BF0D5F}"/>
              </a:ext>
            </a:extLst>
          </p:cNvPr>
          <p:cNvSpPr>
            <a:spLocks noGrp="1"/>
          </p:cNvSpPr>
          <p:nvPr/>
        </p:nvSpPr>
        <p:spPr>
          <a:xfrm>
            <a:off x="8321039" y="4480560"/>
            <a:ext cx="2926080" cy="914400"/>
          </a:xfrm>
          <a:prstGeom prst="rect">
            <a:avLst/>
          </a:prstGeom>
          <a:noFill/>
        </p:spPr>
        <p:txBody>
          <a:bodyPr wrap="square" lIns="0" tIns="0" rIns="0" bIns="0" anchor="t">
            <a:spAutoFit/>
          </a:bodyPr>
          <a:lstStyle/>
          <a:p>
            <a:pPr algn="l">
              <a:buNone/>
              <a:defRPr>
                <a:solidFill>
                  <a:srgbClr val="CBD5E1"/>
                </a:solidFill>
              </a:defRPr>
            </a:pPr>
            <a:r>
              <a:rPr sz="1500" b="0">
                <a:solidFill>
                  <a:srgbClr val="CBD5E1"/>
                </a:solidFill>
                <a:latin typeface="Calibri"/>
                <a:ea typeface="Calibri"/>
                <a:cs typeface="Calibri"/>
              </a:rPr>
              <a:t>Upload → evidence → review → audit PDF</a:t>
            </a:r>
          </a:p>
        </p:txBody>
      </p:sp>
    </p:spTree>
    <p:extLst>
      <p:ext uri="{BB962C8B-B14F-4D97-AF65-F5344CB8AC3E}">
        <p14:creationId xmlns:p14="http://schemas.microsoft.com/office/powerpoint/2010/main" val="11099810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B328726-CA78-4BFC-9AC3-69360FC12A78}"/>
              </a:ext>
            </a:extLst>
          </p:cNvPr>
          <p:cNvSpPr>
            <a:spLocks noGrp="1"/>
          </p:cNvSpPr>
          <p:nvPr/>
        </p:nvSpPr>
        <p:spPr>
          <a:xfrm>
            <a:off x="0" y="0"/>
            <a:ext cx="12191695" cy="109728"/>
          </a:xfrm>
          <a:prstGeom prst="rect">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174E7C76-C881-471A-A779-2269E375A427}"/>
              </a:ext>
            </a:extLst>
          </p:cNvPr>
          <p:cNvSpPr>
            <a:spLocks noGrp="1"/>
          </p:cNvSpPr>
          <p:nvPr/>
        </p:nvSpPr>
        <p:spPr>
          <a:xfrm>
            <a:off x="640080" y="411480"/>
            <a:ext cx="9144000" cy="320040"/>
          </a:xfrm>
          <a:prstGeom prst="rect">
            <a:avLst/>
          </a:prstGeom>
          <a:noFill/>
        </p:spPr>
        <p:txBody>
          <a:bodyPr wrap="square" lIns="0" tIns="0" rIns="0" bIns="0" anchor="t">
            <a:spAutoFit/>
          </a:bodyPr>
          <a:lstStyle/>
          <a:p>
            <a:pPr algn="l">
              <a:buNone/>
              <a:defRPr>
                <a:solidFill>
                  <a:srgbClr val="2DD4BF"/>
                </a:solidFill>
              </a:defRPr>
            </a:pPr>
            <a:r>
              <a:rPr sz="1200" b="1">
                <a:solidFill>
                  <a:srgbClr val="2DD4BF"/>
                </a:solidFill>
                <a:latin typeface="Calibri"/>
                <a:ea typeface="Calibri"/>
                <a:cs typeface="Calibri"/>
              </a:rPr>
              <a:t>RESULTS</a:t>
            </a:r>
          </a:p>
        </p:txBody>
      </p:sp>
      <p:sp>
        <p:nvSpPr>
          <p:cNvPr id="4" name="TextBox 3">
            <a:extLst>
              <a:ext uri="{FF2B5EF4-FFF2-40B4-BE49-F238E27FC236}">
                <a16:creationId xmlns:a16="http://schemas.microsoft.com/office/drawing/2014/main" id="{4B5BDB49-0ADC-4275-96BC-BA84EEC64116}"/>
              </a:ext>
            </a:extLst>
          </p:cNvPr>
          <p:cNvSpPr>
            <a:spLocks noGrp="1"/>
          </p:cNvSpPr>
          <p:nvPr/>
        </p:nvSpPr>
        <p:spPr>
          <a:xfrm>
            <a:off x="640080" y="685800"/>
            <a:ext cx="10972800" cy="731520"/>
          </a:xfrm>
          <a:prstGeom prst="rect">
            <a:avLst/>
          </a:prstGeom>
          <a:noFill/>
        </p:spPr>
        <p:txBody>
          <a:bodyPr wrap="square" lIns="0" tIns="0" rIns="0" bIns="0" anchor="t">
            <a:spAutoFit/>
          </a:bodyPr>
          <a:lstStyle/>
          <a:p>
            <a:pPr algn="l">
              <a:buNone/>
              <a:defRPr>
                <a:solidFill>
                  <a:srgbClr val="F8FAFC"/>
                </a:solidFill>
              </a:defRPr>
            </a:pPr>
            <a:r>
              <a:rPr sz="3200" b="1">
                <a:solidFill>
                  <a:srgbClr val="F8FAFC"/>
                </a:solidFill>
                <a:latin typeface="Calibri"/>
                <a:ea typeface="Calibri"/>
                <a:cs typeface="Calibri"/>
              </a:rPr>
              <a:t>Measured on the official held-out split</a:t>
            </a:r>
          </a:p>
        </p:txBody>
      </p:sp>
      <p:sp>
        <p:nvSpPr>
          <p:cNvPr id="5" name="Pentagon 4">
            <a:extLst>
              <a:ext uri="{FF2B5EF4-FFF2-40B4-BE49-F238E27FC236}">
                <a16:creationId xmlns:a16="http://schemas.microsoft.com/office/drawing/2014/main" id="{9CD9CADA-32D4-4F43-9C4F-B2443ECD2C91}"/>
              </a:ext>
            </a:extLst>
          </p:cNvPr>
          <p:cNvSpPr>
            <a:spLocks noGrp="1"/>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F19A08FF-1B60-4D0F-AF07-3E40E74A0956}"/>
              </a:ext>
            </a:extLst>
          </p:cNvPr>
          <p:cNvSpPr>
            <a:spLocks noGrp="1"/>
          </p:cNvSpPr>
          <p:nvPr/>
        </p:nvSpPr>
        <p:spPr>
          <a:xfrm>
            <a:off x="11358860" y="453177"/>
            <a:ext cx="69128" cy="215066"/>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263A13D5-78E7-4C7D-A7A8-B52D8C770CAB}"/>
              </a:ext>
            </a:extLst>
          </p:cNvPr>
          <p:cNvSpPr>
            <a:spLocks noGrp="1"/>
          </p:cNvSpPr>
          <p:nvPr/>
        </p:nvSpPr>
        <p:spPr>
          <a:xfrm>
            <a:off x="11285891" y="526146"/>
            <a:ext cx="215066" cy="69128"/>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71E880B7-F759-4C7C-B4D4-3E824262129B}"/>
              </a:ext>
            </a:extLst>
          </p:cNvPr>
          <p:cNvSpPr>
            <a:spLocks noGrp="1"/>
          </p:cNvSpPr>
          <p:nvPr/>
        </p:nvSpPr>
        <p:spPr>
          <a:xfrm>
            <a:off x="640080" y="6446520"/>
            <a:ext cx="7315200" cy="274320"/>
          </a:xfrm>
          <a:prstGeom prst="rect">
            <a:avLst/>
          </a:prstGeom>
          <a:noFill/>
        </p:spPr>
        <p:txBody>
          <a:bodyPr wrap="square" lIns="0" tIns="0" rIns="0" bIns="0" anchor="t">
            <a:spAutoFit/>
          </a:bodyPr>
          <a:lstStyle/>
          <a:p>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a:ext uri="{FF2B5EF4-FFF2-40B4-BE49-F238E27FC236}">
                <a16:creationId xmlns:a16="http://schemas.microsoft.com/office/drawing/2014/main" id="{A50FF5E3-8543-4255-B5DD-FB5736C58AC0}"/>
              </a:ext>
            </a:extLst>
          </p:cNvPr>
          <p:cNvSpPr>
            <a:spLocks noGrp="1"/>
          </p:cNvSpPr>
          <p:nvPr/>
        </p:nvSpPr>
        <p:spPr>
          <a:xfrm>
            <a:off x="10881360" y="6446520"/>
            <a:ext cx="731520" cy="274320"/>
          </a:xfrm>
          <a:prstGeom prst="rect">
            <a:avLst/>
          </a:prstGeom>
          <a:noFill/>
        </p:spPr>
        <p:txBody>
          <a:bodyPr wrap="square" lIns="0" tIns="0" rIns="0" bIns="0" anchor="t">
            <a:spAutoFit/>
          </a:bodyPr>
          <a:lstStyle/>
          <a:p>
            <a:pPr algn="r">
              <a:buNone/>
              <a:defRPr>
                <a:solidFill>
                  <a:srgbClr val="CBD5E1"/>
                </a:solidFill>
              </a:defRPr>
            </a:pPr>
            <a:r>
              <a:rPr sz="1000" b="0">
                <a:solidFill>
                  <a:srgbClr val="CBD5E1"/>
                </a:solidFill>
                <a:latin typeface="Calibri"/>
                <a:ea typeface="Calibri"/>
                <a:cs typeface="Calibri"/>
              </a:rPr>
              <a:t>5</a:t>
            </a:r>
          </a:p>
        </p:txBody>
      </p:sp>
      <p:sp>
        <p:nvSpPr>
          <p:cNvPr id="10" name="Rounded Rectangle 9">
            <a:extLst>
              <a:ext uri="{FF2B5EF4-FFF2-40B4-BE49-F238E27FC236}">
                <a16:creationId xmlns:a16="http://schemas.microsoft.com/office/drawing/2014/main" id="{4AFAB189-B674-4043-94B9-D405BB469074}"/>
              </a:ext>
            </a:extLst>
          </p:cNvPr>
          <p:cNvSpPr>
            <a:spLocks noGrp="1"/>
          </p:cNvSpPr>
          <p:nvPr/>
        </p:nvSpPr>
        <p:spPr>
          <a:xfrm>
            <a:off x="640080" y="1737360"/>
            <a:ext cx="3474720" cy="178308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66ABCC6-4A1B-43F3-87AA-B8F16784E0EC}"/>
              </a:ext>
            </a:extLst>
          </p:cNvPr>
          <p:cNvSpPr>
            <a:spLocks noGrp="1"/>
          </p:cNvSpPr>
          <p:nvPr/>
        </p:nvSpPr>
        <p:spPr>
          <a:xfrm>
            <a:off x="868680" y="1920240"/>
            <a:ext cx="3017520" cy="731520"/>
          </a:xfrm>
          <a:prstGeom prst="rect">
            <a:avLst/>
          </a:prstGeom>
          <a:noFill/>
        </p:spPr>
        <p:txBody>
          <a:bodyPr wrap="square" lIns="0" tIns="0" rIns="0" bIns="0" anchor="t">
            <a:spAutoFit/>
          </a:bodyPr>
          <a:lstStyle/>
          <a:p>
            <a:pPr algn="l">
              <a:buNone/>
              <a:defRPr>
                <a:solidFill>
                  <a:srgbClr val="2DD4BF"/>
                </a:solidFill>
              </a:defRPr>
            </a:pPr>
            <a:r>
              <a:rPr sz="3400" b="1">
                <a:solidFill>
                  <a:srgbClr val="2DD4BF"/>
                </a:solidFill>
                <a:latin typeface="Calibri"/>
                <a:ea typeface="Calibri"/>
                <a:cs typeface="Calibri"/>
              </a:rPr>
              <a:t>100%</a:t>
            </a:r>
          </a:p>
        </p:txBody>
      </p:sp>
      <p:sp>
        <p:nvSpPr>
          <p:cNvPr id="12" name="TextBox 11">
            <a:extLst>
              <a:ext uri="{FF2B5EF4-FFF2-40B4-BE49-F238E27FC236}">
                <a16:creationId xmlns:a16="http://schemas.microsoft.com/office/drawing/2014/main" id="{78B8C0F8-06A0-40FF-8019-7605D5F9AE88}"/>
              </a:ext>
            </a:extLst>
          </p:cNvPr>
          <p:cNvSpPr>
            <a:spLocks noGrp="1"/>
          </p:cNvSpPr>
          <p:nvPr/>
        </p:nvSpPr>
        <p:spPr>
          <a:xfrm>
            <a:off x="868680" y="2606040"/>
            <a:ext cx="3017520" cy="457200"/>
          </a:xfrm>
          <a:prstGeom prst="rect">
            <a:avLst/>
          </a:prstGeom>
          <a:noFill/>
        </p:spPr>
        <p:txBody>
          <a:bodyPr wrap="square" lIns="0" tIns="0" rIns="0" bIns="0" anchor="t">
            <a:spAutoFit/>
          </a:bodyPr>
          <a:lstStyle/>
          <a:p>
            <a:pPr algn="l">
              <a:buNone/>
              <a:defRPr>
                <a:solidFill>
                  <a:srgbClr val="F8FAFC"/>
                </a:solidFill>
              </a:defRPr>
            </a:pPr>
            <a:r>
              <a:rPr sz="1400" b="1">
                <a:solidFill>
                  <a:srgbClr val="F8FAFC"/>
                </a:solidFill>
                <a:latin typeface="Calibri"/>
                <a:ea typeface="Calibri"/>
                <a:cs typeface="Calibri"/>
              </a:rPr>
              <a:t>classification · 78 docs</a:t>
            </a:r>
          </a:p>
        </p:txBody>
      </p:sp>
      <p:sp>
        <p:nvSpPr>
          <p:cNvPr id="13" name="Rounded Rectangle 12">
            <a:extLst>
              <a:ext uri="{FF2B5EF4-FFF2-40B4-BE49-F238E27FC236}">
                <a16:creationId xmlns:a16="http://schemas.microsoft.com/office/drawing/2014/main" id="{4FD2BEA3-3DDA-4989-94E6-F96B2331733D}"/>
              </a:ext>
            </a:extLst>
          </p:cNvPr>
          <p:cNvSpPr>
            <a:spLocks noGrp="1"/>
          </p:cNvSpPr>
          <p:nvPr/>
        </p:nvSpPr>
        <p:spPr>
          <a:xfrm>
            <a:off x="4343400" y="1737360"/>
            <a:ext cx="3474720" cy="178308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EC21E55-38F8-47C7-9DB1-80C2B6FFFEED}"/>
              </a:ext>
            </a:extLst>
          </p:cNvPr>
          <p:cNvSpPr>
            <a:spLocks noGrp="1"/>
          </p:cNvSpPr>
          <p:nvPr/>
        </p:nvSpPr>
        <p:spPr>
          <a:xfrm>
            <a:off x="4572000" y="1920240"/>
            <a:ext cx="3017520" cy="731520"/>
          </a:xfrm>
          <a:prstGeom prst="rect">
            <a:avLst/>
          </a:prstGeom>
          <a:noFill/>
        </p:spPr>
        <p:txBody>
          <a:bodyPr wrap="square" lIns="0" tIns="0" rIns="0" bIns="0" anchor="t">
            <a:spAutoFit/>
          </a:bodyPr>
          <a:lstStyle/>
          <a:p>
            <a:pPr algn="l">
              <a:buNone/>
              <a:defRPr>
                <a:solidFill>
                  <a:srgbClr val="2DD4BF"/>
                </a:solidFill>
              </a:defRPr>
            </a:pPr>
            <a:r>
              <a:rPr sz="3400" b="1">
                <a:solidFill>
                  <a:srgbClr val="2DD4BF"/>
                </a:solidFill>
                <a:latin typeface="Calibri"/>
                <a:ea typeface="Calibri"/>
                <a:cs typeface="Calibri"/>
              </a:rPr>
              <a:t>100%</a:t>
            </a:r>
          </a:p>
        </p:txBody>
      </p:sp>
      <p:sp>
        <p:nvSpPr>
          <p:cNvPr id="15" name="TextBox 14">
            <a:extLst>
              <a:ext uri="{FF2B5EF4-FFF2-40B4-BE49-F238E27FC236}">
                <a16:creationId xmlns:a16="http://schemas.microsoft.com/office/drawing/2014/main" id="{11DD5F2D-5ABA-41B6-8ECA-CAD9CF4C12B7}"/>
              </a:ext>
            </a:extLst>
          </p:cNvPr>
          <p:cNvSpPr>
            <a:spLocks noGrp="1"/>
          </p:cNvSpPr>
          <p:nvPr/>
        </p:nvSpPr>
        <p:spPr>
          <a:xfrm>
            <a:off x="4572000" y="2606040"/>
            <a:ext cx="3017520" cy="457200"/>
          </a:xfrm>
          <a:prstGeom prst="rect">
            <a:avLst/>
          </a:prstGeom>
          <a:noFill/>
        </p:spPr>
        <p:txBody>
          <a:bodyPr wrap="square" lIns="0" tIns="0" rIns="0" bIns="0" anchor="t">
            <a:spAutoFit/>
          </a:bodyPr>
          <a:lstStyle/>
          <a:p>
            <a:pPr algn="l">
              <a:buNone/>
              <a:defRPr>
                <a:solidFill>
                  <a:srgbClr val="F8FAFC"/>
                </a:solidFill>
              </a:defRPr>
            </a:pPr>
            <a:r>
              <a:rPr sz="1400" b="1">
                <a:solidFill>
                  <a:srgbClr val="F8FAFC"/>
                </a:solidFill>
                <a:latin typeface="Calibri"/>
                <a:ea typeface="Calibri"/>
                <a:cs typeface="Calibri"/>
              </a:rPr>
              <a:t>94 required claim fields</a:t>
            </a:r>
          </a:p>
        </p:txBody>
      </p:sp>
      <p:sp>
        <p:nvSpPr>
          <p:cNvPr id="16" name="Rounded Rectangle 15">
            <a:extLst>
              <a:ext uri="{FF2B5EF4-FFF2-40B4-BE49-F238E27FC236}">
                <a16:creationId xmlns:a16="http://schemas.microsoft.com/office/drawing/2014/main" id="{249DC937-31CA-46AC-A612-FFA4F920A0D1}"/>
              </a:ext>
            </a:extLst>
          </p:cNvPr>
          <p:cNvSpPr>
            <a:spLocks noGrp="1"/>
          </p:cNvSpPr>
          <p:nvPr/>
        </p:nvSpPr>
        <p:spPr>
          <a:xfrm>
            <a:off x="8046719" y="1737360"/>
            <a:ext cx="3474720" cy="178308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07C1923-DD71-4603-93CF-D8520FA5B557}"/>
              </a:ext>
            </a:extLst>
          </p:cNvPr>
          <p:cNvSpPr>
            <a:spLocks noGrp="1"/>
          </p:cNvSpPr>
          <p:nvPr/>
        </p:nvSpPr>
        <p:spPr>
          <a:xfrm>
            <a:off x="8275319" y="1920240"/>
            <a:ext cx="3017520" cy="731520"/>
          </a:xfrm>
          <a:prstGeom prst="rect">
            <a:avLst/>
          </a:prstGeom>
          <a:noFill/>
        </p:spPr>
        <p:txBody>
          <a:bodyPr wrap="square" lIns="0" tIns="0" rIns="0" bIns="0" anchor="t">
            <a:spAutoFit/>
          </a:bodyPr>
          <a:lstStyle/>
          <a:p>
            <a:pPr algn="l">
              <a:buNone/>
              <a:defRPr>
                <a:solidFill>
                  <a:srgbClr val="2DD4BF"/>
                </a:solidFill>
              </a:defRPr>
            </a:pPr>
            <a:r>
              <a:rPr sz="3400" b="1">
                <a:solidFill>
                  <a:srgbClr val="2DD4BF"/>
                </a:solidFill>
                <a:latin typeface="Calibri"/>
                <a:ea typeface="Calibri"/>
                <a:cs typeface="Calibri"/>
              </a:rPr>
              <a:t>100%</a:t>
            </a:r>
          </a:p>
        </p:txBody>
      </p:sp>
      <p:sp>
        <p:nvSpPr>
          <p:cNvPr id="18" name="TextBox 17">
            <a:extLst>
              <a:ext uri="{FF2B5EF4-FFF2-40B4-BE49-F238E27FC236}">
                <a16:creationId xmlns:a16="http://schemas.microsoft.com/office/drawing/2014/main" id="{FF63B450-7F8F-40F1-A336-5ED52BDCD45B}"/>
              </a:ext>
            </a:extLst>
          </p:cNvPr>
          <p:cNvSpPr>
            <a:spLocks noGrp="1"/>
          </p:cNvSpPr>
          <p:nvPr/>
        </p:nvSpPr>
        <p:spPr>
          <a:xfrm>
            <a:off x="8275319" y="2606040"/>
            <a:ext cx="3017520" cy="457200"/>
          </a:xfrm>
          <a:prstGeom prst="rect">
            <a:avLst/>
          </a:prstGeom>
          <a:noFill/>
        </p:spPr>
        <p:txBody>
          <a:bodyPr wrap="square" lIns="0" tIns="0" rIns="0" bIns="0" anchor="t">
            <a:spAutoFit/>
          </a:bodyPr>
          <a:lstStyle/>
          <a:p>
            <a:pPr algn="l">
              <a:buNone/>
              <a:defRPr>
                <a:solidFill>
                  <a:srgbClr val="F8FAFC"/>
                </a:solidFill>
              </a:defRPr>
            </a:pPr>
            <a:r>
              <a:rPr sz="1400" b="1">
                <a:solidFill>
                  <a:srgbClr val="F8FAFC"/>
                </a:solidFill>
                <a:latin typeface="Calibri"/>
                <a:ea typeface="Calibri"/>
                <a:cs typeface="Calibri"/>
              </a:rPr>
              <a:t>Recall@3 · 44 expected queries</a:t>
            </a:r>
          </a:p>
        </p:txBody>
      </p:sp>
      <p:sp>
        <p:nvSpPr>
          <p:cNvPr id="19" name="Rounded Rectangle 18">
            <a:extLst>
              <a:ext uri="{FF2B5EF4-FFF2-40B4-BE49-F238E27FC236}">
                <a16:creationId xmlns:a16="http://schemas.microsoft.com/office/drawing/2014/main" id="{AD8DCA27-7422-4CBD-8597-4FEF20245871}"/>
              </a:ext>
            </a:extLst>
          </p:cNvPr>
          <p:cNvSpPr>
            <a:spLocks noGrp="1"/>
          </p:cNvSpPr>
          <p:nvPr/>
        </p:nvSpPr>
        <p:spPr>
          <a:xfrm>
            <a:off x="640080" y="3749039"/>
            <a:ext cx="3474720" cy="178308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8121A8CA-765A-4877-A951-C75CDA7A852F}"/>
              </a:ext>
            </a:extLst>
          </p:cNvPr>
          <p:cNvSpPr>
            <a:spLocks noGrp="1"/>
          </p:cNvSpPr>
          <p:nvPr/>
        </p:nvSpPr>
        <p:spPr>
          <a:xfrm>
            <a:off x="868680" y="3931919"/>
            <a:ext cx="3017520" cy="731520"/>
          </a:xfrm>
          <a:prstGeom prst="rect">
            <a:avLst/>
          </a:prstGeom>
          <a:noFill/>
        </p:spPr>
        <p:txBody>
          <a:bodyPr wrap="square" lIns="0" tIns="0" rIns="0" bIns="0" anchor="t">
            <a:spAutoFit/>
          </a:bodyPr>
          <a:lstStyle/>
          <a:p>
            <a:pPr algn="l">
              <a:buNone/>
              <a:defRPr>
                <a:solidFill>
                  <a:srgbClr val="2DD4BF"/>
                </a:solidFill>
              </a:defRPr>
            </a:pPr>
            <a:r>
              <a:rPr sz="3400" b="1">
                <a:solidFill>
                  <a:srgbClr val="2DD4BF"/>
                </a:solidFill>
                <a:latin typeface="Calibri"/>
                <a:ea typeface="Calibri"/>
                <a:cs typeface="Calibri"/>
              </a:rPr>
              <a:t>96.2%</a:t>
            </a:r>
          </a:p>
        </p:txBody>
      </p:sp>
      <p:sp>
        <p:nvSpPr>
          <p:cNvPr id="21" name="TextBox 20">
            <a:extLst>
              <a:ext uri="{FF2B5EF4-FFF2-40B4-BE49-F238E27FC236}">
                <a16:creationId xmlns:a16="http://schemas.microsoft.com/office/drawing/2014/main" id="{71AE2300-5A09-4964-92CA-B10ED20A814B}"/>
              </a:ext>
            </a:extLst>
          </p:cNvPr>
          <p:cNvSpPr>
            <a:spLocks noGrp="1"/>
          </p:cNvSpPr>
          <p:nvPr/>
        </p:nvSpPr>
        <p:spPr>
          <a:xfrm>
            <a:off x="868680" y="4617719"/>
            <a:ext cx="3017520" cy="457200"/>
          </a:xfrm>
          <a:prstGeom prst="rect">
            <a:avLst/>
          </a:prstGeom>
          <a:noFill/>
        </p:spPr>
        <p:txBody>
          <a:bodyPr wrap="square" lIns="0" tIns="0" rIns="0" bIns="0" anchor="t">
            <a:spAutoFit/>
          </a:bodyPr>
          <a:lstStyle/>
          <a:p>
            <a:pPr algn="l">
              <a:buNone/>
              <a:defRPr>
                <a:solidFill>
                  <a:srgbClr val="F8FAFC"/>
                </a:solidFill>
              </a:defRPr>
            </a:pPr>
            <a:r>
              <a:rPr sz="1400" b="1">
                <a:solidFill>
                  <a:srgbClr val="F8FAFC"/>
                </a:solidFill>
                <a:latin typeface="Calibri"/>
                <a:ea typeface="Calibri"/>
                <a:cs typeface="Calibri"/>
              </a:rPr>
              <a:t>all 78 document labels</a:t>
            </a:r>
          </a:p>
        </p:txBody>
      </p:sp>
      <p:sp>
        <p:nvSpPr>
          <p:cNvPr id="22" name="Rounded Rectangle 21">
            <a:extLst>
              <a:ext uri="{FF2B5EF4-FFF2-40B4-BE49-F238E27FC236}">
                <a16:creationId xmlns:a16="http://schemas.microsoft.com/office/drawing/2014/main" id="{6C843734-825F-42A4-BC68-920C574FFDEA}"/>
              </a:ext>
            </a:extLst>
          </p:cNvPr>
          <p:cNvSpPr>
            <a:spLocks noGrp="1"/>
          </p:cNvSpPr>
          <p:nvPr/>
        </p:nvSpPr>
        <p:spPr>
          <a:xfrm>
            <a:off x="4343400" y="3749039"/>
            <a:ext cx="3474720" cy="178308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C7F9F580-E1B1-4589-87E9-3E38599DA760}"/>
              </a:ext>
            </a:extLst>
          </p:cNvPr>
          <p:cNvSpPr>
            <a:spLocks noGrp="1"/>
          </p:cNvSpPr>
          <p:nvPr/>
        </p:nvSpPr>
        <p:spPr>
          <a:xfrm>
            <a:off x="4572000" y="3931919"/>
            <a:ext cx="3017520" cy="731520"/>
          </a:xfrm>
          <a:prstGeom prst="rect">
            <a:avLst/>
          </a:prstGeom>
          <a:noFill/>
        </p:spPr>
        <p:txBody>
          <a:bodyPr wrap="square" lIns="0" tIns="0" rIns="0" bIns="0" anchor="t">
            <a:spAutoFit/>
          </a:bodyPr>
          <a:lstStyle/>
          <a:p>
            <a:pPr algn="l">
              <a:buNone/>
              <a:defRPr>
                <a:solidFill>
                  <a:srgbClr val="2DD4BF"/>
                </a:solidFill>
              </a:defRPr>
            </a:pPr>
            <a:r>
              <a:rPr sz="3400" b="1">
                <a:solidFill>
                  <a:srgbClr val="2DD4BF"/>
                </a:solidFill>
                <a:latin typeface="Calibri"/>
                <a:ea typeface="Calibri"/>
                <a:cs typeface="Calibri"/>
              </a:rPr>
              <a:t>88.2%</a:t>
            </a:r>
          </a:p>
        </p:txBody>
      </p:sp>
      <p:sp>
        <p:nvSpPr>
          <p:cNvPr id="24" name="TextBox 23">
            <a:extLst>
              <a:ext uri="{FF2B5EF4-FFF2-40B4-BE49-F238E27FC236}">
                <a16:creationId xmlns:a16="http://schemas.microsoft.com/office/drawing/2014/main" id="{9FB7817B-35A8-4C85-AAF9-0A8F88FA16E4}"/>
              </a:ext>
            </a:extLst>
          </p:cNvPr>
          <p:cNvSpPr>
            <a:spLocks noGrp="1"/>
          </p:cNvSpPr>
          <p:nvPr/>
        </p:nvSpPr>
        <p:spPr>
          <a:xfrm>
            <a:off x="4572000" y="4617719"/>
            <a:ext cx="3017520" cy="457200"/>
          </a:xfrm>
          <a:prstGeom prst="rect">
            <a:avLst/>
          </a:prstGeom>
          <a:noFill/>
        </p:spPr>
        <p:txBody>
          <a:bodyPr wrap="square" lIns="0" tIns="0" rIns="0" bIns="0" anchor="t">
            <a:spAutoFit/>
          </a:bodyPr>
          <a:lstStyle/>
          <a:p>
            <a:pPr algn="l">
              <a:buNone/>
              <a:defRPr>
                <a:solidFill>
                  <a:srgbClr val="F8FAFC"/>
                </a:solidFill>
              </a:defRPr>
            </a:pPr>
            <a:r>
              <a:rPr sz="1400" b="1">
                <a:solidFill>
                  <a:srgbClr val="F8FAFC"/>
                </a:solidFill>
                <a:latin typeface="Calibri"/>
                <a:ea typeface="Calibri"/>
                <a:cs typeface="Calibri"/>
              </a:rPr>
              <a:t>17 case decisions</a:t>
            </a:r>
          </a:p>
        </p:txBody>
      </p:sp>
      <p:sp>
        <p:nvSpPr>
          <p:cNvPr id="25" name="Rounded Rectangle 24">
            <a:extLst>
              <a:ext uri="{FF2B5EF4-FFF2-40B4-BE49-F238E27FC236}">
                <a16:creationId xmlns:a16="http://schemas.microsoft.com/office/drawing/2014/main" id="{0DBFA790-511C-443F-9198-5AA23152A513}"/>
              </a:ext>
            </a:extLst>
          </p:cNvPr>
          <p:cNvSpPr>
            <a:spLocks noGrp="1"/>
          </p:cNvSpPr>
          <p:nvPr/>
        </p:nvSpPr>
        <p:spPr>
          <a:xfrm>
            <a:off x="8046719" y="3749039"/>
            <a:ext cx="3474720" cy="178308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F41D8351-E219-44F3-8A30-B9DE182A953E}"/>
              </a:ext>
            </a:extLst>
          </p:cNvPr>
          <p:cNvSpPr>
            <a:spLocks noGrp="1"/>
          </p:cNvSpPr>
          <p:nvPr/>
        </p:nvSpPr>
        <p:spPr>
          <a:xfrm>
            <a:off x="8275319" y="3931919"/>
            <a:ext cx="3017520" cy="731520"/>
          </a:xfrm>
          <a:prstGeom prst="rect">
            <a:avLst/>
          </a:prstGeom>
          <a:noFill/>
        </p:spPr>
        <p:txBody>
          <a:bodyPr wrap="square" lIns="0" tIns="0" rIns="0" bIns="0" anchor="t">
            <a:spAutoFit/>
          </a:bodyPr>
          <a:lstStyle/>
          <a:p>
            <a:pPr algn="l">
              <a:buNone/>
              <a:defRPr>
                <a:solidFill>
                  <a:srgbClr val="5EE3A0"/>
                </a:solidFill>
              </a:defRPr>
            </a:pPr>
            <a:r>
              <a:rPr sz="3400" b="1">
                <a:solidFill>
                  <a:srgbClr val="5EE3A0"/>
                </a:solidFill>
                <a:latin typeface="Calibri"/>
                <a:ea typeface="Calibri"/>
                <a:cs typeface="Calibri"/>
              </a:rPr>
              <a:t>100%</a:t>
            </a:r>
          </a:p>
        </p:txBody>
      </p:sp>
      <p:sp>
        <p:nvSpPr>
          <p:cNvPr id="27" name="TextBox 26">
            <a:extLst>
              <a:ext uri="{FF2B5EF4-FFF2-40B4-BE49-F238E27FC236}">
                <a16:creationId xmlns:a16="http://schemas.microsoft.com/office/drawing/2014/main" id="{349F74D4-DF1A-42EB-8D7A-2C3869400CB7}"/>
              </a:ext>
            </a:extLst>
          </p:cNvPr>
          <p:cNvSpPr>
            <a:spLocks noGrp="1"/>
          </p:cNvSpPr>
          <p:nvPr/>
        </p:nvSpPr>
        <p:spPr>
          <a:xfrm>
            <a:off x="8275319" y="4617719"/>
            <a:ext cx="3017520" cy="457200"/>
          </a:xfrm>
          <a:prstGeom prst="rect">
            <a:avLst/>
          </a:prstGeom>
          <a:noFill/>
        </p:spPr>
        <p:txBody>
          <a:bodyPr wrap="square" lIns="0" tIns="0" rIns="0" bIns="0" anchor="t">
            <a:spAutoFit/>
          </a:bodyPr>
          <a:lstStyle/>
          <a:p>
            <a:pPr algn="l">
              <a:buNone/>
              <a:defRPr>
                <a:solidFill>
                  <a:srgbClr val="F8FAFC"/>
                </a:solidFill>
              </a:defRPr>
            </a:pPr>
            <a:r>
              <a:rPr sz="1400" b="1">
                <a:solidFill>
                  <a:srgbClr val="F8FAFC"/>
                </a:solidFill>
                <a:latin typeface="Calibri"/>
                <a:ea typeface="Calibri"/>
                <a:cs typeface="Calibri"/>
              </a:rPr>
              <a:t>75 visible-label documents</a:t>
            </a:r>
          </a:p>
        </p:txBody>
      </p:sp>
      <p:sp>
        <p:nvSpPr>
          <p:cNvPr id="28" name="TextBox 27">
            <a:extLst>
              <a:ext uri="{FF2B5EF4-FFF2-40B4-BE49-F238E27FC236}">
                <a16:creationId xmlns:a16="http://schemas.microsoft.com/office/drawing/2014/main" id="{7F631355-EDDD-45C7-B76C-999CCE22A3DE}"/>
              </a:ext>
            </a:extLst>
          </p:cNvPr>
          <p:cNvSpPr>
            <a:spLocks noGrp="1"/>
          </p:cNvSpPr>
          <p:nvPr/>
        </p:nvSpPr>
        <p:spPr>
          <a:xfrm>
            <a:off x="640080" y="5897880"/>
            <a:ext cx="10881360" cy="365760"/>
          </a:xfrm>
          <a:prstGeom prst="rect">
            <a:avLst/>
          </a:prstGeom>
          <a:noFill/>
        </p:spPr>
        <p:txBody>
          <a:bodyPr wrap="square" lIns="0" tIns="0" rIns="0" bIns="0" anchor="t">
            <a:spAutoFit/>
          </a:bodyPr>
          <a:lstStyle/>
          <a:p>
            <a:pPr algn="l">
              <a:buNone/>
              <a:defRPr>
                <a:solidFill>
                  <a:srgbClr val="CBD5E1"/>
                </a:solidFill>
              </a:defRPr>
            </a:pPr>
            <a:r>
              <a:rPr sz="1300" b="0">
                <a:solidFill>
                  <a:srgbClr val="CBD5E1"/>
                </a:solidFill>
                <a:latin typeface="Calibri"/>
                <a:ea typeface="Calibri"/>
                <a:cs typeface="Calibri"/>
              </a:rPr>
              <a:t>Synthetic data · OCR-first replay · 114/133 model calls cached · not a production accuracy estimate</a:t>
            </a:r>
          </a:p>
        </p:txBody>
      </p:sp>
    </p:spTree>
    <p:extLst>
      <p:ext uri="{BB962C8B-B14F-4D97-AF65-F5344CB8AC3E}">
        <p14:creationId xmlns:p14="http://schemas.microsoft.com/office/powerpoint/2010/main" val="16279249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2A01D76-E71A-49F7-9769-EC63FFF2630C}"/>
              </a:ext>
            </a:extLst>
          </p:cNvPr>
          <p:cNvSpPr>
            <a:spLocks noGrp="1"/>
          </p:cNvSpPr>
          <p:nvPr/>
        </p:nvSpPr>
        <p:spPr>
          <a:xfrm>
            <a:off x="0" y="0"/>
            <a:ext cx="12191695" cy="109728"/>
          </a:xfrm>
          <a:prstGeom prst="rect">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34067AA4-09F6-46CD-9B1D-419E314BA980}"/>
              </a:ext>
            </a:extLst>
          </p:cNvPr>
          <p:cNvSpPr>
            <a:spLocks noGrp="1"/>
          </p:cNvSpPr>
          <p:nvPr/>
        </p:nvSpPr>
        <p:spPr>
          <a:xfrm>
            <a:off x="640080" y="411480"/>
            <a:ext cx="9144000" cy="320040"/>
          </a:xfrm>
          <a:prstGeom prst="rect">
            <a:avLst/>
          </a:prstGeom>
          <a:noFill/>
        </p:spPr>
        <p:txBody>
          <a:bodyPr wrap="square" lIns="0" tIns="0" rIns="0" bIns="0" anchor="t">
            <a:spAutoFit/>
          </a:bodyPr>
          <a:lstStyle/>
          <a:p>
            <a:pPr algn="l">
              <a:buNone/>
              <a:defRPr>
                <a:solidFill>
                  <a:srgbClr val="2DD4BF"/>
                </a:solidFill>
              </a:defRPr>
            </a:pPr>
            <a:r>
              <a:rPr sz="1200" b="1">
                <a:solidFill>
                  <a:srgbClr val="2DD4BF"/>
                </a:solidFill>
                <a:latin typeface="Calibri"/>
                <a:ea typeface="Calibri"/>
                <a:cs typeface="Calibri"/>
              </a:rPr>
              <a:t>SAFETY AND REVIEW</a:t>
            </a:r>
          </a:p>
        </p:txBody>
      </p:sp>
      <p:sp>
        <p:nvSpPr>
          <p:cNvPr id="4" name="TextBox 3">
            <a:extLst>
              <a:ext uri="{FF2B5EF4-FFF2-40B4-BE49-F238E27FC236}">
                <a16:creationId xmlns:a16="http://schemas.microsoft.com/office/drawing/2014/main" id="{F8529278-4005-499C-BAAE-0D866C4A65C7}"/>
              </a:ext>
            </a:extLst>
          </p:cNvPr>
          <p:cNvSpPr>
            <a:spLocks noGrp="1"/>
          </p:cNvSpPr>
          <p:nvPr/>
        </p:nvSpPr>
        <p:spPr>
          <a:xfrm>
            <a:off x="640080" y="685800"/>
            <a:ext cx="10972800" cy="731520"/>
          </a:xfrm>
          <a:prstGeom prst="rect">
            <a:avLst/>
          </a:prstGeom>
          <a:noFill/>
        </p:spPr>
        <p:txBody>
          <a:bodyPr wrap="square" lIns="0" tIns="0" rIns="0" bIns="0" anchor="t">
            <a:spAutoFit/>
          </a:bodyPr>
          <a:lstStyle/>
          <a:p>
            <a:pPr algn="l">
              <a:buNone/>
              <a:defRPr>
                <a:solidFill>
                  <a:srgbClr val="F8FAFC"/>
                </a:solidFill>
              </a:defRPr>
            </a:pPr>
            <a:r>
              <a:rPr sz="3200" b="1">
                <a:solidFill>
                  <a:srgbClr val="F8FAFC"/>
                </a:solidFill>
                <a:latin typeface="Calibri"/>
                <a:ea typeface="Calibri"/>
                <a:cs typeface="Calibri"/>
              </a:rPr>
              <a:t>Controls are implemented; limits are visible</a:t>
            </a:r>
          </a:p>
        </p:txBody>
      </p:sp>
      <p:sp>
        <p:nvSpPr>
          <p:cNvPr id="5" name="Pentagon 4">
            <a:extLst>
              <a:ext uri="{FF2B5EF4-FFF2-40B4-BE49-F238E27FC236}">
                <a16:creationId xmlns:a16="http://schemas.microsoft.com/office/drawing/2014/main" id="{E15FA232-13CD-4280-BF50-AAC11428FA85}"/>
              </a:ext>
            </a:extLst>
          </p:cNvPr>
          <p:cNvSpPr>
            <a:spLocks noGrp="1"/>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0FB2F97F-CE1F-4000-A9EE-FF3776FA172B}"/>
              </a:ext>
            </a:extLst>
          </p:cNvPr>
          <p:cNvSpPr>
            <a:spLocks noGrp="1"/>
          </p:cNvSpPr>
          <p:nvPr/>
        </p:nvSpPr>
        <p:spPr>
          <a:xfrm>
            <a:off x="11358860" y="453177"/>
            <a:ext cx="69128" cy="215066"/>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D75501E6-B659-45A4-9F6E-C30ADD9CEF4A}"/>
              </a:ext>
            </a:extLst>
          </p:cNvPr>
          <p:cNvSpPr>
            <a:spLocks noGrp="1"/>
          </p:cNvSpPr>
          <p:nvPr/>
        </p:nvSpPr>
        <p:spPr>
          <a:xfrm>
            <a:off x="11285891" y="526146"/>
            <a:ext cx="215066" cy="69128"/>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62CDE27D-C2B5-4508-9AE3-7B53776DDA46}"/>
              </a:ext>
            </a:extLst>
          </p:cNvPr>
          <p:cNvSpPr>
            <a:spLocks noGrp="1"/>
          </p:cNvSpPr>
          <p:nvPr/>
        </p:nvSpPr>
        <p:spPr>
          <a:xfrm>
            <a:off x="640080" y="6446520"/>
            <a:ext cx="7315200" cy="274320"/>
          </a:xfrm>
          <a:prstGeom prst="rect">
            <a:avLst/>
          </a:prstGeom>
          <a:noFill/>
        </p:spPr>
        <p:txBody>
          <a:bodyPr wrap="square" lIns="0" tIns="0" rIns="0" bIns="0" anchor="t">
            <a:spAutoFit/>
          </a:bodyPr>
          <a:lstStyle/>
          <a:p>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a:ext uri="{FF2B5EF4-FFF2-40B4-BE49-F238E27FC236}">
                <a16:creationId xmlns:a16="http://schemas.microsoft.com/office/drawing/2014/main" id="{41E09E46-331E-4B6E-BDE5-2FF13CFC318D}"/>
              </a:ext>
            </a:extLst>
          </p:cNvPr>
          <p:cNvSpPr>
            <a:spLocks noGrp="1"/>
          </p:cNvSpPr>
          <p:nvPr/>
        </p:nvSpPr>
        <p:spPr>
          <a:xfrm>
            <a:off x="10881360" y="6446520"/>
            <a:ext cx="731520" cy="274320"/>
          </a:xfrm>
          <a:prstGeom prst="rect">
            <a:avLst/>
          </a:prstGeom>
          <a:noFill/>
        </p:spPr>
        <p:txBody>
          <a:bodyPr wrap="square" lIns="0" tIns="0" rIns="0" bIns="0" anchor="t">
            <a:spAutoFit/>
          </a:bodyPr>
          <a:lstStyle/>
          <a:p>
            <a:pPr algn="r">
              <a:buNone/>
              <a:defRPr>
                <a:solidFill>
                  <a:srgbClr val="CBD5E1"/>
                </a:solidFill>
              </a:defRPr>
            </a:pPr>
            <a:r>
              <a:rPr sz="1000" b="0">
                <a:solidFill>
                  <a:srgbClr val="CBD5E1"/>
                </a:solidFill>
                <a:latin typeface="Calibri"/>
                <a:ea typeface="Calibri"/>
                <a:cs typeface="Calibri"/>
              </a:rPr>
              <a:t>6</a:t>
            </a:r>
          </a:p>
        </p:txBody>
      </p:sp>
      <p:sp>
        <p:nvSpPr>
          <p:cNvPr id="10" name="Rounded Rectangle 9">
            <a:extLst>
              <a:ext uri="{FF2B5EF4-FFF2-40B4-BE49-F238E27FC236}">
                <a16:creationId xmlns:a16="http://schemas.microsoft.com/office/drawing/2014/main" id="{F827C51C-E62E-4DEF-86EC-BC2D9A001A7A}"/>
              </a:ext>
            </a:extLst>
          </p:cNvPr>
          <p:cNvSpPr>
            <a:spLocks noGrp="1"/>
          </p:cNvSpPr>
          <p:nvPr/>
        </p:nvSpPr>
        <p:spPr>
          <a:xfrm>
            <a:off x="640080" y="1737360"/>
            <a:ext cx="347472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DC529B4-AD29-4773-B553-6D2C3CBE9825}"/>
              </a:ext>
            </a:extLst>
          </p:cNvPr>
          <p:cNvSpPr>
            <a:spLocks noGrp="1"/>
          </p:cNvSpPr>
          <p:nvPr/>
        </p:nvSpPr>
        <p:spPr>
          <a:xfrm>
            <a:off x="914400" y="2011680"/>
            <a:ext cx="2926080" cy="45720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Role-based access</a:t>
            </a:r>
          </a:p>
        </p:txBody>
      </p:sp>
      <p:sp>
        <p:nvSpPr>
          <p:cNvPr id="12" name="TextBox 11">
            <a:extLst>
              <a:ext uri="{FF2B5EF4-FFF2-40B4-BE49-F238E27FC236}">
                <a16:creationId xmlns:a16="http://schemas.microsoft.com/office/drawing/2014/main" id="{80735A03-024D-4B95-90F3-32C36DEAA0E0}"/>
              </a:ext>
            </a:extLst>
          </p:cNvPr>
          <p:cNvSpPr>
            <a:spLocks noGrp="1"/>
          </p:cNvSpPr>
          <p:nvPr/>
        </p:nvSpPr>
        <p:spPr>
          <a:xfrm>
            <a:off x="914400" y="2560320"/>
            <a:ext cx="2926080" cy="914400"/>
          </a:xfrm>
          <a:prstGeom prst="rect">
            <a:avLst/>
          </a:prstGeom>
          <a:noFill/>
        </p:spPr>
        <p:txBody>
          <a:bodyPr wrap="square" lIns="0" tIns="0" rIns="0" bIns="0" anchor="t">
            <a:spAutoFit/>
          </a:bodyPr>
          <a:lstStyle/>
          <a:p>
            <a:pPr algn="l">
              <a:buNone/>
              <a:defRPr>
                <a:solidFill>
                  <a:srgbClr val="CBD5E1"/>
                </a:solidFill>
              </a:defRPr>
            </a:pPr>
            <a:r>
              <a:rPr sz="1500" b="0">
                <a:solidFill>
                  <a:srgbClr val="CBD5E1"/>
                </a:solidFill>
                <a:latin typeface="Calibri"/>
                <a:ea typeface="Calibri"/>
                <a:cs typeface="Calibri"/>
              </a:rPr>
              <a:t>Enforced at the data</a:t>
            </a:r>
          </a:p>
        </p:txBody>
      </p:sp>
      <p:sp>
        <p:nvSpPr>
          <p:cNvPr id="13" name="Rounded Rectangle 12">
            <a:extLst>
              <a:ext uri="{FF2B5EF4-FFF2-40B4-BE49-F238E27FC236}">
                <a16:creationId xmlns:a16="http://schemas.microsoft.com/office/drawing/2014/main" id="{E032F58F-0A64-4A2D-B5B0-EA24B6C6A5CB}"/>
              </a:ext>
            </a:extLst>
          </p:cNvPr>
          <p:cNvSpPr>
            <a:spLocks noGrp="1"/>
          </p:cNvSpPr>
          <p:nvPr/>
        </p:nvSpPr>
        <p:spPr>
          <a:xfrm>
            <a:off x="4343400" y="1737360"/>
            <a:ext cx="347472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95D98A27-2A32-4999-83FB-6024A99AB524}"/>
              </a:ext>
            </a:extLst>
          </p:cNvPr>
          <p:cNvSpPr>
            <a:spLocks noGrp="1"/>
          </p:cNvSpPr>
          <p:nvPr/>
        </p:nvSpPr>
        <p:spPr>
          <a:xfrm>
            <a:off x="4617720" y="2011680"/>
            <a:ext cx="2926080" cy="45720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Four-eyes approval</a:t>
            </a:r>
          </a:p>
        </p:txBody>
      </p:sp>
      <p:sp>
        <p:nvSpPr>
          <p:cNvPr id="15" name="TextBox 14">
            <a:extLst>
              <a:ext uri="{FF2B5EF4-FFF2-40B4-BE49-F238E27FC236}">
                <a16:creationId xmlns:a16="http://schemas.microsoft.com/office/drawing/2014/main" id="{6D26C5D4-8434-45A4-88D3-71A6FC9D84D4}"/>
              </a:ext>
            </a:extLst>
          </p:cNvPr>
          <p:cNvSpPr>
            <a:spLocks noGrp="1"/>
          </p:cNvSpPr>
          <p:nvPr/>
        </p:nvSpPr>
        <p:spPr>
          <a:xfrm>
            <a:off x="4617720" y="2560320"/>
            <a:ext cx="2926080" cy="914400"/>
          </a:xfrm>
          <a:prstGeom prst="rect">
            <a:avLst/>
          </a:prstGeom>
          <a:noFill/>
        </p:spPr>
        <p:txBody>
          <a:bodyPr wrap="square" lIns="0" tIns="0" rIns="0" bIns="0" anchor="t">
            <a:spAutoFit/>
          </a:bodyPr>
          <a:lstStyle/>
          <a:p>
            <a:pPr algn="l">
              <a:buNone/>
              <a:defRPr>
                <a:solidFill>
                  <a:srgbClr val="CBD5E1"/>
                </a:solidFill>
              </a:defRPr>
            </a:pPr>
            <a:r>
              <a:rPr sz="1500" b="0">
                <a:solidFill>
                  <a:srgbClr val="CBD5E1"/>
                </a:solidFill>
                <a:latin typeface="Calibri"/>
                <a:ea typeface="Calibri"/>
                <a:cs typeface="Calibri"/>
              </a:rPr>
              <a:t>Overrides over $10k</a:t>
            </a:r>
          </a:p>
        </p:txBody>
      </p:sp>
      <p:sp>
        <p:nvSpPr>
          <p:cNvPr id="16" name="Rounded Rectangle 15">
            <a:extLst>
              <a:ext uri="{FF2B5EF4-FFF2-40B4-BE49-F238E27FC236}">
                <a16:creationId xmlns:a16="http://schemas.microsoft.com/office/drawing/2014/main" id="{D4E866A8-F522-4AE4-8C66-1911DD8574CD}"/>
              </a:ext>
            </a:extLst>
          </p:cNvPr>
          <p:cNvSpPr>
            <a:spLocks noGrp="1"/>
          </p:cNvSpPr>
          <p:nvPr/>
        </p:nvSpPr>
        <p:spPr>
          <a:xfrm>
            <a:off x="8046719" y="1737360"/>
            <a:ext cx="347472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3C46F05-6295-4AD2-ABE3-2EA414AF44B8}"/>
              </a:ext>
            </a:extLst>
          </p:cNvPr>
          <p:cNvSpPr>
            <a:spLocks noGrp="1"/>
          </p:cNvSpPr>
          <p:nvPr/>
        </p:nvSpPr>
        <p:spPr>
          <a:xfrm>
            <a:off x="8321039" y="2011680"/>
            <a:ext cx="2926080" cy="45720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Tamper-evident audit</a:t>
            </a:r>
          </a:p>
        </p:txBody>
      </p:sp>
      <p:sp>
        <p:nvSpPr>
          <p:cNvPr id="18" name="TextBox 17">
            <a:extLst>
              <a:ext uri="{FF2B5EF4-FFF2-40B4-BE49-F238E27FC236}">
                <a16:creationId xmlns:a16="http://schemas.microsoft.com/office/drawing/2014/main" id="{A047F1A5-D6EB-4C41-90EC-07A5AB345834}"/>
              </a:ext>
            </a:extLst>
          </p:cNvPr>
          <p:cNvSpPr>
            <a:spLocks noGrp="1"/>
          </p:cNvSpPr>
          <p:nvPr/>
        </p:nvSpPr>
        <p:spPr>
          <a:xfrm>
            <a:off x="8321039" y="2560320"/>
            <a:ext cx="2926080" cy="914400"/>
          </a:xfrm>
          <a:prstGeom prst="rect">
            <a:avLst/>
          </a:prstGeom>
          <a:noFill/>
        </p:spPr>
        <p:txBody>
          <a:bodyPr wrap="square" lIns="0" tIns="0" rIns="0" bIns="0" anchor="t">
            <a:spAutoFit/>
          </a:bodyPr>
          <a:lstStyle/>
          <a:p>
            <a:pPr algn="l">
              <a:buNone/>
              <a:defRPr>
                <a:solidFill>
                  <a:srgbClr val="CBD5E1"/>
                </a:solidFill>
              </a:defRPr>
            </a:pPr>
            <a:r>
              <a:rPr sz="1500" b="0">
                <a:solidFill>
                  <a:srgbClr val="CBD5E1"/>
                </a:solidFill>
                <a:latin typeface="Calibri"/>
                <a:ea typeface="Calibri"/>
                <a:cs typeface="Calibri"/>
              </a:rPr>
              <a:t>Recorded events hash-chained</a:t>
            </a:r>
          </a:p>
        </p:txBody>
      </p:sp>
      <p:sp>
        <p:nvSpPr>
          <p:cNvPr id="19" name="Rounded Rectangle 18">
            <a:extLst>
              <a:ext uri="{FF2B5EF4-FFF2-40B4-BE49-F238E27FC236}">
                <a16:creationId xmlns:a16="http://schemas.microsoft.com/office/drawing/2014/main" id="{C2679AD6-AEC1-4806-9039-8CCBF2551028}"/>
              </a:ext>
            </a:extLst>
          </p:cNvPr>
          <p:cNvSpPr>
            <a:spLocks noGrp="1"/>
          </p:cNvSpPr>
          <p:nvPr/>
        </p:nvSpPr>
        <p:spPr>
          <a:xfrm>
            <a:off x="640080" y="3840479"/>
            <a:ext cx="347472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517515D8-0F01-4569-B6BB-075306FCAA5D}"/>
              </a:ext>
            </a:extLst>
          </p:cNvPr>
          <p:cNvSpPr>
            <a:spLocks noGrp="1"/>
          </p:cNvSpPr>
          <p:nvPr/>
        </p:nvSpPr>
        <p:spPr>
          <a:xfrm>
            <a:off x="914400" y="4114799"/>
            <a:ext cx="2926080" cy="45720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Injection tests</a:t>
            </a:r>
          </a:p>
        </p:txBody>
      </p:sp>
      <p:sp>
        <p:nvSpPr>
          <p:cNvPr id="21" name="TextBox 20">
            <a:extLst>
              <a:ext uri="{FF2B5EF4-FFF2-40B4-BE49-F238E27FC236}">
                <a16:creationId xmlns:a16="http://schemas.microsoft.com/office/drawing/2014/main" id="{F0A94A1F-88BB-4239-B03A-B2056B86C15A}"/>
              </a:ext>
            </a:extLst>
          </p:cNvPr>
          <p:cNvSpPr>
            <a:spLocks noGrp="1"/>
          </p:cNvSpPr>
          <p:nvPr/>
        </p:nvSpPr>
        <p:spPr>
          <a:xfrm>
            <a:off x="914400" y="4663439"/>
            <a:ext cx="2926080" cy="914400"/>
          </a:xfrm>
          <a:prstGeom prst="rect">
            <a:avLst/>
          </a:prstGeom>
          <a:noFill/>
        </p:spPr>
        <p:txBody>
          <a:bodyPr wrap="square" lIns="0" tIns="0" rIns="0" bIns="0" anchor="t">
            <a:spAutoFit/>
          </a:bodyPr>
          <a:lstStyle/>
          <a:p>
            <a:pPr algn="l">
              <a:buNone/>
              <a:defRPr>
                <a:solidFill>
                  <a:srgbClr val="CBD5E1"/>
                </a:solidFill>
              </a:defRPr>
            </a:pPr>
            <a:r>
              <a:rPr sz="1500" b="0">
                <a:solidFill>
                  <a:srgbClr val="CBD5E1"/>
                </a:solidFill>
                <a:latin typeface="Calibri"/>
                <a:ea typeface="Calibri"/>
                <a:cs typeface="Calibri"/>
              </a:rPr>
              <a:t>0 flips in 7 attack documents</a:t>
            </a:r>
          </a:p>
        </p:txBody>
      </p:sp>
      <p:sp>
        <p:nvSpPr>
          <p:cNvPr id="22" name="Rounded Rectangle 21">
            <a:extLst>
              <a:ext uri="{FF2B5EF4-FFF2-40B4-BE49-F238E27FC236}">
                <a16:creationId xmlns:a16="http://schemas.microsoft.com/office/drawing/2014/main" id="{DD441E66-61E2-4EDF-AC9D-7D836A32E1D1}"/>
              </a:ext>
            </a:extLst>
          </p:cNvPr>
          <p:cNvSpPr>
            <a:spLocks noGrp="1"/>
          </p:cNvSpPr>
          <p:nvPr/>
        </p:nvSpPr>
        <p:spPr>
          <a:xfrm>
            <a:off x="4343400" y="3840479"/>
            <a:ext cx="347472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64FE5D54-A313-4766-A4D1-462E4417A88A}"/>
              </a:ext>
            </a:extLst>
          </p:cNvPr>
          <p:cNvSpPr>
            <a:spLocks noGrp="1"/>
          </p:cNvSpPr>
          <p:nvPr/>
        </p:nvSpPr>
        <p:spPr>
          <a:xfrm>
            <a:off x="4617720" y="4114799"/>
            <a:ext cx="2926080" cy="45720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Trace redaction</a:t>
            </a:r>
          </a:p>
        </p:txBody>
      </p:sp>
      <p:sp>
        <p:nvSpPr>
          <p:cNvPr id="24" name="TextBox 23">
            <a:extLst>
              <a:ext uri="{FF2B5EF4-FFF2-40B4-BE49-F238E27FC236}">
                <a16:creationId xmlns:a16="http://schemas.microsoft.com/office/drawing/2014/main" id="{16A62B1F-D6E0-4B15-9E7E-0AE37EC3CA30}"/>
              </a:ext>
            </a:extLst>
          </p:cNvPr>
          <p:cNvSpPr>
            <a:spLocks noGrp="1"/>
          </p:cNvSpPr>
          <p:nvPr/>
        </p:nvSpPr>
        <p:spPr>
          <a:xfrm>
            <a:off x="4617720" y="4663439"/>
            <a:ext cx="2926080" cy="914400"/>
          </a:xfrm>
          <a:prstGeom prst="rect">
            <a:avLst/>
          </a:prstGeom>
          <a:noFill/>
        </p:spPr>
        <p:txBody>
          <a:bodyPr wrap="square" lIns="0" tIns="0" rIns="0" bIns="0" anchor="t">
            <a:spAutoFit/>
          </a:bodyPr>
          <a:lstStyle/>
          <a:p>
            <a:pPr algn="l">
              <a:buNone/>
              <a:defRPr>
                <a:solidFill>
                  <a:srgbClr val="CBD5E1"/>
                </a:solidFill>
              </a:defRPr>
            </a:pPr>
            <a:r>
              <a:rPr sz="1500" b="0">
                <a:solidFill>
                  <a:srgbClr val="CBD5E1"/>
                </a:solidFill>
                <a:latin typeface="Calibri"/>
                <a:ea typeface="Calibri"/>
                <a:cs typeface="Calibri"/>
              </a:rPr>
              <a:t>Privacy review before real data</a:t>
            </a:r>
          </a:p>
        </p:txBody>
      </p:sp>
      <p:sp>
        <p:nvSpPr>
          <p:cNvPr id="25" name="Rounded Rectangle 24">
            <a:extLst>
              <a:ext uri="{FF2B5EF4-FFF2-40B4-BE49-F238E27FC236}">
                <a16:creationId xmlns:a16="http://schemas.microsoft.com/office/drawing/2014/main" id="{39A43813-2DAE-417B-B929-EA351D568E15}"/>
              </a:ext>
            </a:extLst>
          </p:cNvPr>
          <p:cNvSpPr>
            <a:spLocks noGrp="1"/>
          </p:cNvSpPr>
          <p:nvPr/>
        </p:nvSpPr>
        <p:spPr>
          <a:xfrm>
            <a:off x="8046719" y="3840479"/>
            <a:ext cx="347472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ED7E82DB-6983-45F2-A201-698EF0BA01EB}"/>
              </a:ext>
            </a:extLst>
          </p:cNvPr>
          <p:cNvSpPr>
            <a:spLocks noGrp="1"/>
          </p:cNvSpPr>
          <p:nvPr/>
        </p:nvSpPr>
        <p:spPr>
          <a:xfrm>
            <a:off x="8321039" y="4114799"/>
            <a:ext cx="2926080" cy="45720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Spend caps</a:t>
            </a:r>
          </a:p>
        </p:txBody>
      </p:sp>
      <p:sp>
        <p:nvSpPr>
          <p:cNvPr id="27" name="TextBox 26">
            <a:extLst>
              <a:ext uri="{FF2B5EF4-FFF2-40B4-BE49-F238E27FC236}">
                <a16:creationId xmlns:a16="http://schemas.microsoft.com/office/drawing/2014/main" id="{6CF8534E-95CF-4A56-85C9-DFAE2CD7F29E}"/>
              </a:ext>
            </a:extLst>
          </p:cNvPr>
          <p:cNvSpPr>
            <a:spLocks noGrp="1"/>
          </p:cNvSpPr>
          <p:nvPr/>
        </p:nvSpPr>
        <p:spPr>
          <a:xfrm>
            <a:off x="8321039" y="4663439"/>
            <a:ext cx="2926080" cy="914400"/>
          </a:xfrm>
          <a:prstGeom prst="rect">
            <a:avLst/>
          </a:prstGeom>
          <a:noFill/>
        </p:spPr>
        <p:txBody>
          <a:bodyPr wrap="square" lIns="0" tIns="0" rIns="0" bIns="0" anchor="t">
            <a:spAutoFit/>
          </a:bodyPr>
          <a:lstStyle/>
          <a:p>
            <a:pPr algn="l">
              <a:buNone/>
              <a:defRPr>
                <a:solidFill>
                  <a:srgbClr val="CBD5E1"/>
                </a:solidFill>
              </a:defRPr>
            </a:pPr>
            <a:r>
              <a:rPr sz="1500" b="0">
                <a:solidFill>
                  <a:srgbClr val="CBD5E1"/>
                </a:solidFill>
                <a:latin typeface="Calibri"/>
                <a:ea typeface="Calibri"/>
                <a:cs typeface="Calibri"/>
              </a:rPr>
              <a:t>Enforced in code</a:t>
            </a:r>
          </a:p>
        </p:txBody>
      </p:sp>
    </p:spTree>
    <p:extLst>
      <p:ext uri="{BB962C8B-B14F-4D97-AF65-F5344CB8AC3E}">
        <p14:creationId xmlns:p14="http://schemas.microsoft.com/office/powerpoint/2010/main" val="373234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D95BC01-9C62-44A1-B455-BD5758FB6107}"/>
              </a:ext>
            </a:extLst>
          </p:cNvPr>
          <p:cNvSpPr>
            <a:spLocks noGrp="1"/>
          </p:cNvSpPr>
          <p:nvPr/>
        </p:nvSpPr>
        <p:spPr>
          <a:xfrm>
            <a:off x="0" y="0"/>
            <a:ext cx="12191695" cy="109728"/>
          </a:xfrm>
          <a:prstGeom prst="rect">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85D68D66-EA71-44C6-804E-5C1F954165FD}"/>
              </a:ext>
            </a:extLst>
          </p:cNvPr>
          <p:cNvSpPr>
            <a:spLocks noGrp="1"/>
          </p:cNvSpPr>
          <p:nvPr/>
        </p:nvSpPr>
        <p:spPr>
          <a:xfrm>
            <a:off x="640080" y="411480"/>
            <a:ext cx="9144000" cy="320040"/>
          </a:xfrm>
          <a:prstGeom prst="rect">
            <a:avLst/>
          </a:prstGeom>
          <a:noFill/>
        </p:spPr>
        <p:txBody>
          <a:bodyPr wrap="square" lIns="0" tIns="0" rIns="0" bIns="0" anchor="t">
            <a:spAutoFit/>
          </a:bodyPr>
          <a:lstStyle/>
          <a:p>
            <a:pPr algn="l">
              <a:buNone/>
              <a:defRPr>
                <a:solidFill>
                  <a:srgbClr val="2DD4BF"/>
                </a:solidFill>
              </a:defRPr>
            </a:pPr>
            <a:r>
              <a:rPr sz="1200" b="1">
                <a:solidFill>
                  <a:srgbClr val="2DD4BF"/>
                </a:solidFill>
                <a:latin typeface="Calibri"/>
                <a:ea typeface="Calibri"/>
                <a:cs typeface="Calibri"/>
              </a:rPr>
              <a:t>PATH TO PRODUCTION</a:t>
            </a:r>
          </a:p>
        </p:txBody>
      </p:sp>
      <p:sp>
        <p:nvSpPr>
          <p:cNvPr id="4" name="TextBox 3">
            <a:extLst>
              <a:ext uri="{FF2B5EF4-FFF2-40B4-BE49-F238E27FC236}">
                <a16:creationId xmlns:a16="http://schemas.microsoft.com/office/drawing/2014/main" id="{F382B53E-BB07-45BF-A3B7-5EAA277E2B17}"/>
              </a:ext>
            </a:extLst>
          </p:cNvPr>
          <p:cNvSpPr>
            <a:spLocks noGrp="1"/>
          </p:cNvSpPr>
          <p:nvPr/>
        </p:nvSpPr>
        <p:spPr>
          <a:xfrm>
            <a:off x="640080" y="685800"/>
            <a:ext cx="10972800" cy="731520"/>
          </a:xfrm>
          <a:prstGeom prst="rect">
            <a:avLst/>
          </a:prstGeom>
          <a:noFill/>
        </p:spPr>
        <p:txBody>
          <a:bodyPr wrap="square" lIns="0" tIns="0" rIns="0" bIns="0" anchor="t">
            <a:spAutoFit/>
          </a:bodyPr>
          <a:lstStyle/>
          <a:p>
            <a:pPr algn="l">
              <a:buNone/>
              <a:defRPr>
                <a:solidFill>
                  <a:srgbClr val="F8FAFC"/>
                </a:solidFill>
              </a:defRPr>
            </a:pPr>
            <a:r>
              <a:rPr sz="3200" b="1">
                <a:solidFill>
                  <a:srgbClr val="F8FAFC"/>
                </a:solidFill>
                <a:latin typeface="Calibri"/>
                <a:ea typeface="Calibri"/>
                <a:cs typeface="Calibri"/>
              </a:rPr>
              <a:t>From pilot to production: the plan</a:t>
            </a:r>
          </a:p>
        </p:txBody>
      </p:sp>
      <p:sp>
        <p:nvSpPr>
          <p:cNvPr id="5" name="Pentagon 4">
            <a:extLst>
              <a:ext uri="{FF2B5EF4-FFF2-40B4-BE49-F238E27FC236}">
                <a16:creationId xmlns:a16="http://schemas.microsoft.com/office/drawing/2014/main" id="{EB7F6895-60B0-42BE-89D2-1991651443C4}"/>
              </a:ext>
            </a:extLst>
          </p:cNvPr>
          <p:cNvSpPr>
            <a:spLocks noGrp="1"/>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1CEDC70B-E1CA-4085-9634-C90A9E3F831D}"/>
              </a:ext>
            </a:extLst>
          </p:cNvPr>
          <p:cNvSpPr>
            <a:spLocks noGrp="1"/>
          </p:cNvSpPr>
          <p:nvPr/>
        </p:nvSpPr>
        <p:spPr>
          <a:xfrm>
            <a:off x="11358860" y="453177"/>
            <a:ext cx="69128" cy="215066"/>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5B78C39B-F2BF-4BAF-976E-F0DBA838A682}"/>
              </a:ext>
            </a:extLst>
          </p:cNvPr>
          <p:cNvSpPr>
            <a:spLocks noGrp="1"/>
          </p:cNvSpPr>
          <p:nvPr/>
        </p:nvSpPr>
        <p:spPr>
          <a:xfrm>
            <a:off x="11285891" y="526146"/>
            <a:ext cx="215066" cy="69128"/>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E90DC95F-94AD-4A00-ADA6-7A512D087314}"/>
              </a:ext>
            </a:extLst>
          </p:cNvPr>
          <p:cNvSpPr>
            <a:spLocks noGrp="1"/>
          </p:cNvSpPr>
          <p:nvPr/>
        </p:nvSpPr>
        <p:spPr>
          <a:xfrm>
            <a:off x="640080" y="6446520"/>
            <a:ext cx="7315200" cy="274320"/>
          </a:xfrm>
          <a:prstGeom prst="rect">
            <a:avLst/>
          </a:prstGeom>
          <a:noFill/>
        </p:spPr>
        <p:txBody>
          <a:bodyPr wrap="square" lIns="0" tIns="0" rIns="0" bIns="0" anchor="t">
            <a:spAutoFit/>
          </a:bodyPr>
          <a:lstStyle/>
          <a:p>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a:ext uri="{FF2B5EF4-FFF2-40B4-BE49-F238E27FC236}">
                <a16:creationId xmlns:a16="http://schemas.microsoft.com/office/drawing/2014/main" id="{3943D9B7-D608-4D2D-B47D-6549D0406DC2}"/>
              </a:ext>
            </a:extLst>
          </p:cNvPr>
          <p:cNvSpPr>
            <a:spLocks noGrp="1"/>
          </p:cNvSpPr>
          <p:nvPr/>
        </p:nvSpPr>
        <p:spPr>
          <a:xfrm>
            <a:off x="10881360" y="6446520"/>
            <a:ext cx="731520" cy="274320"/>
          </a:xfrm>
          <a:prstGeom prst="rect">
            <a:avLst/>
          </a:prstGeom>
          <a:noFill/>
        </p:spPr>
        <p:txBody>
          <a:bodyPr wrap="square" lIns="0" tIns="0" rIns="0" bIns="0" anchor="t">
            <a:spAutoFit/>
          </a:bodyPr>
          <a:lstStyle/>
          <a:p>
            <a:pPr algn="r">
              <a:buNone/>
              <a:defRPr>
                <a:solidFill>
                  <a:srgbClr val="CBD5E1"/>
                </a:solidFill>
              </a:defRPr>
            </a:pPr>
            <a:r>
              <a:rPr sz="1000" b="0">
                <a:solidFill>
                  <a:srgbClr val="CBD5E1"/>
                </a:solidFill>
                <a:latin typeface="Calibri"/>
                <a:ea typeface="Calibri"/>
                <a:cs typeface="Calibri"/>
              </a:rPr>
              <a:t>7</a:t>
            </a:r>
          </a:p>
        </p:txBody>
      </p:sp>
      <p:graphicFrame>
        <p:nvGraphicFramePr>
          <p:cNvPr id="19" name="Table 9"/>
          <p:cNvGraphicFramePr/>
          <p:nvPr/>
        </p:nvGraphicFramePr>
        <p:xfrm>
          <a:off x="640080" y="1828800"/>
          <a:ext cx="10881360" cy="3840480"/>
        </p:xfrm>
        <a:graphic>
          <a:graphicData uri="http://schemas.openxmlformats.org/drawingml/2006/table">
            <a:tbl>
              <a:tblPr firstRow="1" bandRow="1">
                <a:tableStyleId>{5C22544A-7EE6-4342-B048-85BDC9FD1C3A}</a:tableStyleId>
              </a:tblPr>
              <a:tblGrid>
                <a:gridCol w="5440680">
                  <a:extLst>
                    <a:ext uri="{9D8B030D-6E8A-4147-A177-3AD203B41FA5}">
                      <a16:colId xmlns:a16="http://schemas.microsoft.com/office/drawing/2014/main" val="20000"/>
                    </a:ext>
                  </a:extLst>
                </a:gridCol>
                <a:gridCol w="5440680">
                  <a:extLst>
                    <a:ext uri="{9D8B030D-6E8A-4147-A177-3AD203B41FA5}">
                      <a16:colId xmlns:a16="http://schemas.microsoft.com/office/drawing/2014/main" val="20001"/>
                    </a:ext>
                  </a:extLst>
                </a:gridCol>
              </a:tblGrid>
              <a:tr h="640080">
                <a:tc>
                  <a:txBody>
                    <a:bodyPr/>
                    <a:lstStyle/>
                    <a:p>
                      <a:r>
                        <a:rPr sz="1725" b="1">
                          <a:solidFill>
                            <a:srgbClr val="2DD4BF"/>
                          </a:solidFill>
                          <a:latin typeface="Calibri"/>
                          <a:ea typeface="Calibri"/>
                          <a:cs typeface="Calibri"/>
                        </a:rPr>
                        <a:t>Focus area</a:t>
                      </a:r>
                    </a:p>
                  </a:txBody>
                  <a:tcPr anchor="ctr">
                    <a:solidFill>
                      <a:srgbClr val="193344"/>
                    </a:solidFill>
                  </a:tcPr>
                </a:tc>
                <a:tc>
                  <a:txBody>
                    <a:bodyPr/>
                    <a:lstStyle/>
                    <a:p>
                      <a:r>
                        <a:rPr sz="1725" b="1">
                          <a:solidFill>
                            <a:srgbClr val="2DD4BF"/>
                          </a:solidFill>
                          <a:latin typeface="Calibri"/>
                          <a:ea typeface="Calibri"/>
                          <a:cs typeface="Calibri"/>
                        </a:rPr>
                        <a:t>How we close it</a:t>
                      </a:r>
                    </a:p>
                  </a:txBody>
                  <a:tcPr anchor="ctr">
                    <a:solidFill>
                      <a:srgbClr val="193344"/>
                    </a:solidFill>
                  </a:tcPr>
                </a:tc>
                <a:extLst>
                  <a:ext uri="{0D108BD9-81ED-4DB2-BD59-A6C34878D82A}">
                    <a16:rowId xmlns:a16="http://schemas.microsoft.com/office/drawing/2014/main" val="10000"/>
                  </a:ext>
                </a:extLst>
              </a:tr>
              <a:tr h="640080">
                <a:tc>
                  <a:txBody>
                    <a:bodyPr/>
                    <a:lstStyle/>
                    <a:p>
                      <a:r>
                        <a:rPr sz="1575" b="1">
                          <a:solidFill>
                            <a:srgbClr val="F8FAFC"/>
                          </a:solidFill>
                          <a:latin typeface="Calibri"/>
                          <a:ea typeface="Calibri"/>
                          <a:cs typeface="Calibri"/>
                        </a:rPr>
                        <a:t>Real-world documents</a:t>
                      </a:r>
                    </a:p>
                  </a:txBody>
                  <a:tcPr anchor="ctr">
                    <a:solidFill>
                      <a:srgbClr val="142238"/>
                    </a:solidFill>
                  </a:tcPr>
                </a:tc>
                <a:tc>
                  <a:txBody>
                    <a:bodyPr/>
                    <a:lstStyle/>
                    <a:p>
                      <a:r>
                        <a:rPr sz="1575" b="0">
                          <a:solidFill>
                            <a:srgbClr val="F8FAFC"/>
                          </a:solidFill>
                          <a:latin typeface="Calibri"/>
                          <a:ea typeface="Calibri"/>
                          <a:cs typeface="Calibri"/>
                        </a:rPr>
                        <a:t>Shadow pilot on real scans, independently reviewed</a:t>
                      </a:r>
                    </a:p>
                  </a:txBody>
                  <a:tcPr anchor="ctr">
                    <a:solidFill>
                      <a:srgbClr val="142238"/>
                    </a:solidFill>
                  </a:tcPr>
                </a:tc>
                <a:extLst>
                  <a:ext uri="{0D108BD9-81ED-4DB2-BD59-A6C34878D82A}">
                    <a16:rowId xmlns:a16="http://schemas.microsoft.com/office/drawing/2014/main" val="10001"/>
                  </a:ext>
                </a:extLst>
              </a:tr>
              <a:tr h="640080">
                <a:tc>
                  <a:txBody>
                    <a:bodyPr/>
                    <a:lstStyle/>
                    <a:p>
                      <a:r>
                        <a:rPr sz="1575" b="1">
                          <a:solidFill>
                            <a:srgbClr val="F8FAFC"/>
                          </a:solidFill>
                          <a:latin typeface="Calibri"/>
                          <a:ea typeface="Calibri"/>
                          <a:cs typeface="Calibri"/>
                        </a:rPr>
                        <a:t>Identity fraud</a:t>
                      </a:r>
                    </a:p>
                  </a:txBody>
                  <a:tcPr anchor="ctr">
                    <a:solidFill>
                      <a:srgbClr val="0F1B2D"/>
                    </a:solidFill>
                  </a:tcPr>
                </a:tc>
                <a:tc>
                  <a:txBody>
                    <a:bodyPr/>
                    <a:lstStyle/>
                    <a:p>
                      <a:r>
                        <a:rPr sz="1575" b="0">
                          <a:solidFill>
                            <a:srgbClr val="F8FAFC"/>
                          </a:solidFill>
                          <a:latin typeface="Calibri"/>
                          <a:ea typeface="Calibri"/>
                          <a:cs typeface="Calibri"/>
                        </a:rPr>
                        <a:t>Specialist review and a broader tamper test set</a:t>
                      </a:r>
                    </a:p>
                  </a:txBody>
                  <a:tcPr anchor="ctr">
                    <a:solidFill>
                      <a:srgbClr val="0F1B2D"/>
                    </a:solidFill>
                  </a:tcPr>
                </a:tc>
                <a:extLst>
                  <a:ext uri="{0D108BD9-81ED-4DB2-BD59-A6C34878D82A}">
                    <a16:rowId xmlns:a16="http://schemas.microsoft.com/office/drawing/2014/main" val="10002"/>
                  </a:ext>
                </a:extLst>
              </a:tr>
              <a:tr h="640080">
                <a:tc>
                  <a:txBody>
                    <a:bodyPr/>
                    <a:lstStyle/>
                    <a:p>
                      <a:r>
                        <a:rPr sz="1575" b="1">
                          <a:solidFill>
                            <a:srgbClr val="F8FAFC"/>
                          </a:solidFill>
                          <a:latin typeface="Calibri"/>
                          <a:ea typeface="Calibri"/>
                          <a:cs typeface="Calibri"/>
                        </a:rPr>
                        <a:t>Data privacy</a:t>
                      </a:r>
                    </a:p>
                  </a:txBody>
                  <a:tcPr anchor="ctr">
                    <a:solidFill>
                      <a:srgbClr val="142238"/>
                    </a:solidFill>
                  </a:tcPr>
                </a:tc>
                <a:tc>
                  <a:txBody>
                    <a:bodyPr/>
                    <a:lstStyle/>
                    <a:p>
                      <a:r>
                        <a:rPr sz="1575" b="0">
                          <a:solidFill>
                            <a:srgbClr val="F8FAFC"/>
                          </a:solidFill>
                          <a:latin typeface="Calibri"/>
                          <a:ea typeface="Calibri"/>
                          <a:cs typeface="Calibri"/>
                        </a:rPr>
                        <a:t>Model-provider review, SSO and retention controls</a:t>
                      </a:r>
                    </a:p>
                  </a:txBody>
                  <a:tcPr anchor="ctr">
                    <a:solidFill>
                      <a:srgbClr val="142238"/>
                    </a:solidFill>
                  </a:tcPr>
                </a:tc>
                <a:extLst>
                  <a:ext uri="{0D108BD9-81ED-4DB2-BD59-A6C34878D82A}">
                    <a16:rowId xmlns:a16="http://schemas.microsoft.com/office/drawing/2014/main" val="10003"/>
                  </a:ext>
                </a:extLst>
              </a:tr>
              <a:tr h="640080">
                <a:tc>
                  <a:txBody>
                    <a:bodyPr/>
                    <a:lstStyle/>
                    <a:p>
                      <a:r>
                        <a:rPr sz="1575" b="1">
                          <a:solidFill>
                            <a:srgbClr val="F8FAFC"/>
                          </a:solidFill>
                          <a:latin typeface="Calibri"/>
                          <a:ea typeface="Calibri"/>
                          <a:cs typeface="Calibri"/>
                        </a:rPr>
                        <a:t>Resilience</a:t>
                      </a:r>
                    </a:p>
                  </a:txBody>
                  <a:tcPr anchor="ctr">
                    <a:solidFill>
                      <a:srgbClr val="0F1B2D"/>
                    </a:solidFill>
                  </a:tcPr>
                </a:tc>
                <a:tc>
                  <a:txBody>
                    <a:bodyPr/>
                    <a:lstStyle/>
                    <a:p>
                      <a:r>
                        <a:rPr sz="1575" b="0">
                          <a:solidFill>
                            <a:srgbClr val="F8FAFC"/>
                          </a:solidFill>
                          <a:latin typeface="Calibri"/>
                          <a:ea typeface="Calibri"/>
                          <a:cs typeface="Calibri"/>
                        </a:rPr>
                        <a:t>Durable checkpoints so cases resume after a restart</a:t>
                      </a:r>
                    </a:p>
                  </a:txBody>
                  <a:tcPr anchor="ctr">
                    <a:solidFill>
                      <a:srgbClr val="0F1B2D"/>
                    </a:solidFill>
                  </a:tcPr>
                </a:tc>
                <a:extLst>
                  <a:ext uri="{0D108BD9-81ED-4DB2-BD59-A6C34878D82A}">
                    <a16:rowId xmlns:a16="http://schemas.microsoft.com/office/drawing/2014/main" val="10004"/>
                  </a:ext>
                </a:extLst>
              </a:tr>
              <a:tr h="640080">
                <a:tc>
                  <a:txBody>
                    <a:bodyPr/>
                    <a:lstStyle/>
                    <a:p>
                      <a:r>
                        <a:rPr sz="1575" b="1">
                          <a:solidFill>
                            <a:srgbClr val="F8FAFC"/>
                          </a:solidFill>
                          <a:latin typeface="Calibri"/>
                          <a:ea typeface="Calibri"/>
                          <a:cs typeface="Calibri"/>
                        </a:rPr>
                        <a:t>Speed and reviewer effort</a:t>
                      </a:r>
                    </a:p>
                  </a:txBody>
                  <a:tcPr anchor="ctr">
                    <a:solidFill>
                      <a:srgbClr val="142238"/>
                    </a:solidFill>
                  </a:tcPr>
                </a:tc>
                <a:tc>
                  <a:txBody>
                    <a:bodyPr/>
                    <a:lstStyle/>
                    <a:p>
                      <a:r>
                        <a:rPr sz="1575" b="0">
                          <a:solidFill>
                            <a:srgbClr val="F8FAFC"/>
                          </a:solidFill>
                          <a:latin typeface="Calibri"/>
                          <a:ea typeface="Calibri"/>
                          <a:cs typeface="Calibri"/>
                        </a:rPr>
                        <a:t>Timed pilot measuring cold start and review time</a:t>
                      </a:r>
                    </a:p>
                  </a:txBody>
                  <a:tcPr anchor="ctr">
                    <a:solidFill>
                      <a:srgbClr val="142238"/>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613135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a:extLst>
              <a:ext uri="{FF2B5EF4-FFF2-40B4-BE49-F238E27FC236}">
                <a16:creationId xmlns:a16="http://schemas.microsoft.com/office/drawing/2014/main" id="{F1737A1E-6AD9-72F1-249B-89A447789D4B}"/>
              </a:ext>
            </a:extLst>
          </p:cNvPr>
          <p:cNvPicPr>
            <a:picLocks noChangeAspect="1"/>
          </p:cNvPicPr>
          <p:nvPr/>
        </p:nvPicPr>
        <p:blipFill>
          <a:blip r:embed="rId2"/>
          <a:srcRect t="19"/>
          <a:stretch>
            <a:fillRect/>
          </a:stretch>
        </p:blipFill>
        <p:spPr>
          <a:xfrm>
            <a:off x="20" y="1282"/>
            <a:ext cx="12191980" cy="6856718"/>
          </a:xfrm>
          <a:prstGeom prst="rect">
            <a:avLst/>
          </a:prstGeom>
        </p:spPr>
      </p:pic>
    </p:spTree>
    <p:extLst>
      <p:ext uri="{BB962C8B-B14F-4D97-AF65-F5344CB8AC3E}">
        <p14:creationId xmlns:p14="http://schemas.microsoft.com/office/powerpoint/2010/main" val="1377892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1FBCE46-F143-47F0-9B19-6E1AA950A709}"/>
              </a:ext>
            </a:extLst>
          </p:cNvPr>
          <p:cNvSpPr>
            <a:spLocks noGrp="1"/>
          </p:cNvSpPr>
          <p:nvPr/>
        </p:nvSpPr>
        <p:spPr>
          <a:xfrm>
            <a:off x="0" y="0"/>
            <a:ext cx="12191695" cy="109728"/>
          </a:xfrm>
          <a:prstGeom prst="rect">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E1D05A81-6587-4466-9BBD-873762908B44}"/>
              </a:ext>
            </a:extLst>
          </p:cNvPr>
          <p:cNvSpPr>
            <a:spLocks noGrp="1"/>
          </p:cNvSpPr>
          <p:nvPr/>
        </p:nvSpPr>
        <p:spPr>
          <a:xfrm>
            <a:off x="640080" y="411480"/>
            <a:ext cx="9144000" cy="320040"/>
          </a:xfrm>
          <a:prstGeom prst="rect">
            <a:avLst/>
          </a:prstGeom>
          <a:noFill/>
        </p:spPr>
        <p:txBody>
          <a:bodyPr wrap="square" lIns="0" tIns="0" rIns="0" bIns="0" anchor="t">
            <a:spAutoFit/>
          </a:bodyPr>
          <a:lstStyle/>
          <a:p>
            <a:pPr algn="l">
              <a:buNone/>
              <a:defRPr>
                <a:solidFill>
                  <a:srgbClr val="2DD4BF"/>
                </a:solidFill>
              </a:defRPr>
            </a:pPr>
            <a:r>
              <a:rPr sz="1200" b="1">
                <a:solidFill>
                  <a:srgbClr val="2DD4BF"/>
                </a:solidFill>
                <a:latin typeface="Calibri"/>
                <a:ea typeface="Calibri"/>
                <a:cs typeface="Calibri"/>
              </a:rPr>
              <a:t>RECOMMENDATION</a:t>
            </a:r>
          </a:p>
        </p:txBody>
      </p:sp>
      <p:sp>
        <p:nvSpPr>
          <p:cNvPr id="4" name="TextBox 3">
            <a:extLst>
              <a:ext uri="{FF2B5EF4-FFF2-40B4-BE49-F238E27FC236}">
                <a16:creationId xmlns:a16="http://schemas.microsoft.com/office/drawing/2014/main" id="{9AB88663-183F-4C5C-A943-CB60CA6B79FB}"/>
              </a:ext>
            </a:extLst>
          </p:cNvPr>
          <p:cNvSpPr>
            <a:spLocks noGrp="1"/>
          </p:cNvSpPr>
          <p:nvPr/>
        </p:nvSpPr>
        <p:spPr>
          <a:xfrm>
            <a:off x="640080" y="685800"/>
            <a:ext cx="10972800" cy="731520"/>
          </a:xfrm>
          <a:prstGeom prst="rect">
            <a:avLst/>
          </a:prstGeom>
          <a:noFill/>
        </p:spPr>
        <p:txBody>
          <a:bodyPr wrap="square" lIns="0" tIns="0" rIns="0" bIns="0" anchor="t">
            <a:spAutoFit/>
          </a:bodyPr>
          <a:lstStyle/>
          <a:p>
            <a:pPr algn="l">
              <a:buNone/>
              <a:defRPr>
                <a:solidFill>
                  <a:srgbClr val="F8FAFC"/>
                </a:solidFill>
              </a:defRPr>
            </a:pPr>
            <a:r>
              <a:rPr sz="3200" b="1">
                <a:solidFill>
                  <a:srgbClr val="F8FAFC"/>
                </a:solidFill>
                <a:latin typeface="Calibri"/>
                <a:ea typeface="Calibri"/>
                <a:cs typeface="Calibri"/>
              </a:rPr>
              <a:t>Earn trust in stages</a:t>
            </a:r>
          </a:p>
        </p:txBody>
      </p:sp>
      <p:sp>
        <p:nvSpPr>
          <p:cNvPr id="5" name="Pentagon 4">
            <a:extLst>
              <a:ext uri="{FF2B5EF4-FFF2-40B4-BE49-F238E27FC236}">
                <a16:creationId xmlns:a16="http://schemas.microsoft.com/office/drawing/2014/main" id="{1D1EFDA1-79D3-4F20-B5BB-6BEFE7387A84}"/>
              </a:ext>
            </a:extLst>
          </p:cNvPr>
          <p:cNvSpPr>
            <a:spLocks noGrp="1"/>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8C4546E2-3AAF-47D4-9A2A-E856E81A8B84}"/>
              </a:ext>
            </a:extLst>
          </p:cNvPr>
          <p:cNvSpPr>
            <a:spLocks noGrp="1"/>
          </p:cNvSpPr>
          <p:nvPr/>
        </p:nvSpPr>
        <p:spPr>
          <a:xfrm>
            <a:off x="11358860" y="453177"/>
            <a:ext cx="69128" cy="215066"/>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EC060C4B-ABF8-4344-8E6A-FA997D910B9D}"/>
              </a:ext>
            </a:extLst>
          </p:cNvPr>
          <p:cNvSpPr>
            <a:spLocks noGrp="1"/>
          </p:cNvSpPr>
          <p:nvPr/>
        </p:nvSpPr>
        <p:spPr>
          <a:xfrm>
            <a:off x="11285891" y="526146"/>
            <a:ext cx="215066" cy="69128"/>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89C4F163-AC71-4B9A-B4E0-9CD2C9CE89A1}"/>
              </a:ext>
            </a:extLst>
          </p:cNvPr>
          <p:cNvSpPr>
            <a:spLocks noGrp="1"/>
          </p:cNvSpPr>
          <p:nvPr/>
        </p:nvSpPr>
        <p:spPr>
          <a:xfrm>
            <a:off x="640080" y="6446520"/>
            <a:ext cx="7315200" cy="274320"/>
          </a:xfrm>
          <a:prstGeom prst="rect">
            <a:avLst/>
          </a:prstGeom>
          <a:noFill/>
        </p:spPr>
        <p:txBody>
          <a:bodyPr wrap="square" lIns="0" tIns="0" rIns="0" bIns="0" anchor="t">
            <a:spAutoFit/>
          </a:bodyPr>
          <a:lstStyle/>
          <a:p>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a:ext uri="{FF2B5EF4-FFF2-40B4-BE49-F238E27FC236}">
                <a16:creationId xmlns:a16="http://schemas.microsoft.com/office/drawing/2014/main" id="{B9E659D2-80A3-4C6C-A67F-DB7B8D304FF8}"/>
              </a:ext>
            </a:extLst>
          </p:cNvPr>
          <p:cNvSpPr>
            <a:spLocks noGrp="1"/>
          </p:cNvSpPr>
          <p:nvPr/>
        </p:nvSpPr>
        <p:spPr>
          <a:xfrm>
            <a:off x="10881360" y="6446520"/>
            <a:ext cx="731520" cy="274320"/>
          </a:xfrm>
          <a:prstGeom prst="rect">
            <a:avLst/>
          </a:prstGeom>
          <a:noFill/>
        </p:spPr>
        <p:txBody>
          <a:bodyPr wrap="square" lIns="0" tIns="0" rIns="0" bIns="0" anchor="t">
            <a:spAutoFit/>
          </a:bodyPr>
          <a:lstStyle/>
          <a:p>
            <a:pPr algn="r">
              <a:buNone/>
              <a:defRPr>
                <a:solidFill>
                  <a:srgbClr val="CBD5E1"/>
                </a:solidFill>
              </a:defRPr>
            </a:pPr>
            <a:r>
              <a:rPr sz="1000" b="0">
                <a:solidFill>
                  <a:srgbClr val="CBD5E1"/>
                </a:solidFill>
                <a:latin typeface="Calibri"/>
                <a:ea typeface="Calibri"/>
                <a:cs typeface="Calibri"/>
              </a:rPr>
              <a:t>8</a:t>
            </a:r>
          </a:p>
        </p:txBody>
      </p:sp>
      <p:sp>
        <p:nvSpPr>
          <p:cNvPr id="10" name="Rounded Rectangle 9">
            <a:extLst>
              <a:ext uri="{FF2B5EF4-FFF2-40B4-BE49-F238E27FC236}">
                <a16:creationId xmlns:a16="http://schemas.microsoft.com/office/drawing/2014/main" id="{FE8B26BC-9B18-4217-AFB4-AB995DA2CCF6}"/>
              </a:ext>
            </a:extLst>
          </p:cNvPr>
          <p:cNvSpPr>
            <a:spLocks noGrp="1"/>
          </p:cNvSpPr>
          <p:nvPr/>
        </p:nvSpPr>
        <p:spPr>
          <a:xfrm>
            <a:off x="640080" y="1691640"/>
            <a:ext cx="3474720" cy="224028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7605D186-4BAB-453F-B572-7F0774745A87}"/>
              </a:ext>
            </a:extLst>
          </p:cNvPr>
          <p:cNvSpPr>
            <a:spLocks noGrp="1"/>
          </p:cNvSpPr>
          <p:nvPr/>
        </p:nvSpPr>
        <p:spPr>
          <a:xfrm>
            <a:off x="914400" y="1920240"/>
            <a:ext cx="2926080" cy="411480"/>
          </a:xfrm>
          <a:prstGeom prst="rect">
            <a:avLst/>
          </a:prstGeom>
          <a:noFill/>
        </p:spPr>
        <p:txBody>
          <a:bodyPr wrap="square" lIns="0" tIns="0" rIns="0" bIns="0" anchor="t">
            <a:spAutoFit/>
          </a:bodyPr>
          <a:lstStyle/>
          <a:p>
            <a:pPr algn="l">
              <a:buNone/>
              <a:defRPr>
                <a:solidFill>
                  <a:srgbClr val="2DD4BF"/>
                </a:solidFill>
              </a:defRPr>
            </a:pPr>
            <a:r>
              <a:rPr sz="2000" b="1">
                <a:solidFill>
                  <a:srgbClr val="2DD4BF"/>
                </a:solidFill>
                <a:latin typeface="Calibri"/>
                <a:ea typeface="Calibri"/>
                <a:cs typeface="Calibri"/>
              </a:rPr>
              <a:t>1 · Shadow pilot</a:t>
            </a:r>
          </a:p>
        </p:txBody>
      </p:sp>
      <p:sp>
        <p:nvSpPr>
          <p:cNvPr id="12" name="TextBox 11">
            <a:extLst>
              <a:ext uri="{FF2B5EF4-FFF2-40B4-BE49-F238E27FC236}">
                <a16:creationId xmlns:a16="http://schemas.microsoft.com/office/drawing/2014/main" id="{6C855175-AB8B-48A1-B5B2-2488654D273C}"/>
              </a:ext>
            </a:extLst>
          </p:cNvPr>
          <p:cNvSpPr>
            <a:spLocks noGrp="1"/>
          </p:cNvSpPr>
          <p:nvPr/>
        </p:nvSpPr>
        <p:spPr>
          <a:xfrm>
            <a:off x="914400" y="2468880"/>
            <a:ext cx="2926080" cy="548640"/>
          </a:xfrm>
          <a:prstGeom prst="rect">
            <a:avLst/>
          </a:prstGeom>
          <a:noFill/>
        </p:spPr>
        <p:txBody>
          <a:bodyPr wrap="square" lIns="0" tIns="0" rIns="0" bIns="0" anchor="t">
            <a:spAutoFit/>
          </a:bodyPr>
          <a:lstStyle/>
          <a:p>
            <a:pPr algn="l">
              <a:buNone/>
              <a:defRPr>
                <a:solidFill>
                  <a:srgbClr val="F8FAFC"/>
                </a:solidFill>
              </a:defRPr>
            </a:pPr>
            <a:r>
              <a:rPr sz="1500" b="0">
                <a:solidFill>
                  <a:srgbClr val="F8FAFC"/>
                </a:solidFill>
                <a:latin typeface="Calibri"/>
                <a:ea typeface="Calibri"/>
                <a:cs typeface="Calibri"/>
              </a:rPr>
              <a:t>Beside one team, real scans</a:t>
            </a:r>
          </a:p>
        </p:txBody>
      </p:sp>
      <p:sp>
        <p:nvSpPr>
          <p:cNvPr id="13" name="TextBox 12">
            <a:extLst>
              <a:ext uri="{FF2B5EF4-FFF2-40B4-BE49-F238E27FC236}">
                <a16:creationId xmlns:a16="http://schemas.microsoft.com/office/drawing/2014/main" id="{2EEAEDDF-0749-403D-9663-F1FA1D7A6DED}"/>
              </a:ext>
            </a:extLst>
          </p:cNvPr>
          <p:cNvSpPr>
            <a:spLocks noGrp="1"/>
          </p:cNvSpPr>
          <p:nvPr/>
        </p:nvSpPr>
        <p:spPr>
          <a:xfrm>
            <a:off x="914400" y="3246120"/>
            <a:ext cx="2926080" cy="457200"/>
          </a:xfrm>
          <a:prstGeom prst="rect">
            <a:avLst/>
          </a:prstGeom>
          <a:noFill/>
        </p:spPr>
        <p:txBody>
          <a:bodyPr wrap="square" lIns="0" tIns="0" rIns="0" bIns="0" anchor="t">
            <a:spAutoFit/>
          </a:bodyPr>
          <a:lstStyle/>
          <a:p>
            <a:pPr algn="l">
              <a:buNone/>
              <a:defRPr>
                <a:solidFill>
                  <a:srgbClr val="F8FAFC"/>
                </a:solidFill>
              </a:defRPr>
            </a:pPr>
            <a:r>
              <a:rPr sz="1400" b="1">
                <a:solidFill>
                  <a:srgbClr val="F8FAFC"/>
                </a:solidFill>
                <a:latin typeface="Calibri"/>
                <a:ea typeface="Calibri"/>
                <a:cs typeface="Calibri"/>
              </a:rPr>
              <a:t>Exit: ≥ 95% agreement</a:t>
            </a:r>
          </a:p>
        </p:txBody>
      </p:sp>
      <p:sp>
        <p:nvSpPr>
          <p:cNvPr id="14" name="Rounded Rectangle 13">
            <a:extLst>
              <a:ext uri="{FF2B5EF4-FFF2-40B4-BE49-F238E27FC236}">
                <a16:creationId xmlns:a16="http://schemas.microsoft.com/office/drawing/2014/main" id="{A7F832D0-CA7E-4B44-8281-8A947E256DE9}"/>
              </a:ext>
            </a:extLst>
          </p:cNvPr>
          <p:cNvSpPr>
            <a:spLocks noGrp="1"/>
          </p:cNvSpPr>
          <p:nvPr/>
        </p:nvSpPr>
        <p:spPr>
          <a:xfrm>
            <a:off x="4343400" y="1691640"/>
            <a:ext cx="3474720" cy="224028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B2D53CA-F052-4E8B-B107-CFCB611F6A14}"/>
              </a:ext>
            </a:extLst>
          </p:cNvPr>
          <p:cNvSpPr>
            <a:spLocks noGrp="1"/>
          </p:cNvSpPr>
          <p:nvPr/>
        </p:nvSpPr>
        <p:spPr>
          <a:xfrm>
            <a:off x="4617720" y="1920240"/>
            <a:ext cx="2926080" cy="411480"/>
          </a:xfrm>
          <a:prstGeom prst="rect">
            <a:avLst/>
          </a:prstGeom>
          <a:noFill/>
        </p:spPr>
        <p:txBody>
          <a:bodyPr wrap="square" lIns="0" tIns="0" rIns="0" bIns="0" anchor="t">
            <a:spAutoFit/>
          </a:bodyPr>
          <a:lstStyle/>
          <a:p>
            <a:pPr algn="l">
              <a:buNone/>
              <a:defRPr>
                <a:solidFill>
                  <a:srgbClr val="2DD4BF"/>
                </a:solidFill>
              </a:defRPr>
            </a:pPr>
            <a:r>
              <a:rPr sz="2000" b="1">
                <a:solidFill>
                  <a:srgbClr val="2DD4BF"/>
                </a:solidFill>
                <a:latin typeface="Calibri"/>
                <a:ea typeface="Calibri"/>
                <a:cs typeface="Calibri"/>
              </a:rPr>
              <a:t>2 · Assisted</a:t>
            </a:r>
          </a:p>
        </p:txBody>
      </p:sp>
      <p:sp>
        <p:nvSpPr>
          <p:cNvPr id="16" name="TextBox 15">
            <a:extLst>
              <a:ext uri="{FF2B5EF4-FFF2-40B4-BE49-F238E27FC236}">
                <a16:creationId xmlns:a16="http://schemas.microsoft.com/office/drawing/2014/main" id="{D12111D0-6CC5-4C9A-A960-B6BAFDA9BC3C}"/>
              </a:ext>
            </a:extLst>
          </p:cNvPr>
          <p:cNvSpPr>
            <a:spLocks noGrp="1"/>
          </p:cNvSpPr>
          <p:nvPr/>
        </p:nvSpPr>
        <p:spPr>
          <a:xfrm>
            <a:off x="4617720" y="2468880"/>
            <a:ext cx="2926080" cy="548640"/>
          </a:xfrm>
          <a:prstGeom prst="rect">
            <a:avLst/>
          </a:prstGeom>
          <a:noFill/>
        </p:spPr>
        <p:txBody>
          <a:bodyPr wrap="square" lIns="0" tIns="0" rIns="0" bIns="0" anchor="t">
            <a:spAutoFit/>
          </a:bodyPr>
          <a:lstStyle/>
          <a:p>
            <a:pPr algn="l">
              <a:buNone/>
              <a:defRPr>
                <a:solidFill>
                  <a:srgbClr val="F8FAFC"/>
                </a:solidFill>
              </a:defRPr>
            </a:pPr>
            <a:r>
              <a:rPr sz="1500" b="0">
                <a:solidFill>
                  <a:srgbClr val="F8FAFC"/>
                </a:solidFill>
                <a:latin typeface="Calibri"/>
                <a:ea typeface="Calibri"/>
                <a:cs typeface="Calibri"/>
              </a:rPr>
              <a:t>People confirm recommendations</a:t>
            </a:r>
          </a:p>
        </p:txBody>
      </p:sp>
      <p:sp>
        <p:nvSpPr>
          <p:cNvPr id="17" name="TextBox 16">
            <a:extLst>
              <a:ext uri="{FF2B5EF4-FFF2-40B4-BE49-F238E27FC236}">
                <a16:creationId xmlns:a16="http://schemas.microsoft.com/office/drawing/2014/main" id="{808B7ADE-7FCA-47C7-A8BB-BA511DB27438}"/>
              </a:ext>
            </a:extLst>
          </p:cNvPr>
          <p:cNvSpPr>
            <a:spLocks noGrp="1"/>
          </p:cNvSpPr>
          <p:nvPr/>
        </p:nvSpPr>
        <p:spPr>
          <a:xfrm>
            <a:off x="4617720" y="3246120"/>
            <a:ext cx="2926080" cy="457200"/>
          </a:xfrm>
          <a:prstGeom prst="rect">
            <a:avLst/>
          </a:prstGeom>
          <a:noFill/>
        </p:spPr>
        <p:txBody>
          <a:bodyPr wrap="square" lIns="0" tIns="0" rIns="0" bIns="0" anchor="t">
            <a:spAutoFit/>
          </a:bodyPr>
          <a:lstStyle/>
          <a:p>
            <a:pPr algn="l">
              <a:buNone/>
              <a:defRPr>
                <a:solidFill>
                  <a:srgbClr val="F8FAFC"/>
                </a:solidFill>
              </a:defRPr>
            </a:pPr>
            <a:r>
              <a:rPr sz="1400" b="1">
                <a:solidFill>
                  <a:srgbClr val="F8FAFC"/>
                </a:solidFill>
                <a:latin typeface="Calibri"/>
                <a:ea typeface="Calibri"/>
                <a:cs typeface="Calibri"/>
              </a:rPr>
              <a:t>Exit: &lt; 5% overrides</a:t>
            </a:r>
          </a:p>
        </p:txBody>
      </p:sp>
      <p:sp>
        <p:nvSpPr>
          <p:cNvPr id="18" name="Rounded Rectangle 17">
            <a:extLst>
              <a:ext uri="{FF2B5EF4-FFF2-40B4-BE49-F238E27FC236}">
                <a16:creationId xmlns:a16="http://schemas.microsoft.com/office/drawing/2014/main" id="{46D3EDE6-555D-4940-8BB3-80FC78648739}"/>
              </a:ext>
            </a:extLst>
          </p:cNvPr>
          <p:cNvSpPr>
            <a:spLocks noGrp="1"/>
          </p:cNvSpPr>
          <p:nvPr/>
        </p:nvSpPr>
        <p:spPr>
          <a:xfrm>
            <a:off x="8046719" y="1691640"/>
            <a:ext cx="3474720" cy="224028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D080D82-5456-4D60-8300-EF86F7D0CCFE}"/>
              </a:ext>
            </a:extLst>
          </p:cNvPr>
          <p:cNvSpPr>
            <a:spLocks noGrp="1"/>
          </p:cNvSpPr>
          <p:nvPr/>
        </p:nvSpPr>
        <p:spPr>
          <a:xfrm>
            <a:off x="8321039" y="1920240"/>
            <a:ext cx="2926080" cy="411480"/>
          </a:xfrm>
          <a:prstGeom prst="rect">
            <a:avLst/>
          </a:prstGeom>
          <a:noFill/>
        </p:spPr>
        <p:txBody>
          <a:bodyPr wrap="square" lIns="0" tIns="0" rIns="0" bIns="0" anchor="t">
            <a:spAutoFit/>
          </a:bodyPr>
          <a:lstStyle/>
          <a:p>
            <a:pPr algn="l">
              <a:buNone/>
              <a:defRPr>
                <a:solidFill>
                  <a:srgbClr val="2DD4BF"/>
                </a:solidFill>
              </a:defRPr>
            </a:pPr>
            <a:r>
              <a:rPr sz="2000" b="1">
                <a:solidFill>
                  <a:srgbClr val="2DD4BF"/>
                </a:solidFill>
                <a:latin typeface="Calibri"/>
                <a:ea typeface="Calibri"/>
                <a:cs typeface="Calibri"/>
              </a:rPr>
              <a:t>3 · Straight-through</a:t>
            </a:r>
          </a:p>
        </p:txBody>
      </p:sp>
      <p:sp>
        <p:nvSpPr>
          <p:cNvPr id="20" name="TextBox 19">
            <a:extLst>
              <a:ext uri="{FF2B5EF4-FFF2-40B4-BE49-F238E27FC236}">
                <a16:creationId xmlns:a16="http://schemas.microsoft.com/office/drawing/2014/main" id="{0AABA66E-86F9-40C1-A1D0-8EC1C73CAFC5}"/>
              </a:ext>
            </a:extLst>
          </p:cNvPr>
          <p:cNvSpPr>
            <a:spLocks noGrp="1"/>
          </p:cNvSpPr>
          <p:nvPr/>
        </p:nvSpPr>
        <p:spPr>
          <a:xfrm>
            <a:off x="8321039" y="2468880"/>
            <a:ext cx="2926080" cy="548640"/>
          </a:xfrm>
          <a:prstGeom prst="rect">
            <a:avLst/>
          </a:prstGeom>
          <a:noFill/>
        </p:spPr>
        <p:txBody>
          <a:bodyPr wrap="square" lIns="0" tIns="0" rIns="0" bIns="0" anchor="t">
            <a:spAutoFit/>
          </a:bodyPr>
          <a:lstStyle/>
          <a:p>
            <a:pPr algn="l">
              <a:buNone/>
              <a:defRPr>
                <a:solidFill>
                  <a:srgbClr val="F8FAFC"/>
                </a:solidFill>
              </a:defRPr>
            </a:pPr>
            <a:r>
              <a:rPr sz="1500" b="0">
                <a:solidFill>
                  <a:srgbClr val="F8FAFC"/>
                </a:solidFill>
                <a:latin typeface="Calibri"/>
                <a:ea typeface="Calibri"/>
                <a:cs typeface="Calibri"/>
              </a:rPr>
              <a:t>Clean claims go automatically</a:t>
            </a:r>
          </a:p>
        </p:txBody>
      </p:sp>
      <p:sp>
        <p:nvSpPr>
          <p:cNvPr id="21" name="TextBox 20">
            <a:extLst>
              <a:ext uri="{FF2B5EF4-FFF2-40B4-BE49-F238E27FC236}">
                <a16:creationId xmlns:a16="http://schemas.microsoft.com/office/drawing/2014/main" id="{309B0DD6-616C-44AF-A44C-DEA98BC09AC7}"/>
              </a:ext>
            </a:extLst>
          </p:cNvPr>
          <p:cNvSpPr>
            <a:spLocks noGrp="1"/>
          </p:cNvSpPr>
          <p:nvPr/>
        </p:nvSpPr>
        <p:spPr>
          <a:xfrm>
            <a:off x="8321039" y="3246120"/>
            <a:ext cx="2926080" cy="457200"/>
          </a:xfrm>
          <a:prstGeom prst="rect">
            <a:avLst/>
          </a:prstGeom>
          <a:noFill/>
        </p:spPr>
        <p:txBody>
          <a:bodyPr wrap="square" lIns="0" tIns="0" rIns="0" bIns="0" anchor="t">
            <a:spAutoFit/>
          </a:bodyPr>
          <a:lstStyle/>
          <a:p>
            <a:pPr algn="l">
              <a:buNone/>
              <a:defRPr>
                <a:solidFill>
                  <a:srgbClr val="F8FAFC"/>
                </a:solidFill>
              </a:defRPr>
            </a:pPr>
            <a:r>
              <a:rPr sz="1400" b="1">
                <a:solidFill>
                  <a:srgbClr val="F8FAFC"/>
                </a:solidFill>
                <a:latin typeface="Calibri"/>
                <a:ea typeface="Calibri"/>
                <a:cs typeface="Calibri"/>
              </a:rPr>
              <a:t>Escalations stay human</a:t>
            </a:r>
          </a:p>
        </p:txBody>
      </p:sp>
      <p:sp>
        <p:nvSpPr>
          <p:cNvPr id="22" name="Rounded Rectangle 21">
            <a:extLst>
              <a:ext uri="{FF2B5EF4-FFF2-40B4-BE49-F238E27FC236}">
                <a16:creationId xmlns:a16="http://schemas.microsoft.com/office/drawing/2014/main" id="{22AF3734-321B-45E2-BC2E-5C36294462C1}"/>
              </a:ext>
            </a:extLst>
          </p:cNvPr>
          <p:cNvSpPr>
            <a:spLocks noGrp="1"/>
          </p:cNvSpPr>
          <p:nvPr/>
        </p:nvSpPr>
        <p:spPr>
          <a:xfrm>
            <a:off x="640080" y="4251960"/>
            <a:ext cx="10881360" cy="1828800"/>
          </a:xfrm>
          <a:prstGeom prst="roundRect">
            <a:avLst>
              <a:gd name="adj" fmla="val 8000"/>
            </a:avLst>
          </a:prstGeom>
          <a:solidFill>
            <a:srgbClr val="203A4D"/>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9E5004CD-413A-46DF-83FA-20B511AE9BBD}"/>
              </a:ext>
            </a:extLst>
          </p:cNvPr>
          <p:cNvSpPr>
            <a:spLocks noGrp="1"/>
          </p:cNvSpPr>
          <p:nvPr/>
        </p:nvSpPr>
        <p:spPr>
          <a:xfrm>
            <a:off x="914400" y="4480560"/>
            <a:ext cx="10424160" cy="365760"/>
          </a:xfrm>
          <a:prstGeom prst="rect">
            <a:avLst/>
          </a:prstGeom>
          <a:noFill/>
        </p:spPr>
        <p:txBody>
          <a:bodyPr wrap="square" lIns="0" tIns="0" rIns="0" bIns="0" anchor="t">
            <a:spAutoFit/>
          </a:bodyPr>
          <a:lstStyle/>
          <a:p>
            <a:pPr algn="l">
              <a:buNone/>
              <a:defRPr>
                <a:solidFill>
                  <a:srgbClr val="2DD4BF"/>
                </a:solidFill>
              </a:defRPr>
            </a:pPr>
            <a:r>
              <a:rPr sz="1300" b="1">
                <a:solidFill>
                  <a:srgbClr val="2DD4BF"/>
                </a:solidFill>
                <a:latin typeface="Calibri"/>
                <a:ea typeface="Calibri"/>
                <a:cs typeface="Calibri"/>
              </a:rPr>
              <a:t>DECISIONS I NEED TODAY</a:t>
            </a:r>
          </a:p>
        </p:txBody>
      </p:sp>
      <p:sp>
        <p:nvSpPr>
          <p:cNvPr id="24" name="TextBox 23">
            <a:extLst>
              <a:ext uri="{FF2B5EF4-FFF2-40B4-BE49-F238E27FC236}">
                <a16:creationId xmlns:a16="http://schemas.microsoft.com/office/drawing/2014/main" id="{28A40D63-A51F-4F6E-AFB6-38F6080119D0}"/>
              </a:ext>
            </a:extLst>
          </p:cNvPr>
          <p:cNvSpPr>
            <a:spLocks noGrp="1"/>
          </p:cNvSpPr>
          <p:nvPr/>
        </p:nvSpPr>
        <p:spPr>
          <a:xfrm>
            <a:off x="914400" y="4892040"/>
            <a:ext cx="10424160" cy="1097280"/>
          </a:xfrm>
          <a:prstGeom prst="rect">
            <a:avLst/>
          </a:prstGeom>
          <a:noFill/>
        </p:spPr>
        <p:txBody>
          <a:bodyPr wrap="square" lIns="0" tIns="0" rIns="0" bIns="0" anchor="t">
            <a:spAutoFit/>
          </a:bodyPr>
          <a:lstStyle/>
          <a:p>
            <a:pPr algn="l">
              <a:buNone/>
              <a:defRPr>
                <a:solidFill>
                  <a:srgbClr val="F8FAFC"/>
                </a:solidFill>
              </a:defRPr>
            </a:pPr>
            <a:r>
              <a:rPr sz="1700" b="0">
                <a:solidFill>
                  <a:srgbClr val="F8FAFC"/>
                </a:solidFill>
                <a:latin typeface="Calibri"/>
                <a:ea typeface="Calibri"/>
                <a:cs typeface="Calibri"/>
              </a:rPr>
              <a:t>1.  Name a pilot team and adjudication owner</a:t>
            </a:r>
          </a:p>
          <a:p>
            <a:pPr algn="l">
              <a:buNone/>
              <a:defRPr>
                <a:solidFill>
                  <a:srgbClr val="F8FAFC"/>
                </a:solidFill>
              </a:defRPr>
            </a:pPr>
            <a:r>
              <a:rPr sz="1700" b="0">
                <a:solidFill>
                  <a:srgbClr val="F8FAFC"/>
                </a:solidFill>
                <a:latin typeface="Calibri"/>
                <a:ea typeface="Calibri"/>
                <a:cs typeface="Calibri"/>
              </a:rPr>
              <a:t>2.  Review model-provider and data controls</a:t>
            </a:r>
          </a:p>
          <a:p>
            <a:pPr algn="l">
              <a:buNone/>
              <a:defRPr>
                <a:solidFill>
                  <a:srgbClr val="F8FAFC"/>
                </a:solidFill>
              </a:defRPr>
            </a:pPr>
            <a:r>
              <a:rPr sz="1700" b="0">
                <a:solidFill>
                  <a:srgbClr val="F8FAFC"/>
                </a:solidFill>
                <a:latin typeface="Calibri"/>
                <a:ea typeface="Calibri"/>
                <a:cs typeface="Calibri"/>
              </a:rPr>
              <a:t>3.  Scope SSO and durable AWS checkpoints</a:t>
            </a:r>
          </a:p>
        </p:txBody>
      </p:sp>
    </p:spTree>
    <p:extLst>
      <p:ext uri="{BB962C8B-B14F-4D97-AF65-F5344CB8AC3E}">
        <p14:creationId xmlns:p14="http://schemas.microsoft.com/office/powerpoint/2010/main" val="18741538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667EF3C-FDF8-4E6D-B87E-29DB5BF5B8AE}"/>
              </a:ext>
            </a:extLst>
          </p:cNvPr>
          <p:cNvSpPr>
            <a:spLocks noGrp="1"/>
          </p:cNvSpPr>
          <p:nvPr/>
        </p:nvSpPr>
        <p:spPr>
          <a:xfrm>
            <a:off x="0" y="0"/>
            <a:ext cx="12191695" cy="109728"/>
          </a:xfrm>
          <a:prstGeom prst="rect">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3F121303-960A-4224-9757-053459FD8D20}"/>
              </a:ext>
            </a:extLst>
          </p:cNvPr>
          <p:cNvSpPr>
            <a:spLocks noGrp="1"/>
          </p:cNvSpPr>
          <p:nvPr/>
        </p:nvSpPr>
        <p:spPr>
          <a:xfrm>
            <a:off x="640080" y="411480"/>
            <a:ext cx="9144000" cy="320040"/>
          </a:xfrm>
          <a:prstGeom prst="rect">
            <a:avLst/>
          </a:prstGeom>
          <a:noFill/>
        </p:spPr>
        <p:txBody>
          <a:bodyPr wrap="square" lIns="0" tIns="0" rIns="0" bIns="0" anchor="t">
            <a:spAutoFit/>
          </a:bodyPr>
          <a:lstStyle/>
          <a:p>
            <a:pPr algn="l">
              <a:buNone/>
              <a:defRPr>
                <a:solidFill>
                  <a:srgbClr val="2DD4BF"/>
                </a:solidFill>
              </a:defRPr>
            </a:pPr>
            <a:r>
              <a:rPr sz="1200" b="1">
                <a:solidFill>
                  <a:srgbClr val="2DD4BF"/>
                </a:solidFill>
                <a:latin typeface="Calibri"/>
                <a:ea typeface="Calibri"/>
                <a:cs typeface="Calibri"/>
              </a:rPr>
              <a:t>APPENDIX · SCOPE</a:t>
            </a:r>
          </a:p>
        </p:txBody>
      </p:sp>
      <p:sp>
        <p:nvSpPr>
          <p:cNvPr id="4" name="TextBox 3">
            <a:extLst>
              <a:ext uri="{FF2B5EF4-FFF2-40B4-BE49-F238E27FC236}">
                <a16:creationId xmlns:a16="http://schemas.microsoft.com/office/drawing/2014/main" id="{6FFBD274-AD70-4BBD-A876-934E4E48EFD8}"/>
              </a:ext>
            </a:extLst>
          </p:cNvPr>
          <p:cNvSpPr>
            <a:spLocks noGrp="1"/>
          </p:cNvSpPr>
          <p:nvPr/>
        </p:nvSpPr>
        <p:spPr>
          <a:xfrm>
            <a:off x="640080" y="685800"/>
            <a:ext cx="10972800" cy="731520"/>
          </a:xfrm>
          <a:prstGeom prst="rect">
            <a:avLst/>
          </a:prstGeom>
          <a:noFill/>
        </p:spPr>
        <p:txBody>
          <a:bodyPr wrap="square" lIns="0" tIns="0" rIns="0" bIns="0" anchor="t">
            <a:spAutoFit/>
          </a:bodyPr>
          <a:lstStyle/>
          <a:p>
            <a:pPr algn="l">
              <a:buNone/>
              <a:defRPr>
                <a:solidFill>
                  <a:srgbClr val="F8FAFC"/>
                </a:solidFill>
              </a:defRPr>
            </a:pPr>
            <a:r>
              <a:rPr sz="3200" b="1">
                <a:solidFill>
                  <a:srgbClr val="F8FAFC"/>
                </a:solidFill>
                <a:latin typeface="Calibri"/>
                <a:ea typeface="Calibri"/>
                <a:cs typeface="Calibri"/>
              </a:rPr>
              <a:t>Required scope is implemented</a:t>
            </a:r>
          </a:p>
        </p:txBody>
      </p:sp>
      <p:sp>
        <p:nvSpPr>
          <p:cNvPr id="5" name="Pentagon 4">
            <a:extLst>
              <a:ext uri="{FF2B5EF4-FFF2-40B4-BE49-F238E27FC236}">
                <a16:creationId xmlns:a16="http://schemas.microsoft.com/office/drawing/2014/main" id="{F4F64720-93AC-4BBD-8702-394723F05DB2}"/>
              </a:ext>
            </a:extLst>
          </p:cNvPr>
          <p:cNvSpPr>
            <a:spLocks noGrp="1"/>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41B532C9-30D2-4098-A968-D698B7F12466}"/>
              </a:ext>
            </a:extLst>
          </p:cNvPr>
          <p:cNvSpPr>
            <a:spLocks noGrp="1"/>
          </p:cNvSpPr>
          <p:nvPr/>
        </p:nvSpPr>
        <p:spPr>
          <a:xfrm>
            <a:off x="11358860" y="453177"/>
            <a:ext cx="69128" cy="215066"/>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E296A8A1-56A0-49DE-A5F8-22FB260A5861}"/>
              </a:ext>
            </a:extLst>
          </p:cNvPr>
          <p:cNvSpPr>
            <a:spLocks noGrp="1"/>
          </p:cNvSpPr>
          <p:nvPr/>
        </p:nvSpPr>
        <p:spPr>
          <a:xfrm>
            <a:off x="11285891" y="526146"/>
            <a:ext cx="215066" cy="69128"/>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F42A9A6E-22E9-4C37-882A-4A858C297E6D}"/>
              </a:ext>
            </a:extLst>
          </p:cNvPr>
          <p:cNvSpPr>
            <a:spLocks noGrp="1"/>
          </p:cNvSpPr>
          <p:nvPr/>
        </p:nvSpPr>
        <p:spPr>
          <a:xfrm>
            <a:off x="640080" y="6446520"/>
            <a:ext cx="7315200" cy="274320"/>
          </a:xfrm>
          <a:prstGeom prst="rect">
            <a:avLst/>
          </a:prstGeom>
          <a:noFill/>
        </p:spPr>
        <p:txBody>
          <a:bodyPr wrap="square" lIns="0" tIns="0" rIns="0" bIns="0" anchor="t">
            <a:spAutoFit/>
          </a:bodyPr>
          <a:lstStyle/>
          <a:p>
            <a:pPr algn="l">
              <a:buNone/>
              <a:defRPr>
                <a:solidFill>
                  <a:srgbClr val="CBD5E1"/>
                </a:solidFill>
              </a:defRPr>
            </a:pPr>
            <a:r>
              <a:rPr sz="1000" b="0">
                <a:solidFill>
                  <a:srgbClr val="CBD5E1"/>
                </a:solidFill>
                <a:latin typeface="Calibri"/>
                <a:ea typeface="Calibri"/>
                <a:cs typeface="Calibri"/>
              </a:rPr>
              <a:t>MediShield Health · Appendix</a:t>
            </a:r>
          </a:p>
        </p:txBody>
      </p:sp>
      <p:sp>
        <p:nvSpPr>
          <p:cNvPr id="9" name="TextBox 8">
            <a:extLst>
              <a:ext uri="{FF2B5EF4-FFF2-40B4-BE49-F238E27FC236}">
                <a16:creationId xmlns:a16="http://schemas.microsoft.com/office/drawing/2014/main" id="{E907C623-4121-4BB2-8C9D-D579660C7159}"/>
              </a:ext>
            </a:extLst>
          </p:cNvPr>
          <p:cNvSpPr>
            <a:spLocks noGrp="1"/>
          </p:cNvSpPr>
          <p:nvPr/>
        </p:nvSpPr>
        <p:spPr>
          <a:xfrm>
            <a:off x="10881360" y="6446520"/>
            <a:ext cx="731520" cy="274320"/>
          </a:xfrm>
          <a:prstGeom prst="rect">
            <a:avLst/>
          </a:prstGeom>
          <a:noFill/>
        </p:spPr>
        <p:txBody>
          <a:bodyPr wrap="square" lIns="0" tIns="0" rIns="0" bIns="0" anchor="t">
            <a:spAutoFit/>
          </a:bodyPr>
          <a:lstStyle/>
          <a:p>
            <a:pPr algn="r">
              <a:buNone/>
              <a:defRPr>
                <a:solidFill>
                  <a:srgbClr val="CBD5E1"/>
                </a:solidFill>
              </a:defRPr>
            </a:pPr>
            <a:r>
              <a:rPr sz="1000" b="0">
                <a:solidFill>
                  <a:srgbClr val="CBD5E1"/>
                </a:solidFill>
                <a:latin typeface="Calibri"/>
                <a:ea typeface="Calibri"/>
                <a:cs typeface="Calibri"/>
              </a:rPr>
              <a:t>9</a:t>
            </a:r>
          </a:p>
        </p:txBody>
      </p:sp>
      <p:sp>
        <p:nvSpPr>
          <p:cNvPr id="10" name="Rounded Rectangle 9">
            <a:extLst>
              <a:ext uri="{FF2B5EF4-FFF2-40B4-BE49-F238E27FC236}">
                <a16:creationId xmlns:a16="http://schemas.microsoft.com/office/drawing/2014/main" id="{B66C690B-7BDE-4254-944C-DACB8084B947}"/>
              </a:ext>
            </a:extLst>
          </p:cNvPr>
          <p:cNvSpPr>
            <a:spLocks noGrp="1"/>
          </p:cNvSpPr>
          <p:nvPr/>
        </p:nvSpPr>
        <p:spPr>
          <a:xfrm>
            <a:off x="640080" y="1691640"/>
            <a:ext cx="3474720" cy="443484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EC0927BE-ADA3-45ED-9AF8-43B0833BE2F0}"/>
              </a:ext>
            </a:extLst>
          </p:cNvPr>
          <p:cNvSpPr>
            <a:spLocks noGrp="1"/>
          </p:cNvSpPr>
          <p:nvPr/>
        </p:nvSpPr>
        <p:spPr>
          <a:xfrm>
            <a:off x="960120" y="1920240"/>
            <a:ext cx="2926080" cy="411480"/>
          </a:xfrm>
          <a:prstGeom prst="rect">
            <a:avLst/>
          </a:prstGeom>
          <a:noFill/>
        </p:spPr>
        <p:txBody>
          <a:bodyPr wrap="square" lIns="0" tIns="0" rIns="0" bIns="0" anchor="t">
            <a:spAutoFit/>
          </a:bodyPr>
          <a:lstStyle/>
          <a:p>
            <a:pPr algn="l">
              <a:buNone/>
              <a:defRPr>
                <a:solidFill>
                  <a:srgbClr val="2DD4BF"/>
                </a:solidFill>
              </a:defRPr>
            </a:pPr>
            <a:r>
              <a:rPr sz="2000" b="1">
                <a:solidFill>
                  <a:srgbClr val="2DD4BF"/>
                </a:solidFill>
                <a:latin typeface="Calibri"/>
                <a:ea typeface="Calibri"/>
                <a:cs typeface="Calibri"/>
              </a:rPr>
              <a:t>The brief</a:t>
            </a:r>
          </a:p>
        </p:txBody>
      </p:sp>
      <p:sp>
        <p:nvSpPr>
          <p:cNvPr id="12" name="TextBox 11">
            <a:extLst>
              <a:ext uri="{FF2B5EF4-FFF2-40B4-BE49-F238E27FC236}">
                <a16:creationId xmlns:a16="http://schemas.microsoft.com/office/drawing/2014/main" id="{69A80022-C11C-4D52-B4DB-5204AC4CCC2E}"/>
              </a:ext>
            </a:extLst>
          </p:cNvPr>
          <p:cNvSpPr>
            <a:spLocks noGrp="1"/>
          </p:cNvSpPr>
          <p:nvPr/>
        </p:nvSpPr>
        <p:spPr>
          <a:xfrm>
            <a:off x="960120" y="2377440"/>
            <a:ext cx="2926080" cy="640080"/>
          </a:xfrm>
          <a:prstGeom prst="rect">
            <a:avLst/>
          </a:prstGeom>
          <a:noFill/>
        </p:spPr>
        <p:txBody>
          <a:bodyPr wrap="square" lIns="0" tIns="0" rIns="0" bIns="0" anchor="t">
            <a:spAutoFit/>
          </a:bodyPr>
          <a:lstStyle/>
          <a:p>
            <a:pPr algn="l">
              <a:buNone/>
              <a:defRPr>
                <a:solidFill>
                  <a:srgbClr val="CBD5E1"/>
                </a:solidFill>
              </a:defRPr>
            </a:pPr>
            <a:r>
              <a:rPr sz="1400" b="0">
                <a:solidFill>
                  <a:srgbClr val="CBD5E1"/>
                </a:solidFill>
                <a:latin typeface="Calibri"/>
                <a:ea typeface="Calibri"/>
                <a:cs typeface="Calibri"/>
              </a:rPr>
              <a:t>Replaces the manual sorting and checking</a:t>
            </a:r>
          </a:p>
        </p:txBody>
      </p:sp>
      <p:sp>
        <p:nvSpPr>
          <p:cNvPr id="13" name="TextBox 12">
            <a:extLst>
              <a:ext uri="{FF2B5EF4-FFF2-40B4-BE49-F238E27FC236}">
                <a16:creationId xmlns:a16="http://schemas.microsoft.com/office/drawing/2014/main" id="{DC185E13-120F-4BE3-B347-4B632029C70F}"/>
              </a:ext>
            </a:extLst>
          </p:cNvPr>
          <p:cNvSpPr>
            <a:spLocks noGrp="1"/>
          </p:cNvSpPr>
          <p:nvPr/>
        </p:nvSpPr>
        <p:spPr>
          <a:xfrm>
            <a:off x="960120" y="3154680"/>
            <a:ext cx="2926080" cy="2834640"/>
          </a:xfrm>
          <a:prstGeom prst="rect">
            <a:avLst/>
          </a:prstGeom>
          <a:noFill/>
        </p:spPr>
        <p:txBody>
          <a:bodyPr wrap="square" lIns="0" tIns="0" rIns="0" bIns="0" anchor="t">
            <a:spAutoFit/>
          </a:bodyPr>
          <a:lstStyle/>
          <a:p>
            <a:pPr algn="l">
              <a:buNone/>
              <a:defRPr>
                <a:solidFill>
                  <a:srgbClr val="F8FAFC"/>
                </a:solidFill>
              </a:defRPr>
            </a:pPr>
            <a:r>
              <a:rPr sz="1600" b="0">
                <a:solidFill>
                  <a:srgbClr val="F8FAFC"/>
                </a:solidFill>
                <a:latin typeface="Calibri"/>
                <a:ea typeface="Calibri"/>
                <a:cs typeface="Calibri"/>
              </a:rPr>
              <a:t>✓  Seven agent roles, routed by type</a:t>
            </a:r>
          </a:p>
          <a:p>
            <a:pPr algn="l">
              <a:buNone/>
              <a:defRPr>
                <a:solidFill>
                  <a:srgbClr val="F8FAFC"/>
                </a:solidFill>
              </a:defRPr>
            </a:pPr>
            <a:r>
              <a:rPr sz="1600" b="0">
                <a:solidFill>
                  <a:srgbClr val="F8FAFC"/>
                </a:solidFill>
                <a:latin typeface="Calibri"/>
                <a:ea typeface="Calibri"/>
                <a:cs typeface="Calibri"/>
              </a:rPr>
              <a:t>✓  Intake API and case workflow</a:t>
            </a:r>
          </a:p>
          <a:p>
            <a:pPr algn="l">
              <a:buNone/>
              <a:defRPr>
                <a:solidFill>
                  <a:srgbClr val="F8FAFC"/>
                </a:solidFill>
              </a:defRPr>
            </a:pPr>
            <a:r>
              <a:rPr sz="1600" b="0">
                <a:solidFill>
                  <a:srgbClr val="F8FAFC"/>
                </a:solidFill>
                <a:latin typeface="Calibri"/>
                <a:ea typeface="Calibri"/>
                <a:cs typeface="Calibri"/>
              </a:rPr>
              <a:t>✓  Policy checks with page refs</a:t>
            </a:r>
          </a:p>
          <a:p>
            <a:pPr algn="l">
              <a:buNone/>
              <a:defRPr>
                <a:solidFill>
                  <a:srgbClr val="F8FAFC"/>
                </a:solidFill>
              </a:defRPr>
            </a:pPr>
            <a:r>
              <a:rPr sz="1600" b="0">
                <a:solidFill>
                  <a:srgbClr val="F8FAFC"/>
                </a:solidFill>
                <a:latin typeface="Calibri"/>
                <a:ea typeface="Calibri"/>
                <a:cs typeface="Calibri"/>
              </a:rPr>
              <a:t>✓  Operations and review screens</a:t>
            </a:r>
          </a:p>
          <a:p>
            <a:pPr algn="l">
              <a:buNone/>
              <a:defRPr>
                <a:solidFill>
                  <a:srgbClr val="F8FAFC"/>
                </a:solidFill>
              </a:defRPr>
            </a:pPr>
            <a:r>
              <a:rPr sz="1600" b="0">
                <a:solidFill>
                  <a:srgbClr val="F8FAFC"/>
                </a:solidFill>
                <a:latin typeface="Calibri"/>
                <a:ea typeface="Calibri"/>
                <a:cs typeface="Calibri"/>
              </a:rPr>
              <a:t>✓  Labelled evaluation</a:t>
            </a:r>
          </a:p>
        </p:txBody>
      </p:sp>
      <p:sp>
        <p:nvSpPr>
          <p:cNvPr id="14" name="Rounded Rectangle 13">
            <a:extLst>
              <a:ext uri="{FF2B5EF4-FFF2-40B4-BE49-F238E27FC236}">
                <a16:creationId xmlns:a16="http://schemas.microsoft.com/office/drawing/2014/main" id="{33DE36B2-64D9-4E7F-AFF1-BE2888AC27DA}"/>
              </a:ext>
            </a:extLst>
          </p:cNvPr>
          <p:cNvSpPr>
            <a:spLocks noGrp="1"/>
          </p:cNvSpPr>
          <p:nvPr/>
        </p:nvSpPr>
        <p:spPr>
          <a:xfrm>
            <a:off x="4343400" y="1691640"/>
            <a:ext cx="3474720" cy="443484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D3702C0C-F5D4-445B-A63A-0510395BF2C3}"/>
              </a:ext>
            </a:extLst>
          </p:cNvPr>
          <p:cNvSpPr>
            <a:spLocks noGrp="1"/>
          </p:cNvSpPr>
          <p:nvPr/>
        </p:nvSpPr>
        <p:spPr>
          <a:xfrm>
            <a:off x="4663440" y="1920240"/>
            <a:ext cx="2926080" cy="411480"/>
          </a:xfrm>
          <a:prstGeom prst="rect">
            <a:avLst/>
          </a:prstGeom>
          <a:noFill/>
        </p:spPr>
        <p:txBody>
          <a:bodyPr wrap="square" lIns="0" tIns="0" rIns="0" bIns="0" anchor="t">
            <a:spAutoFit/>
          </a:bodyPr>
          <a:lstStyle/>
          <a:p>
            <a:pPr algn="l">
              <a:buNone/>
              <a:defRPr>
                <a:solidFill>
                  <a:srgbClr val="2DD4BF"/>
                </a:solidFill>
              </a:defRPr>
            </a:pPr>
            <a:r>
              <a:rPr sz="2000" b="1">
                <a:solidFill>
                  <a:srgbClr val="2DD4BF"/>
                </a:solidFill>
                <a:latin typeface="Calibri"/>
                <a:ea typeface="Calibri"/>
                <a:cs typeface="Calibri"/>
              </a:rPr>
              <a:t>The bonus items</a:t>
            </a:r>
          </a:p>
        </p:txBody>
      </p:sp>
      <p:sp>
        <p:nvSpPr>
          <p:cNvPr id="16" name="TextBox 15">
            <a:extLst>
              <a:ext uri="{FF2B5EF4-FFF2-40B4-BE49-F238E27FC236}">
                <a16:creationId xmlns:a16="http://schemas.microsoft.com/office/drawing/2014/main" id="{ECA97B7F-4CC8-416F-B9E8-91D31499B9A5}"/>
              </a:ext>
            </a:extLst>
          </p:cNvPr>
          <p:cNvSpPr>
            <a:spLocks noGrp="1"/>
          </p:cNvSpPr>
          <p:nvPr/>
        </p:nvSpPr>
        <p:spPr>
          <a:xfrm>
            <a:off x="4663440" y="2377440"/>
            <a:ext cx="2926080" cy="640080"/>
          </a:xfrm>
          <a:prstGeom prst="rect">
            <a:avLst/>
          </a:prstGeom>
          <a:noFill/>
        </p:spPr>
        <p:txBody>
          <a:bodyPr wrap="square" lIns="0" tIns="0" rIns="0" bIns="0" anchor="t">
            <a:spAutoFit/>
          </a:bodyPr>
          <a:lstStyle/>
          <a:p>
            <a:pPr algn="l">
              <a:buNone/>
              <a:defRPr>
                <a:solidFill>
                  <a:srgbClr val="CBD5E1"/>
                </a:solidFill>
              </a:defRPr>
            </a:pPr>
            <a:r>
              <a:rPr sz="1400" b="0">
                <a:solidFill>
                  <a:srgbClr val="CBD5E1"/>
                </a:solidFill>
                <a:latin typeface="Calibri"/>
                <a:ea typeface="Calibri"/>
                <a:cs typeface="Calibri"/>
              </a:rPr>
              <a:t>Answers risk and audit questions</a:t>
            </a:r>
          </a:p>
        </p:txBody>
      </p:sp>
      <p:sp>
        <p:nvSpPr>
          <p:cNvPr id="17" name="TextBox 16">
            <a:extLst>
              <a:ext uri="{FF2B5EF4-FFF2-40B4-BE49-F238E27FC236}">
                <a16:creationId xmlns:a16="http://schemas.microsoft.com/office/drawing/2014/main" id="{0DB36A40-4F68-4BB2-A947-B053CEF43143}"/>
              </a:ext>
            </a:extLst>
          </p:cNvPr>
          <p:cNvSpPr>
            <a:spLocks noGrp="1"/>
          </p:cNvSpPr>
          <p:nvPr/>
        </p:nvSpPr>
        <p:spPr>
          <a:xfrm>
            <a:off x="4663440" y="3154680"/>
            <a:ext cx="2926080" cy="2834640"/>
          </a:xfrm>
          <a:prstGeom prst="rect">
            <a:avLst/>
          </a:prstGeom>
          <a:noFill/>
        </p:spPr>
        <p:txBody>
          <a:bodyPr wrap="square" lIns="0" tIns="0" rIns="0" bIns="0" anchor="t">
            <a:spAutoFit/>
          </a:bodyPr>
          <a:lstStyle/>
          <a:p>
            <a:pPr algn="l">
              <a:buNone/>
              <a:defRPr>
                <a:solidFill>
                  <a:srgbClr val="F8FAFC"/>
                </a:solidFill>
              </a:defRPr>
            </a:pPr>
            <a:r>
              <a:rPr sz="1600" b="0">
                <a:solidFill>
                  <a:srgbClr val="F8FAFC"/>
                </a:solidFill>
                <a:latin typeface="Calibri"/>
                <a:ea typeface="Calibri"/>
                <a:cs typeface="Calibri"/>
              </a:rPr>
              <a:t>✓  Confidence calibration</a:t>
            </a:r>
          </a:p>
          <a:p>
            <a:pPr algn="l">
              <a:buNone/>
              <a:defRPr>
                <a:solidFill>
                  <a:srgbClr val="F8FAFC"/>
                </a:solidFill>
              </a:defRPr>
            </a:pPr>
            <a:r>
              <a:rPr sz="1600" b="0">
                <a:solidFill>
                  <a:srgbClr val="F8FAFC"/>
                </a:solidFill>
                <a:latin typeface="Calibri"/>
                <a:ea typeface="Calibri"/>
                <a:cs typeface="Calibri"/>
              </a:rPr>
              <a:t>✓  ID tamper signals</a:t>
            </a:r>
          </a:p>
          <a:p>
            <a:pPr algn="l">
              <a:buNone/>
              <a:defRPr>
                <a:solidFill>
                  <a:srgbClr val="F8FAFC"/>
                </a:solidFill>
              </a:defRPr>
            </a:pPr>
            <a:r>
              <a:rPr sz="1600" b="0">
                <a:solidFill>
                  <a:srgbClr val="F8FAFC"/>
                </a:solidFill>
                <a:latin typeface="Calibri"/>
                <a:ea typeface="Calibri"/>
                <a:cs typeface="Calibri"/>
              </a:rPr>
              <a:t>✓  Spanish and Hindi samples</a:t>
            </a:r>
          </a:p>
          <a:p>
            <a:pPr algn="l">
              <a:buNone/>
              <a:defRPr>
                <a:solidFill>
                  <a:srgbClr val="F8FAFC"/>
                </a:solidFill>
              </a:defRPr>
            </a:pPr>
            <a:r>
              <a:rPr sz="1600" b="0">
                <a:solidFill>
                  <a:srgbClr val="F8FAFC"/>
                </a:solidFill>
                <a:latin typeface="Calibri"/>
                <a:ea typeface="Calibri"/>
                <a:cs typeface="Calibri"/>
              </a:rPr>
              <a:t>✓  Audit PDF export</a:t>
            </a:r>
          </a:p>
          <a:p>
            <a:pPr algn="l">
              <a:buNone/>
              <a:defRPr>
                <a:solidFill>
                  <a:srgbClr val="F8FAFC"/>
                </a:solidFill>
              </a:defRPr>
            </a:pPr>
            <a:r>
              <a:rPr sz="1600" b="0">
                <a:solidFill>
                  <a:srgbClr val="F8FAFC"/>
                </a:solidFill>
                <a:latin typeface="Calibri"/>
                <a:ea typeface="Calibri"/>
                <a:cs typeface="Calibri"/>
              </a:rPr>
              <a:t>✓  Optional AI tracing</a:t>
            </a:r>
          </a:p>
        </p:txBody>
      </p:sp>
      <p:sp>
        <p:nvSpPr>
          <p:cNvPr id="18" name="Rounded Rectangle 17">
            <a:extLst>
              <a:ext uri="{FF2B5EF4-FFF2-40B4-BE49-F238E27FC236}">
                <a16:creationId xmlns:a16="http://schemas.microsoft.com/office/drawing/2014/main" id="{8C16C13D-2E84-4407-8688-F8C4B19FF5EE}"/>
              </a:ext>
            </a:extLst>
          </p:cNvPr>
          <p:cNvSpPr>
            <a:spLocks noGrp="1"/>
          </p:cNvSpPr>
          <p:nvPr/>
        </p:nvSpPr>
        <p:spPr>
          <a:xfrm>
            <a:off x="8046719" y="1691640"/>
            <a:ext cx="3474720" cy="4434840"/>
          </a:xfrm>
          <a:prstGeom prst="roundRect">
            <a:avLst>
              <a:gd name="adj" fmla="val 8000"/>
            </a:avLst>
          </a:prstGeom>
          <a:solidFill>
            <a:srgbClr val="193344"/>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4FCBC6E1-D3DB-4C5E-BD55-B64E752E6F84}"/>
              </a:ext>
            </a:extLst>
          </p:cNvPr>
          <p:cNvSpPr>
            <a:spLocks noGrp="1"/>
          </p:cNvSpPr>
          <p:nvPr/>
        </p:nvSpPr>
        <p:spPr>
          <a:xfrm>
            <a:off x="8366759" y="1920240"/>
            <a:ext cx="2926080" cy="41148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Beyond the brief</a:t>
            </a:r>
          </a:p>
        </p:txBody>
      </p:sp>
      <p:sp>
        <p:nvSpPr>
          <p:cNvPr id="20" name="TextBox 19">
            <a:extLst>
              <a:ext uri="{FF2B5EF4-FFF2-40B4-BE49-F238E27FC236}">
                <a16:creationId xmlns:a16="http://schemas.microsoft.com/office/drawing/2014/main" id="{E593A555-66E1-4C87-802D-E0D907F6D79B}"/>
              </a:ext>
            </a:extLst>
          </p:cNvPr>
          <p:cNvSpPr>
            <a:spLocks noGrp="1"/>
          </p:cNvSpPr>
          <p:nvPr/>
        </p:nvSpPr>
        <p:spPr>
          <a:xfrm>
            <a:off x="8366759" y="2377440"/>
            <a:ext cx="2926080" cy="640080"/>
          </a:xfrm>
          <a:prstGeom prst="rect">
            <a:avLst/>
          </a:prstGeom>
          <a:noFill/>
        </p:spPr>
        <p:txBody>
          <a:bodyPr wrap="square" lIns="0" tIns="0" rIns="0" bIns="0" anchor="t">
            <a:spAutoFit/>
          </a:bodyPr>
          <a:lstStyle/>
          <a:p>
            <a:pPr algn="l">
              <a:buNone/>
              <a:defRPr>
                <a:solidFill>
                  <a:srgbClr val="CBD5E1"/>
                </a:solidFill>
              </a:defRPr>
            </a:pPr>
            <a:r>
              <a:rPr sz="1400" b="0">
                <a:solidFill>
                  <a:srgbClr val="CBD5E1"/>
                </a:solidFill>
                <a:latin typeface="Calibri"/>
                <a:ea typeface="Calibri"/>
                <a:cs typeface="Calibri"/>
              </a:rPr>
              <a:t>Pilot capabilities</a:t>
            </a:r>
          </a:p>
        </p:txBody>
      </p:sp>
      <p:sp>
        <p:nvSpPr>
          <p:cNvPr id="21" name="TextBox 20">
            <a:extLst>
              <a:ext uri="{FF2B5EF4-FFF2-40B4-BE49-F238E27FC236}">
                <a16:creationId xmlns:a16="http://schemas.microsoft.com/office/drawing/2014/main" id="{4D882848-7F5E-4A9E-8EA3-46A564FDB1E6}"/>
              </a:ext>
            </a:extLst>
          </p:cNvPr>
          <p:cNvSpPr>
            <a:spLocks noGrp="1"/>
          </p:cNvSpPr>
          <p:nvPr/>
        </p:nvSpPr>
        <p:spPr>
          <a:xfrm>
            <a:off x="8366759" y="3154680"/>
            <a:ext cx="2926080" cy="2834640"/>
          </a:xfrm>
          <a:prstGeom prst="rect">
            <a:avLst/>
          </a:prstGeom>
          <a:noFill/>
        </p:spPr>
        <p:txBody>
          <a:bodyPr wrap="square" lIns="0" tIns="0" rIns="0" bIns="0" anchor="t">
            <a:spAutoFit/>
          </a:bodyPr>
          <a:lstStyle/>
          <a:p>
            <a:pPr algn="l">
              <a:buNone/>
              <a:defRPr>
                <a:solidFill>
                  <a:srgbClr val="F8FAFC"/>
                </a:solidFill>
              </a:defRPr>
            </a:pPr>
            <a:r>
              <a:rPr sz="1600" b="0">
                <a:solidFill>
                  <a:srgbClr val="F8FAFC"/>
                </a:solidFill>
                <a:latin typeface="Calibri"/>
                <a:ea typeface="Calibri"/>
                <a:cs typeface="Calibri"/>
              </a:rPr>
              <a:t>✓  Assistant with sources</a:t>
            </a:r>
          </a:p>
          <a:p>
            <a:pPr algn="l">
              <a:buNone/>
              <a:defRPr>
                <a:solidFill>
                  <a:srgbClr val="F8FAFC"/>
                </a:solidFill>
              </a:defRPr>
            </a:pPr>
            <a:r>
              <a:rPr sz="1600" b="0">
                <a:solidFill>
                  <a:srgbClr val="F8FAFC"/>
                </a:solidFill>
                <a:latin typeface="Calibri"/>
                <a:ea typeface="Calibri"/>
                <a:cs typeface="Calibri"/>
              </a:rPr>
              <a:t>✓  Email intake</a:t>
            </a:r>
          </a:p>
          <a:p>
            <a:pPr algn="l">
              <a:buNone/>
              <a:defRPr>
                <a:solidFill>
                  <a:srgbClr val="F8FAFC"/>
                </a:solidFill>
              </a:defRPr>
            </a:pPr>
            <a:r>
              <a:rPr sz="1600" b="0">
                <a:solidFill>
                  <a:srgbClr val="F8FAFC"/>
                </a:solidFill>
                <a:latin typeface="Calibri"/>
                <a:ea typeface="Calibri"/>
                <a:cs typeface="Calibri"/>
              </a:rPr>
              <a:t>✓  Policy version updates</a:t>
            </a:r>
          </a:p>
          <a:p>
            <a:pPr algn="l">
              <a:buNone/>
              <a:defRPr>
                <a:solidFill>
                  <a:srgbClr val="F8FAFC"/>
                </a:solidFill>
              </a:defRPr>
            </a:pPr>
            <a:r>
              <a:rPr sz="1600" b="0">
                <a:solidFill>
                  <a:srgbClr val="F8FAFC"/>
                </a:solidFill>
                <a:latin typeface="Calibri"/>
                <a:ea typeface="Calibri"/>
                <a:cs typeface="Calibri"/>
              </a:rPr>
              <a:t>✓  Review quality monitor</a:t>
            </a:r>
          </a:p>
          <a:p>
            <a:pPr algn="l">
              <a:buNone/>
              <a:defRPr>
                <a:solidFill>
                  <a:srgbClr val="F8FAFC"/>
                </a:solidFill>
              </a:defRPr>
            </a:pPr>
            <a:r>
              <a:rPr sz="1600" b="0">
                <a:solidFill>
                  <a:srgbClr val="F8FAFC"/>
                </a:solidFill>
                <a:latin typeface="Calibri"/>
                <a:ea typeface="Calibri"/>
                <a:cs typeface="Calibri"/>
              </a:rPr>
              <a:t>✓  Regression tests in CI</a:t>
            </a:r>
          </a:p>
        </p:txBody>
      </p:sp>
    </p:spTree>
    <p:extLst>
      <p:ext uri="{BB962C8B-B14F-4D97-AF65-F5344CB8AC3E}">
        <p14:creationId xmlns:p14="http://schemas.microsoft.com/office/powerpoint/2010/main" val="21046085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F74C63-9D24-495B-B252-D8869D12B4B9}"/>
              </a:ext>
            </a:extLst>
          </p:cNvPr>
          <p:cNvSpPr>
            <a:spLocks noGrp="1"/>
          </p:cNvSpPr>
          <p:nvPr/>
        </p:nvSpPr>
        <p:spPr>
          <a:xfrm>
            <a:off x="0" y="0"/>
            <a:ext cx="12191695" cy="109728"/>
          </a:xfrm>
          <a:prstGeom prst="rect">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56E2F6CE-B339-47C2-AF04-45FD1724A27C}"/>
              </a:ext>
            </a:extLst>
          </p:cNvPr>
          <p:cNvSpPr>
            <a:spLocks noGrp="1"/>
          </p:cNvSpPr>
          <p:nvPr/>
        </p:nvSpPr>
        <p:spPr>
          <a:xfrm>
            <a:off x="640080" y="411480"/>
            <a:ext cx="9144000" cy="320040"/>
          </a:xfrm>
          <a:prstGeom prst="rect">
            <a:avLst/>
          </a:prstGeom>
          <a:noFill/>
        </p:spPr>
        <p:txBody>
          <a:bodyPr wrap="square" lIns="0" tIns="0" rIns="0" bIns="0" anchor="t">
            <a:spAutoFit/>
          </a:bodyPr>
          <a:lstStyle/>
          <a:p>
            <a:pPr algn="l">
              <a:buNone/>
              <a:defRPr>
                <a:solidFill>
                  <a:srgbClr val="2DD4BF"/>
                </a:solidFill>
              </a:defRPr>
            </a:pPr>
            <a:r>
              <a:rPr sz="1200" b="1">
                <a:solidFill>
                  <a:srgbClr val="2DD4BF"/>
                </a:solidFill>
                <a:latin typeface="Calibri"/>
                <a:ea typeface="Calibri"/>
                <a:cs typeface="Calibri"/>
              </a:rPr>
              <a:t>APPENDIX · ARCHITECTURE</a:t>
            </a:r>
          </a:p>
        </p:txBody>
      </p:sp>
      <p:sp>
        <p:nvSpPr>
          <p:cNvPr id="4" name="TextBox 3">
            <a:extLst>
              <a:ext uri="{FF2B5EF4-FFF2-40B4-BE49-F238E27FC236}">
                <a16:creationId xmlns:a16="http://schemas.microsoft.com/office/drawing/2014/main" id="{9C846A4B-3E18-4562-9DD0-459F69D7562C}"/>
              </a:ext>
            </a:extLst>
          </p:cNvPr>
          <p:cNvSpPr>
            <a:spLocks noGrp="1"/>
          </p:cNvSpPr>
          <p:nvPr/>
        </p:nvSpPr>
        <p:spPr>
          <a:xfrm>
            <a:off x="640080" y="685800"/>
            <a:ext cx="10972800" cy="731520"/>
          </a:xfrm>
          <a:prstGeom prst="rect">
            <a:avLst/>
          </a:prstGeom>
          <a:noFill/>
        </p:spPr>
        <p:txBody>
          <a:bodyPr wrap="square" lIns="0" tIns="0" rIns="0" bIns="0" anchor="t">
            <a:spAutoFit/>
          </a:bodyPr>
          <a:lstStyle/>
          <a:p>
            <a:pPr algn="l">
              <a:buNone/>
              <a:defRPr>
                <a:solidFill>
                  <a:srgbClr val="F8FAFC"/>
                </a:solidFill>
              </a:defRPr>
            </a:pPr>
            <a:r>
              <a:rPr sz="3200" b="1">
                <a:solidFill>
                  <a:srgbClr val="F8FAFC"/>
                </a:solidFill>
                <a:latin typeface="Calibri"/>
                <a:ea typeface="Calibri"/>
                <a:cs typeface="Calibri"/>
              </a:rPr>
              <a:t>AWS components and current boundaries</a:t>
            </a:r>
          </a:p>
        </p:txBody>
      </p:sp>
      <p:sp>
        <p:nvSpPr>
          <p:cNvPr id="5" name="Pentagon 4">
            <a:extLst>
              <a:ext uri="{FF2B5EF4-FFF2-40B4-BE49-F238E27FC236}">
                <a16:creationId xmlns:a16="http://schemas.microsoft.com/office/drawing/2014/main" id="{7B0C1241-C63A-43D0-8D46-BB6398554017}"/>
              </a:ext>
            </a:extLst>
          </p:cNvPr>
          <p:cNvSpPr>
            <a:spLocks noGrp="1"/>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757B538F-488C-41D5-AFBD-6611309320A2}"/>
              </a:ext>
            </a:extLst>
          </p:cNvPr>
          <p:cNvSpPr>
            <a:spLocks noGrp="1"/>
          </p:cNvSpPr>
          <p:nvPr/>
        </p:nvSpPr>
        <p:spPr>
          <a:xfrm>
            <a:off x="11358860" y="453177"/>
            <a:ext cx="69128" cy="215066"/>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27633905-ACE7-497B-ABA8-D21D21BB3703}"/>
              </a:ext>
            </a:extLst>
          </p:cNvPr>
          <p:cNvSpPr>
            <a:spLocks noGrp="1"/>
          </p:cNvSpPr>
          <p:nvPr/>
        </p:nvSpPr>
        <p:spPr>
          <a:xfrm>
            <a:off x="11285891" y="526146"/>
            <a:ext cx="215066" cy="69128"/>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7A324CB9-0B9D-4DE5-AB9A-2FE72BB35D4D}"/>
              </a:ext>
            </a:extLst>
          </p:cNvPr>
          <p:cNvSpPr>
            <a:spLocks noGrp="1"/>
          </p:cNvSpPr>
          <p:nvPr/>
        </p:nvSpPr>
        <p:spPr>
          <a:xfrm>
            <a:off x="640080" y="6446520"/>
            <a:ext cx="7315200" cy="274320"/>
          </a:xfrm>
          <a:prstGeom prst="rect">
            <a:avLst/>
          </a:prstGeom>
          <a:noFill/>
        </p:spPr>
        <p:txBody>
          <a:bodyPr wrap="square" lIns="0" tIns="0" rIns="0" bIns="0" anchor="t">
            <a:spAutoFit/>
          </a:bodyPr>
          <a:lstStyle/>
          <a:p>
            <a:pPr algn="l">
              <a:buNone/>
              <a:defRPr>
                <a:solidFill>
                  <a:srgbClr val="CBD5E1"/>
                </a:solidFill>
              </a:defRPr>
            </a:pPr>
            <a:r>
              <a:rPr sz="1000" b="0">
                <a:solidFill>
                  <a:srgbClr val="CBD5E1"/>
                </a:solidFill>
                <a:latin typeface="Calibri"/>
                <a:ea typeface="Calibri"/>
                <a:cs typeface="Calibri"/>
              </a:rPr>
              <a:t>MediShield Health · Appendix</a:t>
            </a:r>
          </a:p>
        </p:txBody>
      </p:sp>
      <p:sp>
        <p:nvSpPr>
          <p:cNvPr id="9" name="TextBox 8">
            <a:extLst>
              <a:ext uri="{FF2B5EF4-FFF2-40B4-BE49-F238E27FC236}">
                <a16:creationId xmlns:a16="http://schemas.microsoft.com/office/drawing/2014/main" id="{478C73F2-689B-412C-AE71-0FD1A358380A}"/>
              </a:ext>
            </a:extLst>
          </p:cNvPr>
          <p:cNvSpPr>
            <a:spLocks noGrp="1"/>
          </p:cNvSpPr>
          <p:nvPr/>
        </p:nvSpPr>
        <p:spPr>
          <a:xfrm>
            <a:off x="10881360" y="6446520"/>
            <a:ext cx="731520" cy="274320"/>
          </a:xfrm>
          <a:prstGeom prst="rect">
            <a:avLst/>
          </a:prstGeom>
          <a:noFill/>
        </p:spPr>
        <p:txBody>
          <a:bodyPr wrap="square" lIns="0" tIns="0" rIns="0" bIns="0" anchor="t">
            <a:spAutoFit/>
          </a:bodyPr>
          <a:lstStyle/>
          <a:p>
            <a:pPr algn="r">
              <a:buNone/>
              <a:defRPr>
                <a:solidFill>
                  <a:srgbClr val="CBD5E1"/>
                </a:solidFill>
              </a:defRPr>
            </a:pPr>
            <a:r>
              <a:rPr sz="1000" b="0">
                <a:solidFill>
                  <a:srgbClr val="CBD5E1"/>
                </a:solidFill>
                <a:latin typeface="Calibri"/>
                <a:ea typeface="Calibri"/>
                <a:cs typeface="Calibri"/>
              </a:rPr>
              <a:t>10</a:t>
            </a:r>
          </a:p>
        </p:txBody>
      </p:sp>
      <p:sp>
        <p:nvSpPr>
          <p:cNvPr id="10" name="Rounded Rectangle 9">
            <a:extLst>
              <a:ext uri="{FF2B5EF4-FFF2-40B4-BE49-F238E27FC236}">
                <a16:creationId xmlns:a16="http://schemas.microsoft.com/office/drawing/2014/main" id="{7316DAE9-CC0C-4E8F-8AA1-BB16F2AB1549}"/>
              </a:ext>
            </a:extLst>
          </p:cNvPr>
          <p:cNvSpPr>
            <a:spLocks noGrp="1"/>
          </p:cNvSpPr>
          <p:nvPr/>
        </p:nvSpPr>
        <p:spPr>
          <a:xfrm>
            <a:off x="640080" y="1828800"/>
            <a:ext cx="2377440" cy="11430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1B6D6D66-B4C9-4845-A8BC-B78A38AEAA73}"/>
              </a:ext>
            </a:extLst>
          </p:cNvPr>
          <p:cNvSpPr>
            <a:spLocks noGrp="1"/>
          </p:cNvSpPr>
          <p:nvPr/>
        </p:nvSpPr>
        <p:spPr>
          <a:xfrm>
            <a:off x="868680" y="2011680"/>
            <a:ext cx="1920240" cy="411480"/>
          </a:xfrm>
          <a:prstGeom prst="rect">
            <a:avLst/>
          </a:prstGeom>
          <a:noFill/>
        </p:spPr>
        <p:txBody>
          <a:bodyPr wrap="square" lIns="0" tIns="0" rIns="0" bIns="0" anchor="t">
            <a:spAutoFit/>
          </a:bodyPr>
          <a:lstStyle/>
          <a:p>
            <a:pPr algn="l">
              <a:buNone/>
              <a:defRPr>
                <a:solidFill>
                  <a:srgbClr val="F8FAFC"/>
                </a:solidFill>
              </a:defRPr>
            </a:pPr>
            <a:r>
              <a:rPr sz="1700" b="1">
                <a:solidFill>
                  <a:srgbClr val="F8FAFC"/>
                </a:solidFill>
                <a:latin typeface="Calibri"/>
                <a:ea typeface="Calibri"/>
                <a:cs typeface="Calibri"/>
              </a:rPr>
              <a:t>Web app</a:t>
            </a:r>
          </a:p>
        </p:txBody>
      </p:sp>
      <p:sp>
        <p:nvSpPr>
          <p:cNvPr id="12" name="TextBox 11">
            <a:extLst>
              <a:ext uri="{FF2B5EF4-FFF2-40B4-BE49-F238E27FC236}">
                <a16:creationId xmlns:a16="http://schemas.microsoft.com/office/drawing/2014/main" id="{427BD63C-1A10-4E84-BCD3-1BA241D41D56}"/>
              </a:ext>
            </a:extLst>
          </p:cNvPr>
          <p:cNvSpPr>
            <a:spLocks noGrp="1"/>
          </p:cNvSpPr>
          <p:nvPr/>
        </p:nvSpPr>
        <p:spPr>
          <a:xfrm>
            <a:off x="868680" y="2450592"/>
            <a:ext cx="1920240" cy="457200"/>
          </a:xfrm>
          <a:prstGeom prst="rect">
            <a:avLst/>
          </a:prstGeom>
          <a:noFill/>
        </p:spPr>
        <p:txBody>
          <a:bodyPr wrap="square" lIns="0" tIns="0" rIns="0" bIns="0" anchor="t">
            <a:spAutoFit/>
          </a:bodyPr>
          <a:lstStyle/>
          <a:p>
            <a:pPr algn="l">
              <a:buNone/>
              <a:defRPr>
                <a:solidFill>
                  <a:srgbClr val="CBD5E1"/>
                </a:solidFill>
              </a:defRPr>
            </a:pPr>
            <a:r>
              <a:rPr sz="1300" b="0">
                <a:solidFill>
                  <a:srgbClr val="CBD5E1"/>
                </a:solidFill>
                <a:latin typeface="Calibri"/>
                <a:ea typeface="Calibri"/>
                <a:cs typeface="Calibri"/>
              </a:rPr>
              <a:t>CloudFront</a:t>
            </a:r>
          </a:p>
        </p:txBody>
      </p:sp>
      <p:sp>
        <p:nvSpPr>
          <p:cNvPr id="13" name="Rounded Rectangle 12">
            <a:extLst>
              <a:ext uri="{FF2B5EF4-FFF2-40B4-BE49-F238E27FC236}">
                <a16:creationId xmlns:a16="http://schemas.microsoft.com/office/drawing/2014/main" id="{6C673015-11AA-42F5-BC20-B7FC74892498}"/>
              </a:ext>
            </a:extLst>
          </p:cNvPr>
          <p:cNvSpPr>
            <a:spLocks noGrp="1"/>
          </p:cNvSpPr>
          <p:nvPr/>
        </p:nvSpPr>
        <p:spPr>
          <a:xfrm>
            <a:off x="3657600" y="1828800"/>
            <a:ext cx="2377440" cy="11430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99F21282-DA56-4BAC-A23D-FC708D7FBD8B}"/>
              </a:ext>
            </a:extLst>
          </p:cNvPr>
          <p:cNvSpPr>
            <a:spLocks noGrp="1"/>
          </p:cNvSpPr>
          <p:nvPr/>
        </p:nvSpPr>
        <p:spPr>
          <a:xfrm>
            <a:off x="3886200" y="2011680"/>
            <a:ext cx="1920240" cy="411480"/>
          </a:xfrm>
          <a:prstGeom prst="rect">
            <a:avLst/>
          </a:prstGeom>
          <a:noFill/>
        </p:spPr>
        <p:txBody>
          <a:bodyPr wrap="square" lIns="0" tIns="0" rIns="0" bIns="0" anchor="t">
            <a:spAutoFit/>
          </a:bodyPr>
          <a:lstStyle/>
          <a:p>
            <a:pPr algn="l">
              <a:buNone/>
              <a:defRPr>
                <a:solidFill>
                  <a:srgbClr val="F8FAFC"/>
                </a:solidFill>
              </a:defRPr>
            </a:pPr>
            <a:r>
              <a:rPr sz="1700" b="1">
                <a:solidFill>
                  <a:srgbClr val="F8FAFC"/>
                </a:solidFill>
                <a:latin typeface="Calibri"/>
                <a:ea typeface="Calibri"/>
                <a:cs typeface="Calibri"/>
              </a:rPr>
              <a:t>API</a:t>
            </a:r>
          </a:p>
        </p:txBody>
      </p:sp>
      <p:sp>
        <p:nvSpPr>
          <p:cNvPr id="15" name="TextBox 14">
            <a:extLst>
              <a:ext uri="{FF2B5EF4-FFF2-40B4-BE49-F238E27FC236}">
                <a16:creationId xmlns:a16="http://schemas.microsoft.com/office/drawing/2014/main" id="{7015D36F-EF7F-4D6C-93E1-BEC6D03C9326}"/>
              </a:ext>
            </a:extLst>
          </p:cNvPr>
          <p:cNvSpPr>
            <a:spLocks noGrp="1"/>
          </p:cNvSpPr>
          <p:nvPr/>
        </p:nvSpPr>
        <p:spPr>
          <a:xfrm>
            <a:off x="3886200" y="2450592"/>
            <a:ext cx="1920240" cy="457200"/>
          </a:xfrm>
          <a:prstGeom prst="rect">
            <a:avLst/>
          </a:prstGeom>
          <a:noFill/>
        </p:spPr>
        <p:txBody>
          <a:bodyPr wrap="square" lIns="0" tIns="0" rIns="0" bIns="0" anchor="t">
            <a:spAutoFit/>
          </a:bodyPr>
          <a:lstStyle/>
          <a:p>
            <a:pPr algn="l">
              <a:buNone/>
              <a:defRPr>
                <a:solidFill>
                  <a:srgbClr val="CBD5E1"/>
                </a:solidFill>
              </a:defRPr>
            </a:pPr>
            <a:r>
              <a:rPr sz="1300" b="0">
                <a:solidFill>
                  <a:srgbClr val="CBD5E1"/>
                </a:solidFill>
                <a:latin typeface="Calibri"/>
                <a:ea typeface="Calibri"/>
                <a:cs typeface="Calibri"/>
              </a:rPr>
              <a:t>Lambda</a:t>
            </a:r>
          </a:p>
        </p:txBody>
      </p:sp>
      <p:sp>
        <p:nvSpPr>
          <p:cNvPr id="16" name="Rounded Rectangle 15">
            <a:extLst>
              <a:ext uri="{FF2B5EF4-FFF2-40B4-BE49-F238E27FC236}">
                <a16:creationId xmlns:a16="http://schemas.microsoft.com/office/drawing/2014/main" id="{EA320BC6-75D2-4DAD-B00E-743A9B253381}"/>
              </a:ext>
            </a:extLst>
          </p:cNvPr>
          <p:cNvSpPr>
            <a:spLocks noGrp="1"/>
          </p:cNvSpPr>
          <p:nvPr/>
        </p:nvSpPr>
        <p:spPr>
          <a:xfrm>
            <a:off x="6766560" y="1691640"/>
            <a:ext cx="4754880" cy="1280160"/>
          </a:xfrm>
          <a:prstGeom prst="roundRect">
            <a:avLst>
              <a:gd name="adj" fmla="val 8000"/>
            </a:avLst>
          </a:prstGeom>
          <a:solidFill>
            <a:srgbClr val="203A4D"/>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D4BA869-2610-459E-958E-3F464F48CE80}"/>
              </a:ext>
            </a:extLst>
          </p:cNvPr>
          <p:cNvSpPr>
            <a:spLocks noGrp="1"/>
          </p:cNvSpPr>
          <p:nvPr/>
        </p:nvSpPr>
        <p:spPr>
          <a:xfrm>
            <a:off x="6995160" y="1874520"/>
            <a:ext cx="4297680" cy="411480"/>
          </a:xfrm>
          <a:prstGeom prst="rect">
            <a:avLst/>
          </a:prstGeom>
          <a:noFill/>
        </p:spPr>
        <p:txBody>
          <a:bodyPr wrap="square" lIns="0" tIns="0" rIns="0" bIns="0" anchor="t">
            <a:spAutoFit/>
          </a:bodyPr>
          <a:lstStyle/>
          <a:p>
            <a:pPr algn="l">
              <a:buNone/>
              <a:defRPr>
                <a:solidFill>
                  <a:srgbClr val="F8FAFC"/>
                </a:solidFill>
              </a:defRPr>
            </a:pPr>
            <a:r>
              <a:rPr sz="1700" b="1">
                <a:solidFill>
                  <a:srgbClr val="F8FAFC"/>
                </a:solidFill>
                <a:latin typeface="Calibri"/>
                <a:ea typeface="Calibri"/>
                <a:cs typeface="Calibri"/>
              </a:rPr>
              <a:t>Case pipeline</a:t>
            </a:r>
          </a:p>
        </p:txBody>
      </p:sp>
      <p:sp>
        <p:nvSpPr>
          <p:cNvPr id="18" name="TextBox 17">
            <a:extLst>
              <a:ext uri="{FF2B5EF4-FFF2-40B4-BE49-F238E27FC236}">
                <a16:creationId xmlns:a16="http://schemas.microsoft.com/office/drawing/2014/main" id="{B7149C5E-9F15-44EB-8654-8975716C05B3}"/>
              </a:ext>
            </a:extLst>
          </p:cNvPr>
          <p:cNvSpPr>
            <a:spLocks noGrp="1"/>
          </p:cNvSpPr>
          <p:nvPr/>
        </p:nvSpPr>
        <p:spPr>
          <a:xfrm>
            <a:off x="6995160" y="2313432"/>
            <a:ext cx="4297680" cy="594360"/>
          </a:xfrm>
          <a:prstGeom prst="rect">
            <a:avLst/>
          </a:prstGeom>
          <a:noFill/>
        </p:spPr>
        <p:txBody>
          <a:bodyPr wrap="square" lIns="0" tIns="0" rIns="0" bIns="0" anchor="t">
            <a:spAutoFit/>
          </a:bodyPr>
          <a:lstStyle/>
          <a:p>
            <a:pPr algn="l">
              <a:buNone/>
              <a:defRPr>
                <a:solidFill>
                  <a:srgbClr val="CBD5E1"/>
                </a:solidFill>
              </a:defRPr>
            </a:pPr>
            <a:r>
              <a:rPr sz="1300" b="0">
                <a:solidFill>
                  <a:srgbClr val="CBD5E1"/>
                </a:solidFill>
                <a:latin typeface="Calibri"/>
                <a:ea typeface="Calibri"/>
                <a:cs typeface="Calibri"/>
              </a:rPr>
              <a:t>Bedrock AgentCore · LangGraph</a:t>
            </a:r>
          </a:p>
        </p:txBody>
      </p:sp>
      <p:sp>
        <p:nvSpPr>
          <p:cNvPr id="19" name="Rounded Rectangle 18">
            <a:extLst>
              <a:ext uri="{FF2B5EF4-FFF2-40B4-BE49-F238E27FC236}">
                <a16:creationId xmlns:a16="http://schemas.microsoft.com/office/drawing/2014/main" id="{059ADDF5-60F1-48A5-8E6A-8B9C2C7C0FCC}"/>
              </a:ext>
            </a:extLst>
          </p:cNvPr>
          <p:cNvSpPr>
            <a:spLocks noGrp="1"/>
          </p:cNvSpPr>
          <p:nvPr/>
        </p:nvSpPr>
        <p:spPr>
          <a:xfrm>
            <a:off x="6766560" y="3200400"/>
            <a:ext cx="4754880" cy="1280160"/>
          </a:xfrm>
          <a:prstGeom prst="roundRect">
            <a:avLst>
              <a:gd name="adj" fmla="val 8000"/>
            </a:avLst>
          </a:prstGeom>
          <a:solidFill>
            <a:srgbClr val="203A4D"/>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55D66D16-5F27-4586-85B8-7415910F3543}"/>
              </a:ext>
            </a:extLst>
          </p:cNvPr>
          <p:cNvSpPr>
            <a:spLocks noGrp="1"/>
          </p:cNvSpPr>
          <p:nvPr/>
        </p:nvSpPr>
        <p:spPr>
          <a:xfrm>
            <a:off x="6995160" y="3383280"/>
            <a:ext cx="4297680" cy="411480"/>
          </a:xfrm>
          <a:prstGeom prst="rect">
            <a:avLst/>
          </a:prstGeom>
          <a:noFill/>
        </p:spPr>
        <p:txBody>
          <a:bodyPr wrap="square" lIns="0" tIns="0" rIns="0" bIns="0" anchor="t">
            <a:spAutoFit/>
          </a:bodyPr>
          <a:lstStyle/>
          <a:p>
            <a:pPr algn="l">
              <a:buNone/>
              <a:defRPr>
                <a:solidFill>
                  <a:srgbClr val="F8FAFC"/>
                </a:solidFill>
              </a:defRPr>
            </a:pPr>
            <a:r>
              <a:rPr sz="1700" b="1">
                <a:solidFill>
                  <a:srgbClr val="F8FAFC"/>
                </a:solidFill>
                <a:latin typeface="Calibri"/>
                <a:ea typeface="Calibri"/>
                <a:cs typeface="Calibri"/>
              </a:rPr>
              <a:t>Assistant</a:t>
            </a:r>
          </a:p>
        </p:txBody>
      </p:sp>
      <p:sp>
        <p:nvSpPr>
          <p:cNvPr id="21" name="TextBox 20">
            <a:extLst>
              <a:ext uri="{FF2B5EF4-FFF2-40B4-BE49-F238E27FC236}">
                <a16:creationId xmlns:a16="http://schemas.microsoft.com/office/drawing/2014/main" id="{80E078F9-77F5-4216-98EE-813AADBF9E04}"/>
              </a:ext>
            </a:extLst>
          </p:cNvPr>
          <p:cNvSpPr>
            <a:spLocks noGrp="1"/>
          </p:cNvSpPr>
          <p:nvPr/>
        </p:nvSpPr>
        <p:spPr>
          <a:xfrm>
            <a:off x="6995160" y="3822192"/>
            <a:ext cx="4297680" cy="594360"/>
          </a:xfrm>
          <a:prstGeom prst="rect">
            <a:avLst/>
          </a:prstGeom>
          <a:noFill/>
        </p:spPr>
        <p:txBody>
          <a:bodyPr wrap="square" lIns="0" tIns="0" rIns="0" bIns="0" anchor="t">
            <a:spAutoFit/>
          </a:bodyPr>
          <a:lstStyle/>
          <a:p>
            <a:pPr algn="l">
              <a:buNone/>
              <a:defRPr>
                <a:solidFill>
                  <a:srgbClr val="CBD5E1"/>
                </a:solidFill>
              </a:defRPr>
            </a:pPr>
            <a:r>
              <a:rPr sz="1300" b="0">
                <a:solidFill>
                  <a:srgbClr val="CBD5E1"/>
                </a:solidFill>
                <a:latin typeface="Calibri"/>
                <a:ea typeface="Calibri"/>
                <a:cs typeface="Calibri"/>
              </a:rPr>
              <a:t>Bedrock AgentCore · Memory</a:t>
            </a:r>
          </a:p>
        </p:txBody>
      </p:sp>
      <p:sp>
        <p:nvSpPr>
          <p:cNvPr id="22" name="Rounded Rectangle 21">
            <a:extLst>
              <a:ext uri="{FF2B5EF4-FFF2-40B4-BE49-F238E27FC236}">
                <a16:creationId xmlns:a16="http://schemas.microsoft.com/office/drawing/2014/main" id="{571E7677-482A-4E2C-8AC1-03C886C1B30C}"/>
              </a:ext>
            </a:extLst>
          </p:cNvPr>
          <p:cNvSpPr>
            <a:spLocks noGrp="1"/>
          </p:cNvSpPr>
          <p:nvPr/>
        </p:nvSpPr>
        <p:spPr>
          <a:xfrm>
            <a:off x="640080" y="3337560"/>
            <a:ext cx="2377440" cy="11430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B81CC725-7E73-4E5E-AF7A-B722DC604A6C}"/>
              </a:ext>
            </a:extLst>
          </p:cNvPr>
          <p:cNvSpPr>
            <a:spLocks noGrp="1"/>
          </p:cNvSpPr>
          <p:nvPr/>
        </p:nvSpPr>
        <p:spPr>
          <a:xfrm>
            <a:off x="868680" y="3520440"/>
            <a:ext cx="1920240" cy="411480"/>
          </a:xfrm>
          <a:prstGeom prst="rect">
            <a:avLst/>
          </a:prstGeom>
          <a:noFill/>
        </p:spPr>
        <p:txBody>
          <a:bodyPr wrap="square" lIns="0" tIns="0" rIns="0" bIns="0" anchor="t">
            <a:spAutoFit/>
          </a:bodyPr>
          <a:lstStyle/>
          <a:p>
            <a:pPr algn="l">
              <a:buNone/>
              <a:defRPr>
                <a:solidFill>
                  <a:srgbClr val="F8FAFC"/>
                </a:solidFill>
              </a:defRPr>
            </a:pPr>
            <a:r>
              <a:rPr sz="1700" b="1">
                <a:solidFill>
                  <a:srgbClr val="F8FAFC"/>
                </a:solidFill>
                <a:latin typeface="Calibri"/>
                <a:ea typeface="Calibri"/>
                <a:cs typeface="Calibri"/>
              </a:rPr>
              <a:t>Data</a:t>
            </a:r>
          </a:p>
        </p:txBody>
      </p:sp>
      <p:sp>
        <p:nvSpPr>
          <p:cNvPr id="24" name="TextBox 23">
            <a:extLst>
              <a:ext uri="{FF2B5EF4-FFF2-40B4-BE49-F238E27FC236}">
                <a16:creationId xmlns:a16="http://schemas.microsoft.com/office/drawing/2014/main" id="{67FF9EA6-2B71-439C-959B-D6BC9A17DF8B}"/>
              </a:ext>
            </a:extLst>
          </p:cNvPr>
          <p:cNvSpPr>
            <a:spLocks noGrp="1"/>
          </p:cNvSpPr>
          <p:nvPr/>
        </p:nvSpPr>
        <p:spPr>
          <a:xfrm>
            <a:off x="868680" y="3959352"/>
            <a:ext cx="1920240" cy="457200"/>
          </a:xfrm>
          <a:prstGeom prst="rect">
            <a:avLst/>
          </a:prstGeom>
          <a:noFill/>
        </p:spPr>
        <p:txBody>
          <a:bodyPr wrap="square" lIns="0" tIns="0" rIns="0" bIns="0" anchor="t">
            <a:spAutoFit/>
          </a:bodyPr>
          <a:lstStyle/>
          <a:p>
            <a:pPr algn="l">
              <a:buNone/>
              <a:defRPr>
                <a:solidFill>
                  <a:srgbClr val="CBD5E1"/>
                </a:solidFill>
              </a:defRPr>
            </a:pPr>
            <a:r>
              <a:rPr sz="1300" b="0">
                <a:solidFill>
                  <a:srgbClr val="CBD5E1"/>
                </a:solidFill>
                <a:latin typeface="Calibri"/>
                <a:ea typeface="Calibri"/>
                <a:cs typeface="Calibri"/>
              </a:rPr>
              <a:t>DynamoDB · S3</a:t>
            </a:r>
          </a:p>
        </p:txBody>
      </p:sp>
      <p:sp>
        <p:nvSpPr>
          <p:cNvPr id="25" name="Rounded Rectangle 24">
            <a:extLst>
              <a:ext uri="{FF2B5EF4-FFF2-40B4-BE49-F238E27FC236}">
                <a16:creationId xmlns:a16="http://schemas.microsoft.com/office/drawing/2014/main" id="{71E78C35-E192-4B38-BBDE-1F742D4A7C55}"/>
              </a:ext>
            </a:extLst>
          </p:cNvPr>
          <p:cNvSpPr>
            <a:spLocks noGrp="1"/>
          </p:cNvSpPr>
          <p:nvPr/>
        </p:nvSpPr>
        <p:spPr>
          <a:xfrm>
            <a:off x="3657600" y="3337560"/>
            <a:ext cx="2377440" cy="11430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46DE2DB-7B1D-4B3E-80B8-51C8A3263CFC}"/>
              </a:ext>
            </a:extLst>
          </p:cNvPr>
          <p:cNvSpPr>
            <a:spLocks noGrp="1"/>
          </p:cNvSpPr>
          <p:nvPr/>
        </p:nvSpPr>
        <p:spPr>
          <a:xfrm>
            <a:off x="3886200" y="3520440"/>
            <a:ext cx="1920240" cy="411480"/>
          </a:xfrm>
          <a:prstGeom prst="rect">
            <a:avLst/>
          </a:prstGeom>
          <a:noFill/>
        </p:spPr>
        <p:txBody>
          <a:bodyPr wrap="square" lIns="0" tIns="0" rIns="0" bIns="0" anchor="t">
            <a:spAutoFit/>
          </a:bodyPr>
          <a:lstStyle/>
          <a:p>
            <a:pPr algn="l">
              <a:buNone/>
              <a:defRPr>
                <a:solidFill>
                  <a:srgbClr val="F8FAFC"/>
                </a:solidFill>
              </a:defRPr>
            </a:pPr>
            <a:r>
              <a:rPr sz="1700" b="1">
                <a:solidFill>
                  <a:srgbClr val="F8FAFC"/>
                </a:solidFill>
                <a:latin typeface="Calibri"/>
                <a:ea typeface="Calibri"/>
                <a:cs typeface="Calibri"/>
              </a:rPr>
              <a:t>AI models</a:t>
            </a:r>
          </a:p>
        </p:txBody>
      </p:sp>
      <p:sp>
        <p:nvSpPr>
          <p:cNvPr id="27" name="TextBox 26">
            <a:extLst>
              <a:ext uri="{FF2B5EF4-FFF2-40B4-BE49-F238E27FC236}">
                <a16:creationId xmlns:a16="http://schemas.microsoft.com/office/drawing/2014/main" id="{58C6826E-0A4B-4EA6-8BEF-7F0868600DD2}"/>
              </a:ext>
            </a:extLst>
          </p:cNvPr>
          <p:cNvSpPr>
            <a:spLocks noGrp="1"/>
          </p:cNvSpPr>
          <p:nvPr/>
        </p:nvSpPr>
        <p:spPr>
          <a:xfrm>
            <a:off x="3886200" y="3959352"/>
            <a:ext cx="1920240" cy="457200"/>
          </a:xfrm>
          <a:prstGeom prst="rect">
            <a:avLst/>
          </a:prstGeom>
          <a:noFill/>
        </p:spPr>
        <p:txBody>
          <a:bodyPr wrap="square" lIns="0" tIns="0" rIns="0" bIns="0" anchor="t">
            <a:spAutoFit/>
          </a:bodyPr>
          <a:lstStyle/>
          <a:p>
            <a:pPr algn="l">
              <a:buNone/>
              <a:defRPr>
                <a:solidFill>
                  <a:srgbClr val="CBD5E1"/>
                </a:solidFill>
              </a:defRPr>
            </a:pPr>
            <a:r>
              <a:rPr sz="1300" b="0">
                <a:solidFill>
                  <a:srgbClr val="CBD5E1"/>
                </a:solidFill>
                <a:latin typeface="Calibri"/>
                <a:ea typeface="Calibri"/>
                <a:cs typeface="Calibri"/>
              </a:rPr>
              <a:t>Claude Sonnet · Opus</a:t>
            </a:r>
          </a:p>
        </p:txBody>
      </p:sp>
      <p:sp>
        <p:nvSpPr>
          <p:cNvPr id="28" name="Connector 27">
            <a:extLst>
              <a:ext uri="{FF2B5EF4-FFF2-40B4-BE49-F238E27FC236}">
                <a16:creationId xmlns:a16="http://schemas.microsoft.com/office/drawing/2014/main" id="{291D0B96-8763-4ECA-8A86-8C2727C6D7E7}"/>
              </a:ext>
            </a:extLst>
          </p:cNvPr>
          <p:cNvSpPr>
            <a:spLocks noGrp="1"/>
          </p:cNvSpPr>
          <p:nvPr/>
        </p:nvSpPr>
        <p:spPr>
          <a:xfrm>
            <a:off x="3017520" y="2395728"/>
            <a:ext cx="640080" cy="0"/>
          </a:xfrm>
          <a:prstGeom prst="line">
            <a:avLst/>
          </a:prstGeom>
          <a:ln w="25400">
            <a:solidFill>
              <a:srgbClr val="0F7F8A"/>
            </a:solidFill>
            <a:tailEnd type="triangle"/>
          </a:ln>
        </p:spPr>
        <p:style>
          <a:lnRef idx="2">
            <a:schemeClr val="accent1"/>
          </a:lnRef>
          <a:fillRef idx="0">
            <a:schemeClr val="accent1"/>
          </a:fillRef>
          <a:effectRef idx="0">
            <a:scrgbClr r="0" g="0" b="0"/>
          </a:effectRef>
          <a:fontRef idx="minor">
            <a:schemeClr val="tx1"/>
          </a:fontRef>
        </p:style>
        <p:txBody>
          <a:bodyPr/>
          <a:lstStyle/>
          <a:p>
            <a:endParaRPr/>
          </a:p>
        </p:txBody>
      </p:sp>
      <p:sp>
        <p:nvSpPr>
          <p:cNvPr id="29" name="Connector 28">
            <a:extLst>
              <a:ext uri="{FF2B5EF4-FFF2-40B4-BE49-F238E27FC236}">
                <a16:creationId xmlns:a16="http://schemas.microsoft.com/office/drawing/2014/main" id="{02ADE3B3-7A3B-4947-8C44-FE6C07E4CD5D}"/>
              </a:ext>
            </a:extLst>
          </p:cNvPr>
          <p:cNvSpPr>
            <a:spLocks noGrp="1"/>
          </p:cNvSpPr>
          <p:nvPr/>
        </p:nvSpPr>
        <p:spPr>
          <a:xfrm>
            <a:off x="6035040" y="2286000"/>
            <a:ext cx="731520" cy="0"/>
          </a:xfrm>
          <a:prstGeom prst="line">
            <a:avLst/>
          </a:prstGeom>
          <a:ln w="25400">
            <a:solidFill>
              <a:srgbClr val="0F7F8A"/>
            </a:solidFill>
            <a:tailEnd type="triangle"/>
          </a:ln>
        </p:spPr>
        <p:style>
          <a:lnRef idx="2">
            <a:schemeClr val="accent1"/>
          </a:lnRef>
          <a:fillRef idx="0">
            <a:schemeClr val="accent1"/>
          </a:fillRef>
          <a:effectRef idx="0">
            <a:scrgbClr r="0" g="0" b="0"/>
          </a:effectRef>
          <a:fontRef idx="minor">
            <a:schemeClr val="tx1"/>
          </a:fontRef>
        </p:style>
        <p:txBody>
          <a:bodyPr/>
          <a:lstStyle/>
          <a:p>
            <a:endParaRPr/>
          </a:p>
        </p:txBody>
      </p:sp>
      <p:sp>
        <p:nvSpPr>
          <p:cNvPr id="30" name="Connector 29">
            <a:extLst>
              <a:ext uri="{FF2B5EF4-FFF2-40B4-BE49-F238E27FC236}">
                <a16:creationId xmlns:a16="http://schemas.microsoft.com/office/drawing/2014/main" id="{17333355-D05C-46CE-B12A-5E6A8F79F08D}"/>
              </a:ext>
            </a:extLst>
          </p:cNvPr>
          <p:cNvSpPr>
            <a:spLocks noGrp="1"/>
          </p:cNvSpPr>
          <p:nvPr/>
        </p:nvSpPr>
        <p:spPr>
          <a:xfrm>
            <a:off x="6035040" y="2651760"/>
            <a:ext cx="731520" cy="1188720"/>
          </a:xfrm>
          <a:prstGeom prst="line">
            <a:avLst/>
          </a:prstGeom>
          <a:ln w="25400">
            <a:solidFill>
              <a:srgbClr val="0F7F8A"/>
            </a:solidFill>
            <a:tailEnd type="triangle"/>
          </a:ln>
        </p:spPr>
        <p:style>
          <a:lnRef idx="2">
            <a:schemeClr val="accent1"/>
          </a:lnRef>
          <a:fillRef idx="0">
            <a:schemeClr val="accent1"/>
          </a:fillRef>
          <a:effectRef idx="0">
            <a:scrgbClr r="0" g="0" b="0"/>
          </a:effectRef>
          <a:fontRef idx="minor">
            <a:schemeClr val="tx1"/>
          </a:fontRef>
        </p:style>
        <p:txBody>
          <a:bodyPr/>
          <a:lstStyle/>
          <a:p>
            <a:endParaRPr/>
          </a:p>
        </p:txBody>
      </p:sp>
      <p:sp>
        <p:nvSpPr>
          <p:cNvPr id="31" name="TextBox 30">
            <a:extLst>
              <a:ext uri="{FF2B5EF4-FFF2-40B4-BE49-F238E27FC236}">
                <a16:creationId xmlns:a16="http://schemas.microsoft.com/office/drawing/2014/main" id="{EA1F7A4F-A956-49F8-B38D-41F2CEB6D749}"/>
              </a:ext>
            </a:extLst>
          </p:cNvPr>
          <p:cNvSpPr>
            <a:spLocks noGrp="1"/>
          </p:cNvSpPr>
          <p:nvPr/>
        </p:nvSpPr>
        <p:spPr>
          <a:xfrm>
            <a:off x="640080" y="5120640"/>
            <a:ext cx="10881360" cy="457200"/>
          </a:xfrm>
          <a:prstGeom prst="rect">
            <a:avLst/>
          </a:prstGeom>
          <a:noFill/>
        </p:spPr>
        <p:txBody>
          <a:bodyPr wrap="square" lIns="0" tIns="0" rIns="0" bIns="0" anchor="t">
            <a:spAutoFit/>
          </a:bodyPr>
          <a:lstStyle/>
          <a:p>
            <a:pPr algn="l">
              <a:buNone/>
              <a:defRPr>
                <a:solidFill>
                  <a:srgbClr val="F8FAFC"/>
                </a:solidFill>
              </a:defRPr>
            </a:pPr>
            <a:r>
              <a:rPr sz="1700" b="1">
                <a:solidFill>
                  <a:srgbClr val="F8FAFC"/>
                </a:solidFill>
                <a:latin typeface="Calibri"/>
                <a:ea typeface="Calibri"/>
                <a:cs typeface="Calibri"/>
              </a:rPr>
              <a:t>Current: AgentCore runtime + DynamoDB/S3. Durable AWS graph checkpoints remain future work.</a:t>
            </a:r>
          </a:p>
        </p:txBody>
      </p:sp>
    </p:spTree>
    <p:extLst>
      <p:ext uri="{BB962C8B-B14F-4D97-AF65-F5344CB8AC3E}">
        <p14:creationId xmlns:p14="http://schemas.microsoft.com/office/powerpoint/2010/main" val="11999421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1F63438-17E8-4F9E-8FE9-8AF2F728320A}"/>
              </a:ext>
            </a:extLst>
          </p:cNvPr>
          <p:cNvSpPr>
            <a:spLocks noGrp="1"/>
          </p:cNvSpPr>
          <p:nvPr/>
        </p:nvSpPr>
        <p:spPr>
          <a:xfrm>
            <a:off x="0" y="0"/>
            <a:ext cx="12191695" cy="109728"/>
          </a:xfrm>
          <a:prstGeom prst="rect">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18E5D131-D1FF-47E5-8EDE-D5C91077917C}"/>
              </a:ext>
            </a:extLst>
          </p:cNvPr>
          <p:cNvSpPr>
            <a:spLocks noGrp="1"/>
          </p:cNvSpPr>
          <p:nvPr/>
        </p:nvSpPr>
        <p:spPr>
          <a:xfrm>
            <a:off x="640080" y="411480"/>
            <a:ext cx="9144000" cy="320040"/>
          </a:xfrm>
          <a:prstGeom prst="rect">
            <a:avLst/>
          </a:prstGeom>
          <a:noFill/>
        </p:spPr>
        <p:txBody>
          <a:bodyPr wrap="square" lIns="0" tIns="0" rIns="0" bIns="0" anchor="t">
            <a:spAutoFit/>
          </a:bodyPr>
          <a:lstStyle/>
          <a:p>
            <a:pPr algn="l">
              <a:buNone/>
              <a:defRPr>
                <a:solidFill>
                  <a:srgbClr val="2DD4BF"/>
                </a:solidFill>
              </a:defRPr>
            </a:pPr>
            <a:r>
              <a:rPr sz="1200" b="1">
                <a:solidFill>
                  <a:srgbClr val="2DD4BF"/>
                </a:solidFill>
                <a:latin typeface="Calibri"/>
                <a:ea typeface="Calibri"/>
                <a:cs typeface="Calibri"/>
              </a:rPr>
              <a:t>APPENDIX · OPERATIONS</a:t>
            </a:r>
          </a:p>
        </p:txBody>
      </p:sp>
      <p:sp>
        <p:nvSpPr>
          <p:cNvPr id="4" name="TextBox 3">
            <a:extLst>
              <a:ext uri="{FF2B5EF4-FFF2-40B4-BE49-F238E27FC236}">
                <a16:creationId xmlns:a16="http://schemas.microsoft.com/office/drawing/2014/main" id="{FDB114A1-8151-485E-BF68-824FFCE4BD84}"/>
              </a:ext>
            </a:extLst>
          </p:cNvPr>
          <p:cNvSpPr>
            <a:spLocks noGrp="1"/>
          </p:cNvSpPr>
          <p:nvPr/>
        </p:nvSpPr>
        <p:spPr>
          <a:xfrm>
            <a:off x="640080" y="685800"/>
            <a:ext cx="10972800" cy="731520"/>
          </a:xfrm>
          <a:prstGeom prst="rect">
            <a:avLst/>
          </a:prstGeom>
          <a:noFill/>
        </p:spPr>
        <p:txBody>
          <a:bodyPr wrap="square" lIns="0" tIns="0" rIns="0" bIns="0" anchor="t">
            <a:spAutoFit/>
          </a:bodyPr>
          <a:lstStyle/>
          <a:p>
            <a:pPr algn="l">
              <a:buNone/>
              <a:defRPr>
                <a:solidFill>
                  <a:srgbClr val="F8FAFC"/>
                </a:solidFill>
              </a:defRPr>
            </a:pPr>
            <a:r>
              <a:rPr sz="3200" b="1">
                <a:solidFill>
                  <a:srgbClr val="F8FAFC"/>
                </a:solidFill>
                <a:latin typeface="Calibri"/>
                <a:ea typeface="Calibri"/>
                <a:cs typeface="Calibri"/>
              </a:rPr>
              <a:t>Tests separate code safety from model quality</a:t>
            </a:r>
          </a:p>
        </p:txBody>
      </p:sp>
      <p:sp>
        <p:nvSpPr>
          <p:cNvPr id="5" name="Pentagon 4">
            <a:extLst>
              <a:ext uri="{FF2B5EF4-FFF2-40B4-BE49-F238E27FC236}">
                <a16:creationId xmlns:a16="http://schemas.microsoft.com/office/drawing/2014/main" id="{9552768B-F5C2-4131-A23F-631068D4A16A}"/>
              </a:ext>
            </a:extLst>
          </p:cNvPr>
          <p:cNvSpPr>
            <a:spLocks noGrp="1"/>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A911B70D-44F3-4B7D-BDAE-E7D56EA3929F}"/>
              </a:ext>
            </a:extLst>
          </p:cNvPr>
          <p:cNvSpPr>
            <a:spLocks noGrp="1"/>
          </p:cNvSpPr>
          <p:nvPr/>
        </p:nvSpPr>
        <p:spPr>
          <a:xfrm>
            <a:off x="11358860" y="453177"/>
            <a:ext cx="69128" cy="215066"/>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5D8D7872-39B4-4952-AB7A-BE1C95087CC2}"/>
              </a:ext>
            </a:extLst>
          </p:cNvPr>
          <p:cNvSpPr>
            <a:spLocks noGrp="1"/>
          </p:cNvSpPr>
          <p:nvPr/>
        </p:nvSpPr>
        <p:spPr>
          <a:xfrm>
            <a:off x="11285891" y="526146"/>
            <a:ext cx="215066" cy="69128"/>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95077F3E-09FC-44FE-BB8D-AF49CDBA4C5D}"/>
              </a:ext>
            </a:extLst>
          </p:cNvPr>
          <p:cNvSpPr>
            <a:spLocks noGrp="1"/>
          </p:cNvSpPr>
          <p:nvPr/>
        </p:nvSpPr>
        <p:spPr>
          <a:xfrm>
            <a:off x="640080" y="6446520"/>
            <a:ext cx="7315200" cy="274320"/>
          </a:xfrm>
          <a:prstGeom prst="rect">
            <a:avLst/>
          </a:prstGeom>
          <a:noFill/>
        </p:spPr>
        <p:txBody>
          <a:bodyPr wrap="square" lIns="0" tIns="0" rIns="0" bIns="0" anchor="t">
            <a:spAutoFit/>
          </a:bodyPr>
          <a:lstStyle/>
          <a:p>
            <a:pPr algn="l">
              <a:buNone/>
              <a:defRPr>
                <a:solidFill>
                  <a:srgbClr val="CBD5E1"/>
                </a:solidFill>
              </a:defRPr>
            </a:pPr>
            <a:r>
              <a:rPr sz="1000" b="0">
                <a:solidFill>
                  <a:srgbClr val="CBD5E1"/>
                </a:solidFill>
                <a:latin typeface="Calibri"/>
                <a:ea typeface="Calibri"/>
                <a:cs typeface="Calibri"/>
              </a:rPr>
              <a:t>MediShield Health · Appendix</a:t>
            </a:r>
          </a:p>
        </p:txBody>
      </p:sp>
      <p:sp>
        <p:nvSpPr>
          <p:cNvPr id="9" name="TextBox 8">
            <a:extLst>
              <a:ext uri="{FF2B5EF4-FFF2-40B4-BE49-F238E27FC236}">
                <a16:creationId xmlns:a16="http://schemas.microsoft.com/office/drawing/2014/main" id="{24AA11B2-70F5-4328-8EC8-E27E87993BFD}"/>
              </a:ext>
            </a:extLst>
          </p:cNvPr>
          <p:cNvSpPr>
            <a:spLocks noGrp="1"/>
          </p:cNvSpPr>
          <p:nvPr/>
        </p:nvSpPr>
        <p:spPr>
          <a:xfrm>
            <a:off x="10881360" y="6446520"/>
            <a:ext cx="731520" cy="274320"/>
          </a:xfrm>
          <a:prstGeom prst="rect">
            <a:avLst/>
          </a:prstGeom>
          <a:noFill/>
        </p:spPr>
        <p:txBody>
          <a:bodyPr wrap="square" lIns="0" tIns="0" rIns="0" bIns="0" anchor="t">
            <a:spAutoFit/>
          </a:bodyPr>
          <a:lstStyle/>
          <a:p>
            <a:pPr algn="r">
              <a:buNone/>
              <a:defRPr>
                <a:solidFill>
                  <a:srgbClr val="CBD5E1"/>
                </a:solidFill>
              </a:defRPr>
            </a:pPr>
            <a:r>
              <a:rPr sz="1000" b="0">
                <a:solidFill>
                  <a:srgbClr val="CBD5E1"/>
                </a:solidFill>
                <a:latin typeface="Calibri"/>
                <a:ea typeface="Calibri"/>
                <a:cs typeface="Calibri"/>
              </a:rPr>
              <a:t>11</a:t>
            </a:r>
          </a:p>
        </p:txBody>
      </p:sp>
      <p:sp>
        <p:nvSpPr>
          <p:cNvPr id="10" name="Rounded Rectangle 9">
            <a:extLst>
              <a:ext uri="{FF2B5EF4-FFF2-40B4-BE49-F238E27FC236}">
                <a16:creationId xmlns:a16="http://schemas.microsoft.com/office/drawing/2014/main" id="{A3149592-4D34-451C-8BEF-5B935E4C99FE}"/>
              </a:ext>
            </a:extLst>
          </p:cNvPr>
          <p:cNvSpPr>
            <a:spLocks noGrp="1"/>
          </p:cNvSpPr>
          <p:nvPr/>
        </p:nvSpPr>
        <p:spPr>
          <a:xfrm>
            <a:off x="640080" y="1737360"/>
            <a:ext cx="534924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7587ACE-A22F-4FC5-8AF6-3F4E77B782DF}"/>
              </a:ext>
            </a:extLst>
          </p:cNvPr>
          <p:cNvSpPr>
            <a:spLocks noGrp="1"/>
          </p:cNvSpPr>
          <p:nvPr/>
        </p:nvSpPr>
        <p:spPr>
          <a:xfrm>
            <a:off x="914400" y="2011680"/>
            <a:ext cx="4800600" cy="45720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Every case traceable</a:t>
            </a:r>
          </a:p>
        </p:txBody>
      </p:sp>
      <p:sp>
        <p:nvSpPr>
          <p:cNvPr id="12" name="TextBox 11">
            <a:extLst>
              <a:ext uri="{FF2B5EF4-FFF2-40B4-BE49-F238E27FC236}">
                <a16:creationId xmlns:a16="http://schemas.microsoft.com/office/drawing/2014/main" id="{8B93F9AD-34D3-4036-83EC-04C2EDF7503E}"/>
              </a:ext>
            </a:extLst>
          </p:cNvPr>
          <p:cNvSpPr>
            <a:spLocks noGrp="1"/>
          </p:cNvSpPr>
          <p:nvPr/>
        </p:nvSpPr>
        <p:spPr>
          <a:xfrm>
            <a:off x="914400" y="2560320"/>
            <a:ext cx="4800600" cy="914400"/>
          </a:xfrm>
          <a:prstGeom prst="rect">
            <a:avLst/>
          </a:prstGeom>
          <a:noFill/>
        </p:spPr>
        <p:txBody>
          <a:bodyPr wrap="square" lIns="0" tIns="0" rIns="0" bIns="0" anchor="t">
            <a:spAutoFit/>
          </a:bodyPr>
          <a:lstStyle/>
          <a:p>
            <a:pPr algn="l">
              <a:buNone/>
              <a:defRPr>
                <a:solidFill>
                  <a:srgbClr val="CBD5E1"/>
                </a:solidFill>
              </a:defRPr>
            </a:pPr>
            <a:r>
              <a:rPr sz="1500" b="0">
                <a:solidFill>
                  <a:srgbClr val="CBD5E1"/>
                </a:solidFill>
                <a:latin typeface="Calibri"/>
                <a:ea typeface="Calibri"/>
                <a:cs typeface="Calibri"/>
              </a:rPr>
              <a:t>Agent runs, costs and review history</a:t>
            </a:r>
          </a:p>
        </p:txBody>
      </p:sp>
      <p:sp>
        <p:nvSpPr>
          <p:cNvPr id="13" name="Rounded Rectangle 12">
            <a:extLst>
              <a:ext uri="{FF2B5EF4-FFF2-40B4-BE49-F238E27FC236}">
                <a16:creationId xmlns:a16="http://schemas.microsoft.com/office/drawing/2014/main" id="{AF8E250C-EA21-4B0C-9DBB-9454C424B4D3}"/>
              </a:ext>
            </a:extLst>
          </p:cNvPr>
          <p:cNvSpPr>
            <a:spLocks noGrp="1"/>
          </p:cNvSpPr>
          <p:nvPr/>
        </p:nvSpPr>
        <p:spPr>
          <a:xfrm>
            <a:off x="6217920" y="1737360"/>
            <a:ext cx="534924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7312613C-31AA-4D56-9FE4-37FEFD157045}"/>
              </a:ext>
            </a:extLst>
          </p:cNvPr>
          <p:cNvSpPr>
            <a:spLocks noGrp="1"/>
          </p:cNvSpPr>
          <p:nvPr/>
        </p:nvSpPr>
        <p:spPr>
          <a:xfrm>
            <a:off x="6492240" y="2011680"/>
            <a:ext cx="4800600" cy="45720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312 SQLite tests passed</a:t>
            </a:r>
          </a:p>
        </p:txBody>
      </p:sp>
      <p:sp>
        <p:nvSpPr>
          <p:cNvPr id="15" name="TextBox 14">
            <a:extLst>
              <a:ext uri="{FF2B5EF4-FFF2-40B4-BE49-F238E27FC236}">
                <a16:creationId xmlns:a16="http://schemas.microsoft.com/office/drawing/2014/main" id="{758691F2-27BB-46DC-A695-EF8332895EE3}"/>
              </a:ext>
            </a:extLst>
          </p:cNvPr>
          <p:cNvSpPr>
            <a:spLocks noGrp="1"/>
          </p:cNvSpPr>
          <p:nvPr/>
        </p:nvSpPr>
        <p:spPr>
          <a:xfrm>
            <a:off x="6492240" y="2560320"/>
            <a:ext cx="4800600" cy="914400"/>
          </a:xfrm>
          <a:prstGeom prst="rect">
            <a:avLst/>
          </a:prstGeom>
          <a:noFill/>
        </p:spPr>
        <p:txBody>
          <a:bodyPr wrap="square" lIns="0" tIns="0" rIns="0" bIns="0" anchor="t">
            <a:spAutoFit/>
          </a:bodyPr>
          <a:lstStyle/>
          <a:p>
            <a:pPr algn="l">
              <a:buNone/>
              <a:defRPr>
                <a:solidFill>
                  <a:srgbClr val="CBD5E1"/>
                </a:solidFill>
              </a:defRPr>
            </a:pPr>
            <a:r>
              <a:rPr sz="1500" b="0">
                <a:solidFill>
                  <a:srgbClr val="CBD5E1"/>
                </a:solidFill>
                <a:latin typeface="Calibri"/>
                <a:ea typeface="Calibri"/>
                <a:cs typeface="Calibri"/>
              </a:rPr>
              <a:t>302 DynamoDB + 2 replay tests</a:t>
            </a:r>
          </a:p>
        </p:txBody>
      </p:sp>
      <p:sp>
        <p:nvSpPr>
          <p:cNvPr id="16" name="Rounded Rectangle 15">
            <a:extLst>
              <a:ext uri="{FF2B5EF4-FFF2-40B4-BE49-F238E27FC236}">
                <a16:creationId xmlns:a16="http://schemas.microsoft.com/office/drawing/2014/main" id="{233E546D-E6EE-41E4-8E06-D5BC966E9CAA}"/>
              </a:ext>
            </a:extLst>
          </p:cNvPr>
          <p:cNvSpPr>
            <a:spLocks noGrp="1"/>
          </p:cNvSpPr>
          <p:nvPr/>
        </p:nvSpPr>
        <p:spPr>
          <a:xfrm>
            <a:off x="640080" y="3840479"/>
            <a:ext cx="534924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6E8F9D9-BF13-4FAF-9BFF-93187944C20D}"/>
              </a:ext>
            </a:extLst>
          </p:cNvPr>
          <p:cNvSpPr>
            <a:spLocks noGrp="1"/>
          </p:cNvSpPr>
          <p:nvPr/>
        </p:nvSpPr>
        <p:spPr>
          <a:xfrm>
            <a:off x="914400" y="4114799"/>
            <a:ext cx="4800600" cy="45720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Costs capped</a:t>
            </a:r>
          </a:p>
        </p:txBody>
      </p:sp>
      <p:sp>
        <p:nvSpPr>
          <p:cNvPr id="18" name="TextBox 17">
            <a:extLst>
              <a:ext uri="{FF2B5EF4-FFF2-40B4-BE49-F238E27FC236}">
                <a16:creationId xmlns:a16="http://schemas.microsoft.com/office/drawing/2014/main" id="{666E5694-2537-4D3B-A464-9ABCC439DF69}"/>
              </a:ext>
            </a:extLst>
          </p:cNvPr>
          <p:cNvSpPr>
            <a:spLocks noGrp="1"/>
          </p:cNvSpPr>
          <p:nvPr/>
        </p:nvSpPr>
        <p:spPr>
          <a:xfrm>
            <a:off x="914400" y="4663439"/>
            <a:ext cx="4800600" cy="914400"/>
          </a:xfrm>
          <a:prstGeom prst="rect">
            <a:avLst/>
          </a:prstGeom>
          <a:noFill/>
        </p:spPr>
        <p:txBody>
          <a:bodyPr wrap="square" lIns="0" tIns="0" rIns="0" bIns="0" anchor="t">
            <a:spAutoFit/>
          </a:bodyPr>
          <a:lstStyle/>
          <a:p>
            <a:pPr algn="l">
              <a:buNone/>
              <a:defRPr>
                <a:solidFill>
                  <a:srgbClr val="CBD5E1"/>
                </a:solidFill>
              </a:defRPr>
            </a:pPr>
            <a:r>
              <a:rPr sz="1500" b="0">
                <a:solidFill>
                  <a:srgbClr val="CBD5E1"/>
                </a:solidFill>
                <a:latin typeface="Calibri"/>
                <a:ea typeface="Calibri"/>
                <a:cs typeface="Calibri"/>
              </a:rPr>
              <a:t>Budget alert and hard limits</a:t>
            </a:r>
          </a:p>
        </p:txBody>
      </p:sp>
      <p:sp>
        <p:nvSpPr>
          <p:cNvPr id="19" name="Rounded Rectangle 18">
            <a:extLst>
              <a:ext uri="{FF2B5EF4-FFF2-40B4-BE49-F238E27FC236}">
                <a16:creationId xmlns:a16="http://schemas.microsoft.com/office/drawing/2014/main" id="{0A2E08FD-70F1-4818-80E6-8881A5D45C14}"/>
              </a:ext>
            </a:extLst>
          </p:cNvPr>
          <p:cNvSpPr>
            <a:spLocks noGrp="1"/>
          </p:cNvSpPr>
          <p:nvPr/>
        </p:nvSpPr>
        <p:spPr>
          <a:xfrm>
            <a:off x="6217920" y="3840479"/>
            <a:ext cx="5349240" cy="1828800"/>
          </a:xfrm>
          <a:prstGeom prst="roundRect">
            <a:avLst>
              <a:gd name="adj" fmla="val 8000"/>
            </a:avLst>
          </a:prstGeom>
          <a:solidFill>
            <a:srgbClr val="142238"/>
          </a:solidFill>
          <a:ln w="12700">
            <a:solidFill>
              <a:srgbClr val="D8E4E7"/>
            </a:solid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C295D09C-A473-47C3-B70F-3DC1085F290E}"/>
              </a:ext>
            </a:extLst>
          </p:cNvPr>
          <p:cNvSpPr>
            <a:spLocks noGrp="1"/>
          </p:cNvSpPr>
          <p:nvPr/>
        </p:nvSpPr>
        <p:spPr>
          <a:xfrm>
            <a:off x="6492240" y="4114799"/>
            <a:ext cx="4800600" cy="457200"/>
          </a:xfrm>
          <a:prstGeom prst="rect">
            <a:avLst/>
          </a:prstGeom>
          <a:noFill/>
        </p:spPr>
        <p:txBody>
          <a:bodyPr wrap="square" lIns="0" tIns="0" rIns="0" bIns="0" anchor="t">
            <a:spAutoFit/>
          </a:bodyPr>
          <a:lstStyle/>
          <a:p>
            <a:pPr algn="l">
              <a:buNone/>
              <a:defRPr>
                <a:solidFill>
                  <a:srgbClr val="F8FAFC"/>
                </a:solidFill>
              </a:defRPr>
            </a:pPr>
            <a:r>
              <a:rPr sz="2000" b="1">
                <a:solidFill>
                  <a:srgbClr val="F8FAFC"/>
                </a:solidFill>
                <a:latin typeface="Calibri"/>
                <a:ea typeface="Calibri"/>
                <a:cs typeface="Calibri"/>
              </a:rPr>
              <a:t>28 saved-result gates</a:t>
            </a:r>
          </a:p>
        </p:txBody>
      </p:sp>
      <p:sp>
        <p:nvSpPr>
          <p:cNvPr id="21" name="TextBox 20">
            <a:extLst>
              <a:ext uri="{FF2B5EF4-FFF2-40B4-BE49-F238E27FC236}">
                <a16:creationId xmlns:a16="http://schemas.microsoft.com/office/drawing/2014/main" id="{74373876-FE29-49AD-B8B6-B9258333F993}"/>
              </a:ext>
            </a:extLst>
          </p:cNvPr>
          <p:cNvSpPr>
            <a:spLocks noGrp="1"/>
          </p:cNvSpPr>
          <p:nvPr/>
        </p:nvSpPr>
        <p:spPr>
          <a:xfrm>
            <a:off x="6492240" y="4663439"/>
            <a:ext cx="4800600" cy="914400"/>
          </a:xfrm>
          <a:prstGeom prst="rect">
            <a:avLst/>
          </a:prstGeom>
          <a:noFill/>
        </p:spPr>
        <p:txBody>
          <a:bodyPr wrap="square" lIns="0" tIns="0" rIns="0" bIns="0" anchor="t">
            <a:spAutoFit/>
          </a:bodyPr>
          <a:lstStyle/>
          <a:p>
            <a:pPr algn="l">
              <a:buNone/>
              <a:defRPr>
                <a:solidFill>
                  <a:srgbClr val="CBD5E1"/>
                </a:solidFill>
              </a:defRPr>
            </a:pPr>
            <a:r>
              <a:rPr sz="1500" b="0">
                <a:solidFill>
                  <a:srgbClr val="CBD5E1"/>
                </a:solidFill>
                <a:latin typeface="Calibri"/>
                <a:ea typeface="Calibri"/>
                <a:cs typeface="Calibri"/>
              </a:rPr>
              <a:t>Fresh model evaluation is separate</a:t>
            </a:r>
          </a:p>
        </p:txBody>
      </p:sp>
    </p:spTree>
    <p:extLst>
      <p:ext uri="{BB962C8B-B14F-4D97-AF65-F5344CB8AC3E}">
        <p14:creationId xmlns:p14="http://schemas.microsoft.com/office/powerpoint/2010/main" val="7492635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F6CB826-CEE6-4FA3-B258-A93810B8540E}"/>
              </a:ext>
            </a:extLst>
          </p:cNvPr>
          <p:cNvSpPr>
            <a:spLocks noGrp="1"/>
          </p:cNvSpPr>
          <p:nvPr/>
        </p:nvSpPr>
        <p:spPr>
          <a:xfrm>
            <a:off x="0" y="0"/>
            <a:ext cx="12191695" cy="109728"/>
          </a:xfrm>
          <a:prstGeom prst="rect">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029F3B96-8EC3-458A-9B1F-5ED8CB4191EC}"/>
              </a:ext>
            </a:extLst>
          </p:cNvPr>
          <p:cNvSpPr>
            <a:spLocks noGrp="1"/>
          </p:cNvSpPr>
          <p:nvPr/>
        </p:nvSpPr>
        <p:spPr>
          <a:xfrm>
            <a:off x="640080" y="411480"/>
            <a:ext cx="9144000" cy="320040"/>
          </a:xfrm>
          <a:prstGeom prst="rect">
            <a:avLst/>
          </a:prstGeom>
          <a:noFill/>
        </p:spPr>
        <p:txBody>
          <a:bodyPr wrap="square" lIns="0" tIns="0" rIns="0" bIns="0" anchor="t">
            <a:spAutoFit/>
          </a:bodyPr>
          <a:lstStyle/>
          <a:p>
            <a:pPr algn="l">
              <a:buNone/>
              <a:defRPr>
                <a:solidFill>
                  <a:srgbClr val="2DD4BF"/>
                </a:solidFill>
              </a:defRPr>
            </a:pPr>
            <a:r>
              <a:rPr sz="1200" b="1">
                <a:solidFill>
                  <a:srgbClr val="2DD4BF"/>
                </a:solidFill>
                <a:latin typeface="Calibri"/>
                <a:ea typeface="Calibri"/>
                <a:cs typeface="Calibri"/>
              </a:rPr>
              <a:t>APPENDIX · ENGINEERING</a:t>
            </a:r>
          </a:p>
        </p:txBody>
      </p:sp>
      <p:sp>
        <p:nvSpPr>
          <p:cNvPr id="4" name="TextBox 3">
            <a:extLst>
              <a:ext uri="{FF2B5EF4-FFF2-40B4-BE49-F238E27FC236}">
                <a16:creationId xmlns:a16="http://schemas.microsoft.com/office/drawing/2014/main" id="{34E90EFD-F258-4180-AE5E-E040ED53AC75}"/>
              </a:ext>
            </a:extLst>
          </p:cNvPr>
          <p:cNvSpPr>
            <a:spLocks noGrp="1"/>
          </p:cNvSpPr>
          <p:nvPr/>
        </p:nvSpPr>
        <p:spPr>
          <a:xfrm>
            <a:off x="640080" y="685800"/>
            <a:ext cx="10972800" cy="731520"/>
          </a:xfrm>
          <a:prstGeom prst="rect">
            <a:avLst/>
          </a:prstGeom>
          <a:noFill/>
        </p:spPr>
        <p:txBody>
          <a:bodyPr wrap="square" lIns="0" tIns="0" rIns="0" bIns="0" anchor="t">
            <a:spAutoFit/>
          </a:bodyPr>
          <a:lstStyle/>
          <a:p>
            <a:pPr algn="l">
              <a:buNone/>
              <a:defRPr>
                <a:solidFill>
                  <a:srgbClr val="F8FAFC"/>
                </a:solidFill>
              </a:defRPr>
            </a:pPr>
            <a:r>
              <a:rPr sz="3200" b="1">
                <a:solidFill>
                  <a:srgbClr val="F8FAFC"/>
                </a:solidFill>
                <a:latin typeface="Calibri"/>
                <a:ea typeface="Calibri"/>
                <a:cs typeface="Calibri"/>
              </a:rPr>
              <a:t>Tradeoffs have evidence and limits</a:t>
            </a:r>
          </a:p>
        </p:txBody>
      </p:sp>
      <p:sp>
        <p:nvSpPr>
          <p:cNvPr id="5" name="Pentagon 4">
            <a:extLst>
              <a:ext uri="{FF2B5EF4-FFF2-40B4-BE49-F238E27FC236}">
                <a16:creationId xmlns:a16="http://schemas.microsoft.com/office/drawing/2014/main" id="{8C1EA226-9E42-4DFF-AB4A-1EBC44317F61}"/>
              </a:ext>
            </a:extLst>
          </p:cNvPr>
          <p:cNvSpPr>
            <a:spLocks noGrp="1"/>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3F2174F7-73CD-4224-B8FD-1F246F123DDE}"/>
              </a:ext>
            </a:extLst>
          </p:cNvPr>
          <p:cNvSpPr>
            <a:spLocks noGrp="1"/>
          </p:cNvSpPr>
          <p:nvPr/>
        </p:nvSpPr>
        <p:spPr>
          <a:xfrm>
            <a:off x="11358860" y="453177"/>
            <a:ext cx="69128" cy="215066"/>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D2874F55-B05D-4AC9-A498-4471B2056F4A}"/>
              </a:ext>
            </a:extLst>
          </p:cNvPr>
          <p:cNvSpPr>
            <a:spLocks noGrp="1"/>
          </p:cNvSpPr>
          <p:nvPr/>
        </p:nvSpPr>
        <p:spPr>
          <a:xfrm>
            <a:off x="11285891" y="526146"/>
            <a:ext cx="215066" cy="69128"/>
          </a:xfrm>
          <a:prstGeom prst="rect">
            <a:avLst/>
          </a:prstGeom>
          <a:solidFill>
            <a:srgbClr val="142238"/>
          </a:solidFill>
          <a:ln>
            <a:noFill/>
          </a:ln>
        </p:spPr>
        <p:style>
          <a:lnRef idx="1">
            <a:schemeClr val="accent1"/>
          </a:lnRef>
          <a:fillRef idx="3">
            <a:schemeClr val="accent1"/>
          </a:fillRef>
          <a:effectRef idx="0">
            <a:scrgbClr r="0" g="0" b="0"/>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82E228E5-4551-4B6B-9F8F-88AAC50DE0BE}"/>
              </a:ext>
            </a:extLst>
          </p:cNvPr>
          <p:cNvSpPr>
            <a:spLocks noGrp="1"/>
          </p:cNvSpPr>
          <p:nvPr/>
        </p:nvSpPr>
        <p:spPr>
          <a:xfrm>
            <a:off x="640080" y="6446520"/>
            <a:ext cx="7315200" cy="274320"/>
          </a:xfrm>
          <a:prstGeom prst="rect">
            <a:avLst/>
          </a:prstGeom>
          <a:noFill/>
        </p:spPr>
        <p:txBody>
          <a:bodyPr wrap="square" lIns="0" tIns="0" rIns="0" bIns="0" anchor="t">
            <a:spAutoFit/>
          </a:bodyPr>
          <a:lstStyle/>
          <a:p>
            <a:pPr algn="l">
              <a:buNone/>
              <a:defRPr>
                <a:solidFill>
                  <a:srgbClr val="CBD5E1"/>
                </a:solidFill>
              </a:defRPr>
            </a:pPr>
            <a:r>
              <a:rPr sz="1000" b="0">
                <a:solidFill>
                  <a:srgbClr val="CBD5E1"/>
                </a:solidFill>
                <a:latin typeface="Calibri"/>
                <a:ea typeface="Calibri"/>
                <a:cs typeface="Calibri"/>
              </a:rPr>
              <a:t>MediShield Health · Appendix</a:t>
            </a:r>
          </a:p>
        </p:txBody>
      </p:sp>
      <p:sp>
        <p:nvSpPr>
          <p:cNvPr id="9" name="TextBox 8">
            <a:extLst>
              <a:ext uri="{FF2B5EF4-FFF2-40B4-BE49-F238E27FC236}">
                <a16:creationId xmlns:a16="http://schemas.microsoft.com/office/drawing/2014/main" id="{5A91BE3C-9703-4FCB-81CD-3339C5704F5C}"/>
              </a:ext>
            </a:extLst>
          </p:cNvPr>
          <p:cNvSpPr>
            <a:spLocks noGrp="1"/>
          </p:cNvSpPr>
          <p:nvPr/>
        </p:nvSpPr>
        <p:spPr>
          <a:xfrm>
            <a:off x="10881360" y="6446520"/>
            <a:ext cx="731520" cy="274320"/>
          </a:xfrm>
          <a:prstGeom prst="rect">
            <a:avLst/>
          </a:prstGeom>
          <a:noFill/>
        </p:spPr>
        <p:txBody>
          <a:bodyPr wrap="square" lIns="0" tIns="0" rIns="0" bIns="0" anchor="t">
            <a:spAutoFit/>
          </a:bodyPr>
          <a:lstStyle/>
          <a:p>
            <a:pPr algn="r">
              <a:buNone/>
              <a:defRPr>
                <a:solidFill>
                  <a:srgbClr val="CBD5E1"/>
                </a:solidFill>
              </a:defRPr>
            </a:pPr>
            <a:r>
              <a:rPr sz="1000" b="0">
                <a:solidFill>
                  <a:srgbClr val="CBD5E1"/>
                </a:solidFill>
                <a:latin typeface="Calibri"/>
                <a:ea typeface="Calibri"/>
                <a:cs typeface="Calibri"/>
              </a:rPr>
              <a:t>12</a:t>
            </a:r>
          </a:p>
        </p:txBody>
      </p:sp>
      <p:graphicFrame>
        <p:nvGraphicFramePr>
          <p:cNvPr id="19" name="Table 9"/>
          <p:cNvGraphicFramePr/>
          <p:nvPr/>
        </p:nvGraphicFramePr>
        <p:xfrm>
          <a:off x="640080" y="1828800"/>
          <a:ext cx="10881360" cy="3291840"/>
        </p:xfrm>
        <a:graphic>
          <a:graphicData uri="http://schemas.openxmlformats.org/drawingml/2006/table">
            <a:tbl>
              <a:tblPr firstRow="1" bandRow="1">
                <a:tableStyleId>{5C22544A-7EE6-4342-B048-85BDC9FD1C3A}</a:tableStyleId>
              </a:tblPr>
              <a:tblGrid>
                <a:gridCol w="53949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658368">
                <a:tc>
                  <a:txBody>
                    <a:bodyPr/>
                    <a:lstStyle/>
                    <a:p>
                      <a:r>
                        <a:rPr sz="1725" b="1">
                          <a:solidFill>
                            <a:srgbClr val="2DD4BF"/>
                          </a:solidFill>
                          <a:latin typeface="Calibri"/>
                          <a:ea typeface="Calibri"/>
                          <a:cs typeface="Calibri"/>
                        </a:rPr>
                        <a:t>Change</a:t>
                      </a:r>
                    </a:p>
                  </a:txBody>
                  <a:tcPr anchor="ctr">
                    <a:solidFill>
                      <a:srgbClr val="193344"/>
                    </a:solidFill>
                  </a:tcPr>
                </a:tc>
                <a:tc>
                  <a:txBody>
                    <a:bodyPr/>
                    <a:lstStyle/>
                    <a:p>
                      <a:r>
                        <a:rPr sz="1725" b="1">
                          <a:solidFill>
                            <a:srgbClr val="2DD4BF"/>
                          </a:solidFill>
                          <a:latin typeface="Calibri"/>
                          <a:ea typeface="Calibri"/>
                          <a:cs typeface="Calibri"/>
                        </a:rPr>
                        <a:t>Evidence</a:t>
                      </a:r>
                    </a:p>
                  </a:txBody>
                  <a:tcPr anchor="ctr">
                    <a:solidFill>
                      <a:srgbClr val="193344"/>
                    </a:solidFill>
                  </a:tcPr>
                </a:tc>
                <a:tc>
                  <a:txBody>
                    <a:bodyPr/>
                    <a:lstStyle/>
                    <a:p>
                      <a:r>
                        <a:rPr sz="1725" b="1">
                          <a:solidFill>
                            <a:srgbClr val="2DD4BF"/>
                          </a:solidFill>
                          <a:latin typeface="Calibri"/>
                          <a:ea typeface="Calibri"/>
                          <a:cs typeface="Calibri"/>
                        </a:rPr>
                        <a:t>Scope</a:t>
                      </a:r>
                    </a:p>
                  </a:txBody>
                  <a:tcPr anchor="ctr">
                    <a:solidFill>
                      <a:srgbClr val="193344"/>
                    </a:solidFill>
                  </a:tcPr>
                </a:tc>
                <a:extLst>
                  <a:ext uri="{0D108BD9-81ED-4DB2-BD59-A6C34878D82A}">
                    <a16:rowId xmlns:a16="http://schemas.microsoft.com/office/drawing/2014/main" val="10000"/>
                  </a:ext>
                </a:extLst>
              </a:tr>
              <a:tr h="658368">
                <a:tc>
                  <a:txBody>
                    <a:bodyPr/>
                    <a:lstStyle/>
                    <a:p>
                      <a:r>
                        <a:rPr sz="1575" b="1">
                          <a:solidFill>
                            <a:srgbClr val="F8FAFC"/>
                          </a:solidFill>
                          <a:latin typeface="Calibri"/>
                          <a:ea typeface="Calibri"/>
                          <a:cs typeface="Calibri"/>
                        </a:rPr>
                        <a:t>OCR-first routing</a:t>
                      </a:r>
                    </a:p>
                  </a:txBody>
                  <a:tcPr anchor="ctr">
                    <a:solidFill>
                      <a:srgbClr val="142238"/>
                    </a:solidFill>
                  </a:tcPr>
                </a:tc>
                <a:tc>
                  <a:txBody>
                    <a:bodyPr/>
                    <a:lstStyle/>
                    <a:p>
                      <a:r>
                        <a:rPr sz="1575" b="0">
                          <a:solidFill>
                            <a:srgbClr val="F8FAFC"/>
                          </a:solidFill>
                          <a:latin typeface="Calibri"/>
                          <a:ea typeface="Calibri"/>
                          <a:cs typeface="Calibri"/>
                        </a:rPr>
                        <a:t>Historical A/B: ~25% lower cost</a:t>
                      </a:r>
                    </a:p>
                  </a:txBody>
                  <a:tcPr anchor="ctr">
                    <a:solidFill>
                      <a:srgbClr val="142238"/>
                    </a:solidFill>
                  </a:tcPr>
                </a:tc>
                <a:tc>
                  <a:txBody>
                    <a:bodyPr/>
                    <a:lstStyle/>
                    <a:p>
                      <a:r>
                        <a:rPr sz="1575" b="0">
                          <a:solidFill>
                            <a:srgbClr val="F8FAFC"/>
                          </a:solidFill>
                          <a:latin typeface="Calibri"/>
                          <a:ea typeface="Calibri"/>
                          <a:cs typeface="Calibri"/>
                        </a:rPr>
                        <a:t>Optional auto mode</a:t>
                      </a:r>
                    </a:p>
                  </a:txBody>
                  <a:tcPr anchor="ctr">
                    <a:solidFill>
                      <a:srgbClr val="142238"/>
                    </a:solidFill>
                  </a:tcPr>
                </a:tc>
                <a:extLst>
                  <a:ext uri="{0D108BD9-81ED-4DB2-BD59-A6C34878D82A}">
                    <a16:rowId xmlns:a16="http://schemas.microsoft.com/office/drawing/2014/main" val="10001"/>
                  </a:ext>
                </a:extLst>
              </a:tr>
              <a:tr h="658368">
                <a:tc>
                  <a:txBody>
                    <a:bodyPr/>
                    <a:lstStyle/>
                    <a:p>
                      <a:r>
                        <a:rPr sz="1575" b="1">
                          <a:solidFill>
                            <a:srgbClr val="F8FAFC"/>
                          </a:solidFill>
                          <a:latin typeface="Calibri"/>
                          <a:ea typeface="Calibri"/>
                          <a:cs typeface="Calibri"/>
                        </a:rPr>
                        <a:t>Smaller model routing</a:t>
                      </a:r>
                    </a:p>
                  </a:txBody>
                  <a:tcPr anchor="ctr">
                    <a:solidFill>
                      <a:srgbClr val="0F1B2D"/>
                    </a:solidFill>
                  </a:tcPr>
                </a:tc>
                <a:tc>
                  <a:txBody>
                    <a:bodyPr/>
                    <a:lstStyle/>
                    <a:p>
                      <a:r>
                        <a:rPr sz="1575" b="0">
                          <a:solidFill>
                            <a:srgbClr val="F8FAFC"/>
                          </a:solidFill>
                          <a:latin typeface="Calibri"/>
                          <a:ea typeface="Calibri"/>
                          <a:cs typeface="Calibri"/>
                        </a:rPr>
                        <a:t>Historical A/B: ~36% lower cost</a:t>
                      </a:r>
                    </a:p>
                  </a:txBody>
                  <a:tcPr anchor="ctr">
                    <a:solidFill>
                      <a:srgbClr val="0F1B2D"/>
                    </a:solidFill>
                  </a:tcPr>
                </a:tc>
                <a:tc>
                  <a:txBody>
                    <a:bodyPr/>
                    <a:lstStyle/>
                    <a:p>
                      <a:r>
                        <a:rPr sz="1575" b="0">
                          <a:solidFill>
                            <a:srgbClr val="F8FAFC"/>
                          </a:solidFill>
                          <a:latin typeface="Calibri"/>
                          <a:ea typeface="Calibri"/>
                          <a:cs typeface="Calibri"/>
                        </a:rPr>
                        <a:t>Earlier evaluation</a:t>
                      </a:r>
                    </a:p>
                  </a:txBody>
                  <a:tcPr anchor="ctr">
                    <a:solidFill>
                      <a:srgbClr val="0F1B2D"/>
                    </a:solidFill>
                  </a:tcPr>
                </a:tc>
                <a:extLst>
                  <a:ext uri="{0D108BD9-81ED-4DB2-BD59-A6C34878D82A}">
                    <a16:rowId xmlns:a16="http://schemas.microsoft.com/office/drawing/2014/main" val="10002"/>
                  </a:ext>
                </a:extLst>
              </a:tr>
              <a:tr h="658368">
                <a:tc>
                  <a:txBody>
                    <a:bodyPr/>
                    <a:lstStyle/>
                    <a:p>
                      <a:r>
                        <a:rPr sz="1575" b="1">
                          <a:solidFill>
                            <a:srgbClr val="F8FAFC"/>
                          </a:solidFill>
                          <a:latin typeface="Calibri"/>
                          <a:ea typeface="Calibri"/>
                          <a:cs typeface="Calibri"/>
                        </a:rPr>
                        <a:t>Smaller reranker</a:t>
                      </a:r>
                    </a:p>
                  </a:txBody>
                  <a:tcPr anchor="ctr">
                    <a:solidFill>
                      <a:srgbClr val="142238"/>
                    </a:solidFill>
                  </a:tcPr>
                </a:tc>
                <a:tc>
                  <a:txBody>
                    <a:bodyPr/>
                    <a:lstStyle/>
                    <a:p>
                      <a:r>
                        <a:rPr sz="1575" b="0">
                          <a:solidFill>
                            <a:srgbClr val="F8FAFC"/>
                          </a:solidFill>
                          <a:latin typeface="Calibri"/>
                          <a:ea typeface="Calibri"/>
                          <a:cs typeface="Calibri"/>
                        </a:rPr>
                        <a:t>Gold-set retrieval comparison</a:t>
                      </a:r>
                    </a:p>
                  </a:txBody>
                  <a:tcPr anchor="ctr">
                    <a:solidFill>
                      <a:srgbClr val="142238"/>
                    </a:solidFill>
                  </a:tcPr>
                </a:tc>
                <a:tc>
                  <a:txBody>
                    <a:bodyPr/>
                    <a:lstStyle/>
                    <a:p>
                      <a:r>
                        <a:rPr sz="1575" b="0">
                          <a:solidFill>
                            <a:srgbClr val="F8FAFC"/>
                          </a:solidFill>
                          <a:latin typeface="Calibri"/>
                          <a:ea typeface="Calibri"/>
                          <a:cs typeface="Calibri"/>
                        </a:rPr>
                        <a:t>Synthetic policies</a:t>
                      </a:r>
                    </a:p>
                  </a:txBody>
                  <a:tcPr anchor="ctr">
                    <a:solidFill>
                      <a:srgbClr val="142238"/>
                    </a:solidFill>
                  </a:tcPr>
                </a:tc>
                <a:extLst>
                  <a:ext uri="{0D108BD9-81ED-4DB2-BD59-A6C34878D82A}">
                    <a16:rowId xmlns:a16="http://schemas.microsoft.com/office/drawing/2014/main" val="10003"/>
                  </a:ext>
                </a:extLst>
              </a:tr>
              <a:tr h="658368">
                <a:tc>
                  <a:txBody>
                    <a:bodyPr/>
                    <a:lstStyle/>
                    <a:p>
                      <a:r>
                        <a:rPr sz="1575" b="1">
                          <a:solidFill>
                            <a:srgbClr val="F8FAFC"/>
                          </a:solidFill>
                          <a:latin typeface="Calibri"/>
                          <a:ea typeface="Calibri"/>
                          <a:cs typeface="Calibri"/>
                        </a:rPr>
                        <a:t>Text-only extraction</a:t>
                      </a:r>
                    </a:p>
                  </a:txBody>
                  <a:tcPr anchor="ctr">
                    <a:solidFill>
                      <a:srgbClr val="0F1B2D"/>
                    </a:solidFill>
                  </a:tcPr>
                </a:tc>
                <a:tc>
                  <a:txBody>
                    <a:bodyPr/>
                    <a:lstStyle/>
                    <a:p>
                      <a:r>
                        <a:rPr sz="1575" b="0">
                          <a:solidFill>
                            <a:srgbClr val="F8FAFC"/>
                          </a:solidFill>
                          <a:latin typeface="Calibri"/>
                          <a:ea typeface="Calibri"/>
                          <a:cs typeface="Calibri"/>
                        </a:rPr>
                        <a:t>Lower cost; accuracy fell</a:t>
                      </a:r>
                    </a:p>
                  </a:txBody>
                  <a:tcPr anchor="ctr">
                    <a:solidFill>
                      <a:srgbClr val="0F1B2D"/>
                    </a:solidFill>
                  </a:tcPr>
                </a:tc>
                <a:tc>
                  <a:txBody>
                    <a:bodyPr/>
                    <a:lstStyle/>
                    <a:p>
                      <a:r>
                        <a:rPr sz="1575" b="0">
                          <a:solidFill>
                            <a:srgbClr val="F8FAFC"/>
                          </a:solidFill>
                          <a:latin typeface="Calibri"/>
                          <a:ea typeface="Calibri"/>
                          <a:cs typeface="Calibri"/>
                        </a:rPr>
                        <a:t>Not adopted</a:t>
                      </a:r>
                    </a:p>
                  </a:txBody>
                  <a:tcPr anchor="ctr">
                    <a:solidFill>
                      <a:srgbClr val="0F1B2D"/>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415956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13118</TotalTime>
  <Words>1561</Words>
  <Application>Microsoft Macintosh PowerPoint</Application>
  <DocSecurity>0</DocSecurity>
  <PresentationFormat>Widescreen</PresentationFormat>
  <Paragraphs>209</Paragraphs>
  <Slides>13</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Raghav Bansal</cp:lastModifiedBy>
  <cp:revision>2</cp:revision>
  <dcterms:created xsi:type="dcterms:W3CDTF">2026-10-06T22:00:32Z</dcterms:created>
  <dcterms:modified xsi:type="dcterms:W3CDTF">2026-10-20T07:49:01Z</dcterms:modified>
</cp:coreProperties>
</file>
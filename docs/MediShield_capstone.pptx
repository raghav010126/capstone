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the solution owner for claims-intake automation. In the next 15 minutes: what we built, how well it works on data it never saw, what it costs to run, the risks I still see, and the decision I need from you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line first. The system is built and running in our AWS account. On held-out data it matched every decision whose evidence is visible on the page (96.2% counting labels never drawn on the documents), at about 8 cents a case in model spend, and about a dollar a month when idle. Seven agents read and check every document, a rule file decides, and people review anything uncertain. What it hasn't seen yet is real scans, which is why I'm asking for a shadow pilot rather than a go-live.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intake today is people's time: 85,000 documents a month, 120 reviewers, four days and about eighteen dollars a document. Model spend at our full volume projects to about 18 thousand dollars a year (1.02 million documents at 0.018 each); AWS infrastructure is pay-per-use on top. I'm deliberately not quoting a savings number yet: escalated cases keep their manual cost, so it depends on how many real cases go straight through, and that is exactly what the pilot measures.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deliverable and every bonus in the brief is done. Rather than read the list, here's why it matters. The left column is the job itself: it takes over the sorting and checking our reviewers do by hand. The middle column looks like extras, but each one answers a question you'll get from risk or audit: can we trust the confidence score, what about forged IDs (the open KYC findings), what about members who don't write in English, can an auditor see the whole decision, can we replay what the AI did. The right column is what operations would have raised as follow-up projects: an assistant that only shows what your role allows, claims by email, new policies without an engineering release, a monitor showing where reviewers overrule the AI, and CI gates so a change that lowers accuracy cannot 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choice for a regulated business: the AI models read documents and explain, but they never make the decision. A versioned rule file does, so decisions are repeatable, every one points to a rule id, and a document that says 'APPROVE' cannot approve itself. Confidence comes from evidence on the page, not the model's opinion, and anything uncertain goes to a reviewer; above $10,000 an override needs a second, senior reviewer. Free local OCR runs first; Sonnet reads and reasons, and Opus only retries or double-checks suspected tampering.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here is a server we have to patch. The web app is static on CloudFront and S3, the API is a Lambda with signed direct-to-S3 uploads, and both agents run on Bedrock AgentCore in isolated sessions; the assistant keeps per-user memory in AgentCore Memory. OCR, search (bge-small and BM25 with a reranker) and image forensics run inside our own container at no API cost; only reading and reasoning call Claude. The ARM64 image is built in CodeBuild, secrets live in SSM, and the whole thing deploys, and tears down, from one stack.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Prompts were tuned on the development split only; these numbers come from the held-out split the system had never seen, plus a second dataset generated with a different random seed. The gap between 100% and 96.2% is labels that exist in the answer key but were never drawn on the documents, like 'tampered' IDs that look normal. 7 adversarial documents with hidden instructions changed zero decisions, and 21 quality gates in CI check accuracy, safety and cost on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controls our auditors and the open KYC findings will ask about. One permission matrix drives the API, the screens and the assistant, and it's enforced where data is read, so even the assistant can't leak what your role may not see. Overrides above $10,000 need a second, senior reviewer, and nobody approves their own. Every login, view, decision, override and blocked question is hash-chained, so edits are detectable. Patient data is redacted from logs, traces and assistant memory; secrets live only in SSM. Model spend has hard total and daily caps, plus an AWS Budget alert.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takes to run day to day. Every case has a LangSmith trace with each agent call, its tokens, latency and cost; logs stay 14 days in CloudWatch; and an AI quality monitor shows where reviewers overrule the AI, by rule. GitHub Actions runs lint, 261 tests on two databases and 21 quality gates on every push, so nothing ships that lowers accuracy or raises cost past a threshold. Spend is capped in code, not just alerted on. Uploaded case files expire after 60 days, temporary uploads after a day, and an admin can update policies without a release.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change was A/B tested on the development split before it shipped. Calling the vision model only when OCR isn't good enough cut a quarter of the cost. Moving policy and fraud from Opus to Sonnet cut cost per case from 13 to 8 cents with identical decisions. A seven-times smaller reranker scored better and let the image fit AgentCore's 2 GB limit. And I rejected one saving, text-only extraction, because it cost four points of accuracy. Sign-in also went from about 15 seconds to under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explicit about what is not proven. The biggest gap is real documents: fax noise, skew, multi-page scans. The pilot closes that. On the stress-test set one of three subtly forged IDs got through; suspicious IDs escalate, and for production I'd add an ID-verification service. The item that matters most to you: today model calls go to Anthropic's API; for production I recommend Claude through Amazon Bedrock so patient data stays in our AWS account, subject to security review. The scale fixes, a keyed duplicate index and status counters, are designed and only matter at full volume. Cold starts can make the first action take 10 to 30 seconds; a small warm pool fixes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recommendation is to earn trust in stages, each with a measurable exit. Phase one, proposed at six weeks: run beside one reviewer team on de-identified real scans, with no member impact and model spend of about 18 dollars per thousand documents; exit when it agrees with reviewers on at least 95 percent of 1,000 or more documents with no patient-data incidents. Phase two: the AI decides and reviewers confirm every rejection, with company sign-in and Bedrock in place; exit at under 5 percent overrides in the quality monitor. Phase three: clean approvals go straight through; escalations and four-eyes stay human. The three decisions I need are on the slide. Happy to take questions, and then I'll show it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424D"/>
        </a:solidFill>
        <a:effectLst/>
      </p:bgPr>
    </p:bg>
    <p:spTree>
      <p:nvGrpSpPr>
        <p:cNvPr id="1" name=""/>
        <p:cNvGrpSpPr/>
        <p:nvPr/>
      </p:nvGrpSpPr>
      <p:grpSpPr/>
      <p:sp>
        <p:nvSpPr>
          <p:cNvPr id="2" name="Pentagon 1"/>
          <p:cNvSpPr/>
          <p:nvPr/>
        </p:nvSpPr>
        <p:spPr>
          <a:xfrm rot="5400000">
            <a:off x="731520" y="640080"/>
            <a:ext cx="685800" cy="685800"/>
          </a:xfrm>
          <a:prstGeom prst="homePlat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2698" y="763524"/>
            <a:ext cx="123444" cy="384048"/>
          </a:xfrm>
          <a:prstGeom prst="rect">
            <a:avLst/>
          </a:prstGeom>
          <a:solidFill>
            <a:srgbClr val="124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82396" y="893826"/>
            <a:ext cx="384048" cy="123444"/>
          </a:xfrm>
          <a:prstGeom prst="rect">
            <a:avLst/>
          </a:prstGeom>
          <a:solidFill>
            <a:srgbClr val="124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00200" y="713232"/>
            <a:ext cx="5486400" cy="548640"/>
          </a:xfrm>
          <a:prstGeom prst="rect">
            <a:avLst/>
          </a:prstGeom>
          <a:noFill/>
        </p:spPr>
        <p:txBody>
          <a:bodyPr wrap="square" anchor="t" lIns="0" rIns="0" tIns="0" bIns="0">
            <a:spAutoFit/>
          </a:bodyPr>
          <a:lstStyle/>
          <a:p>
            <a:pPr algn="l"/>
            <a:r>
              <a:rPr sz="2200" b="1">
                <a:solidFill>
                  <a:srgbClr val="FFFFFF"/>
                </a:solidFill>
                <a:latin typeface="Calibri"/>
              </a:rPr>
              <a:t>MediShield Health</a:t>
            </a:r>
          </a:p>
        </p:txBody>
      </p:sp>
      <p:sp>
        <p:nvSpPr>
          <p:cNvPr id="6" name="TextBox 5"/>
          <p:cNvSpPr txBox="1"/>
          <p:nvPr/>
        </p:nvSpPr>
        <p:spPr>
          <a:xfrm>
            <a:off x="731520" y="2103120"/>
            <a:ext cx="10515600" cy="1097280"/>
          </a:xfrm>
          <a:prstGeom prst="rect">
            <a:avLst/>
          </a:prstGeom>
          <a:noFill/>
        </p:spPr>
        <p:txBody>
          <a:bodyPr wrap="square" anchor="t" lIns="0" rIns="0" tIns="0" bIns="0">
            <a:spAutoFit/>
          </a:bodyPr>
          <a:lstStyle/>
          <a:p>
            <a:pPr algn="l"/>
            <a:r>
              <a:rPr sz="5400" b="1">
                <a:solidFill>
                  <a:srgbClr val="FFFFFF"/>
                </a:solidFill>
                <a:latin typeface="Calibri"/>
              </a:rPr>
              <a:t>Claims intake automation</a:t>
            </a:r>
          </a:p>
        </p:txBody>
      </p:sp>
      <p:sp>
        <p:nvSpPr>
          <p:cNvPr id="7" name="TextBox 6"/>
          <p:cNvSpPr txBox="1"/>
          <p:nvPr/>
        </p:nvSpPr>
        <p:spPr>
          <a:xfrm>
            <a:off x="731520" y="3154680"/>
            <a:ext cx="10515600" cy="914400"/>
          </a:xfrm>
          <a:prstGeom prst="rect">
            <a:avLst/>
          </a:prstGeom>
          <a:noFill/>
        </p:spPr>
        <p:txBody>
          <a:bodyPr wrap="square" anchor="t" lIns="0" rIns="0" tIns="0" bIns="0">
            <a:spAutoFit/>
          </a:bodyPr>
          <a:lstStyle/>
          <a:p>
            <a:pPr algn="l"/>
            <a:r>
              <a:rPr sz="2600" b="0">
                <a:solidFill>
                  <a:srgbClr val="C9E6E8"/>
                </a:solidFill>
                <a:latin typeface="Calibri"/>
              </a:rPr>
              <a:t>Solution review and go-live recommendation</a:t>
            </a:r>
          </a:p>
        </p:txBody>
      </p:sp>
      <p:sp>
        <p:nvSpPr>
          <p:cNvPr id="8" name="TextBox 7"/>
          <p:cNvSpPr txBox="1"/>
          <p:nvPr/>
        </p:nvSpPr>
        <p:spPr>
          <a:xfrm>
            <a:off x="731520" y="5669280"/>
            <a:ext cx="10515600" cy="731520"/>
          </a:xfrm>
          <a:prstGeom prst="rect">
            <a:avLst/>
          </a:prstGeom>
          <a:noFill/>
        </p:spPr>
        <p:txBody>
          <a:bodyPr wrap="square" anchor="t" lIns="0" rIns="0" tIns="0" bIns="0">
            <a:spAutoFit/>
          </a:bodyPr>
          <a:lstStyle/>
          <a:p>
            <a:pPr algn="l"/>
            <a:r>
              <a:rPr sz="1400" b="0">
                <a:solidFill>
                  <a:srgbClr val="9FC9CD"/>
                </a:solidFill>
                <a:latin typeface="Calibri"/>
              </a:rPr>
              <a:t>Raghav Bansal · Solution Owner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EXECUTIVE SUMMARY</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It works, it's live, and it's cheap to run</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2</a:t>
            </a:r>
          </a:p>
        </p:txBody>
      </p:sp>
      <p:sp>
        <p:nvSpPr>
          <p:cNvPr id="10" name="Rounded Rectangle 9"/>
          <p:cNvSpPr/>
          <p:nvPr/>
        </p:nvSpPr>
        <p:spPr>
          <a:xfrm>
            <a:off x="640080" y="182880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011680"/>
            <a:ext cx="2103120" cy="731520"/>
          </a:xfrm>
          <a:prstGeom prst="rect">
            <a:avLst/>
          </a:prstGeom>
          <a:noFill/>
        </p:spPr>
        <p:txBody>
          <a:bodyPr wrap="square" anchor="t" lIns="0" rIns="0" tIns="0" bIns="0">
            <a:spAutoFit/>
          </a:bodyPr>
          <a:lstStyle/>
          <a:p>
            <a:pPr algn="l"/>
            <a:r>
              <a:rPr sz="3400" b="1">
                <a:solidFill>
                  <a:srgbClr val="0F7F8A"/>
                </a:solidFill>
                <a:latin typeface="Calibri"/>
              </a:rPr>
              <a:t>≈ 1 min</a:t>
            </a:r>
          </a:p>
        </p:txBody>
      </p:sp>
      <p:sp>
        <p:nvSpPr>
          <p:cNvPr id="12" name="TextBox 11"/>
          <p:cNvSpPr txBox="1"/>
          <p:nvPr/>
        </p:nvSpPr>
        <p:spPr>
          <a:xfrm>
            <a:off x="868680" y="2697480"/>
            <a:ext cx="2103120" cy="457200"/>
          </a:xfrm>
          <a:prstGeom prst="rect">
            <a:avLst/>
          </a:prstGeom>
          <a:noFill/>
        </p:spPr>
        <p:txBody>
          <a:bodyPr wrap="square" anchor="t" lIns="0" rIns="0" tIns="0" bIns="0">
            <a:spAutoFit/>
          </a:bodyPr>
          <a:lstStyle/>
          <a:p>
            <a:pPr algn="l"/>
            <a:r>
              <a:rPr sz="1400" b="1">
                <a:solidFill>
                  <a:srgbClr val="1F2D3D"/>
                </a:solidFill>
                <a:latin typeface="Calibri"/>
              </a:rPr>
              <a:t>to a decision</a:t>
            </a:r>
          </a:p>
        </p:txBody>
      </p:sp>
      <p:sp>
        <p:nvSpPr>
          <p:cNvPr id="13" name="TextBox 12"/>
          <p:cNvSpPr txBox="1"/>
          <p:nvPr/>
        </p:nvSpPr>
        <p:spPr>
          <a:xfrm>
            <a:off x="868680" y="3017520"/>
            <a:ext cx="2103120" cy="548640"/>
          </a:xfrm>
          <a:prstGeom prst="rect">
            <a:avLst/>
          </a:prstGeom>
          <a:noFill/>
        </p:spPr>
        <p:txBody>
          <a:bodyPr wrap="square" anchor="t" lIns="0" rIns="0" tIns="0" bIns="0">
            <a:spAutoFit/>
          </a:bodyPr>
          <a:lstStyle/>
          <a:p>
            <a:pPr algn="l"/>
            <a:r>
              <a:rPr sz="1100" b="0">
                <a:solidFill>
                  <a:srgbClr val="5B6B7A"/>
                </a:solidFill>
                <a:latin typeface="Calibri"/>
              </a:rPr>
              <a:t>today: 4.2 days</a:t>
            </a:r>
          </a:p>
        </p:txBody>
      </p:sp>
      <p:sp>
        <p:nvSpPr>
          <p:cNvPr id="14" name="Rounded Rectangle 13"/>
          <p:cNvSpPr/>
          <p:nvPr/>
        </p:nvSpPr>
        <p:spPr>
          <a:xfrm>
            <a:off x="3429000" y="182880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01168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6" name="TextBox 15"/>
          <p:cNvSpPr txBox="1"/>
          <p:nvPr/>
        </p:nvSpPr>
        <p:spPr>
          <a:xfrm>
            <a:off x="3657600" y="2697480"/>
            <a:ext cx="2103120" cy="457200"/>
          </a:xfrm>
          <a:prstGeom prst="rect">
            <a:avLst/>
          </a:prstGeom>
          <a:noFill/>
        </p:spPr>
        <p:txBody>
          <a:bodyPr wrap="square" anchor="t" lIns="0" rIns="0" tIns="0" bIns="0">
            <a:spAutoFit/>
          </a:bodyPr>
          <a:lstStyle/>
          <a:p>
            <a:pPr algn="l"/>
            <a:r>
              <a:rPr sz="1400" b="1">
                <a:solidFill>
                  <a:srgbClr val="1F2D3D"/>
                </a:solidFill>
                <a:latin typeface="Calibri"/>
              </a:rPr>
              <a:t>decisions correct</a:t>
            </a:r>
          </a:p>
        </p:txBody>
      </p:sp>
      <p:sp>
        <p:nvSpPr>
          <p:cNvPr id="17" name="TextBox 16"/>
          <p:cNvSpPr txBox="1"/>
          <p:nvPr/>
        </p:nvSpPr>
        <p:spPr>
          <a:xfrm>
            <a:off x="3657600" y="3017520"/>
            <a:ext cx="2103120" cy="548640"/>
          </a:xfrm>
          <a:prstGeom prst="rect">
            <a:avLst/>
          </a:prstGeom>
          <a:noFill/>
        </p:spPr>
        <p:txBody>
          <a:bodyPr wrap="square" anchor="t" lIns="0" rIns="0" tIns="0" bIns="0">
            <a:spAutoFit/>
          </a:bodyPr>
          <a:lstStyle/>
          <a:p>
            <a:pPr algn="l"/>
            <a:r>
              <a:rPr sz="1100" b="0">
                <a:solidFill>
                  <a:srgbClr val="5B6B7A"/>
                </a:solidFill>
                <a:latin typeface="Calibri"/>
              </a:rPr>
              <a:t>on data it never saw</a:t>
            </a:r>
          </a:p>
        </p:txBody>
      </p:sp>
      <p:sp>
        <p:nvSpPr>
          <p:cNvPr id="18" name="Rounded Rectangle 17"/>
          <p:cNvSpPr/>
          <p:nvPr/>
        </p:nvSpPr>
        <p:spPr>
          <a:xfrm>
            <a:off x="6217920" y="182880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2011680"/>
            <a:ext cx="2103120" cy="731520"/>
          </a:xfrm>
          <a:prstGeom prst="rect">
            <a:avLst/>
          </a:prstGeom>
          <a:noFill/>
        </p:spPr>
        <p:txBody>
          <a:bodyPr wrap="square" anchor="t" lIns="0" rIns="0" tIns="0" bIns="0">
            <a:spAutoFit/>
          </a:bodyPr>
          <a:lstStyle/>
          <a:p>
            <a:pPr algn="l"/>
            <a:r>
              <a:rPr sz="3400" b="1">
                <a:solidFill>
                  <a:srgbClr val="0F7F8A"/>
                </a:solidFill>
                <a:latin typeface="Calibri"/>
              </a:rPr>
              <a:t>$0.08</a:t>
            </a:r>
          </a:p>
        </p:txBody>
      </p:sp>
      <p:sp>
        <p:nvSpPr>
          <p:cNvPr id="20" name="TextBox 19"/>
          <p:cNvSpPr txBox="1"/>
          <p:nvPr/>
        </p:nvSpPr>
        <p:spPr>
          <a:xfrm>
            <a:off x="6446520" y="2697480"/>
            <a:ext cx="2103120" cy="457200"/>
          </a:xfrm>
          <a:prstGeom prst="rect">
            <a:avLst/>
          </a:prstGeom>
          <a:noFill/>
        </p:spPr>
        <p:txBody>
          <a:bodyPr wrap="square" anchor="t" lIns="0" rIns="0" tIns="0" bIns="0">
            <a:spAutoFit/>
          </a:bodyPr>
          <a:lstStyle/>
          <a:p>
            <a:pPr algn="l"/>
            <a:r>
              <a:rPr sz="1400" b="1">
                <a:solidFill>
                  <a:srgbClr val="1F2D3D"/>
                </a:solidFill>
                <a:latin typeface="Calibri"/>
              </a:rPr>
              <a:t>per case</a:t>
            </a:r>
          </a:p>
        </p:txBody>
      </p:sp>
      <p:sp>
        <p:nvSpPr>
          <p:cNvPr id="21" name="TextBox 20"/>
          <p:cNvSpPr txBox="1"/>
          <p:nvPr/>
        </p:nvSpPr>
        <p:spPr>
          <a:xfrm>
            <a:off x="6446520" y="3017520"/>
            <a:ext cx="2103120" cy="548640"/>
          </a:xfrm>
          <a:prstGeom prst="rect">
            <a:avLst/>
          </a:prstGeom>
          <a:noFill/>
        </p:spPr>
        <p:txBody>
          <a:bodyPr wrap="square" anchor="t" lIns="0" rIns="0" tIns="0" bIns="0">
            <a:spAutoFit/>
          </a:bodyPr>
          <a:lstStyle/>
          <a:p>
            <a:pPr algn="l"/>
            <a:r>
              <a:rPr sz="1100" b="0">
                <a:solidFill>
                  <a:srgbClr val="5B6B7A"/>
                </a:solidFill>
                <a:latin typeface="Calibri"/>
              </a:rPr>
              <a:t>model cost</a:t>
            </a:r>
          </a:p>
        </p:txBody>
      </p:sp>
      <p:sp>
        <p:nvSpPr>
          <p:cNvPr id="22" name="Rounded Rectangle 21"/>
          <p:cNvSpPr/>
          <p:nvPr/>
        </p:nvSpPr>
        <p:spPr>
          <a:xfrm>
            <a:off x="9006839" y="182880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39" y="2011680"/>
            <a:ext cx="2103120" cy="731520"/>
          </a:xfrm>
          <a:prstGeom prst="rect">
            <a:avLst/>
          </a:prstGeom>
          <a:noFill/>
        </p:spPr>
        <p:txBody>
          <a:bodyPr wrap="square" anchor="t" lIns="0" rIns="0" tIns="0" bIns="0">
            <a:spAutoFit/>
          </a:bodyPr>
          <a:lstStyle/>
          <a:p>
            <a:pPr algn="l"/>
            <a:r>
              <a:rPr sz="3400" b="1">
                <a:solidFill>
                  <a:srgbClr val="0F7F8A"/>
                </a:solidFill>
                <a:latin typeface="Calibri"/>
              </a:rPr>
              <a:t>$1.25</a:t>
            </a:r>
          </a:p>
        </p:txBody>
      </p:sp>
      <p:sp>
        <p:nvSpPr>
          <p:cNvPr id="24" name="TextBox 23"/>
          <p:cNvSpPr txBox="1"/>
          <p:nvPr/>
        </p:nvSpPr>
        <p:spPr>
          <a:xfrm>
            <a:off x="9235439" y="2697480"/>
            <a:ext cx="2103120" cy="457200"/>
          </a:xfrm>
          <a:prstGeom prst="rect">
            <a:avLst/>
          </a:prstGeom>
          <a:noFill/>
        </p:spPr>
        <p:txBody>
          <a:bodyPr wrap="square" anchor="t" lIns="0" rIns="0" tIns="0" bIns="0">
            <a:spAutoFit/>
          </a:bodyPr>
          <a:lstStyle/>
          <a:p>
            <a:pPr algn="l"/>
            <a:r>
              <a:rPr sz="1400" b="1">
                <a:solidFill>
                  <a:srgbClr val="1F2D3D"/>
                </a:solidFill>
                <a:latin typeface="Calibri"/>
              </a:rPr>
              <a:t>a month idle</a:t>
            </a:r>
          </a:p>
        </p:txBody>
      </p:sp>
      <p:sp>
        <p:nvSpPr>
          <p:cNvPr id="25" name="TextBox 24"/>
          <p:cNvSpPr txBox="1"/>
          <p:nvPr/>
        </p:nvSpPr>
        <p:spPr>
          <a:xfrm>
            <a:off x="9235439" y="3017520"/>
            <a:ext cx="2103120" cy="548640"/>
          </a:xfrm>
          <a:prstGeom prst="rect">
            <a:avLst/>
          </a:prstGeom>
          <a:noFill/>
        </p:spPr>
        <p:txBody>
          <a:bodyPr wrap="square" anchor="t" lIns="0" rIns="0" tIns="0" bIns="0">
            <a:spAutoFit/>
          </a:bodyPr>
          <a:lstStyle/>
          <a:p>
            <a:pPr algn="l"/>
            <a:r>
              <a:rPr sz="1100" b="0">
                <a:solidFill>
                  <a:srgbClr val="5B6B7A"/>
                </a:solidFill>
                <a:latin typeface="Calibri"/>
              </a:rPr>
              <a:t>pay-per-use AWS</a:t>
            </a:r>
          </a:p>
        </p:txBody>
      </p:sp>
      <p:sp>
        <p:nvSpPr>
          <p:cNvPr id="26" name="Rounded Rectangle 25"/>
          <p:cNvSpPr/>
          <p:nvPr/>
        </p:nvSpPr>
        <p:spPr>
          <a:xfrm>
            <a:off x="640080" y="4297680"/>
            <a:ext cx="10881360" cy="128016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526280"/>
            <a:ext cx="10424160" cy="365760"/>
          </a:xfrm>
          <a:prstGeom prst="rect">
            <a:avLst/>
          </a:prstGeom>
          <a:noFill/>
        </p:spPr>
        <p:txBody>
          <a:bodyPr wrap="square" anchor="t" lIns="0" rIns="0" tIns="0" bIns="0">
            <a:spAutoFit/>
          </a:bodyPr>
          <a:lstStyle/>
          <a:p>
            <a:pPr algn="l"/>
            <a:r>
              <a:rPr sz="1200" b="1">
                <a:solidFill>
                  <a:srgbClr val="0F7F8A"/>
                </a:solidFill>
                <a:latin typeface="Calibri"/>
              </a:rPr>
              <a:t>MY RECOMMENDATION</a:t>
            </a:r>
          </a:p>
        </p:txBody>
      </p:sp>
      <p:sp>
        <p:nvSpPr>
          <p:cNvPr id="28" name="TextBox 27"/>
          <p:cNvSpPr txBox="1"/>
          <p:nvPr/>
        </p:nvSpPr>
        <p:spPr>
          <a:xfrm>
            <a:off x="914400" y="4892040"/>
            <a:ext cx="10424160" cy="548640"/>
          </a:xfrm>
          <a:prstGeom prst="rect">
            <a:avLst/>
          </a:prstGeom>
          <a:noFill/>
        </p:spPr>
        <p:txBody>
          <a:bodyPr wrap="square" anchor="t" lIns="0" rIns="0" tIns="0" bIns="0">
            <a:spAutoFit/>
          </a:bodyPr>
          <a:lstStyle/>
          <a:p>
            <a:pPr algn="l"/>
            <a:r>
              <a:rPr sz="2400" b="1">
                <a:solidFill>
                  <a:srgbClr val="12424D"/>
                </a:solidFill>
                <a:latin typeface="Calibri"/>
              </a:rPr>
              <a:t>A shadow pilot on real scans, then a staged go-live.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BUSINESS CASE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Four days of manual work become about a minute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3</a:t>
            </a:r>
          </a:p>
        </p:txBody>
      </p:sp>
      <p:sp>
        <p:nvSpPr>
          <p:cNvPr id="10" name="TextBox 9"/>
          <p:cNvSpPr txBox="1"/>
          <p:nvPr/>
        </p:nvSpPr>
        <p:spPr>
          <a:xfrm>
            <a:off x="640080" y="1737360"/>
            <a:ext cx="5212080" cy="365760"/>
          </a:xfrm>
          <a:prstGeom prst="rect">
            <a:avLst/>
          </a:prstGeom>
          <a:noFill/>
        </p:spPr>
        <p:txBody>
          <a:bodyPr wrap="square" anchor="t" lIns="0" rIns="0" tIns="0" bIns="0">
            <a:spAutoFit/>
          </a:bodyPr>
          <a:lstStyle/>
          <a:p>
            <a:pPr algn="l"/>
            <a:r>
              <a:rPr sz="1400" b="1">
                <a:solidFill>
                  <a:srgbClr val="C0392B"/>
                </a:solidFill>
                <a:latin typeface="Calibri"/>
              </a:rPr>
              <a:t>TODAY</a:t>
            </a:r>
          </a:p>
        </p:txBody>
      </p:sp>
      <p:sp>
        <p:nvSpPr>
          <p:cNvPr id="11" name="Rounded Rectangle 10"/>
          <p:cNvSpPr/>
          <p:nvPr/>
        </p:nvSpPr>
        <p:spPr>
          <a:xfrm>
            <a:off x="640080" y="2240280"/>
            <a:ext cx="5212080" cy="1005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423160"/>
            <a:ext cx="2377440" cy="640080"/>
          </a:xfrm>
          <a:prstGeom prst="rect">
            <a:avLst/>
          </a:prstGeom>
          <a:noFill/>
        </p:spPr>
        <p:txBody>
          <a:bodyPr wrap="square" anchor="t" lIns="0" rIns="0" tIns="0" bIns="0">
            <a:spAutoFit/>
          </a:bodyPr>
          <a:lstStyle/>
          <a:p>
            <a:pPr algn="l"/>
            <a:r>
              <a:rPr sz="3200" b="1">
                <a:solidFill>
                  <a:srgbClr val="C0392B"/>
                </a:solidFill>
                <a:latin typeface="Calibri"/>
              </a:rPr>
              <a:t>4.2 days</a:t>
            </a:r>
          </a:p>
        </p:txBody>
      </p:sp>
      <p:sp>
        <p:nvSpPr>
          <p:cNvPr id="13" name="TextBox 12"/>
          <p:cNvSpPr txBox="1"/>
          <p:nvPr/>
        </p:nvSpPr>
        <p:spPr>
          <a:xfrm>
            <a:off x="3383280" y="2587752"/>
            <a:ext cx="2377440" cy="457200"/>
          </a:xfrm>
          <a:prstGeom prst="rect">
            <a:avLst/>
          </a:prstGeom>
          <a:noFill/>
        </p:spPr>
        <p:txBody>
          <a:bodyPr wrap="square" anchor="t" lIns="0" rIns="0" tIns="0" bIns="0">
            <a:spAutoFit/>
          </a:bodyPr>
          <a:lstStyle/>
          <a:p>
            <a:pPr algn="l"/>
            <a:r>
              <a:rPr sz="1700" b="0">
                <a:solidFill>
                  <a:srgbClr val="1F2D3D"/>
                </a:solidFill>
                <a:latin typeface="Calibri"/>
              </a:rPr>
              <a:t>per claim</a:t>
            </a:r>
          </a:p>
        </p:txBody>
      </p:sp>
      <p:sp>
        <p:nvSpPr>
          <p:cNvPr id="14" name="Rounded Rectangle 13"/>
          <p:cNvSpPr/>
          <p:nvPr/>
        </p:nvSpPr>
        <p:spPr>
          <a:xfrm>
            <a:off x="640080" y="3429000"/>
            <a:ext cx="5212080" cy="1005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611880"/>
            <a:ext cx="2377440" cy="640080"/>
          </a:xfrm>
          <a:prstGeom prst="rect">
            <a:avLst/>
          </a:prstGeom>
          <a:noFill/>
        </p:spPr>
        <p:txBody>
          <a:bodyPr wrap="square" anchor="t" lIns="0" rIns="0" tIns="0" bIns="0">
            <a:spAutoFit/>
          </a:bodyPr>
          <a:lstStyle/>
          <a:p>
            <a:pPr algn="l"/>
            <a:r>
              <a:rPr sz="3200" b="1">
                <a:solidFill>
                  <a:srgbClr val="C0392B"/>
                </a:solidFill>
                <a:latin typeface="Calibri"/>
              </a:rPr>
              <a:t>$18.4M</a:t>
            </a:r>
          </a:p>
        </p:txBody>
      </p:sp>
      <p:sp>
        <p:nvSpPr>
          <p:cNvPr id="16" name="TextBox 15"/>
          <p:cNvSpPr txBox="1"/>
          <p:nvPr/>
        </p:nvSpPr>
        <p:spPr>
          <a:xfrm>
            <a:off x="3383280" y="3776472"/>
            <a:ext cx="2377440" cy="457200"/>
          </a:xfrm>
          <a:prstGeom prst="rect">
            <a:avLst/>
          </a:prstGeom>
          <a:noFill/>
        </p:spPr>
        <p:txBody>
          <a:bodyPr wrap="square" anchor="t" lIns="0" rIns="0" tIns="0" bIns="0">
            <a:spAutoFit/>
          </a:bodyPr>
          <a:lstStyle/>
          <a:p>
            <a:pPr algn="l"/>
            <a:r>
              <a:rPr sz="1700" b="0">
                <a:solidFill>
                  <a:srgbClr val="1F2D3D"/>
                </a:solidFill>
                <a:latin typeface="Calibri"/>
              </a:rPr>
              <a:t>a year</a:t>
            </a:r>
          </a:p>
        </p:txBody>
      </p:sp>
      <p:sp>
        <p:nvSpPr>
          <p:cNvPr id="17" name="Rounded Rectangle 16"/>
          <p:cNvSpPr/>
          <p:nvPr/>
        </p:nvSpPr>
        <p:spPr>
          <a:xfrm>
            <a:off x="640080" y="4617720"/>
            <a:ext cx="5212080" cy="1005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800600"/>
            <a:ext cx="2377440" cy="640080"/>
          </a:xfrm>
          <a:prstGeom prst="rect">
            <a:avLst/>
          </a:prstGeom>
          <a:noFill/>
        </p:spPr>
        <p:txBody>
          <a:bodyPr wrap="square" anchor="t" lIns="0" rIns="0" tIns="0" bIns="0">
            <a:spAutoFit/>
          </a:bodyPr>
          <a:lstStyle/>
          <a:p>
            <a:pPr algn="l"/>
            <a:r>
              <a:rPr sz="3200" b="1">
                <a:solidFill>
                  <a:srgbClr val="C0392B"/>
                </a:solidFill>
                <a:latin typeface="Calibri"/>
              </a:rPr>
              <a:t>≈ $18</a:t>
            </a:r>
          </a:p>
        </p:txBody>
      </p:sp>
      <p:sp>
        <p:nvSpPr>
          <p:cNvPr id="19" name="TextBox 18"/>
          <p:cNvSpPr txBox="1"/>
          <p:nvPr/>
        </p:nvSpPr>
        <p:spPr>
          <a:xfrm>
            <a:off x="3383280" y="4965192"/>
            <a:ext cx="2377440" cy="457200"/>
          </a:xfrm>
          <a:prstGeom prst="rect">
            <a:avLst/>
          </a:prstGeom>
          <a:noFill/>
        </p:spPr>
        <p:txBody>
          <a:bodyPr wrap="square" anchor="t" lIns="0" rIns="0" tIns="0" bIns="0">
            <a:spAutoFit/>
          </a:bodyPr>
          <a:lstStyle/>
          <a:p>
            <a:pPr algn="l"/>
            <a:r>
              <a:rPr sz="1700" b="0">
                <a:solidFill>
                  <a:srgbClr val="1F2D3D"/>
                </a:solidFill>
                <a:latin typeface="Calibri"/>
              </a:rPr>
              <a:t>per document</a:t>
            </a:r>
          </a:p>
        </p:txBody>
      </p:sp>
      <p:sp>
        <p:nvSpPr>
          <p:cNvPr id="20" name="TextBox 19"/>
          <p:cNvSpPr txBox="1"/>
          <p:nvPr/>
        </p:nvSpPr>
        <p:spPr>
          <a:xfrm>
            <a:off x="6309360" y="1737360"/>
            <a:ext cx="5212080" cy="365760"/>
          </a:xfrm>
          <a:prstGeom prst="rect">
            <a:avLst/>
          </a:prstGeom>
          <a:noFill/>
        </p:spPr>
        <p:txBody>
          <a:bodyPr wrap="square" anchor="t" lIns="0" rIns="0" tIns="0" bIns="0">
            <a:spAutoFit/>
          </a:bodyPr>
          <a:lstStyle/>
          <a:p>
            <a:pPr algn="l"/>
            <a:r>
              <a:rPr sz="1400" b="1">
                <a:solidFill>
                  <a:srgbClr val="0F7F8A"/>
                </a:solidFill>
                <a:latin typeface="Calibri"/>
              </a:rPr>
              <a:t>WITH THE SYSTEM</a:t>
            </a:r>
          </a:p>
        </p:txBody>
      </p:sp>
      <p:sp>
        <p:nvSpPr>
          <p:cNvPr id="21" name="Rounded Rectangle 20"/>
          <p:cNvSpPr/>
          <p:nvPr/>
        </p:nvSpPr>
        <p:spPr>
          <a:xfrm>
            <a:off x="6309360" y="2240280"/>
            <a:ext cx="5212080" cy="1005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423160"/>
            <a:ext cx="2377440" cy="640080"/>
          </a:xfrm>
          <a:prstGeom prst="rect">
            <a:avLst/>
          </a:prstGeom>
          <a:noFill/>
        </p:spPr>
        <p:txBody>
          <a:bodyPr wrap="square" anchor="t" lIns="0" rIns="0" tIns="0" bIns="0">
            <a:spAutoFit/>
          </a:bodyPr>
          <a:lstStyle/>
          <a:p>
            <a:pPr algn="l"/>
            <a:r>
              <a:rPr sz="3200" b="1">
                <a:solidFill>
                  <a:srgbClr val="0F7F8A"/>
                </a:solidFill>
                <a:latin typeface="Calibri"/>
              </a:rPr>
              <a:t>≈ 1 min</a:t>
            </a:r>
          </a:p>
        </p:txBody>
      </p:sp>
      <p:sp>
        <p:nvSpPr>
          <p:cNvPr id="23" name="TextBox 22"/>
          <p:cNvSpPr txBox="1"/>
          <p:nvPr/>
        </p:nvSpPr>
        <p:spPr>
          <a:xfrm>
            <a:off x="9052560" y="2587752"/>
            <a:ext cx="2377440" cy="457200"/>
          </a:xfrm>
          <a:prstGeom prst="rect">
            <a:avLst/>
          </a:prstGeom>
          <a:noFill/>
        </p:spPr>
        <p:txBody>
          <a:bodyPr wrap="square" anchor="t" lIns="0" rIns="0" tIns="0" bIns="0">
            <a:spAutoFit/>
          </a:bodyPr>
          <a:lstStyle/>
          <a:p>
            <a:pPr algn="l"/>
            <a:r>
              <a:rPr sz="1700" b="0">
                <a:solidFill>
                  <a:srgbClr val="1F2D3D"/>
                </a:solidFill>
                <a:latin typeface="Calibri"/>
              </a:rPr>
              <a:t>per claim</a:t>
            </a:r>
          </a:p>
        </p:txBody>
      </p:sp>
      <p:sp>
        <p:nvSpPr>
          <p:cNvPr id="24" name="Rounded Rectangle 23"/>
          <p:cNvSpPr/>
          <p:nvPr/>
        </p:nvSpPr>
        <p:spPr>
          <a:xfrm>
            <a:off x="6309360" y="3429000"/>
            <a:ext cx="5212080" cy="1005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3611880"/>
            <a:ext cx="2377440" cy="640080"/>
          </a:xfrm>
          <a:prstGeom prst="rect">
            <a:avLst/>
          </a:prstGeom>
          <a:noFill/>
        </p:spPr>
        <p:txBody>
          <a:bodyPr wrap="square" anchor="t" lIns="0" rIns="0" tIns="0" bIns="0">
            <a:spAutoFit/>
          </a:bodyPr>
          <a:lstStyle/>
          <a:p>
            <a:pPr algn="l"/>
            <a:r>
              <a:rPr sz="3200" b="1">
                <a:solidFill>
                  <a:srgbClr val="0F7F8A"/>
                </a:solidFill>
                <a:latin typeface="Calibri"/>
              </a:rPr>
              <a:t>≈ $18k</a:t>
            </a:r>
          </a:p>
        </p:txBody>
      </p:sp>
      <p:sp>
        <p:nvSpPr>
          <p:cNvPr id="26" name="TextBox 25"/>
          <p:cNvSpPr txBox="1"/>
          <p:nvPr/>
        </p:nvSpPr>
        <p:spPr>
          <a:xfrm>
            <a:off x="9052560" y="3776472"/>
            <a:ext cx="2377440" cy="457200"/>
          </a:xfrm>
          <a:prstGeom prst="rect">
            <a:avLst/>
          </a:prstGeom>
          <a:noFill/>
        </p:spPr>
        <p:txBody>
          <a:bodyPr wrap="square" anchor="t" lIns="0" rIns="0" tIns="0" bIns="0">
            <a:spAutoFit/>
          </a:bodyPr>
          <a:lstStyle/>
          <a:p>
            <a:pPr algn="l"/>
            <a:r>
              <a:rPr sz="1700" b="0">
                <a:solidFill>
                  <a:srgbClr val="1F2D3D"/>
                </a:solidFill>
                <a:latin typeface="Calibri"/>
              </a:rPr>
              <a:t>a year in model spend</a:t>
            </a:r>
          </a:p>
        </p:txBody>
      </p:sp>
      <p:sp>
        <p:nvSpPr>
          <p:cNvPr id="27" name="Rounded Rectangle 26"/>
          <p:cNvSpPr/>
          <p:nvPr/>
        </p:nvSpPr>
        <p:spPr>
          <a:xfrm>
            <a:off x="6309360" y="4617720"/>
            <a:ext cx="5212080" cy="1005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29400" y="4800600"/>
            <a:ext cx="2377440" cy="640080"/>
          </a:xfrm>
          <a:prstGeom prst="rect">
            <a:avLst/>
          </a:prstGeom>
          <a:noFill/>
        </p:spPr>
        <p:txBody>
          <a:bodyPr wrap="square" anchor="t" lIns="0" rIns="0" tIns="0" bIns="0">
            <a:spAutoFit/>
          </a:bodyPr>
          <a:lstStyle/>
          <a:p>
            <a:pPr algn="l"/>
            <a:r>
              <a:rPr sz="3200" b="1">
                <a:solidFill>
                  <a:srgbClr val="0F7F8A"/>
                </a:solidFill>
                <a:latin typeface="Calibri"/>
              </a:rPr>
              <a:t>≈ $0.02</a:t>
            </a:r>
          </a:p>
        </p:txBody>
      </p:sp>
      <p:sp>
        <p:nvSpPr>
          <p:cNvPr id="29" name="TextBox 28"/>
          <p:cNvSpPr txBox="1"/>
          <p:nvPr/>
        </p:nvSpPr>
        <p:spPr>
          <a:xfrm>
            <a:off x="9052560" y="4965192"/>
            <a:ext cx="2377440" cy="457200"/>
          </a:xfrm>
          <a:prstGeom prst="rect">
            <a:avLst/>
          </a:prstGeom>
          <a:noFill/>
        </p:spPr>
        <p:txBody>
          <a:bodyPr wrap="square" anchor="t" lIns="0" rIns="0" tIns="0" bIns="0">
            <a:spAutoFit/>
          </a:bodyPr>
          <a:lstStyle/>
          <a:p>
            <a:pPr algn="l"/>
            <a:r>
              <a:rPr sz="1700" b="0">
                <a:solidFill>
                  <a:srgbClr val="1F2D3D"/>
                </a:solidFill>
                <a:latin typeface="Calibri"/>
              </a:rPr>
              <a:t>per document</a:t>
            </a:r>
          </a:p>
        </p:txBody>
      </p:sp>
      <p:sp>
        <p:nvSpPr>
          <p:cNvPr id="30" name="TextBox 29"/>
          <p:cNvSpPr txBox="1"/>
          <p:nvPr/>
        </p:nvSpPr>
        <p:spPr>
          <a:xfrm>
            <a:off x="640080" y="5897880"/>
            <a:ext cx="10881360" cy="365760"/>
          </a:xfrm>
          <a:prstGeom prst="rect">
            <a:avLst/>
          </a:prstGeom>
          <a:noFill/>
        </p:spPr>
        <p:txBody>
          <a:bodyPr wrap="square" anchor="t" lIns="0" rIns="0" tIns="0" bIns="0">
            <a:spAutoFit/>
          </a:bodyPr>
          <a:lstStyle/>
          <a:p>
            <a:pPr algn="l"/>
            <a:r>
              <a:rPr sz="1300" b="0">
                <a:solidFill>
                  <a:srgbClr val="5B6B7A"/>
                </a:solidFill>
                <a:latin typeface="Calibri"/>
              </a:rPr>
              <a:t>Savings depend on how much goes straight through; the pilot measures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SCOPE DELIVERED</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Everything asked for, plus what operations will want</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4</a:t>
            </a:r>
          </a:p>
        </p:txBody>
      </p:sp>
      <p:sp>
        <p:nvSpPr>
          <p:cNvPr id="10" name="Rounded Rectangle 9"/>
          <p:cNvSpPr/>
          <p:nvPr/>
        </p:nvSpPr>
        <p:spPr>
          <a:xfrm>
            <a:off x="640080" y="1691640"/>
            <a:ext cx="3474720" cy="4434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20240"/>
            <a:ext cx="2926080" cy="411480"/>
          </a:xfrm>
          <a:prstGeom prst="rect">
            <a:avLst/>
          </a:prstGeom>
          <a:noFill/>
        </p:spPr>
        <p:txBody>
          <a:bodyPr wrap="square" anchor="t" lIns="0" rIns="0" tIns="0" bIns="0">
            <a:spAutoFit/>
          </a:bodyPr>
          <a:lstStyle/>
          <a:p>
            <a:pPr algn="l"/>
            <a:r>
              <a:rPr sz="2000" b="1">
                <a:solidFill>
                  <a:srgbClr val="0F7F8A"/>
                </a:solidFill>
                <a:latin typeface="Calibri"/>
              </a:rPr>
              <a:t>The brief</a:t>
            </a:r>
          </a:p>
        </p:txBody>
      </p:sp>
      <p:sp>
        <p:nvSpPr>
          <p:cNvPr id="12" name="TextBox 11"/>
          <p:cNvSpPr txBox="1"/>
          <p:nvPr/>
        </p:nvSpPr>
        <p:spPr>
          <a:xfrm>
            <a:off x="960120" y="2377440"/>
            <a:ext cx="2926080" cy="640080"/>
          </a:xfrm>
          <a:prstGeom prst="rect">
            <a:avLst/>
          </a:prstGeom>
          <a:noFill/>
        </p:spPr>
        <p:txBody>
          <a:bodyPr wrap="square" anchor="t" lIns="0" rIns="0" tIns="0" bIns="0">
            <a:spAutoFit/>
          </a:bodyPr>
          <a:lstStyle/>
          <a:p>
            <a:pPr algn="l"/>
            <a:r>
              <a:rPr sz="1400" b="0">
                <a:solidFill>
                  <a:srgbClr val="5B6B7A"/>
                </a:solidFill>
                <a:latin typeface="Calibri"/>
              </a:rPr>
              <a:t>Replaces the manual sorting and checking</a:t>
            </a:r>
          </a:p>
        </p:txBody>
      </p:sp>
      <p:sp>
        <p:nvSpPr>
          <p:cNvPr id="13" name="TextBox 12"/>
          <p:cNvSpPr txBox="1"/>
          <p:nvPr/>
        </p:nvSpPr>
        <p:spPr>
          <a:xfrm>
            <a:off x="960120" y="3154680"/>
            <a:ext cx="2926080" cy="2834640"/>
          </a:xfrm>
          <a:prstGeom prst="rect">
            <a:avLst/>
          </a:prstGeom>
          <a:noFill/>
        </p:spPr>
        <p:txBody>
          <a:bodyPr wrap="square" anchor="t" lIns="0" rIns="0" tIns="0" bIns="0">
            <a:spAutoFit/>
          </a:bodyPr>
          <a:lstStyle/>
          <a:p>
            <a:pPr algn="l"/>
            <a:r>
              <a:rPr sz="1600" b="0">
                <a:solidFill>
                  <a:srgbClr val="1F2D3D"/>
                </a:solidFill>
                <a:latin typeface="Calibri"/>
              </a:rPr>
              <a:t>✓  Seven agents per document</a:t>
            </a:r>
          </a:p>
          <a:p>
            <a:pPr algn="l"/>
            <a:r>
              <a:rPr sz="1600" b="0">
                <a:solidFill>
                  <a:srgbClr val="1F2D3D"/>
                </a:solidFill>
                <a:latin typeface="Calibri"/>
              </a:rPr>
              <a:t>✓  Intake API</a:t>
            </a:r>
          </a:p>
          <a:p>
            <a:pPr algn="l"/>
            <a:r>
              <a:rPr sz="1600" b="0">
                <a:solidFill>
                  <a:srgbClr val="1F2D3D"/>
                </a:solidFill>
                <a:latin typeface="Calibri"/>
              </a:rPr>
              <a:t>✓  Policy checks with page refs</a:t>
            </a:r>
          </a:p>
          <a:p>
            <a:pPr algn="l"/>
            <a:r>
              <a:rPr sz="1600" b="0">
                <a:solidFill>
                  <a:srgbClr val="1F2D3D"/>
                </a:solidFill>
                <a:latin typeface="Calibri"/>
              </a:rPr>
              <a:t>✓  Screens for every team</a:t>
            </a:r>
          </a:p>
          <a:p>
            <a:pPr algn="l"/>
            <a:r>
              <a:rPr sz="1600" b="0">
                <a:solidFill>
                  <a:srgbClr val="1F2D3D"/>
                </a:solidFill>
                <a:latin typeface="Calibri"/>
              </a:rPr>
              <a:t>✓  Measured accuracy</a:t>
            </a:r>
          </a:p>
        </p:txBody>
      </p:sp>
      <p:sp>
        <p:nvSpPr>
          <p:cNvPr id="14" name="Rounded Rectangle 13"/>
          <p:cNvSpPr/>
          <p:nvPr/>
        </p:nvSpPr>
        <p:spPr>
          <a:xfrm>
            <a:off x="4343400" y="1691640"/>
            <a:ext cx="3474720" cy="44348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920240"/>
            <a:ext cx="2926080" cy="411480"/>
          </a:xfrm>
          <a:prstGeom prst="rect">
            <a:avLst/>
          </a:prstGeom>
          <a:noFill/>
        </p:spPr>
        <p:txBody>
          <a:bodyPr wrap="square" anchor="t" lIns="0" rIns="0" tIns="0" bIns="0">
            <a:spAutoFit/>
          </a:bodyPr>
          <a:lstStyle/>
          <a:p>
            <a:pPr algn="l"/>
            <a:r>
              <a:rPr sz="2000" b="1">
                <a:solidFill>
                  <a:srgbClr val="0F7F8A"/>
                </a:solidFill>
                <a:latin typeface="Calibri"/>
              </a:rPr>
              <a:t>The bonus items</a:t>
            </a:r>
          </a:p>
        </p:txBody>
      </p:sp>
      <p:sp>
        <p:nvSpPr>
          <p:cNvPr id="16" name="TextBox 15"/>
          <p:cNvSpPr txBox="1"/>
          <p:nvPr/>
        </p:nvSpPr>
        <p:spPr>
          <a:xfrm>
            <a:off x="4663440" y="2377440"/>
            <a:ext cx="2926080" cy="640080"/>
          </a:xfrm>
          <a:prstGeom prst="rect">
            <a:avLst/>
          </a:prstGeom>
          <a:noFill/>
        </p:spPr>
        <p:txBody>
          <a:bodyPr wrap="square" anchor="t" lIns="0" rIns="0" tIns="0" bIns="0">
            <a:spAutoFit/>
          </a:bodyPr>
          <a:lstStyle/>
          <a:p>
            <a:pPr algn="l"/>
            <a:r>
              <a:rPr sz="1400" b="0">
                <a:solidFill>
                  <a:srgbClr val="5B6B7A"/>
                </a:solidFill>
                <a:latin typeface="Calibri"/>
              </a:rPr>
              <a:t>Answers risk and audit questions</a:t>
            </a:r>
          </a:p>
        </p:txBody>
      </p:sp>
      <p:sp>
        <p:nvSpPr>
          <p:cNvPr id="17" name="TextBox 16"/>
          <p:cNvSpPr txBox="1"/>
          <p:nvPr/>
        </p:nvSpPr>
        <p:spPr>
          <a:xfrm>
            <a:off x="4663440" y="3154680"/>
            <a:ext cx="2926080" cy="2834640"/>
          </a:xfrm>
          <a:prstGeom prst="rect">
            <a:avLst/>
          </a:prstGeom>
          <a:noFill/>
        </p:spPr>
        <p:txBody>
          <a:bodyPr wrap="square" anchor="t" lIns="0" rIns="0" tIns="0" bIns="0">
            <a:spAutoFit/>
          </a:bodyPr>
          <a:lstStyle/>
          <a:p>
            <a:pPr algn="l"/>
            <a:r>
              <a:rPr sz="1600" b="0">
                <a:solidFill>
                  <a:srgbClr val="1F2D3D"/>
                </a:solidFill>
                <a:latin typeface="Calibri"/>
              </a:rPr>
              <a:t>✓  Confidence you can trust</a:t>
            </a:r>
          </a:p>
          <a:p>
            <a:pPr algn="l"/>
            <a:r>
              <a:rPr sz="1600" b="0">
                <a:solidFill>
                  <a:srgbClr val="1F2D3D"/>
                </a:solidFill>
                <a:latin typeface="Calibri"/>
              </a:rPr>
              <a:t>✓  ID tamper checks</a:t>
            </a:r>
          </a:p>
          <a:p>
            <a:pPr algn="l"/>
            <a:r>
              <a:rPr sz="1600" b="0">
                <a:solidFill>
                  <a:srgbClr val="1F2D3D"/>
                </a:solidFill>
                <a:latin typeface="Calibri"/>
              </a:rPr>
              <a:t>✓  Spanish and Hindi</a:t>
            </a:r>
          </a:p>
          <a:p>
            <a:pPr algn="l"/>
            <a:r>
              <a:rPr sz="1600" b="0">
                <a:solidFill>
                  <a:srgbClr val="1F2D3D"/>
                </a:solidFill>
                <a:latin typeface="Calibri"/>
              </a:rPr>
              <a:t>✓  One-click audit report</a:t>
            </a:r>
          </a:p>
          <a:p>
            <a:pPr algn="l"/>
            <a:r>
              <a:rPr sz="1600" b="0">
                <a:solidFill>
                  <a:srgbClr val="1F2D3D"/>
                </a:solidFill>
                <a:latin typeface="Calibri"/>
              </a:rPr>
              <a:t>✓  Every AI call traced</a:t>
            </a:r>
          </a:p>
        </p:txBody>
      </p:sp>
      <p:sp>
        <p:nvSpPr>
          <p:cNvPr id="18" name="Rounded Rectangle 17"/>
          <p:cNvSpPr/>
          <p:nvPr/>
        </p:nvSpPr>
        <p:spPr>
          <a:xfrm>
            <a:off x="8046719" y="1691640"/>
            <a:ext cx="3474720" cy="443484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59" y="1920240"/>
            <a:ext cx="2926080" cy="411480"/>
          </a:xfrm>
          <a:prstGeom prst="rect">
            <a:avLst/>
          </a:prstGeom>
          <a:noFill/>
        </p:spPr>
        <p:txBody>
          <a:bodyPr wrap="square" anchor="t" lIns="0" rIns="0" tIns="0" bIns="0">
            <a:spAutoFit/>
          </a:bodyPr>
          <a:lstStyle/>
          <a:p>
            <a:pPr algn="l"/>
            <a:r>
              <a:rPr sz="2000" b="1">
                <a:solidFill>
                  <a:srgbClr val="12424D"/>
                </a:solidFill>
                <a:latin typeface="Calibri"/>
              </a:rPr>
              <a:t>Beyond the brief</a:t>
            </a:r>
          </a:p>
        </p:txBody>
      </p:sp>
      <p:sp>
        <p:nvSpPr>
          <p:cNvPr id="20" name="TextBox 19"/>
          <p:cNvSpPr txBox="1"/>
          <p:nvPr/>
        </p:nvSpPr>
        <p:spPr>
          <a:xfrm>
            <a:off x="8366759" y="2377440"/>
            <a:ext cx="2926080" cy="640080"/>
          </a:xfrm>
          <a:prstGeom prst="rect">
            <a:avLst/>
          </a:prstGeom>
          <a:noFill/>
        </p:spPr>
        <p:txBody>
          <a:bodyPr wrap="square" anchor="t" lIns="0" rIns="0" tIns="0" bIns="0">
            <a:spAutoFit/>
          </a:bodyPr>
          <a:lstStyle/>
          <a:p>
            <a:pPr algn="l"/>
            <a:r>
              <a:rPr sz="1400" b="0">
                <a:solidFill>
                  <a:srgbClr val="5B6B7A"/>
                </a:solidFill>
                <a:latin typeface="Calibri"/>
              </a:rPr>
              <a:t>Ready for day one</a:t>
            </a:r>
          </a:p>
        </p:txBody>
      </p:sp>
      <p:sp>
        <p:nvSpPr>
          <p:cNvPr id="21" name="TextBox 20"/>
          <p:cNvSpPr txBox="1"/>
          <p:nvPr/>
        </p:nvSpPr>
        <p:spPr>
          <a:xfrm>
            <a:off x="8366759" y="3154680"/>
            <a:ext cx="2926080" cy="2834640"/>
          </a:xfrm>
          <a:prstGeom prst="rect">
            <a:avLst/>
          </a:prstGeom>
          <a:noFill/>
        </p:spPr>
        <p:txBody>
          <a:bodyPr wrap="square" anchor="t" lIns="0" rIns="0" tIns="0" bIns="0">
            <a:spAutoFit/>
          </a:bodyPr>
          <a:lstStyle/>
          <a:p>
            <a:pPr algn="l"/>
            <a:r>
              <a:rPr sz="1600" b="0">
                <a:solidFill>
                  <a:srgbClr val="1F2D3D"/>
                </a:solidFill>
                <a:latin typeface="Calibri"/>
              </a:rPr>
              <a:t>✓  Assistant with sources</a:t>
            </a:r>
          </a:p>
          <a:p>
            <a:pPr algn="l"/>
            <a:r>
              <a:rPr sz="1600" b="0">
                <a:solidFill>
                  <a:srgbClr val="1F2D3D"/>
                </a:solidFill>
                <a:latin typeface="Calibri"/>
              </a:rPr>
              <a:t>✓  Email intake</a:t>
            </a:r>
          </a:p>
          <a:p>
            <a:pPr algn="l"/>
            <a:r>
              <a:rPr sz="1600" b="0">
                <a:solidFill>
                  <a:srgbClr val="1F2D3D"/>
                </a:solidFill>
                <a:latin typeface="Calibri"/>
              </a:rPr>
              <a:t>✓  Policy updates, no release</a:t>
            </a:r>
          </a:p>
          <a:p>
            <a:pPr algn="l"/>
            <a:r>
              <a:rPr sz="1600" b="0">
                <a:solidFill>
                  <a:srgbClr val="1F2D3D"/>
                </a:solidFill>
                <a:latin typeface="Calibri"/>
              </a:rPr>
              <a:t>✓  Quality monitor</a:t>
            </a:r>
          </a:p>
          <a:p>
            <a:pPr algn="l"/>
            <a:r>
              <a:rPr sz="1600" b="0">
                <a:solidFill>
                  <a:srgbClr val="1F2D3D"/>
                </a:solidFill>
                <a:latin typeface="Calibri"/>
              </a:rPr>
              <a:t>✓  Quality gates on every change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HOW IT WORKS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AI reads. Rules decide. People handle the uncertain.</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5</a:t>
            </a:r>
          </a:p>
        </p:txBody>
      </p:sp>
      <p:sp>
        <p:nvSpPr>
          <p:cNvPr id="10" name="Pentagon 9"/>
          <p:cNvSpPr/>
          <p:nvPr/>
        </p:nvSpPr>
        <p:spPr>
          <a:xfrm>
            <a:off x="640080" y="2011680"/>
            <a:ext cx="1517904" cy="868680"/>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600" b="1">
                <a:solidFill>
                  <a:srgbClr val="FFFFFF"/>
                </a:solidFill>
                <a:latin typeface="Calibri"/>
              </a:rPr>
              <a:t>Upload</a:t>
            </a:r>
          </a:p>
        </p:txBody>
      </p:sp>
      <p:sp>
        <p:nvSpPr>
          <p:cNvPr id="11" name="Chevron 10"/>
          <p:cNvSpPr/>
          <p:nvPr/>
        </p:nvSpPr>
        <p:spPr>
          <a:xfrm>
            <a:off x="2249424" y="201168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600" b="1">
                <a:solidFill>
                  <a:srgbClr val="FFFFFF"/>
                </a:solidFill>
                <a:latin typeface="Calibri"/>
              </a:rPr>
              <a:t>Read</a:t>
            </a:r>
          </a:p>
        </p:txBody>
      </p:sp>
      <p:sp>
        <p:nvSpPr>
          <p:cNvPr id="12" name="Chevron 11"/>
          <p:cNvSpPr/>
          <p:nvPr/>
        </p:nvSpPr>
        <p:spPr>
          <a:xfrm>
            <a:off x="3858768" y="201168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600" b="1">
                <a:solidFill>
                  <a:srgbClr val="FFFFFF"/>
                </a:solidFill>
                <a:latin typeface="Calibri"/>
              </a:rPr>
              <a:t>Extract</a:t>
            </a:r>
          </a:p>
        </p:txBody>
      </p:sp>
      <p:sp>
        <p:nvSpPr>
          <p:cNvPr id="13" name="Chevron 12"/>
          <p:cNvSpPr/>
          <p:nvPr/>
        </p:nvSpPr>
        <p:spPr>
          <a:xfrm>
            <a:off x="5468112" y="201168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600" b="1">
                <a:solidFill>
                  <a:srgbClr val="FFFFFF"/>
                </a:solidFill>
                <a:latin typeface="Calibri"/>
              </a:rPr>
              <a:t>Verify</a:t>
            </a:r>
          </a:p>
        </p:txBody>
      </p:sp>
      <p:sp>
        <p:nvSpPr>
          <p:cNvPr id="14" name="Chevron 13"/>
          <p:cNvSpPr/>
          <p:nvPr/>
        </p:nvSpPr>
        <p:spPr>
          <a:xfrm>
            <a:off x="7077456" y="201168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600" b="1">
                <a:solidFill>
                  <a:srgbClr val="FFFFFF"/>
                </a:solidFill>
                <a:latin typeface="Calibri"/>
              </a:rPr>
              <a:t>Fraud</a:t>
            </a:r>
          </a:p>
        </p:txBody>
      </p:sp>
      <p:sp>
        <p:nvSpPr>
          <p:cNvPr id="15" name="Chevron 14"/>
          <p:cNvSpPr/>
          <p:nvPr/>
        </p:nvSpPr>
        <p:spPr>
          <a:xfrm>
            <a:off x="8686800" y="201168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600" b="1">
                <a:solidFill>
                  <a:srgbClr val="FFFFFF"/>
                </a:solidFill>
                <a:latin typeface="Calibri"/>
              </a:rPr>
              <a:t>Decide</a:t>
            </a:r>
          </a:p>
        </p:txBody>
      </p:sp>
      <p:sp>
        <p:nvSpPr>
          <p:cNvPr id="16" name="Chevron 15"/>
          <p:cNvSpPr/>
          <p:nvPr/>
        </p:nvSpPr>
        <p:spPr>
          <a:xfrm>
            <a:off x="10296144" y="2011680"/>
            <a:ext cx="1517904" cy="868680"/>
          </a:xfrm>
          <a:prstGeom prst="chevron">
            <a:avLst/>
          </a:prstGeom>
          <a:solidFill>
            <a:srgbClr val="D68910"/>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600" b="1">
                <a:solidFill>
                  <a:srgbClr val="FFFFFF"/>
                </a:solidFill>
                <a:latin typeface="Calibri"/>
              </a:rPr>
              <a:t>Review</a:t>
            </a:r>
          </a:p>
        </p:txBody>
      </p:sp>
      <p:sp>
        <p:nvSpPr>
          <p:cNvPr id="17" name="Rounded Rectangle 16"/>
          <p:cNvSpPr/>
          <p:nvPr/>
        </p:nvSpPr>
        <p:spPr>
          <a:xfrm>
            <a:off x="640080" y="3657600"/>
            <a:ext cx="3474720" cy="182880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931920"/>
            <a:ext cx="2926080" cy="457200"/>
          </a:xfrm>
          <a:prstGeom prst="rect">
            <a:avLst/>
          </a:prstGeom>
          <a:noFill/>
        </p:spPr>
        <p:txBody>
          <a:bodyPr wrap="square" anchor="t" lIns="0" rIns="0" tIns="0" bIns="0">
            <a:spAutoFit/>
          </a:bodyPr>
          <a:lstStyle/>
          <a:p>
            <a:pPr algn="l"/>
            <a:r>
              <a:rPr sz="2000" b="1">
                <a:solidFill>
                  <a:srgbClr val="12424D"/>
                </a:solidFill>
                <a:latin typeface="Calibri"/>
              </a:rPr>
              <a:t>Same facts, same decision</a:t>
            </a:r>
          </a:p>
        </p:txBody>
      </p:sp>
      <p:sp>
        <p:nvSpPr>
          <p:cNvPr id="19" name="TextBox 18"/>
          <p:cNvSpPr txBox="1"/>
          <p:nvPr/>
        </p:nvSpPr>
        <p:spPr>
          <a:xfrm>
            <a:off x="914400" y="4480560"/>
            <a:ext cx="2926080" cy="914400"/>
          </a:xfrm>
          <a:prstGeom prst="rect">
            <a:avLst/>
          </a:prstGeom>
          <a:noFill/>
        </p:spPr>
        <p:txBody>
          <a:bodyPr wrap="square" anchor="t" lIns="0" rIns="0" tIns="0" bIns="0">
            <a:spAutoFit/>
          </a:bodyPr>
          <a:lstStyle/>
          <a:p>
            <a:pPr algn="l"/>
            <a:r>
              <a:rPr sz="1500" b="0">
                <a:solidFill>
                  <a:srgbClr val="5B6B7A"/>
                </a:solidFill>
                <a:latin typeface="Calibri"/>
              </a:rPr>
              <a:t>A rule file decides, not the model</a:t>
            </a:r>
          </a:p>
        </p:txBody>
      </p:sp>
      <p:sp>
        <p:nvSpPr>
          <p:cNvPr id="20" name="Rounded Rectangle 19"/>
          <p:cNvSpPr/>
          <p:nvPr/>
        </p:nvSpPr>
        <p:spPr>
          <a:xfrm>
            <a:off x="4343400" y="3657600"/>
            <a:ext cx="3474720" cy="182880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7720" y="3931920"/>
            <a:ext cx="2926080" cy="457200"/>
          </a:xfrm>
          <a:prstGeom prst="rect">
            <a:avLst/>
          </a:prstGeom>
          <a:noFill/>
        </p:spPr>
        <p:txBody>
          <a:bodyPr wrap="square" anchor="t" lIns="0" rIns="0" tIns="0" bIns="0">
            <a:spAutoFit/>
          </a:bodyPr>
          <a:lstStyle/>
          <a:p>
            <a:pPr algn="l"/>
            <a:r>
              <a:rPr sz="2000" b="1">
                <a:solidFill>
                  <a:srgbClr val="12424D"/>
                </a:solidFill>
                <a:latin typeface="Calibri"/>
              </a:rPr>
              <a:t>Unsure goes to a person</a:t>
            </a:r>
          </a:p>
        </p:txBody>
      </p:sp>
      <p:sp>
        <p:nvSpPr>
          <p:cNvPr id="22" name="TextBox 21"/>
          <p:cNvSpPr txBox="1"/>
          <p:nvPr/>
        </p:nvSpPr>
        <p:spPr>
          <a:xfrm>
            <a:off x="4617720" y="4480560"/>
            <a:ext cx="2926080" cy="914400"/>
          </a:xfrm>
          <a:prstGeom prst="rect">
            <a:avLst/>
          </a:prstGeom>
          <a:noFill/>
        </p:spPr>
        <p:txBody>
          <a:bodyPr wrap="square" anchor="t" lIns="0" rIns="0" tIns="0" bIns="0">
            <a:spAutoFit/>
          </a:bodyPr>
          <a:lstStyle/>
          <a:p>
            <a:pPr algn="l"/>
            <a:r>
              <a:rPr sz="1500" b="0">
                <a:solidFill>
                  <a:srgbClr val="5B6B7A"/>
                </a:solidFill>
                <a:latin typeface="Calibri"/>
              </a:rPr>
              <a:t>Confidence comes from evidence</a:t>
            </a:r>
          </a:p>
        </p:txBody>
      </p:sp>
      <p:sp>
        <p:nvSpPr>
          <p:cNvPr id="23" name="Rounded Rectangle 22"/>
          <p:cNvSpPr/>
          <p:nvPr/>
        </p:nvSpPr>
        <p:spPr>
          <a:xfrm>
            <a:off x="8046719" y="3657600"/>
            <a:ext cx="3474720" cy="182880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1039" y="3931920"/>
            <a:ext cx="2926080" cy="457200"/>
          </a:xfrm>
          <a:prstGeom prst="rect">
            <a:avLst/>
          </a:prstGeom>
          <a:noFill/>
        </p:spPr>
        <p:txBody>
          <a:bodyPr wrap="square" anchor="t" lIns="0" rIns="0" tIns="0" bIns="0">
            <a:spAutoFit/>
          </a:bodyPr>
          <a:lstStyle/>
          <a:p>
            <a:pPr algn="l"/>
            <a:r>
              <a:rPr sz="2000" b="1">
                <a:solidFill>
                  <a:srgbClr val="12424D"/>
                </a:solidFill>
                <a:latin typeface="Calibri"/>
              </a:rPr>
              <a:t>Lowest cost first</a:t>
            </a:r>
          </a:p>
        </p:txBody>
      </p:sp>
      <p:sp>
        <p:nvSpPr>
          <p:cNvPr id="25" name="TextBox 24"/>
          <p:cNvSpPr txBox="1"/>
          <p:nvPr/>
        </p:nvSpPr>
        <p:spPr>
          <a:xfrm>
            <a:off x="8321039" y="4480560"/>
            <a:ext cx="2926080" cy="914400"/>
          </a:xfrm>
          <a:prstGeom prst="rect">
            <a:avLst/>
          </a:prstGeom>
          <a:noFill/>
        </p:spPr>
        <p:txBody>
          <a:bodyPr wrap="square" anchor="t" lIns="0" rIns="0" tIns="0" bIns="0">
            <a:spAutoFit/>
          </a:bodyPr>
          <a:lstStyle/>
          <a:p>
            <a:pPr algn="l"/>
            <a:r>
              <a:rPr sz="1500" b="0">
                <a:solidFill>
                  <a:srgbClr val="5B6B7A"/>
                </a:solidFill>
                <a:latin typeface="Calibri"/>
              </a:rPr>
              <a:t>Free OCR first, AI only when needed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ARCHITECTURE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Serverless on AWS: nothing to patch, nothing idle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6</a:t>
            </a:r>
          </a:p>
        </p:txBody>
      </p:sp>
      <p:sp>
        <p:nvSpPr>
          <p:cNvPr id="10" name="Rounded Rectangle 9"/>
          <p:cNvSpPr/>
          <p:nvPr/>
        </p:nvSpPr>
        <p:spPr>
          <a:xfrm>
            <a:off x="640080" y="1828800"/>
            <a:ext cx="2377440" cy="11430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011680"/>
            <a:ext cx="1920240" cy="411480"/>
          </a:xfrm>
          <a:prstGeom prst="rect">
            <a:avLst/>
          </a:prstGeom>
          <a:noFill/>
        </p:spPr>
        <p:txBody>
          <a:bodyPr wrap="square" anchor="t" lIns="0" rIns="0" tIns="0" bIns="0">
            <a:spAutoFit/>
          </a:bodyPr>
          <a:lstStyle/>
          <a:p>
            <a:pPr algn="l"/>
            <a:r>
              <a:rPr sz="1700" b="1">
                <a:solidFill>
                  <a:srgbClr val="1F2D3D"/>
                </a:solidFill>
                <a:latin typeface="Calibri"/>
              </a:rPr>
              <a:t>Web app</a:t>
            </a:r>
          </a:p>
        </p:txBody>
      </p:sp>
      <p:sp>
        <p:nvSpPr>
          <p:cNvPr id="12" name="TextBox 11"/>
          <p:cNvSpPr txBox="1"/>
          <p:nvPr/>
        </p:nvSpPr>
        <p:spPr>
          <a:xfrm>
            <a:off x="868680" y="2450592"/>
            <a:ext cx="1920240" cy="457200"/>
          </a:xfrm>
          <a:prstGeom prst="rect">
            <a:avLst/>
          </a:prstGeom>
          <a:noFill/>
        </p:spPr>
        <p:txBody>
          <a:bodyPr wrap="square" anchor="t" lIns="0" rIns="0" tIns="0" bIns="0">
            <a:spAutoFit/>
          </a:bodyPr>
          <a:lstStyle/>
          <a:p>
            <a:pPr algn="l"/>
            <a:r>
              <a:rPr sz="1300" b="0">
                <a:solidFill>
                  <a:srgbClr val="5B6B7A"/>
                </a:solidFill>
                <a:latin typeface="Calibri"/>
              </a:rPr>
              <a:t>CloudFront</a:t>
            </a:r>
          </a:p>
        </p:txBody>
      </p:sp>
      <p:sp>
        <p:nvSpPr>
          <p:cNvPr id="13" name="Rounded Rectangle 12"/>
          <p:cNvSpPr/>
          <p:nvPr/>
        </p:nvSpPr>
        <p:spPr>
          <a:xfrm>
            <a:off x="3657600" y="1828800"/>
            <a:ext cx="2377440" cy="11430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86200" y="2011680"/>
            <a:ext cx="1920240" cy="411480"/>
          </a:xfrm>
          <a:prstGeom prst="rect">
            <a:avLst/>
          </a:prstGeom>
          <a:noFill/>
        </p:spPr>
        <p:txBody>
          <a:bodyPr wrap="square" anchor="t" lIns="0" rIns="0" tIns="0" bIns="0">
            <a:spAutoFit/>
          </a:bodyPr>
          <a:lstStyle/>
          <a:p>
            <a:pPr algn="l"/>
            <a:r>
              <a:rPr sz="1700" b="1">
                <a:solidFill>
                  <a:srgbClr val="1F2D3D"/>
                </a:solidFill>
                <a:latin typeface="Calibri"/>
              </a:rPr>
              <a:t>API</a:t>
            </a:r>
          </a:p>
        </p:txBody>
      </p:sp>
      <p:sp>
        <p:nvSpPr>
          <p:cNvPr id="15" name="TextBox 14"/>
          <p:cNvSpPr txBox="1"/>
          <p:nvPr/>
        </p:nvSpPr>
        <p:spPr>
          <a:xfrm>
            <a:off x="3886200" y="2450592"/>
            <a:ext cx="1920240" cy="457200"/>
          </a:xfrm>
          <a:prstGeom prst="rect">
            <a:avLst/>
          </a:prstGeom>
          <a:noFill/>
        </p:spPr>
        <p:txBody>
          <a:bodyPr wrap="square" anchor="t" lIns="0" rIns="0" tIns="0" bIns="0">
            <a:spAutoFit/>
          </a:bodyPr>
          <a:lstStyle/>
          <a:p>
            <a:pPr algn="l"/>
            <a:r>
              <a:rPr sz="1300" b="0">
                <a:solidFill>
                  <a:srgbClr val="5B6B7A"/>
                </a:solidFill>
                <a:latin typeface="Calibri"/>
              </a:rPr>
              <a:t>Lambda</a:t>
            </a:r>
          </a:p>
        </p:txBody>
      </p:sp>
      <p:sp>
        <p:nvSpPr>
          <p:cNvPr id="16" name="Rounded Rectangle 15"/>
          <p:cNvSpPr/>
          <p:nvPr/>
        </p:nvSpPr>
        <p:spPr>
          <a:xfrm>
            <a:off x="6766560" y="1691640"/>
            <a:ext cx="4754880" cy="1280160"/>
          </a:xfrm>
          <a:prstGeom prst="roundRect">
            <a:avLst>
              <a:gd name="adj" fmla="val 8000"/>
            </a:avLst>
          </a:prstGeom>
          <a:solidFill>
            <a:srgbClr val="12424D"/>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1874520"/>
            <a:ext cx="4297680" cy="411480"/>
          </a:xfrm>
          <a:prstGeom prst="rect">
            <a:avLst/>
          </a:prstGeom>
          <a:noFill/>
        </p:spPr>
        <p:txBody>
          <a:bodyPr wrap="square" anchor="t" lIns="0" rIns="0" tIns="0" bIns="0">
            <a:spAutoFit/>
          </a:bodyPr>
          <a:lstStyle/>
          <a:p>
            <a:pPr algn="l"/>
            <a:r>
              <a:rPr sz="1700" b="1">
                <a:solidFill>
                  <a:srgbClr val="FFFFFF"/>
                </a:solidFill>
                <a:latin typeface="Calibri"/>
              </a:rPr>
              <a:t>Case pipeline</a:t>
            </a:r>
          </a:p>
        </p:txBody>
      </p:sp>
      <p:sp>
        <p:nvSpPr>
          <p:cNvPr id="18" name="TextBox 17"/>
          <p:cNvSpPr txBox="1"/>
          <p:nvPr/>
        </p:nvSpPr>
        <p:spPr>
          <a:xfrm>
            <a:off x="6995160" y="2313432"/>
            <a:ext cx="4297680" cy="594360"/>
          </a:xfrm>
          <a:prstGeom prst="rect">
            <a:avLst/>
          </a:prstGeom>
          <a:noFill/>
        </p:spPr>
        <p:txBody>
          <a:bodyPr wrap="square" anchor="t" lIns="0" rIns="0" tIns="0" bIns="0">
            <a:spAutoFit/>
          </a:bodyPr>
          <a:lstStyle/>
          <a:p>
            <a:pPr algn="l"/>
            <a:r>
              <a:rPr sz="1300" b="0">
                <a:solidFill>
                  <a:srgbClr val="E1F2F3"/>
                </a:solidFill>
                <a:latin typeface="Calibri"/>
              </a:rPr>
              <a:t>Bedrock AgentCore · LangGraph</a:t>
            </a:r>
          </a:p>
        </p:txBody>
      </p:sp>
      <p:sp>
        <p:nvSpPr>
          <p:cNvPr id="19" name="Rounded Rectangle 18"/>
          <p:cNvSpPr/>
          <p:nvPr/>
        </p:nvSpPr>
        <p:spPr>
          <a:xfrm>
            <a:off x="6766560" y="3200400"/>
            <a:ext cx="4754880" cy="1280160"/>
          </a:xfrm>
          <a:prstGeom prst="roundRect">
            <a:avLst>
              <a:gd name="adj" fmla="val 8000"/>
            </a:avLst>
          </a:prstGeom>
          <a:solidFill>
            <a:srgbClr val="12424D"/>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60" y="3383280"/>
            <a:ext cx="4297680" cy="411480"/>
          </a:xfrm>
          <a:prstGeom prst="rect">
            <a:avLst/>
          </a:prstGeom>
          <a:noFill/>
        </p:spPr>
        <p:txBody>
          <a:bodyPr wrap="square" anchor="t" lIns="0" rIns="0" tIns="0" bIns="0">
            <a:spAutoFit/>
          </a:bodyPr>
          <a:lstStyle/>
          <a:p>
            <a:pPr algn="l"/>
            <a:r>
              <a:rPr sz="1700" b="1">
                <a:solidFill>
                  <a:srgbClr val="FFFFFF"/>
                </a:solidFill>
                <a:latin typeface="Calibri"/>
              </a:rPr>
              <a:t>Assistant</a:t>
            </a:r>
          </a:p>
        </p:txBody>
      </p:sp>
      <p:sp>
        <p:nvSpPr>
          <p:cNvPr id="21" name="TextBox 20"/>
          <p:cNvSpPr txBox="1"/>
          <p:nvPr/>
        </p:nvSpPr>
        <p:spPr>
          <a:xfrm>
            <a:off x="6995160" y="3822192"/>
            <a:ext cx="4297680" cy="594360"/>
          </a:xfrm>
          <a:prstGeom prst="rect">
            <a:avLst/>
          </a:prstGeom>
          <a:noFill/>
        </p:spPr>
        <p:txBody>
          <a:bodyPr wrap="square" anchor="t" lIns="0" rIns="0" tIns="0" bIns="0">
            <a:spAutoFit/>
          </a:bodyPr>
          <a:lstStyle/>
          <a:p>
            <a:pPr algn="l"/>
            <a:r>
              <a:rPr sz="1300" b="0">
                <a:solidFill>
                  <a:srgbClr val="E1F2F3"/>
                </a:solidFill>
                <a:latin typeface="Calibri"/>
              </a:rPr>
              <a:t>Bedrock AgentCore · Memory</a:t>
            </a:r>
          </a:p>
        </p:txBody>
      </p:sp>
      <p:sp>
        <p:nvSpPr>
          <p:cNvPr id="22" name="Rounded Rectangle 21"/>
          <p:cNvSpPr/>
          <p:nvPr/>
        </p:nvSpPr>
        <p:spPr>
          <a:xfrm>
            <a:off x="640080" y="3337560"/>
            <a:ext cx="2377440" cy="11430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520440"/>
            <a:ext cx="1920240" cy="411480"/>
          </a:xfrm>
          <a:prstGeom prst="rect">
            <a:avLst/>
          </a:prstGeom>
          <a:noFill/>
        </p:spPr>
        <p:txBody>
          <a:bodyPr wrap="square" anchor="t" lIns="0" rIns="0" tIns="0" bIns="0">
            <a:spAutoFit/>
          </a:bodyPr>
          <a:lstStyle/>
          <a:p>
            <a:pPr algn="l"/>
            <a:r>
              <a:rPr sz="1700" b="1">
                <a:solidFill>
                  <a:srgbClr val="1F2D3D"/>
                </a:solidFill>
                <a:latin typeface="Calibri"/>
              </a:rPr>
              <a:t>Data</a:t>
            </a:r>
          </a:p>
        </p:txBody>
      </p:sp>
      <p:sp>
        <p:nvSpPr>
          <p:cNvPr id="24" name="TextBox 23"/>
          <p:cNvSpPr txBox="1"/>
          <p:nvPr/>
        </p:nvSpPr>
        <p:spPr>
          <a:xfrm>
            <a:off x="868680" y="3959352"/>
            <a:ext cx="1920240" cy="457200"/>
          </a:xfrm>
          <a:prstGeom prst="rect">
            <a:avLst/>
          </a:prstGeom>
          <a:noFill/>
        </p:spPr>
        <p:txBody>
          <a:bodyPr wrap="square" anchor="t" lIns="0" rIns="0" tIns="0" bIns="0">
            <a:spAutoFit/>
          </a:bodyPr>
          <a:lstStyle/>
          <a:p>
            <a:pPr algn="l"/>
            <a:r>
              <a:rPr sz="1300" b="0">
                <a:solidFill>
                  <a:srgbClr val="5B6B7A"/>
                </a:solidFill>
                <a:latin typeface="Calibri"/>
              </a:rPr>
              <a:t>DynamoDB · S3</a:t>
            </a:r>
          </a:p>
        </p:txBody>
      </p:sp>
      <p:sp>
        <p:nvSpPr>
          <p:cNvPr id="25" name="Rounded Rectangle 24"/>
          <p:cNvSpPr/>
          <p:nvPr/>
        </p:nvSpPr>
        <p:spPr>
          <a:xfrm>
            <a:off x="3657600" y="3337560"/>
            <a:ext cx="2377440" cy="11430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86200" y="3520440"/>
            <a:ext cx="1920240" cy="411480"/>
          </a:xfrm>
          <a:prstGeom prst="rect">
            <a:avLst/>
          </a:prstGeom>
          <a:noFill/>
        </p:spPr>
        <p:txBody>
          <a:bodyPr wrap="square" anchor="t" lIns="0" rIns="0" tIns="0" bIns="0">
            <a:spAutoFit/>
          </a:bodyPr>
          <a:lstStyle/>
          <a:p>
            <a:pPr algn="l"/>
            <a:r>
              <a:rPr sz="1700" b="1">
                <a:solidFill>
                  <a:srgbClr val="1F2D3D"/>
                </a:solidFill>
                <a:latin typeface="Calibri"/>
              </a:rPr>
              <a:t>AI models</a:t>
            </a:r>
          </a:p>
        </p:txBody>
      </p:sp>
      <p:sp>
        <p:nvSpPr>
          <p:cNvPr id="27" name="TextBox 26"/>
          <p:cNvSpPr txBox="1"/>
          <p:nvPr/>
        </p:nvSpPr>
        <p:spPr>
          <a:xfrm>
            <a:off x="3886200" y="3959352"/>
            <a:ext cx="1920240" cy="457200"/>
          </a:xfrm>
          <a:prstGeom prst="rect">
            <a:avLst/>
          </a:prstGeom>
          <a:noFill/>
        </p:spPr>
        <p:txBody>
          <a:bodyPr wrap="square" anchor="t" lIns="0" rIns="0" tIns="0" bIns="0">
            <a:spAutoFit/>
          </a:bodyPr>
          <a:lstStyle/>
          <a:p>
            <a:pPr algn="l"/>
            <a:r>
              <a:rPr sz="1300" b="0">
                <a:solidFill>
                  <a:srgbClr val="5B6B7A"/>
                </a:solidFill>
                <a:latin typeface="Calibri"/>
              </a:rPr>
              <a:t>Claude Sonnet · Opus</a:t>
            </a:r>
          </a:p>
        </p:txBody>
      </p:sp>
      <p:cxnSp>
        <p:nvCxnSpPr>
          <p:cNvPr id="28" name="Connector 27"/>
          <p:cNvCxnSpPr/>
          <p:nvPr/>
        </p:nvCxnSpPr>
        <p:spPr>
          <a:xfrm>
            <a:off x="3017520" y="2395728"/>
            <a:ext cx="640080" cy="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35040" y="2286000"/>
            <a:ext cx="731520" cy="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35040" y="2651760"/>
            <a:ext cx="731520" cy="118872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5120640"/>
            <a:ext cx="10881360" cy="457200"/>
          </a:xfrm>
          <a:prstGeom prst="rect">
            <a:avLst/>
          </a:prstGeom>
          <a:noFill/>
        </p:spPr>
        <p:txBody>
          <a:bodyPr wrap="square" anchor="t" lIns="0" rIns="0" tIns="0" bIns="0">
            <a:spAutoFit/>
          </a:bodyPr>
          <a:lstStyle/>
          <a:p>
            <a:pPr algn="l"/>
            <a:r>
              <a:rPr sz="1700" b="1">
                <a:solidFill>
                  <a:srgbClr val="1F2D3D"/>
                </a:solidFill>
                <a:latin typeface="Calibri"/>
              </a:rPr>
              <a:t>One CloudFormation stack  ·  pay-per-use only  ·  ≈ $1.25 a month idle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RESULTS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Measured on data the system never saw</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7</a:t>
            </a:r>
          </a:p>
        </p:txBody>
      </p:sp>
      <p:sp>
        <p:nvSpPr>
          <p:cNvPr id="10" name="Rounded Rectangle 9"/>
          <p:cNvSpPr/>
          <p:nvPr/>
        </p:nvSpPr>
        <p:spPr>
          <a:xfrm>
            <a:off x="640080" y="1737360"/>
            <a:ext cx="3474720" cy="17830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920240"/>
            <a:ext cx="30175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2" name="TextBox 11"/>
          <p:cNvSpPr txBox="1"/>
          <p:nvPr/>
        </p:nvSpPr>
        <p:spPr>
          <a:xfrm>
            <a:off x="868680" y="2606040"/>
            <a:ext cx="3017520" cy="457200"/>
          </a:xfrm>
          <a:prstGeom prst="rect">
            <a:avLst/>
          </a:prstGeom>
          <a:noFill/>
        </p:spPr>
        <p:txBody>
          <a:bodyPr wrap="square" anchor="t" lIns="0" rIns="0" tIns="0" bIns="0">
            <a:spAutoFit/>
          </a:bodyPr>
          <a:lstStyle/>
          <a:p>
            <a:pPr algn="l"/>
            <a:r>
              <a:rPr sz="1400" b="1">
                <a:solidFill>
                  <a:srgbClr val="1F2D3D"/>
                </a:solidFill>
                <a:latin typeface="Calibri"/>
              </a:rPr>
              <a:t>document types</a:t>
            </a:r>
          </a:p>
        </p:txBody>
      </p:sp>
      <p:sp>
        <p:nvSpPr>
          <p:cNvPr id="13" name="Rounded Rectangle 12"/>
          <p:cNvSpPr/>
          <p:nvPr/>
        </p:nvSpPr>
        <p:spPr>
          <a:xfrm>
            <a:off x="4343400" y="1737360"/>
            <a:ext cx="3474720" cy="17830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920240"/>
            <a:ext cx="30175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5" name="TextBox 14"/>
          <p:cNvSpPr txBox="1"/>
          <p:nvPr/>
        </p:nvSpPr>
        <p:spPr>
          <a:xfrm>
            <a:off x="4572000" y="2606040"/>
            <a:ext cx="3017520" cy="457200"/>
          </a:xfrm>
          <a:prstGeom prst="rect">
            <a:avLst/>
          </a:prstGeom>
          <a:noFill/>
        </p:spPr>
        <p:txBody>
          <a:bodyPr wrap="square" anchor="t" lIns="0" rIns="0" tIns="0" bIns="0">
            <a:spAutoFit/>
          </a:bodyPr>
          <a:lstStyle/>
          <a:p>
            <a:pPr algn="l"/>
            <a:r>
              <a:rPr sz="1400" b="1">
                <a:solidFill>
                  <a:srgbClr val="1F2D3D"/>
                </a:solidFill>
                <a:latin typeface="Calibri"/>
              </a:rPr>
              <a:t>claim fields extracted</a:t>
            </a:r>
          </a:p>
        </p:txBody>
      </p:sp>
      <p:sp>
        <p:nvSpPr>
          <p:cNvPr id="16" name="Rounded Rectangle 15"/>
          <p:cNvSpPr/>
          <p:nvPr/>
        </p:nvSpPr>
        <p:spPr>
          <a:xfrm>
            <a:off x="8046719" y="1737360"/>
            <a:ext cx="3474720" cy="17830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19" y="1920240"/>
            <a:ext cx="30175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8" name="TextBox 17"/>
          <p:cNvSpPr txBox="1"/>
          <p:nvPr/>
        </p:nvSpPr>
        <p:spPr>
          <a:xfrm>
            <a:off x="8275319" y="2606040"/>
            <a:ext cx="3017520" cy="457200"/>
          </a:xfrm>
          <a:prstGeom prst="rect">
            <a:avLst/>
          </a:prstGeom>
          <a:noFill/>
        </p:spPr>
        <p:txBody>
          <a:bodyPr wrap="square" anchor="t" lIns="0" rIns="0" tIns="0" bIns="0">
            <a:spAutoFit/>
          </a:bodyPr>
          <a:lstStyle/>
          <a:p>
            <a:pPr algn="l"/>
            <a:r>
              <a:rPr sz="1400" b="1">
                <a:solidFill>
                  <a:srgbClr val="1F2D3D"/>
                </a:solidFill>
                <a:latin typeface="Calibri"/>
              </a:rPr>
              <a:t>right policy clause found</a:t>
            </a:r>
          </a:p>
        </p:txBody>
      </p:sp>
      <p:sp>
        <p:nvSpPr>
          <p:cNvPr id="19" name="Rounded Rectangle 18"/>
          <p:cNvSpPr/>
          <p:nvPr/>
        </p:nvSpPr>
        <p:spPr>
          <a:xfrm>
            <a:off x="640080" y="3749039"/>
            <a:ext cx="3474720" cy="17830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31919"/>
            <a:ext cx="30175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21" name="TextBox 20"/>
          <p:cNvSpPr txBox="1"/>
          <p:nvPr/>
        </p:nvSpPr>
        <p:spPr>
          <a:xfrm>
            <a:off x="868680" y="4617719"/>
            <a:ext cx="3017520" cy="457200"/>
          </a:xfrm>
          <a:prstGeom prst="rect">
            <a:avLst/>
          </a:prstGeom>
          <a:noFill/>
        </p:spPr>
        <p:txBody>
          <a:bodyPr wrap="square" anchor="t" lIns="0" rIns="0" tIns="0" bIns="0">
            <a:spAutoFit/>
          </a:bodyPr>
          <a:lstStyle/>
          <a:p>
            <a:pPr algn="l"/>
            <a:r>
              <a:rPr sz="1400" b="1">
                <a:solidFill>
                  <a:srgbClr val="1F2D3D"/>
                </a:solidFill>
                <a:latin typeface="Calibri"/>
              </a:rPr>
              <a:t>decisions correct*</a:t>
            </a:r>
          </a:p>
        </p:txBody>
      </p:sp>
      <p:sp>
        <p:nvSpPr>
          <p:cNvPr id="22" name="Rounded Rectangle 21"/>
          <p:cNvSpPr/>
          <p:nvPr/>
        </p:nvSpPr>
        <p:spPr>
          <a:xfrm>
            <a:off x="4343400" y="3749039"/>
            <a:ext cx="3474720" cy="17830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3931919"/>
            <a:ext cx="30175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24" name="TextBox 23"/>
          <p:cNvSpPr txBox="1"/>
          <p:nvPr/>
        </p:nvSpPr>
        <p:spPr>
          <a:xfrm>
            <a:off x="4572000" y="4617719"/>
            <a:ext cx="3017520" cy="457200"/>
          </a:xfrm>
          <a:prstGeom prst="rect">
            <a:avLst/>
          </a:prstGeom>
          <a:noFill/>
        </p:spPr>
        <p:txBody>
          <a:bodyPr wrap="square" anchor="t" lIns="0" rIns="0" tIns="0" bIns="0">
            <a:spAutoFit/>
          </a:bodyPr>
          <a:lstStyle/>
          <a:p>
            <a:pPr algn="l"/>
            <a:r>
              <a:rPr sz="1400" b="1">
                <a:solidFill>
                  <a:srgbClr val="1F2D3D"/>
                </a:solidFill>
                <a:latin typeface="Calibri"/>
              </a:rPr>
              <a:t>on a second, unseen dataset</a:t>
            </a:r>
          </a:p>
        </p:txBody>
      </p:sp>
      <p:sp>
        <p:nvSpPr>
          <p:cNvPr id="25" name="Rounded Rectangle 24"/>
          <p:cNvSpPr/>
          <p:nvPr/>
        </p:nvSpPr>
        <p:spPr>
          <a:xfrm>
            <a:off x="8046719" y="3749039"/>
            <a:ext cx="3474720" cy="17830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19" y="3931919"/>
            <a:ext cx="3017520" cy="731520"/>
          </a:xfrm>
          <a:prstGeom prst="rect">
            <a:avLst/>
          </a:prstGeom>
          <a:noFill/>
        </p:spPr>
        <p:txBody>
          <a:bodyPr wrap="square" anchor="t" lIns="0" rIns="0" tIns="0" bIns="0">
            <a:spAutoFit/>
          </a:bodyPr>
          <a:lstStyle/>
          <a:p>
            <a:pPr algn="l"/>
            <a:r>
              <a:rPr sz="3400" b="1">
                <a:solidFill>
                  <a:srgbClr val="2E8B57"/>
                </a:solidFill>
                <a:latin typeface="Calibri"/>
              </a:rPr>
              <a:t>0</a:t>
            </a:r>
          </a:p>
        </p:txBody>
      </p:sp>
      <p:sp>
        <p:nvSpPr>
          <p:cNvPr id="27" name="TextBox 26"/>
          <p:cNvSpPr txBox="1"/>
          <p:nvPr/>
        </p:nvSpPr>
        <p:spPr>
          <a:xfrm>
            <a:off x="8275319" y="4617719"/>
            <a:ext cx="3017520" cy="457200"/>
          </a:xfrm>
          <a:prstGeom prst="rect">
            <a:avLst/>
          </a:prstGeom>
          <a:noFill/>
        </p:spPr>
        <p:txBody>
          <a:bodyPr wrap="square" anchor="t" lIns="0" rIns="0" tIns="0" bIns="0">
            <a:spAutoFit/>
          </a:bodyPr>
          <a:lstStyle/>
          <a:p>
            <a:pPr algn="l"/>
            <a:r>
              <a:rPr sz="1400" b="1">
                <a:solidFill>
                  <a:srgbClr val="1F2D3D"/>
                </a:solidFill>
                <a:latin typeface="Calibri"/>
              </a:rPr>
              <a:t>decisions flipped by attacks</a:t>
            </a:r>
          </a:p>
        </p:txBody>
      </p:sp>
      <p:sp>
        <p:nvSpPr>
          <p:cNvPr id="28" name="TextBox 27"/>
          <p:cNvSpPr txBox="1"/>
          <p:nvPr/>
        </p:nvSpPr>
        <p:spPr>
          <a:xfrm>
            <a:off x="640080" y="5897880"/>
            <a:ext cx="10881360" cy="365760"/>
          </a:xfrm>
          <a:prstGeom prst="rect">
            <a:avLst/>
          </a:prstGeom>
          <a:noFill/>
        </p:spPr>
        <p:txBody>
          <a:bodyPr wrap="square" anchor="t" lIns="0" rIns="0" tIns="0" bIns="0">
            <a:spAutoFit/>
          </a:bodyPr>
          <a:lstStyle/>
          <a:p>
            <a:pPr algn="l"/>
            <a:r>
              <a:rPr sz="1300" b="0">
                <a:solidFill>
                  <a:srgbClr val="5B6B7A"/>
                </a:solidFill>
                <a:latin typeface="Calibri"/>
              </a:rPr>
              <a:t>* where the evidence is on the page; 96.2% on all labels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SECURITY AND COMPLIANCE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Built for auditors from day one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8</a:t>
            </a:r>
          </a:p>
        </p:txBody>
      </p:sp>
      <p:sp>
        <p:nvSpPr>
          <p:cNvPr id="10" name="Rounded Rectangle 9"/>
          <p:cNvSpPr/>
          <p:nvPr/>
        </p:nvSpPr>
        <p:spPr>
          <a:xfrm>
            <a:off x="640080" y="1737360"/>
            <a:ext cx="34747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11680"/>
            <a:ext cx="2926080" cy="457200"/>
          </a:xfrm>
          <a:prstGeom prst="rect">
            <a:avLst/>
          </a:prstGeom>
          <a:noFill/>
        </p:spPr>
        <p:txBody>
          <a:bodyPr wrap="square" anchor="t" lIns="0" rIns="0" tIns="0" bIns="0">
            <a:spAutoFit/>
          </a:bodyPr>
          <a:lstStyle/>
          <a:p>
            <a:pPr algn="l"/>
            <a:r>
              <a:rPr sz="2000" b="1">
                <a:solidFill>
                  <a:srgbClr val="1F2D3D"/>
                </a:solidFill>
                <a:latin typeface="Calibri"/>
              </a:rPr>
              <a:t>Role-based access</a:t>
            </a:r>
          </a:p>
        </p:txBody>
      </p:sp>
      <p:sp>
        <p:nvSpPr>
          <p:cNvPr id="12" name="TextBox 11"/>
          <p:cNvSpPr txBox="1"/>
          <p:nvPr/>
        </p:nvSpPr>
        <p:spPr>
          <a:xfrm>
            <a:off x="914400" y="2560320"/>
            <a:ext cx="2926080" cy="914400"/>
          </a:xfrm>
          <a:prstGeom prst="rect">
            <a:avLst/>
          </a:prstGeom>
          <a:noFill/>
        </p:spPr>
        <p:txBody>
          <a:bodyPr wrap="square" anchor="t" lIns="0" rIns="0" tIns="0" bIns="0">
            <a:spAutoFit/>
          </a:bodyPr>
          <a:lstStyle/>
          <a:p>
            <a:pPr algn="l"/>
            <a:r>
              <a:rPr sz="1500" b="0">
                <a:solidFill>
                  <a:srgbClr val="5B6B7A"/>
                </a:solidFill>
                <a:latin typeface="Calibri"/>
              </a:rPr>
              <a:t>Enforced at the data</a:t>
            </a:r>
          </a:p>
        </p:txBody>
      </p:sp>
      <p:sp>
        <p:nvSpPr>
          <p:cNvPr id="13" name="Rounded Rectangle 12"/>
          <p:cNvSpPr/>
          <p:nvPr/>
        </p:nvSpPr>
        <p:spPr>
          <a:xfrm>
            <a:off x="4343400" y="1737360"/>
            <a:ext cx="34747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011680"/>
            <a:ext cx="2926080" cy="457200"/>
          </a:xfrm>
          <a:prstGeom prst="rect">
            <a:avLst/>
          </a:prstGeom>
          <a:noFill/>
        </p:spPr>
        <p:txBody>
          <a:bodyPr wrap="square" anchor="t" lIns="0" rIns="0" tIns="0" bIns="0">
            <a:spAutoFit/>
          </a:bodyPr>
          <a:lstStyle/>
          <a:p>
            <a:pPr algn="l"/>
            <a:r>
              <a:rPr sz="2000" b="1">
                <a:solidFill>
                  <a:srgbClr val="1F2D3D"/>
                </a:solidFill>
                <a:latin typeface="Calibri"/>
              </a:rPr>
              <a:t>Four-eyes approval</a:t>
            </a:r>
          </a:p>
        </p:txBody>
      </p:sp>
      <p:sp>
        <p:nvSpPr>
          <p:cNvPr id="15" name="TextBox 14"/>
          <p:cNvSpPr txBox="1"/>
          <p:nvPr/>
        </p:nvSpPr>
        <p:spPr>
          <a:xfrm>
            <a:off x="4617720" y="2560320"/>
            <a:ext cx="2926080" cy="914400"/>
          </a:xfrm>
          <a:prstGeom prst="rect">
            <a:avLst/>
          </a:prstGeom>
          <a:noFill/>
        </p:spPr>
        <p:txBody>
          <a:bodyPr wrap="square" anchor="t" lIns="0" rIns="0" tIns="0" bIns="0">
            <a:spAutoFit/>
          </a:bodyPr>
          <a:lstStyle/>
          <a:p>
            <a:pPr algn="l"/>
            <a:r>
              <a:rPr sz="1500" b="0">
                <a:solidFill>
                  <a:srgbClr val="5B6B7A"/>
                </a:solidFill>
                <a:latin typeface="Calibri"/>
              </a:rPr>
              <a:t>Overrides over $10k</a:t>
            </a:r>
          </a:p>
        </p:txBody>
      </p:sp>
      <p:sp>
        <p:nvSpPr>
          <p:cNvPr id="16" name="Rounded Rectangle 15"/>
          <p:cNvSpPr/>
          <p:nvPr/>
        </p:nvSpPr>
        <p:spPr>
          <a:xfrm>
            <a:off x="8046719" y="1737360"/>
            <a:ext cx="34747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39" y="2011680"/>
            <a:ext cx="2926080" cy="457200"/>
          </a:xfrm>
          <a:prstGeom prst="rect">
            <a:avLst/>
          </a:prstGeom>
          <a:noFill/>
        </p:spPr>
        <p:txBody>
          <a:bodyPr wrap="square" anchor="t" lIns="0" rIns="0" tIns="0" bIns="0">
            <a:spAutoFit/>
          </a:bodyPr>
          <a:lstStyle/>
          <a:p>
            <a:pPr algn="l"/>
            <a:r>
              <a:rPr sz="2000" b="1">
                <a:solidFill>
                  <a:srgbClr val="1F2D3D"/>
                </a:solidFill>
                <a:latin typeface="Calibri"/>
              </a:rPr>
              <a:t>Tamper-evident audit</a:t>
            </a:r>
          </a:p>
        </p:txBody>
      </p:sp>
      <p:sp>
        <p:nvSpPr>
          <p:cNvPr id="18" name="TextBox 17"/>
          <p:cNvSpPr txBox="1"/>
          <p:nvPr/>
        </p:nvSpPr>
        <p:spPr>
          <a:xfrm>
            <a:off x="8321039" y="2560320"/>
            <a:ext cx="2926080" cy="914400"/>
          </a:xfrm>
          <a:prstGeom prst="rect">
            <a:avLst/>
          </a:prstGeom>
          <a:noFill/>
        </p:spPr>
        <p:txBody>
          <a:bodyPr wrap="square" anchor="t" lIns="0" rIns="0" tIns="0" bIns="0">
            <a:spAutoFit/>
          </a:bodyPr>
          <a:lstStyle/>
          <a:p>
            <a:pPr algn="l"/>
            <a:r>
              <a:rPr sz="1500" b="0">
                <a:solidFill>
                  <a:srgbClr val="5B6B7A"/>
                </a:solidFill>
                <a:latin typeface="Calibri"/>
              </a:rPr>
              <a:t>Every action hash-chained</a:t>
            </a:r>
          </a:p>
        </p:txBody>
      </p:sp>
      <p:sp>
        <p:nvSpPr>
          <p:cNvPr id="19" name="Rounded Rectangle 18"/>
          <p:cNvSpPr/>
          <p:nvPr/>
        </p:nvSpPr>
        <p:spPr>
          <a:xfrm>
            <a:off x="640080" y="3840479"/>
            <a:ext cx="34747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14799"/>
            <a:ext cx="2926080" cy="457200"/>
          </a:xfrm>
          <a:prstGeom prst="rect">
            <a:avLst/>
          </a:prstGeom>
          <a:noFill/>
        </p:spPr>
        <p:txBody>
          <a:bodyPr wrap="square" anchor="t" lIns="0" rIns="0" tIns="0" bIns="0">
            <a:spAutoFit/>
          </a:bodyPr>
          <a:lstStyle/>
          <a:p>
            <a:pPr algn="l"/>
            <a:r>
              <a:rPr sz="2000" b="1">
                <a:solidFill>
                  <a:srgbClr val="1F2D3D"/>
                </a:solidFill>
                <a:latin typeface="Calibri"/>
              </a:rPr>
              <a:t>Injection-resistant</a:t>
            </a:r>
          </a:p>
        </p:txBody>
      </p:sp>
      <p:sp>
        <p:nvSpPr>
          <p:cNvPr id="21" name="TextBox 20"/>
          <p:cNvSpPr txBox="1"/>
          <p:nvPr/>
        </p:nvSpPr>
        <p:spPr>
          <a:xfrm>
            <a:off x="914400" y="4663439"/>
            <a:ext cx="2926080" cy="914400"/>
          </a:xfrm>
          <a:prstGeom prst="rect">
            <a:avLst/>
          </a:prstGeom>
          <a:noFill/>
        </p:spPr>
        <p:txBody>
          <a:bodyPr wrap="square" anchor="t" lIns="0" rIns="0" tIns="0" bIns="0">
            <a:spAutoFit/>
          </a:bodyPr>
          <a:lstStyle/>
          <a:p>
            <a:pPr algn="l"/>
            <a:r>
              <a:rPr sz="1500" b="0">
                <a:solidFill>
                  <a:srgbClr val="5B6B7A"/>
                </a:solidFill>
                <a:latin typeface="Calibri"/>
              </a:rPr>
              <a:t>0 decisions flipped</a:t>
            </a:r>
          </a:p>
        </p:txBody>
      </p:sp>
      <p:sp>
        <p:nvSpPr>
          <p:cNvPr id="22" name="Rounded Rectangle 21"/>
          <p:cNvSpPr/>
          <p:nvPr/>
        </p:nvSpPr>
        <p:spPr>
          <a:xfrm>
            <a:off x="4343400" y="3840479"/>
            <a:ext cx="34747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17720" y="4114799"/>
            <a:ext cx="2926080" cy="457200"/>
          </a:xfrm>
          <a:prstGeom prst="rect">
            <a:avLst/>
          </a:prstGeom>
          <a:noFill/>
        </p:spPr>
        <p:txBody>
          <a:bodyPr wrap="square" anchor="t" lIns="0" rIns="0" tIns="0" bIns="0">
            <a:spAutoFit/>
          </a:bodyPr>
          <a:lstStyle/>
          <a:p>
            <a:pPr algn="l"/>
            <a:r>
              <a:rPr sz="2000" b="1">
                <a:solidFill>
                  <a:srgbClr val="1F2D3D"/>
                </a:solidFill>
                <a:latin typeface="Calibri"/>
              </a:rPr>
              <a:t>Patient data protected</a:t>
            </a:r>
          </a:p>
        </p:txBody>
      </p:sp>
      <p:sp>
        <p:nvSpPr>
          <p:cNvPr id="24" name="TextBox 23"/>
          <p:cNvSpPr txBox="1"/>
          <p:nvPr/>
        </p:nvSpPr>
        <p:spPr>
          <a:xfrm>
            <a:off x="4617720" y="4663439"/>
            <a:ext cx="2926080" cy="914400"/>
          </a:xfrm>
          <a:prstGeom prst="rect">
            <a:avLst/>
          </a:prstGeom>
          <a:noFill/>
        </p:spPr>
        <p:txBody>
          <a:bodyPr wrap="square" anchor="t" lIns="0" rIns="0" tIns="0" bIns="0">
            <a:spAutoFit/>
          </a:bodyPr>
          <a:lstStyle/>
          <a:p>
            <a:pPr algn="l"/>
            <a:r>
              <a:rPr sz="1500" b="0">
                <a:solidFill>
                  <a:srgbClr val="5B6B7A"/>
                </a:solidFill>
                <a:latin typeface="Calibri"/>
              </a:rPr>
              <a:t>Redacted from logs and traces</a:t>
            </a:r>
          </a:p>
        </p:txBody>
      </p:sp>
      <p:sp>
        <p:nvSpPr>
          <p:cNvPr id="25" name="Rounded Rectangle 24"/>
          <p:cNvSpPr/>
          <p:nvPr/>
        </p:nvSpPr>
        <p:spPr>
          <a:xfrm>
            <a:off x="8046719" y="3840479"/>
            <a:ext cx="34747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39" y="4114799"/>
            <a:ext cx="2926080" cy="457200"/>
          </a:xfrm>
          <a:prstGeom prst="rect">
            <a:avLst/>
          </a:prstGeom>
          <a:noFill/>
        </p:spPr>
        <p:txBody>
          <a:bodyPr wrap="square" anchor="t" lIns="0" rIns="0" tIns="0" bIns="0">
            <a:spAutoFit/>
          </a:bodyPr>
          <a:lstStyle/>
          <a:p>
            <a:pPr algn="l"/>
            <a:r>
              <a:rPr sz="2000" b="1">
                <a:solidFill>
                  <a:srgbClr val="1F2D3D"/>
                </a:solidFill>
                <a:latin typeface="Calibri"/>
              </a:rPr>
              <a:t>Spend caps</a:t>
            </a:r>
          </a:p>
        </p:txBody>
      </p:sp>
      <p:sp>
        <p:nvSpPr>
          <p:cNvPr id="27" name="TextBox 26"/>
          <p:cNvSpPr txBox="1"/>
          <p:nvPr/>
        </p:nvSpPr>
        <p:spPr>
          <a:xfrm>
            <a:off x="8321039" y="4663439"/>
            <a:ext cx="2926080" cy="914400"/>
          </a:xfrm>
          <a:prstGeom prst="rect">
            <a:avLst/>
          </a:prstGeom>
          <a:noFill/>
        </p:spPr>
        <p:txBody>
          <a:bodyPr wrap="square" anchor="t" lIns="0" rIns="0" tIns="0" bIns="0">
            <a:spAutoFit/>
          </a:bodyPr>
          <a:lstStyle/>
          <a:p>
            <a:pPr algn="l"/>
            <a:r>
              <a:rPr sz="1500" b="0">
                <a:solidFill>
                  <a:srgbClr val="5B6B7A"/>
                </a:solidFill>
                <a:latin typeface="Calibri"/>
              </a:rPr>
              <a:t>Enforced in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OPERATIONS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Easy to run, hard to break</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9</a:t>
            </a:r>
          </a:p>
        </p:txBody>
      </p:sp>
      <p:sp>
        <p:nvSpPr>
          <p:cNvPr id="10" name="Rounded Rectangle 9"/>
          <p:cNvSpPr/>
          <p:nvPr/>
        </p:nvSpPr>
        <p:spPr>
          <a:xfrm>
            <a:off x="640080" y="1737360"/>
            <a:ext cx="534924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011680"/>
            <a:ext cx="4800600" cy="457200"/>
          </a:xfrm>
          <a:prstGeom prst="rect">
            <a:avLst/>
          </a:prstGeom>
          <a:noFill/>
        </p:spPr>
        <p:txBody>
          <a:bodyPr wrap="square" anchor="t" lIns="0" rIns="0" tIns="0" bIns="0">
            <a:spAutoFit/>
          </a:bodyPr>
          <a:lstStyle/>
          <a:p>
            <a:pPr algn="l"/>
            <a:r>
              <a:rPr sz="2000" b="1">
                <a:solidFill>
                  <a:srgbClr val="1F2D3D"/>
                </a:solidFill>
                <a:latin typeface="Calibri"/>
              </a:rPr>
              <a:t>Every case traceable</a:t>
            </a:r>
          </a:p>
        </p:txBody>
      </p:sp>
      <p:sp>
        <p:nvSpPr>
          <p:cNvPr id="12" name="TextBox 11"/>
          <p:cNvSpPr txBox="1"/>
          <p:nvPr/>
        </p:nvSpPr>
        <p:spPr>
          <a:xfrm>
            <a:off x="914400" y="2560320"/>
            <a:ext cx="4800600" cy="914400"/>
          </a:xfrm>
          <a:prstGeom prst="rect">
            <a:avLst/>
          </a:prstGeom>
          <a:noFill/>
        </p:spPr>
        <p:txBody>
          <a:bodyPr wrap="square" anchor="t" lIns="0" rIns="0" tIns="0" bIns="0">
            <a:spAutoFit/>
          </a:bodyPr>
          <a:lstStyle/>
          <a:p>
            <a:pPr algn="l"/>
            <a:r>
              <a:rPr sz="1500" b="0">
                <a:solidFill>
                  <a:srgbClr val="5B6B7A"/>
                </a:solidFill>
                <a:latin typeface="Calibri"/>
              </a:rPr>
              <a:t>Each AI step, its cost and time</a:t>
            </a:r>
          </a:p>
        </p:txBody>
      </p:sp>
      <p:sp>
        <p:nvSpPr>
          <p:cNvPr id="13" name="Rounded Rectangle 12"/>
          <p:cNvSpPr/>
          <p:nvPr/>
        </p:nvSpPr>
        <p:spPr>
          <a:xfrm>
            <a:off x="6217920" y="1737360"/>
            <a:ext cx="534924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011680"/>
            <a:ext cx="4800600" cy="457200"/>
          </a:xfrm>
          <a:prstGeom prst="rect">
            <a:avLst/>
          </a:prstGeom>
          <a:noFill/>
        </p:spPr>
        <p:txBody>
          <a:bodyPr wrap="square" anchor="t" lIns="0" rIns="0" tIns="0" bIns="0">
            <a:spAutoFit/>
          </a:bodyPr>
          <a:lstStyle/>
          <a:p>
            <a:pPr algn="l"/>
            <a:r>
              <a:rPr sz="2000" b="1">
                <a:solidFill>
                  <a:srgbClr val="1F2D3D"/>
                </a:solidFill>
                <a:latin typeface="Calibri"/>
              </a:rPr>
              <a:t>Every change tested</a:t>
            </a:r>
          </a:p>
        </p:txBody>
      </p:sp>
      <p:sp>
        <p:nvSpPr>
          <p:cNvPr id="15" name="TextBox 14"/>
          <p:cNvSpPr txBox="1"/>
          <p:nvPr/>
        </p:nvSpPr>
        <p:spPr>
          <a:xfrm>
            <a:off x="6492240" y="2560320"/>
            <a:ext cx="4800600" cy="914400"/>
          </a:xfrm>
          <a:prstGeom prst="rect">
            <a:avLst/>
          </a:prstGeom>
          <a:noFill/>
        </p:spPr>
        <p:txBody>
          <a:bodyPr wrap="square" anchor="t" lIns="0" rIns="0" tIns="0" bIns="0">
            <a:spAutoFit/>
          </a:bodyPr>
          <a:lstStyle/>
          <a:p>
            <a:pPr algn="l"/>
            <a:r>
              <a:rPr sz="1500" b="0">
                <a:solidFill>
                  <a:srgbClr val="5B6B7A"/>
                </a:solidFill>
                <a:latin typeface="Calibri"/>
              </a:rPr>
              <a:t>261 tests, 21 quality gates</a:t>
            </a:r>
          </a:p>
        </p:txBody>
      </p:sp>
      <p:sp>
        <p:nvSpPr>
          <p:cNvPr id="16" name="Rounded Rectangle 15"/>
          <p:cNvSpPr/>
          <p:nvPr/>
        </p:nvSpPr>
        <p:spPr>
          <a:xfrm>
            <a:off x="640080" y="3840479"/>
            <a:ext cx="534924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114799"/>
            <a:ext cx="4800600" cy="457200"/>
          </a:xfrm>
          <a:prstGeom prst="rect">
            <a:avLst/>
          </a:prstGeom>
          <a:noFill/>
        </p:spPr>
        <p:txBody>
          <a:bodyPr wrap="square" anchor="t" lIns="0" rIns="0" tIns="0" bIns="0">
            <a:spAutoFit/>
          </a:bodyPr>
          <a:lstStyle/>
          <a:p>
            <a:pPr algn="l"/>
            <a:r>
              <a:rPr sz="2000" b="1">
                <a:solidFill>
                  <a:srgbClr val="1F2D3D"/>
                </a:solidFill>
                <a:latin typeface="Calibri"/>
              </a:rPr>
              <a:t>Costs capped</a:t>
            </a:r>
          </a:p>
        </p:txBody>
      </p:sp>
      <p:sp>
        <p:nvSpPr>
          <p:cNvPr id="18" name="TextBox 17"/>
          <p:cNvSpPr txBox="1"/>
          <p:nvPr/>
        </p:nvSpPr>
        <p:spPr>
          <a:xfrm>
            <a:off x="914400" y="4663439"/>
            <a:ext cx="4800600" cy="914400"/>
          </a:xfrm>
          <a:prstGeom prst="rect">
            <a:avLst/>
          </a:prstGeom>
          <a:noFill/>
        </p:spPr>
        <p:txBody>
          <a:bodyPr wrap="square" anchor="t" lIns="0" rIns="0" tIns="0" bIns="0">
            <a:spAutoFit/>
          </a:bodyPr>
          <a:lstStyle/>
          <a:p>
            <a:pPr algn="l"/>
            <a:r>
              <a:rPr sz="1500" b="0">
                <a:solidFill>
                  <a:srgbClr val="5B6B7A"/>
                </a:solidFill>
                <a:latin typeface="Calibri"/>
              </a:rPr>
              <a:t>Budget alert and hard limits</a:t>
            </a:r>
          </a:p>
        </p:txBody>
      </p:sp>
      <p:sp>
        <p:nvSpPr>
          <p:cNvPr id="19" name="Rounded Rectangle 18"/>
          <p:cNvSpPr/>
          <p:nvPr/>
        </p:nvSpPr>
        <p:spPr>
          <a:xfrm>
            <a:off x="6217920" y="3840479"/>
            <a:ext cx="534924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4114799"/>
            <a:ext cx="4800600" cy="457200"/>
          </a:xfrm>
          <a:prstGeom prst="rect">
            <a:avLst/>
          </a:prstGeom>
          <a:noFill/>
        </p:spPr>
        <p:txBody>
          <a:bodyPr wrap="square" anchor="t" lIns="0" rIns="0" tIns="0" bIns="0">
            <a:spAutoFit/>
          </a:bodyPr>
          <a:lstStyle/>
          <a:p>
            <a:pPr algn="l"/>
            <a:r>
              <a:rPr sz="2000" b="1">
                <a:solidFill>
                  <a:srgbClr val="1F2D3D"/>
                </a:solidFill>
                <a:latin typeface="Calibri"/>
              </a:rPr>
              <a:t>Data expires</a:t>
            </a:r>
          </a:p>
        </p:txBody>
      </p:sp>
      <p:sp>
        <p:nvSpPr>
          <p:cNvPr id="21" name="TextBox 20"/>
          <p:cNvSpPr txBox="1"/>
          <p:nvPr/>
        </p:nvSpPr>
        <p:spPr>
          <a:xfrm>
            <a:off x="6492240" y="4663439"/>
            <a:ext cx="4800600" cy="914400"/>
          </a:xfrm>
          <a:prstGeom prst="rect">
            <a:avLst/>
          </a:prstGeom>
          <a:noFill/>
        </p:spPr>
        <p:txBody>
          <a:bodyPr wrap="square" anchor="t" lIns="0" rIns="0" tIns="0" bIns="0">
            <a:spAutoFit/>
          </a:bodyPr>
          <a:lstStyle/>
          <a:p>
            <a:pPr algn="l"/>
            <a:r>
              <a:rPr sz="1500" b="0">
                <a:solidFill>
                  <a:srgbClr val="5B6B7A"/>
                </a:solidFill>
                <a:latin typeface="Calibri"/>
              </a:rPr>
              <a:t>Case files after 60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ENGINEERING DECISIONS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Every saving was measured before it shipped</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10</a:t>
            </a:r>
          </a:p>
        </p:txBody>
      </p:sp>
      <p:graphicFrame>
        <p:nvGraphicFramePr>
          <p:cNvPr id="10" name="Table 9"/>
          <p:cNvGraphicFramePr>
            <a:graphicFrameLocks noGrp="1"/>
          </p:cNvGraphicFramePr>
          <p:nvPr/>
        </p:nvGraphicFramePr>
        <p:xfrm>
          <a:off x="640080" y="1828800"/>
          <a:ext cx="10881360" cy="3291840"/>
        </p:xfrm>
        <a:graphic>
          <a:graphicData uri="http://schemas.openxmlformats.org/drawingml/2006/table">
            <a:tbl>
              <a:tblPr firstRow="1" bandRow="1">
                <a:tableStyleId>{5C22544A-7EE6-4342-B048-85BDC9FD1C3A}</a:tableStyleId>
              </a:tblPr>
              <a:tblGrid>
                <a:gridCol w="5394960"/>
                <a:gridCol w="3017520"/>
                <a:gridCol w="2468880"/>
              </a:tblGrid>
              <a:tr h="658368">
                <a:tc>
                  <a:txBody>
                    <a:bodyPr/>
                    <a:lstStyle/>
                    <a:p>
                      <a:r>
                        <a:rPr sz="1800" b="1">
                          <a:solidFill>
                            <a:srgbClr val="FFFFFF"/>
                          </a:solidFill>
                          <a:latin typeface="Calibri"/>
                        </a:rPr>
                        <a:t>Change</a:t>
                      </a:r>
                    </a:p>
                  </a:txBody>
                  <a:tcPr anchor="ctr">
                    <a:solidFill>
                      <a:srgbClr val="0F7F8A"/>
                    </a:solidFill>
                  </a:tcPr>
                </a:tc>
                <a:tc>
                  <a:txBody>
                    <a:bodyPr/>
                    <a:lstStyle/>
                    <a:p>
                      <a:r>
                        <a:rPr sz="1800" b="1">
                          <a:solidFill>
                            <a:srgbClr val="FFFFFF"/>
                          </a:solidFill>
                          <a:latin typeface="Calibri"/>
                        </a:rPr>
                        <a:t>Effect</a:t>
                      </a:r>
                    </a:p>
                  </a:txBody>
                  <a:tcPr anchor="ctr">
                    <a:solidFill>
                      <a:srgbClr val="0F7F8A"/>
                    </a:solidFill>
                  </a:tcPr>
                </a:tc>
                <a:tc>
                  <a:txBody>
                    <a:bodyPr/>
                    <a:lstStyle/>
                    <a:p>
                      <a:r>
                        <a:rPr sz="1800" b="1">
                          <a:solidFill>
                            <a:srgbClr val="FFFFFF"/>
                          </a:solidFill>
                          <a:latin typeface="Calibri"/>
                        </a:rPr>
                        <a:t>Accuracy</a:t>
                      </a:r>
                    </a:p>
                  </a:txBody>
                  <a:tcPr anchor="ctr">
                    <a:solidFill>
                      <a:srgbClr val="0F7F8A"/>
                    </a:solidFill>
                  </a:tcPr>
                </a:tc>
              </a:tr>
              <a:tr h="658368">
                <a:tc>
                  <a:txBody>
                    <a:bodyPr/>
                    <a:lstStyle/>
                    <a:p>
                      <a:r>
                        <a:rPr sz="1800" b="1">
                          <a:solidFill>
                            <a:srgbClr val="1F2D3D"/>
                          </a:solidFill>
                          <a:latin typeface="Calibri"/>
                        </a:rPr>
                        <a:t>OCR first, AI vision only when needed</a:t>
                      </a:r>
                    </a:p>
                  </a:txBody>
                  <a:tcPr anchor="ctr">
                    <a:solidFill>
                      <a:srgbClr val="FFFFFF"/>
                    </a:solidFill>
                  </a:tcPr>
                </a:tc>
                <a:tc>
                  <a:txBody>
                    <a:bodyPr/>
                    <a:lstStyle/>
                    <a:p>
                      <a:r>
                        <a:rPr sz="1800" b="0">
                          <a:solidFill>
                            <a:srgbClr val="1F2D3D"/>
                          </a:solidFill>
                          <a:latin typeface="Calibri"/>
                        </a:rPr>
                        <a:t>−25% cost</a:t>
                      </a:r>
                    </a:p>
                  </a:txBody>
                  <a:tcPr anchor="ctr">
                    <a:solidFill>
                      <a:srgbClr val="FFFFFF"/>
                    </a:solidFill>
                  </a:tcPr>
                </a:tc>
                <a:tc>
                  <a:txBody>
                    <a:bodyPr/>
                    <a:lstStyle/>
                    <a:p>
                      <a:r>
                        <a:rPr sz="1800" b="0">
                          <a:solidFill>
                            <a:srgbClr val="1F2D3D"/>
                          </a:solidFill>
                          <a:latin typeface="Calibri"/>
                        </a:rPr>
                        <a:t>unchanged</a:t>
                      </a:r>
                    </a:p>
                  </a:txBody>
                  <a:tcPr anchor="ctr">
                    <a:solidFill>
                      <a:srgbClr val="FFFFFF"/>
                    </a:solidFill>
                  </a:tcPr>
                </a:tc>
              </a:tr>
              <a:tr h="658368">
                <a:tc>
                  <a:txBody>
                    <a:bodyPr/>
                    <a:lstStyle/>
                    <a:p>
                      <a:r>
                        <a:rPr sz="1800" b="1">
                          <a:solidFill>
                            <a:srgbClr val="1F2D3D"/>
                          </a:solidFill>
                          <a:latin typeface="Calibri"/>
                        </a:rPr>
                        <a:t>Sonnet instead of Opus for policy and fraud</a:t>
                      </a:r>
                    </a:p>
                  </a:txBody>
                  <a:tcPr anchor="ctr">
                    <a:solidFill>
                      <a:srgbClr val="F3F8F9"/>
                    </a:solidFill>
                  </a:tcPr>
                </a:tc>
                <a:tc>
                  <a:txBody>
                    <a:bodyPr/>
                    <a:lstStyle/>
                    <a:p>
                      <a:r>
                        <a:rPr sz="1800" b="0">
                          <a:solidFill>
                            <a:srgbClr val="1F2D3D"/>
                          </a:solidFill>
                          <a:latin typeface="Calibri"/>
                        </a:rPr>
                        <a:t>−36% cost</a:t>
                      </a:r>
                    </a:p>
                  </a:txBody>
                  <a:tcPr anchor="ctr">
                    <a:solidFill>
                      <a:srgbClr val="F3F8F9"/>
                    </a:solidFill>
                  </a:tcPr>
                </a:tc>
                <a:tc>
                  <a:txBody>
                    <a:bodyPr/>
                    <a:lstStyle/>
                    <a:p>
                      <a:r>
                        <a:rPr sz="1800" b="0">
                          <a:solidFill>
                            <a:srgbClr val="1F2D3D"/>
                          </a:solidFill>
                          <a:latin typeface="Calibri"/>
                        </a:rPr>
                        <a:t>identical</a:t>
                      </a:r>
                    </a:p>
                  </a:txBody>
                  <a:tcPr anchor="ctr">
                    <a:solidFill>
                      <a:srgbClr val="F3F8F9"/>
                    </a:solidFill>
                  </a:tcPr>
                </a:tc>
              </a:tr>
              <a:tr h="658368">
                <a:tc>
                  <a:txBody>
                    <a:bodyPr/>
                    <a:lstStyle/>
                    <a:p>
                      <a:r>
                        <a:rPr sz="1800" b="1">
                          <a:solidFill>
                            <a:srgbClr val="1F2D3D"/>
                          </a:solidFill>
                          <a:latin typeface="Calibri"/>
                        </a:rPr>
                        <a:t>Smaller search reranker</a:t>
                      </a:r>
                    </a:p>
                  </a:txBody>
                  <a:tcPr anchor="ctr">
                    <a:solidFill>
                      <a:srgbClr val="FFFFFF"/>
                    </a:solidFill>
                  </a:tcPr>
                </a:tc>
                <a:tc>
                  <a:txBody>
                    <a:bodyPr/>
                    <a:lstStyle/>
                    <a:p>
                      <a:r>
                        <a:rPr sz="1800" b="0">
                          <a:solidFill>
                            <a:srgbClr val="1F2D3D"/>
                          </a:solidFill>
                          <a:latin typeface="Calibri"/>
                        </a:rPr>
                        <a:t>fits the agent image</a:t>
                      </a:r>
                    </a:p>
                  </a:txBody>
                  <a:tcPr anchor="ctr">
                    <a:solidFill>
                      <a:srgbClr val="FFFFFF"/>
                    </a:solidFill>
                  </a:tcPr>
                </a:tc>
                <a:tc>
                  <a:txBody>
                    <a:bodyPr/>
                    <a:lstStyle/>
                    <a:p>
                      <a:r>
                        <a:rPr sz="1800" b="0">
                          <a:solidFill>
                            <a:srgbClr val="1F2D3D"/>
                          </a:solidFill>
                          <a:latin typeface="Calibri"/>
                        </a:rPr>
                        <a:t>better</a:t>
                      </a:r>
                    </a:p>
                  </a:txBody>
                  <a:tcPr anchor="ctr">
                    <a:solidFill>
                      <a:srgbClr val="FFFFFF"/>
                    </a:solidFill>
                  </a:tcPr>
                </a:tc>
              </a:tr>
              <a:tr h="658368">
                <a:tc>
                  <a:txBody>
                    <a:bodyPr/>
                    <a:lstStyle/>
                    <a:p>
                      <a:r>
                        <a:rPr sz="1800" b="1">
                          <a:solidFill>
                            <a:srgbClr val="1F2D3D"/>
                          </a:solidFill>
                          <a:latin typeface="Calibri"/>
                        </a:rPr>
                        <a:t>Text-only extraction</a:t>
                      </a:r>
                    </a:p>
                  </a:txBody>
                  <a:tcPr anchor="ctr">
                    <a:solidFill>
                      <a:srgbClr val="F3F8F9"/>
                    </a:solidFill>
                  </a:tcPr>
                </a:tc>
                <a:tc>
                  <a:txBody>
                    <a:bodyPr/>
                    <a:lstStyle/>
                    <a:p>
                      <a:r>
                        <a:rPr sz="1800" b="0">
                          <a:solidFill>
                            <a:srgbClr val="1F2D3D"/>
                          </a:solidFill>
                          <a:latin typeface="Calibri"/>
                        </a:rPr>
                        <a:t>−4% cost</a:t>
                      </a:r>
                    </a:p>
                  </a:txBody>
                  <a:tcPr anchor="ctr">
                    <a:solidFill>
                      <a:srgbClr val="F3F8F9"/>
                    </a:solidFill>
                  </a:tcPr>
                </a:tc>
                <a:tc>
                  <a:txBody>
                    <a:bodyPr/>
                    <a:lstStyle/>
                    <a:p>
                      <a:r>
                        <a:rPr sz="1800" b="0">
                          <a:solidFill>
                            <a:srgbClr val="C0392B"/>
                          </a:solidFill>
                          <a:latin typeface="Calibri"/>
                        </a:rPr>
                        <a:t>−4 pts: rejected</a:t>
                      </a:r>
                    </a:p>
                  </a:txBody>
                  <a:tcPr anchor="ctr">
                    <a:solidFill>
                      <a:srgbClr val="F3F8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RISKS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What's not proven yet, and how we close it</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11</a:t>
            </a:r>
          </a:p>
        </p:txBody>
      </p:sp>
      <p:graphicFrame>
        <p:nvGraphicFramePr>
          <p:cNvPr id="10" name="Table 9"/>
          <p:cNvGraphicFramePr>
            <a:graphicFrameLocks noGrp="1"/>
          </p:cNvGraphicFramePr>
          <p:nvPr/>
        </p:nvGraphicFramePr>
        <p:xfrm>
          <a:off x="640080" y="1828800"/>
          <a:ext cx="10881360" cy="3840480"/>
        </p:xfrm>
        <a:graphic>
          <a:graphicData uri="http://schemas.openxmlformats.org/drawingml/2006/table">
            <a:tbl>
              <a:tblPr firstRow="1" bandRow="1">
                <a:tableStyleId>{5C22544A-7EE6-4342-B048-85BDC9FD1C3A}</a:tableStyleId>
              </a:tblPr>
              <a:tblGrid>
                <a:gridCol w="5440680"/>
                <a:gridCol w="5440680"/>
              </a:tblGrid>
              <a:tr h="640080">
                <a:tc>
                  <a:txBody>
                    <a:bodyPr/>
                    <a:lstStyle/>
                    <a:p>
                      <a:r>
                        <a:rPr sz="1800" b="1">
                          <a:solidFill>
                            <a:srgbClr val="FFFFFF"/>
                          </a:solidFill>
                          <a:latin typeface="Calibri"/>
                        </a:rPr>
                        <a:t>Risk</a:t>
                      </a:r>
                    </a:p>
                  </a:txBody>
                  <a:tcPr anchor="ctr">
                    <a:solidFill>
                      <a:srgbClr val="0F7F8A"/>
                    </a:solidFill>
                  </a:tcPr>
                </a:tc>
                <a:tc>
                  <a:txBody>
                    <a:bodyPr/>
                    <a:lstStyle/>
                    <a:p>
                      <a:r>
                        <a:rPr sz="1800" b="1">
                          <a:solidFill>
                            <a:srgbClr val="FFFFFF"/>
                          </a:solidFill>
                          <a:latin typeface="Calibri"/>
                        </a:rPr>
                        <a:t>How we close it</a:t>
                      </a:r>
                    </a:p>
                  </a:txBody>
                  <a:tcPr anchor="ctr">
                    <a:solidFill>
                      <a:srgbClr val="0F7F8A"/>
                    </a:solidFill>
                  </a:tcPr>
                </a:tc>
              </a:tr>
              <a:tr h="640080">
                <a:tc>
                  <a:txBody>
                    <a:bodyPr/>
                    <a:lstStyle/>
                    <a:p>
                      <a:r>
                        <a:rPr sz="1800" b="1">
                          <a:solidFill>
                            <a:srgbClr val="1F2D3D"/>
                          </a:solidFill>
                          <a:latin typeface="Calibri"/>
                        </a:rPr>
                        <a:t>Only synthetic documents so far</a:t>
                      </a:r>
                    </a:p>
                  </a:txBody>
                  <a:tcPr anchor="ctr">
                    <a:solidFill>
                      <a:srgbClr val="FFFFFF"/>
                    </a:solidFill>
                  </a:tcPr>
                </a:tc>
                <a:tc>
                  <a:txBody>
                    <a:bodyPr/>
                    <a:lstStyle/>
                    <a:p>
                      <a:r>
                        <a:rPr sz="1800" b="0">
                          <a:solidFill>
                            <a:srgbClr val="1F2D3D"/>
                          </a:solidFill>
                          <a:latin typeface="Calibri"/>
                        </a:rPr>
                        <a:t>Shadow pilot on real scans</a:t>
                      </a:r>
                    </a:p>
                  </a:txBody>
                  <a:tcPr anchor="ctr">
                    <a:solidFill>
                      <a:srgbClr val="FFFFFF"/>
                    </a:solidFill>
                  </a:tcPr>
                </a:tc>
              </a:tr>
              <a:tr h="640080">
                <a:tc>
                  <a:txBody>
                    <a:bodyPr/>
                    <a:lstStyle/>
                    <a:p>
                      <a:r>
                        <a:rPr sz="1800" b="1">
                          <a:solidFill>
                            <a:srgbClr val="1F2D3D"/>
                          </a:solidFill>
                          <a:latin typeface="Calibri"/>
                        </a:rPr>
                        <a:t>Subtle forged IDs</a:t>
                      </a:r>
                    </a:p>
                  </a:txBody>
                  <a:tcPr anchor="ctr">
                    <a:solidFill>
                      <a:srgbClr val="F3F8F9"/>
                    </a:solidFill>
                  </a:tcPr>
                </a:tc>
                <a:tc>
                  <a:txBody>
                    <a:bodyPr/>
                    <a:lstStyle/>
                    <a:p>
                      <a:r>
                        <a:rPr sz="1800" b="0">
                          <a:solidFill>
                            <a:srgbClr val="1F2D3D"/>
                          </a:solidFill>
                          <a:latin typeface="Calibri"/>
                        </a:rPr>
                        <a:t>Escalate, add ID verification</a:t>
                      </a:r>
                    </a:p>
                  </a:txBody>
                  <a:tcPr anchor="ctr">
                    <a:solidFill>
                      <a:srgbClr val="F3F8F9"/>
                    </a:solidFill>
                  </a:tcPr>
                </a:tc>
              </a:tr>
              <a:tr h="640080">
                <a:tc>
                  <a:txBody>
                    <a:bodyPr/>
                    <a:lstStyle/>
                    <a:p>
                      <a:r>
                        <a:rPr sz="1800" b="1">
                          <a:solidFill>
                            <a:srgbClr val="1F2D3D"/>
                          </a:solidFill>
                          <a:latin typeface="Calibri"/>
                        </a:rPr>
                        <a:t>Patient data to an external AI API</a:t>
                      </a:r>
                    </a:p>
                  </a:txBody>
                  <a:tcPr anchor="ctr">
                    <a:solidFill>
                      <a:srgbClr val="FFFFFF"/>
                    </a:solidFill>
                  </a:tcPr>
                </a:tc>
                <a:tc>
                  <a:txBody>
                    <a:bodyPr/>
                    <a:lstStyle/>
                    <a:p>
                      <a:r>
                        <a:rPr sz="1800" b="0">
                          <a:solidFill>
                            <a:srgbClr val="1F2D3D"/>
                          </a:solidFill>
                          <a:latin typeface="Calibri"/>
                        </a:rPr>
                        <a:t>Use Claude via Amazon Bedrock</a:t>
                      </a:r>
                    </a:p>
                  </a:txBody>
                  <a:tcPr anchor="ctr">
                    <a:solidFill>
                      <a:srgbClr val="FFFFFF"/>
                    </a:solidFill>
                  </a:tcPr>
                </a:tc>
              </a:tr>
              <a:tr h="640080">
                <a:tc>
                  <a:txBody>
                    <a:bodyPr/>
                    <a:lstStyle/>
                    <a:p>
                      <a:r>
                        <a:rPr sz="1800" b="1">
                          <a:solidFill>
                            <a:srgbClr val="1F2D3D"/>
                          </a:solidFill>
                          <a:latin typeface="Calibri"/>
                        </a:rPr>
                        <a:t>Full production volume</a:t>
                      </a:r>
                    </a:p>
                  </a:txBody>
                  <a:tcPr anchor="ctr">
                    <a:solidFill>
                      <a:srgbClr val="F3F8F9"/>
                    </a:solidFill>
                  </a:tcPr>
                </a:tc>
                <a:tc>
                  <a:txBody>
                    <a:bodyPr/>
                    <a:lstStyle/>
                    <a:p>
                      <a:r>
                        <a:rPr sz="1800" b="0">
                          <a:solidFill>
                            <a:srgbClr val="1F2D3D"/>
                          </a:solidFill>
                          <a:latin typeface="Calibri"/>
                        </a:rPr>
                        <a:t>Indexes already designed</a:t>
                      </a:r>
                    </a:p>
                  </a:txBody>
                  <a:tcPr anchor="ctr">
                    <a:solidFill>
                      <a:srgbClr val="F3F8F9"/>
                    </a:solidFill>
                  </a:tcPr>
                </a:tc>
              </a:tr>
              <a:tr h="640080">
                <a:tc>
                  <a:txBody>
                    <a:bodyPr/>
                    <a:lstStyle/>
                    <a:p>
                      <a:r>
                        <a:rPr sz="1800" b="1">
                          <a:solidFill>
                            <a:srgbClr val="1F2D3D"/>
                          </a:solidFill>
                          <a:latin typeface="Calibri"/>
                        </a:rPr>
                        <a:t>Slow first request after idle</a:t>
                      </a:r>
                    </a:p>
                  </a:txBody>
                  <a:tcPr anchor="ctr">
                    <a:solidFill>
                      <a:srgbClr val="FFFFFF"/>
                    </a:solidFill>
                  </a:tcPr>
                </a:tc>
                <a:tc>
                  <a:txBody>
                    <a:bodyPr/>
                    <a:lstStyle/>
                    <a:p>
                      <a:r>
                        <a:rPr sz="1800" b="0">
                          <a:solidFill>
                            <a:srgbClr val="1F2D3D"/>
                          </a:solidFill>
                          <a:latin typeface="Calibri"/>
                        </a:rPr>
                        <a:t>Warm pool in business hours</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RECOMMENDATION</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Earn trust in stages</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12</a:t>
            </a:r>
          </a:p>
        </p:txBody>
      </p:sp>
      <p:sp>
        <p:nvSpPr>
          <p:cNvPr id="10" name="Rounded Rectangle 9"/>
          <p:cNvSpPr/>
          <p:nvPr/>
        </p:nvSpPr>
        <p:spPr>
          <a:xfrm>
            <a:off x="640080" y="1691640"/>
            <a:ext cx="3474720" cy="2240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920240"/>
            <a:ext cx="2926080" cy="411480"/>
          </a:xfrm>
          <a:prstGeom prst="rect">
            <a:avLst/>
          </a:prstGeom>
          <a:noFill/>
        </p:spPr>
        <p:txBody>
          <a:bodyPr wrap="square" anchor="t" lIns="0" rIns="0" tIns="0" bIns="0">
            <a:spAutoFit/>
          </a:bodyPr>
          <a:lstStyle/>
          <a:p>
            <a:pPr algn="l"/>
            <a:r>
              <a:rPr sz="2000" b="1">
                <a:solidFill>
                  <a:srgbClr val="0F7F8A"/>
                </a:solidFill>
                <a:latin typeface="Calibri"/>
              </a:rPr>
              <a:t>1 · Shadow pilot</a:t>
            </a:r>
          </a:p>
        </p:txBody>
      </p:sp>
      <p:sp>
        <p:nvSpPr>
          <p:cNvPr id="12" name="TextBox 11"/>
          <p:cNvSpPr txBox="1"/>
          <p:nvPr/>
        </p:nvSpPr>
        <p:spPr>
          <a:xfrm>
            <a:off x="914400" y="2468880"/>
            <a:ext cx="2926080" cy="548640"/>
          </a:xfrm>
          <a:prstGeom prst="rect">
            <a:avLst/>
          </a:prstGeom>
          <a:noFill/>
        </p:spPr>
        <p:txBody>
          <a:bodyPr wrap="square" anchor="t" lIns="0" rIns="0" tIns="0" bIns="0">
            <a:spAutoFit/>
          </a:bodyPr>
          <a:lstStyle/>
          <a:p>
            <a:pPr algn="l"/>
            <a:r>
              <a:rPr sz="1500" b="0">
                <a:solidFill>
                  <a:srgbClr val="1F2D3D"/>
                </a:solidFill>
                <a:latin typeface="Calibri"/>
              </a:rPr>
              <a:t>Beside one team, real scans</a:t>
            </a:r>
          </a:p>
        </p:txBody>
      </p:sp>
      <p:sp>
        <p:nvSpPr>
          <p:cNvPr id="13" name="TextBox 12"/>
          <p:cNvSpPr txBox="1"/>
          <p:nvPr/>
        </p:nvSpPr>
        <p:spPr>
          <a:xfrm>
            <a:off x="914400" y="3246120"/>
            <a:ext cx="2926080" cy="457200"/>
          </a:xfrm>
          <a:prstGeom prst="rect">
            <a:avLst/>
          </a:prstGeom>
          <a:noFill/>
        </p:spPr>
        <p:txBody>
          <a:bodyPr wrap="square" anchor="t" lIns="0" rIns="0" tIns="0" bIns="0">
            <a:spAutoFit/>
          </a:bodyPr>
          <a:lstStyle/>
          <a:p>
            <a:pPr algn="l"/>
            <a:r>
              <a:rPr sz="1400" b="1">
                <a:solidFill>
                  <a:srgbClr val="12424D"/>
                </a:solidFill>
                <a:latin typeface="Calibri"/>
              </a:rPr>
              <a:t>Exit: ≥ 95% agreement</a:t>
            </a:r>
          </a:p>
        </p:txBody>
      </p:sp>
      <p:sp>
        <p:nvSpPr>
          <p:cNvPr id="14" name="Rounded Rectangle 13"/>
          <p:cNvSpPr/>
          <p:nvPr/>
        </p:nvSpPr>
        <p:spPr>
          <a:xfrm>
            <a:off x="4343400" y="1691640"/>
            <a:ext cx="3474720" cy="2240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17720" y="1920240"/>
            <a:ext cx="2926080" cy="411480"/>
          </a:xfrm>
          <a:prstGeom prst="rect">
            <a:avLst/>
          </a:prstGeom>
          <a:noFill/>
        </p:spPr>
        <p:txBody>
          <a:bodyPr wrap="square" anchor="t" lIns="0" rIns="0" tIns="0" bIns="0">
            <a:spAutoFit/>
          </a:bodyPr>
          <a:lstStyle/>
          <a:p>
            <a:pPr algn="l"/>
            <a:r>
              <a:rPr sz="2000" b="1">
                <a:solidFill>
                  <a:srgbClr val="0F7F8A"/>
                </a:solidFill>
                <a:latin typeface="Calibri"/>
              </a:rPr>
              <a:t>2 · Assisted</a:t>
            </a:r>
          </a:p>
        </p:txBody>
      </p:sp>
      <p:sp>
        <p:nvSpPr>
          <p:cNvPr id="16" name="TextBox 15"/>
          <p:cNvSpPr txBox="1"/>
          <p:nvPr/>
        </p:nvSpPr>
        <p:spPr>
          <a:xfrm>
            <a:off x="4617720" y="2468880"/>
            <a:ext cx="2926080" cy="548640"/>
          </a:xfrm>
          <a:prstGeom prst="rect">
            <a:avLst/>
          </a:prstGeom>
          <a:noFill/>
        </p:spPr>
        <p:txBody>
          <a:bodyPr wrap="square" anchor="t" lIns="0" rIns="0" tIns="0" bIns="0">
            <a:spAutoFit/>
          </a:bodyPr>
          <a:lstStyle/>
          <a:p>
            <a:pPr algn="l"/>
            <a:r>
              <a:rPr sz="1500" b="0">
                <a:solidFill>
                  <a:srgbClr val="1F2D3D"/>
                </a:solidFill>
                <a:latin typeface="Calibri"/>
              </a:rPr>
              <a:t>AI decides, people confirm</a:t>
            </a:r>
          </a:p>
        </p:txBody>
      </p:sp>
      <p:sp>
        <p:nvSpPr>
          <p:cNvPr id="17" name="TextBox 16"/>
          <p:cNvSpPr txBox="1"/>
          <p:nvPr/>
        </p:nvSpPr>
        <p:spPr>
          <a:xfrm>
            <a:off x="4617720" y="3246120"/>
            <a:ext cx="2926080" cy="457200"/>
          </a:xfrm>
          <a:prstGeom prst="rect">
            <a:avLst/>
          </a:prstGeom>
          <a:noFill/>
        </p:spPr>
        <p:txBody>
          <a:bodyPr wrap="square" anchor="t" lIns="0" rIns="0" tIns="0" bIns="0">
            <a:spAutoFit/>
          </a:bodyPr>
          <a:lstStyle/>
          <a:p>
            <a:pPr algn="l"/>
            <a:r>
              <a:rPr sz="1400" b="1">
                <a:solidFill>
                  <a:srgbClr val="12424D"/>
                </a:solidFill>
                <a:latin typeface="Calibri"/>
              </a:rPr>
              <a:t>Exit: &lt; 5% overrides</a:t>
            </a:r>
          </a:p>
        </p:txBody>
      </p:sp>
      <p:sp>
        <p:nvSpPr>
          <p:cNvPr id="18" name="Rounded Rectangle 17"/>
          <p:cNvSpPr/>
          <p:nvPr/>
        </p:nvSpPr>
        <p:spPr>
          <a:xfrm>
            <a:off x="8046719" y="1691640"/>
            <a:ext cx="3474720" cy="2240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39" y="1920240"/>
            <a:ext cx="2926080" cy="411480"/>
          </a:xfrm>
          <a:prstGeom prst="rect">
            <a:avLst/>
          </a:prstGeom>
          <a:noFill/>
        </p:spPr>
        <p:txBody>
          <a:bodyPr wrap="square" anchor="t" lIns="0" rIns="0" tIns="0" bIns="0">
            <a:spAutoFit/>
          </a:bodyPr>
          <a:lstStyle/>
          <a:p>
            <a:pPr algn="l"/>
            <a:r>
              <a:rPr sz="2000" b="1">
                <a:solidFill>
                  <a:srgbClr val="0F7F8A"/>
                </a:solidFill>
                <a:latin typeface="Calibri"/>
              </a:rPr>
              <a:t>3 · Straight-through</a:t>
            </a:r>
          </a:p>
        </p:txBody>
      </p:sp>
      <p:sp>
        <p:nvSpPr>
          <p:cNvPr id="20" name="TextBox 19"/>
          <p:cNvSpPr txBox="1"/>
          <p:nvPr/>
        </p:nvSpPr>
        <p:spPr>
          <a:xfrm>
            <a:off x="8321039" y="2468880"/>
            <a:ext cx="2926080" cy="548640"/>
          </a:xfrm>
          <a:prstGeom prst="rect">
            <a:avLst/>
          </a:prstGeom>
          <a:noFill/>
        </p:spPr>
        <p:txBody>
          <a:bodyPr wrap="square" anchor="t" lIns="0" rIns="0" tIns="0" bIns="0">
            <a:spAutoFit/>
          </a:bodyPr>
          <a:lstStyle/>
          <a:p>
            <a:pPr algn="l"/>
            <a:r>
              <a:rPr sz="1500" b="0">
                <a:solidFill>
                  <a:srgbClr val="1F2D3D"/>
                </a:solidFill>
                <a:latin typeface="Calibri"/>
              </a:rPr>
              <a:t>Clean claims go automatically</a:t>
            </a:r>
          </a:p>
        </p:txBody>
      </p:sp>
      <p:sp>
        <p:nvSpPr>
          <p:cNvPr id="21" name="TextBox 20"/>
          <p:cNvSpPr txBox="1"/>
          <p:nvPr/>
        </p:nvSpPr>
        <p:spPr>
          <a:xfrm>
            <a:off x="8321039" y="3246120"/>
            <a:ext cx="2926080" cy="457200"/>
          </a:xfrm>
          <a:prstGeom prst="rect">
            <a:avLst/>
          </a:prstGeom>
          <a:noFill/>
        </p:spPr>
        <p:txBody>
          <a:bodyPr wrap="square" anchor="t" lIns="0" rIns="0" tIns="0" bIns="0">
            <a:spAutoFit/>
          </a:bodyPr>
          <a:lstStyle/>
          <a:p>
            <a:pPr algn="l"/>
            <a:r>
              <a:rPr sz="1400" b="1">
                <a:solidFill>
                  <a:srgbClr val="12424D"/>
                </a:solidFill>
                <a:latin typeface="Calibri"/>
              </a:rPr>
              <a:t>Escalations stay human</a:t>
            </a:r>
          </a:p>
        </p:txBody>
      </p:sp>
      <p:sp>
        <p:nvSpPr>
          <p:cNvPr id="22" name="Rounded Rectangle 21"/>
          <p:cNvSpPr/>
          <p:nvPr/>
        </p:nvSpPr>
        <p:spPr>
          <a:xfrm>
            <a:off x="640080" y="4251960"/>
            <a:ext cx="10881360" cy="1828800"/>
          </a:xfrm>
          <a:prstGeom prst="roundRect">
            <a:avLst>
              <a:gd name="adj" fmla="val 8000"/>
            </a:avLst>
          </a:prstGeom>
          <a:solidFill>
            <a:srgbClr val="1242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480560"/>
            <a:ext cx="10424160" cy="365760"/>
          </a:xfrm>
          <a:prstGeom prst="rect">
            <a:avLst/>
          </a:prstGeom>
          <a:noFill/>
        </p:spPr>
        <p:txBody>
          <a:bodyPr wrap="square" anchor="t" lIns="0" rIns="0" tIns="0" bIns="0">
            <a:spAutoFit/>
          </a:bodyPr>
          <a:lstStyle/>
          <a:p>
            <a:pPr algn="l"/>
            <a:r>
              <a:rPr sz="1300" b="1">
                <a:solidFill>
                  <a:srgbClr val="E1F2F3"/>
                </a:solidFill>
                <a:latin typeface="Calibri"/>
              </a:rPr>
              <a:t>DECISIONS I NEED TODAY</a:t>
            </a:r>
          </a:p>
        </p:txBody>
      </p:sp>
      <p:sp>
        <p:nvSpPr>
          <p:cNvPr id="24" name="TextBox 23"/>
          <p:cNvSpPr txBox="1"/>
          <p:nvPr/>
        </p:nvSpPr>
        <p:spPr>
          <a:xfrm>
            <a:off x="914400" y="4892040"/>
            <a:ext cx="10424160" cy="1097280"/>
          </a:xfrm>
          <a:prstGeom prst="rect">
            <a:avLst/>
          </a:prstGeom>
          <a:noFill/>
        </p:spPr>
        <p:txBody>
          <a:bodyPr wrap="square" anchor="t" lIns="0" rIns="0" tIns="0" bIns="0">
            <a:spAutoFit/>
          </a:bodyPr>
          <a:lstStyle/>
          <a:p>
            <a:pPr algn="l"/>
            <a:r>
              <a:rPr sz="1700" b="0">
                <a:solidFill>
                  <a:srgbClr val="FFFFFF"/>
                </a:solidFill>
                <a:latin typeface="Calibri"/>
              </a:rPr>
              <a:t>1.  Approve the pilot and name the team</a:t>
            </a:r>
          </a:p>
          <a:p>
            <a:pPr algn="l"/>
            <a:r>
              <a:rPr sz="1700" b="0">
                <a:solidFill>
                  <a:srgbClr val="FFFFFF"/>
                </a:solidFill>
                <a:latin typeface="Calibri"/>
              </a:rPr>
              <a:t>2.  Start the security review for Claude on Bedrock</a:t>
            </a:r>
          </a:p>
          <a:p>
            <a:pPr algn="l"/>
            <a:r>
              <a:rPr sz="1700" b="0">
                <a:solidFill>
                  <a:srgbClr val="FFFFFF"/>
                </a:solidFill>
                <a:latin typeface="Calibri"/>
              </a:rPr>
              <a:t>3.  Assign an owner for company sign-in (SSO)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
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the solution owner for claims-intake automation. In the next 15 minutes: what we built, how well it works on data it never saw, what it costs to run, the risks I still see, and the one decision I need from you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line first. The system is built and running in our AWS account. On held-out data it matched every decision whose evidence is visible on the page, at about eight cents a case in model spend. It costs about a dollar a month when idle. What it has not seen yet is real scans, which is why I'm asking for a shadow pilot rather than a go-live.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intake today is people's time: four days and about eighteen dollars a document. Model spend at our full volume projects to under twenty thousand dollars a year. I'm deliberately not quoting a savings number yet: it depends on how many real cases go straight through, and that is exactly what the pilot measures.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read you a checklist, here's why each part matters to us. The left column is the job itself: it does the sorting and checking our reviewers do by hand. The middle column looks like extras, but each one answers a question you'll get from risk or audit: can we trust the confidence score, what about forged IDs, what about members who don't write in English, can an auditor see the whole decision. The right column is what operations would have raised as follow-up projects; they're done.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for a regulated business: the language models read documents and explain, but they never make the decision. A rule file does, so decisions are repeatable and every one points to a rule id. Anything the system is unsure about goes to a reviewer.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reviewer's view of a real escalated case: the pipeline, the document with the extracted fields highlighted where they were found, why it escalated, and the override and report buttons. I'll show it live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is a server we have to patch. The web app is static on CloudFront, the API is a Lambda, and both agents run on Bedrock AgentCore in isolated sessions. OCR, search and forensics run inside our own container at no API cost; only reading and reasoning call Claude. The whole thing deploys, and tears down, from one stack.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were tuned on the development split only; these numbers come from data the system had never seen, plus a second dataset from a different random seed. The 96 versus 100 percent gap is labels that exist in the answer key but were never drawn on the documents. Prompt-injection attacks hidden in documents changed zero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our auditors and the KYC findings will ask about. The important one: access is enforced where data is read, not just hidden in the screens, so even the assistant cannot leak what your role may not see. Red-team testing found no leaks and no decision flips.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takes to run day to day. Every case can be replayed in LangSmith with the cost of each step. Nothing ships unless the quality gates pass, including accuracy and cost thresholds. And spend is capped in code, not just alerted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change was A/B tested on the development split before it shipped. Two examples: running policy and fraud on Sonnet instead of Opus cut cost per case by a third with identical decisions. And I rejected one saving, text-only extraction, because it cost four points of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explicit about what is not proven yet. The biggest gap is real documents, which the pilot closes. The compliance item matters most to you: today model calls go to Anthropic's API; for production I recommend routing them through Bedrock so PHI stays in our AWS account. The scale fixes are designed and only matter at full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to earn trust in stages, each with a measurable exit. The pilot carries no member risk and very little spend. The three decisions I need from you today are on the slide: the pilot team, the Bedrock security review, and an SSO owner. Happy to take questions, and then I'll show it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assistant: staff and members can ask about policies, their cases and operations, and get cited answers. Access is enforced in the data tools, so a submitter cannot get the audit trail however they phrase it; every blocked attempt is written to the audit log.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424D"/>
        </a:solidFill>
        <a:effectLst/>
      </p:bgPr>
    </p:bg>
    <p:spTree>
      <p:nvGrpSpPr>
        <p:cNvPr id="1" name=""/>
        <p:cNvGrpSpPr/>
        <p:nvPr/>
      </p:nvGrpSpPr>
      <p:grpSpPr/>
      <p:sp>
        <p:nvSpPr>
          <p:cNvPr id="2" name="Pentagon 1"/>
          <p:cNvSpPr/>
          <p:nvPr/>
        </p:nvSpPr>
        <p:spPr>
          <a:xfrm rot="5400000">
            <a:off x="731520" y="640080"/>
            <a:ext cx="685800" cy="685800"/>
          </a:xfrm>
          <a:prstGeom prst="homePlat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2698" y="763524"/>
            <a:ext cx="123444" cy="384048"/>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2396" y="893826"/>
            <a:ext cx="384048" cy="123444"/>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00200" y="713232"/>
            <a:ext cx="5486400" cy="548640"/>
          </a:xfrm>
          <a:prstGeom prst="rect">
            <a:avLst/>
          </a:prstGeom>
          <a:noFill/>
        </p:spPr>
        <p:txBody>
          <a:bodyPr wrap="square" anchor="t" lIns="0" rIns="0" tIns="0" bIns="0">
            <a:spAutoFit/>
          </a:bodyPr>
          <a:lstStyle/>
          <a:p>
            <a:pPr algn="l"/>
            <a:r>
              <a:rPr sz="2200" b="1">
                <a:solidFill>
                  <a:srgbClr val="FFFFFF"/>
                </a:solidFill>
                <a:latin typeface="Calibri"/>
              </a:rPr>
              <a:t>MediShield Health</a:t>
            </a:r>
          </a:p>
        </p:txBody>
      </p:sp>
      <p:sp>
        <p:nvSpPr>
          <p:cNvPr id="6" name="TextBox 5"/>
          <p:cNvSpPr txBox="1"/>
          <p:nvPr/>
        </p:nvSpPr>
        <p:spPr>
          <a:xfrm>
            <a:off x="731520" y="2103120"/>
            <a:ext cx="10515600" cy="1097280"/>
          </a:xfrm>
          <a:prstGeom prst="rect">
            <a:avLst/>
          </a:prstGeom>
          <a:noFill/>
        </p:spPr>
        <p:txBody>
          <a:bodyPr wrap="square" anchor="t" lIns="0" rIns="0" tIns="0" bIns="0">
            <a:spAutoFit/>
          </a:bodyPr>
          <a:lstStyle/>
          <a:p>
            <a:pPr algn="l"/>
            <a:r>
              <a:rPr sz="5400" b="1">
                <a:solidFill>
                  <a:srgbClr val="FFFFFF"/>
                </a:solidFill>
                <a:latin typeface="Calibri"/>
              </a:rPr>
              <a:t>Claims intake automation</a:t>
            </a:r>
          </a:p>
        </p:txBody>
      </p:sp>
      <p:sp>
        <p:nvSpPr>
          <p:cNvPr id="7" name="TextBox 6"/>
          <p:cNvSpPr txBox="1"/>
          <p:nvPr/>
        </p:nvSpPr>
        <p:spPr>
          <a:xfrm>
            <a:off x="731520" y="3154680"/>
            <a:ext cx="10515600" cy="914400"/>
          </a:xfrm>
          <a:prstGeom prst="rect">
            <a:avLst/>
          </a:prstGeom>
          <a:noFill/>
        </p:spPr>
        <p:txBody>
          <a:bodyPr wrap="square" anchor="t" lIns="0" rIns="0" tIns="0" bIns="0">
            <a:spAutoFit/>
          </a:bodyPr>
          <a:lstStyle/>
          <a:p>
            <a:pPr algn="l"/>
            <a:r>
              <a:rPr sz="2600" b="0">
                <a:solidFill>
                  <a:srgbClr val="C9E6E8"/>
                </a:solidFill>
                <a:latin typeface="Calibri"/>
              </a:rPr>
              <a:t>Solution review and go-live recommendation for the CTO</a:t>
            </a:r>
          </a:p>
        </p:txBody>
      </p:sp>
      <p:sp>
        <p:nvSpPr>
          <p:cNvPr id="8" name="TextBox 7"/>
          <p:cNvSpPr txBox="1"/>
          <p:nvPr/>
        </p:nvSpPr>
        <p:spPr>
          <a:xfrm>
            <a:off x="731520" y="5669280"/>
            <a:ext cx="10515600" cy="731520"/>
          </a:xfrm>
          <a:prstGeom prst="rect">
            <a:avLst/>
          </a:prstGeom>
          <a:noFill/>
        </p:spPr>
        <p:txBody>
          <a:bodyPr wrap="square" anchor="t" lIns="0" rIns="0" tIns="0" bIns="0">
            <a:spAutoFit/>
          </a:bodyPr>
          <a:lstStyle/>
          <a:p>
            <a:pPr algn="l"/>
            <a:r>
              <a:rPr sz="1400" b="0">
                <a:solidFill>
                  <a:srgbClr val="9FC9CD"/>
                </a:solidFill>
                <a:latin typeface="Calibri"/>
              </a:rPr>
              <a:t>Raghav Bansal · Solution Owner · October 2026</a:t>
            </a:r>
          </a:p>
          <a:p>
            <a:pPr algn="l"/>
            <a:r>
              <a:rPr sz="1400" b="0">
                <a:solidFill>
                  <a:srgbClr val="9FC9CD"/>
                </a:solidFill>
                <a:latin typeface="Calibri"/>
              </a:rPr>
              <a:t>Live environment: d3064azeabhrfe.cloudfront.net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EXECUTIVE SUMMARY</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A working claims-intake system, live on AWS</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2</a:t>
            </a:r>
          </a:p>
        </p:txBody>
      </p:sp>
      <p:sp>
        <p:nvSpPr>
          <p:cNvPr id="10" name="Rounded Rectangle 9"/>
          <p:cNvSpPr/>
          <p:nvPr/>
        </p:nvSpPr>
        <p:spPr>
          <a:xfrm>
            <a:off x="64008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 1 min</a:t>
            </a:r>
          </a:p>
        </p:txBody>
      </p:sp>
      <p:sp>
        <p:nvSpPr>
          <p:cNvPr id="12" name="TextBox 11"/>
          <p:cNvSpPr txBox="1"/>
          <p:nvPr/>
        </p:nvSpPr>
        <p:spPr>
          <a:xfrm>
            <a:off x="86868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to a decision</a:t>
            </a:r>
          </a:p>
        </p:txBody>
      </p:sp>
      <p:sp>
        <p:nvSpPr>
          <p:cNvPr id="13" name="TextBox 12"/>
          <p:cNvSpPr txBox="1"/>
          <p:nvPr/>
        </p:nvSpPr>
        <p:spPr>
          <a:xfrm>
            <a:off x="86868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per 5-document case, measured live (today: 4.2 days)</a:t>
            </a:r>
          </a:p>
        </p:txBody>
      </p:sp>
      <p:sp>
        <p:nvSpPr>
          <p:cNvPr id="14" name="Rounded Rectangle 13"/>
          <p:cNvSpPr/>
          <p:nvPr/>
        </p:nvSpPr>
        <p:spPr>
          <a:xfrm>
            <a:off x="342900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6" name="TextBox 15"/>
          <p:cNvSpPr txBox="1"/>
          <p:nvPr/>
        </p:nvSpPr>
        <p:spPr>
          <a:xfrm>
            <a:off x="365760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decisions correct</a:t>
            </a:r>
          </a:p>
        </p:txBody>
      </p:sp>
      <p:sp>
        <p:nvSpPr>
          <p:cNvPr id="17" name="TextBox 16"/>
          <p:cNvSpPr txBox="1"/>
          <p:nvPr/>
        </p:nvSpPr>
        <p:spPr>
          <a:xfrm>
            <a:off x="365760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held-out data, visible labels (96.2% on all)</a:t>
            </a:r>
          </a:p>
        </p:txBody>
      </p:sp>
      <p:sp>
        <p:nvSpPr>
          <p:cNvPr id="18" name="Rounded Rectangle 17"/>
          <p:cNvSpPr/>
          <p:nvPr/>
        </p:nvSpPr>
        <p:spPr>
          <a:xfrm>
            <a:off x="621792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$0.08</a:t>
            </a:r>
          </a:p>
        </p:txBody>
      </p:sp>
      <p:sp>
        <p:nvSpPr>
          <p:cNvPr id="20" name="TextBox 19"/>
          <p:cNvSpPr txBox="1"/>
          <p:nvPr/>
        </p:nvSpPr>
        <p:spPr>
          <a:xfrm>
            <a:off x="644652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model cost per case</a:t>
            </a:r>
          </a:p>
        </p:txBody>
      </p:sp>
      <p:sp>
        <p:nvSpPr>
          <p:cNvPr id="21" name="TextBox 20"/>
          <p:cNvSpPr txBox="1"/>
          <p:nvPr/>
        </p:nvSpPr>
        <p:spPr>
          <a:xfrm>
            <a:off x="644652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 $0.02 per document vs ≈ $18 manual</a:t>
            </a:r>
          </a:p>
        </p:txBody>
      </p:sp>
      <p:sp>
        <p:nvSpPr>
          <p:cNvPr id="22" name="Rounded Rectangle 21"/>
          <p:cNvSpPr/>
          <p:nvPr/>
        </p:nvSpPr>
        <p:spPr>
          <a:xfrm>
            <a:off x="9006839"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$1.25</a:t>
            </a:r>
          </a:p>
        </p:txBody>
      </p:sp>
      <p:sp>
        <p:nvSpPr>
          <p:cNvPr id="24" name="TextBox 23"/>
          <p:cNvSpPr txBox="1"/>
          <p:nvPr/>
        </p:nvSpPr>
        <p:spPr>
          <a:xfrm>
            <a:off x="9235439"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a month while idle</a:t>
            </a:r>
          </a:p>
        </p:txBody>
      </p:sp>
      <p:sp>
        <p:nvSpPr>
          <p:cNvPr id="25" name="TextBox 24"/>
          <p:cNvSpPr txBox="1"/>
          <p:nvPr/>
        </p:nvSpPr>
        <p:spPr>
          <a:xfrm>
            <a:off x="9235439"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pay-per-use AWS; nothing runs between claims</a:t>
            </a:r>
          </a:p>
        </p:txBody>
      </p:sp>
      <p:sp>
        <p:nvSpPr>
          <p:cNvPr id="26" name="TextBox 25"/>
          <p:cNvSpPr txBox="1"/>
          <p:nvPr/>
        </p:nvSpPr>
        <p:spPr>
          <a:xfrm>
            <a:off x="640080" y="3794760"/>
            <a:ext cx="10881360" cy="457200"/>
          </a:xfrm>
          <a:prstGeom prst="rect">
            <a:avLst/>
          </a:prstGeom>
          <a:noFill/>
        </p:spPr>
        <p:txBody>
          <a:bodyPr wrap="square" anchor="t" lIns="0" rIns="0" tIns="0" bIns="0">
            <a:spAutoFit/>
          </a:bodyPr>
          <a:lstStyle/>
          <a:p>
            <a:pPr algn="l"/>
            <a:r>
              <a:rPr sz="1500" b="0">
                <a:solidFill>
                  <a:srgbClr val="1F2D3D"/>
                </a:solidFill>
                <a:latin typeface="Calibri"/>
              </a:rPr>
              <a:t>•  Seven AI agents read, verify and check every document; a versioned rule file makes the decision, and a person reviews anything uncertain.</a:t>
            </a:r>
          </a:p>
        </p:txBody>
      </p:sp>
      <p:sp>
        <p:nvSpPr>
          <p:cNvPr id="27" name="TextBox 26"/>
          <p:cNvSpPr txBox="1"/>
          <p:nvPr/>
        </p:nvSpPr>
        <p:spPr>
          <a:xfrm>
            <a:off x="640080" y="4251960"/>
            <a:ext cx="10881360" cy="457200"/>
          </a:xfrm>
          <a:prstGeom prst="rect">
            <a:avLst/>
          </a:prstGeom>
          <a:noFill/>
        </p:spPr>
        <p:txBody>
          <a:bodyPr wrap="square" anchor="t" lIns="0" rIns="0" tIns="0" bIns="0">
            <a:spAutoFit/>
          </a:bodyPr>
          <a:lstStyle/>
          <a:p>
            <a:pPr algn="l"/>
            <a:r>
              <a:rPr sz="1500" b="0">
                <a:solidFill>
                  <a:srgbClr val="1F2D3D"/>
                </a:solidFill>
                <a:latin typeface="Calibri"/>
              </a:rPr>
              <a:t>•  Role-based access, four-eyes approval over $10,000 and a tamper-evident audit trail are built in, not bolted on.</a:t>
            </a:r>
          </a:p>
        </p:txBody>
      </p:sp>
      <p:sp>
        <p:nvSpPr>
          <p:cNvPr id="28" name="TextBox 27"/>
          <p:cNvSpPr txBox="1"/>
          <p:nvPr/>
        </p:nvSpPr>
        <p:spPr>
          <a:xfrm>
            <a:off x="640080" y="4709160"/>
            <a:ext cx="10881360" cy="457200"/>
          </a:xfrm>
          <a:prstGeom prst="rect">
            <a:avLst/>
          </a:prstGeom>
          <a:noFill/>
        </p:spPr>
        <p:txBody>
          <a:bodyPr wrap="square" anchor="t" lIns="0" rIns="0" tIns="0" bIns="0">
            <a:spAutoFit/>
          </a:bodyPr>
          <a:lstStyle/>
          <a:p>
            <a:pPr algn="l"/>
            <a:r>
              <a:rPr sz="1500" b="0">
                <a:solidFill>
                  <a:srgbClr val="1F2D3D"/>
                </a:solidFill>
                <a:latin typeface="Calibri"/>
              </a:rPr>
              <a:t>•  Everything is in one AWS account and one CloudFormation stack, tested on every change by CI quality gates.</a:t>
            </a:r>
          </a:p>
        </p:txBody>
      </p:sp>
      <p:sp>
        <p:nvSpPr>
          <p:cNvPr id="29" name="Rounded Rectangle 28"/>
          <p:cNvSpPr/>
          <p:nvPr/>
        </p:nvSpPr>
        <p:spPr>
          <a:xfrm>
            <a:off x="640080" y="5257800"/>
            <a:ext cx="10881360" cy="91440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367528"/>
            <a:ext cx="10424160" cy="731520"/>
          </a:xfrm>
          <a:prstGeom prst="rect">
            <a:avLst/>
          </a:prstGeom>
          <a:noFill/>
        </p:spPr>
        <p:txBody>
          <a:bodyPr wrap="square" anchor="t" lIns="0" rIns="0" tIns="0" bIns="0">
            <a:spAutoFit/>
          </a:bodyPr>
          <a:lstStyle/>
          <a:p>
            <a:pPr algn="l"/>
            <a:r>
              <a:rPr sz="1500" b="1">
                <a:solidFill>
                  <a:srgbClr val="12424D"/>
                </a:solidFill>
                <a:latin typeface="Calibri"/>
              </a:rPr>
              <a:t>Recommendation: approve a shadow pilot, run beside one operations team on de-identified real scans with no effect on members, and decide go-live on measured agreement with our reviewers.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BUSINESS CASE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Four days of manual handling become about a minute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3</a:t>
            </a:r>
          </a:p>
        </p:txBody>
      </p:sp>
      <p:sp>
        <p:nvSpPr>
          <p:cNvPr id="10" name="TextBox 9"/>
          <p:cNvSpPr txBox="1"/>
          <p:nvPr/>
        </p:nvSpPr>
        <p:spPr>
          <a:xfrm>
            <a:off x="640080" y="1600200"/>
            <a:ext cx="5120640" cy="365760"/>
          </a:xfrm>
          <a:prstGeom prst="rect">
            <a:avLst/>
          </a:prstGeom>
          <a:noFill/>
        </p:spPr>
        <p:txBody>
          <a:bodyPr wrap="square" anchor="t" lIns="0" rIns="0" tIns="0" bIns="0">
            <a:spAutoFit/>
          </a:bodyPr>
          <a:lstStyle/>
          <a:p>
            <a:pPr algn="l"/>
            <a:r>
              <a:rPr sz="1300" b="1">
                <a:solidFill>
                  <a:srgbClr val="C0392B"/>
                </a:solidFill>
                <a:latin typeface="Calibri"/>
              </a:rPr>
              <a:t>TODAY</a:t>
            </a:r>
          </a:p>
        </p:txBody>
      </p:sp>
      <p:sp>
        <p:nvSpPr>
          <p:cNvPr id="11" name="Rounded Rectangle 10"/>
          <p:cNvSpPr/>
          <p:nvPr/>
        </p:nvSpPr>
        <p:spPr>
          <a:xfrm>
            <a:off x="640080" y="2011680"/>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76272"/>
            <a:ext cx="1737360" cy="548640"/>
          </a:xfrm>
          <a:prstGeom prst="rect">
            <a:avLst/>
          </a:prstGeom>
          <a:noFill/>
        </p:spPr>
        <p:txBody>
          <a:bodyPr wrap="square" anchor="t" lIns="0" rIns="0" tIns="0" bIns="0">
            <a:spAutoFit/>
          </a:bodyPr>
          <a:lstStyle/>
          <a:p>
            <a:pPr algn="l"/>
            <a:r>
              <a:rPr sz="2400" b="1">
                <a:solidFill>
                  <a:srgbClr val="C0392B"/>
                </a:solidFill>
                <a:latin typeface="Calibri"/>
              </a:rPr>
              <a:t>85,000</a:t>
            </a:r>
          </a:p>
        </p:txBody>
      </p:sp>
      <p:sp>
        <p:nvSpPr>
          <p:cNvPr id="13" name="TextBox 12"/>
          <p:cNvSpPr txBox="1"/>
          <p:nvPr/>
        </p:nvSpPr>
        <p:spPr>
          <a:xfrm>
            <a:off x="2651760" y="2249424"/>
            <a:ext cx="3017520" cy="548640"/>
          </a:xfrm>
          <a:prstGeom prst="rect">
            <a:avLst/>
          </a:prstGeom>
          <a:noFill/>
        </p:spPr>
        <p:txBody>
          <a:bodyPr wrap="square" anchor="t" lIns="0" rIns="0" tIns="0" bIns="0">
            <a:spAutoFit/>
          </a:bodyPr>
          <a:lstStyle/>
          <a:p>
            <a:pPr algn="l"/>
            <a:r>
              <a:rPr sz="1300" b="0">
                <a:solidFill>
                  <a:srgbClr val="1F2D3D"/>
                </a:solidFill>
                <a:latin typeface="Calibri"/>
              </a:rPr>
              <a:t>documents a month, sorted and checked by 120 reviewers</a:t>
            </a:r>
          </a:p>
        </p:txBody>
      </p:sp>
      <p:sp>
        <p:nvSpPr>
          <p:cNvPr id="14" name="Rounded Rectangle 13"/>
          <p:cNvSpPr/>
          <p:nvPr/>
        </p:nvSpPr>
        <p:spPr>
          <a:xfrm>
            <a:off x="640080" y="2999232"/>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63824"/>
            <a:ext cx="1737360" cy="548640"/>
          </a:xfrm>
          <a:prstGeom prst="rect">
            <a:avLst/>
          </a:prstGeom>
          <a:noFill/>
        </p:spPr>
        <p:txBody>
          <a:bodyPr wrap="square" anchor="t" lIns="0" rIns="0" tIns="0" bIns="0">
            <a:spAutoFit/>
          </a:bodyPr>
          <a:lstStyle/>
          <a:p>
            <a:pPr algn="l"/>
            <a:r>
              <a:rPr sz="2400" b="1">
                <a:solidFill>
                  <a:srgbClr val="C0392B"/>
                </a:solidFill>
                <a:latin typeface="Calibri"/>
              </a:rPr>
              <a:t>4.2 days</a:t>
            </a:r>
          </a:p>
        </p:txBody>
      </p:sp>
      <p:sp>
        <p:nvSpPr>
          <p:cNvPr id="16" name="TextBox 15"/>
          <p:cNvSpPr txBox="1"/>
          <p:nvPr/>
        </p:nvSpPr>
        <p:spPr>
          <a:xfrm>
            <a:off x="2651760" y="3236976"/>
            <a:ext cx="3017520" cy="548640"/>
          </a:xfrm>
          <a:prstGeom prst="rect">
            <a:avLst/>
          </a:prstGeom>
          <a:noFill/>
        </p:spPr>
        <p:txBody>
          <a:bodyPr wrap="square" anchor="t" lIns="0" rIns="0" tIns="0" bIns="0">
            <a:spAutoFit/>
          </a:bodyPr>
          <a:lstStyle/>
          <a:p>
            <a:pPr algn="l"/>
            <a:r>
              <a:rPr sz="1300" b="0">
                <a:solidFill>
                  <a:srgbClr val="1F2D3D"/>
                </a:solidFill>
                <a:latin typeface="Calibri"/>
              </a:rPr>
              <a:t>average per claim</a:t>
            </a:r>
          </a:p>
        </p:txBody>
      </p:sp>
      <p:sp>
        <p:nvSpPr>
          <p:cNvPr id="17" name="Rounded Rectangle 16"/>
          <p:cNvSpPr/>
          <p:nvPr/>
        </p:nvSpPr>
        <p:spPr>
          <a:xfrm>
            <a:off x="640080" y="3986784"/>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51376"/>
            <a:ext cx="1737360" cy="548640"/>
          </a:xfrm>
          <a:prstGeom prst="rect">
            <a:avLst/>
          </a:prstGeom>
          <a:noFill/>
        </p:spPr>
        <p:txBody>
          <a:bodyPr wrap="square" anchor="t" lIns="0" rIns="0" tIns="0" bIns="0">
            <a:spAutoFit/>
          </a:bodyPr>
          <a:lstStyle/>
          <a:p>
            <a:pPr algn="l"/>
            <a:r>
              <a:rPr sz="2400" b="1">
                <a:solidFill>
                  <a:srgbClr val="C0392B"/>
                </a:solidFill>
                <a:latin typeface="Calibri"/>
              </a:rPr>
              <a:t>$18.4M</a:t>
            </a:r>
          </a:p>
        </p:txBody>
      </p:sp>
      <p:sp>
        <p:nvSpPr>
          <p:cNvPr id="19" name="TextBox 18"/>
          <p:cNvSpPr txBox="1"/>
          <p:nvPr/>
        </p:nvSpPr>
        <p:spPr>
          <a:xfrm>
            <a:off x="2651760" y="4224528"/>
            <a:ext cx="3017520" cy="548640"/>
          </a:xfrm>
          <a:prstGeom prst="rect">
            <a:avLst/>
          </a:prstGeom>
          <a:noFill/>
        </p:spPr>
        <p:txBody>
          <a:bodyPr wrap="square" anchor="t" lIns="0" rIns="0" tIns="0" bIns="0">
            <a:spAutoFit/>
          </a:bodyPr>
          <a:lstStyle/>
          <a:p>
            <a:pPr algn="l"/>
            <a:r>
              <a:rPr sz="1300" b="0">
                <a:solidFill>
                  <a:srgbClr val="1F2D3D"/>
                </a:solidFill>
                <a:latin typeface="Calibri"/>
              </a:rPr>
              <a:t>a year in processing, ≈ $18 per document</a:t>
            </a:r>
          </a:p>
        </p:txBody>
      </p:sp>
      <p:sp>
        <p:nvSpPr>
          <p:cNvPr id="20" name="Rounded Rectangle 19"/>
          <p:cNvSpPr/>
          <p:nvPr/>
        </p:nvSpPr>
        <p:spPr>
          <a:xfrm>
            <a:off x="640080" y="4974336"/>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38928"/>
            <a:ext cx="1737360" cy="548640"/>
          </a:xfrm>
          <a:prstGeom prst="rect">
            <a:avLst/>
          </a:prstGeom>
          <a:noFill/>
        </p:spPr>
        <p:txBody>
          <a:bodyPr wrap="square" anchor="t" lIns="0" rIns="0" tIns="0" bIns="0">
            <a:spAutoFit/>
          </a:bodyPr>
          <a:lstStyle/>
          <a:p>
            <a:pPr algn="l"/>
            <a:r>
              <a:rPr sz="2400" b="1">
                <a:solidFill>
                  <a:srgbClr val="C0392B"/>
                </a:solidFill>
                <a:latin typeface="Calibri"/>
              </a:rPr>
              <a:t>12% · 3</a:t>
            </a:r>
          </a:p>
        </p:txBody>
      </p:sp>
      <p:sp>
        <p:nvSpPr>
          <p:cNvPr id="22" name="TextBox 21"/>
          <p:cNvSpPr txBox="1"/>
          <p:nvPr/>
        </p:nvSpPr>
        <p:spPr>
          <a:xfrm>
            <a:off x="2651760" y="5212080"/>
            <a:ext cx="3017520" cy="548640"/>
          </a:xfrm>
          <a:prstGeom prst="rect">
            <a:avLst/>
          </a:prstGeom>
          <a:noFill/>
        </p:spPr>
        <p:txBody>
          <a:bodyPr wrap="square" anchor="t" lIns="0" rIns="0" tIns="0" bIns="0">
            <a:spAutoFit/>
          </a:bodyPr>
          <a:lstStyle/>
          <a:p>
            <a:pPr algn="l"/>
            <a:r>
              <a:rPr sz="1300" b="0">
                <a:solidFill>
                  <a:srgbClr val="1F2D3D"/>
                </a:solidFill>
                <a:latin typeface="Calibri"/>
              </a:rPr>
              <a:t>documents re-processed · open regulatory audits on KYC</a:t>
            </a:r>
          </a:p>
        </p:txBody>
      </p:sp>
      <p:sp>
        <p:nvSpPr>
          <p:cNvPr id="23" name="TextBox 22"/>
          <p:cNvSpPr txBox="1"/>
          <p:nvPr/>
        </p:nvSpPr>
        <p:spPr>
          <a:xfrm>
            <a:off x="6309360" y="1600200"/>
            <a:ext cx="5212080" cy="365760"/>
          </a:xfrm>
          <a:prstGeom prst="rect">
            <a:avLst/>
          </a:prstGeom>
          <a:noFill/>
        </p:spPr>
        <p:txBody>
          <a:bodyPr wrap="square" anchor="t" lIns="0" rIns="0" tIns="0" bIns="0">
            <a:spAutoFit/>
          </a:bodyPr>
          <a:lstStyle/>
          <a:p>
            <a:pPr algn="l"/>
            <a:r>
              <a:rPr sz="1300" b="1">
                <a:solidFill>
                  <a:srgbClr val="0F7F8A"/>
                </a:solidFill>
                <a:latin typeface="Calibri"/>
              </a:rPr>
              <a:t>WITH THE SYSTEM</a:t>
            </a:r>
          </a:p>
        </p:txBody>
      </p:sp>
      <p:sp>
        <p:nvSpPr>
          <p:cNvPr id="24" name="Rounded Rectangle 23"/>
          <p:cNvSpPr/>
          <p:nvPr/>
        </p:nvSpPr>
        <p:spPr>
          <a:xfrm>
            <a:off x="6309360" y="2011680"/>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176272"/>
            <a:ext cx="1737360" cy="548640"/>
          </a:xfrm>
          <a:prstGeom prst="rect">
            <a:avLst/>
          </a:prstGeom>
          <a:noFill/>
        </p:spPr>
        <p:txBody>
          <a:bodyPr wrap="square" anchor="t" lIns="0" rIns="0" tIns="0" bIns="0">
            <a:spAutoFit/>
          </a:bodyPr>
          <a:lstStyle/>
          <a:p>
            <a:pPr algn="l"/>
            <a:r>
              <a:rPr sz="2400" b="1">
                <a:solidFill>
                  <a:srgbClr val="0F7F8A"/>
                </a:solidFill>
                <a:latin typeface="Calibri"/>
              </a:rPr>
              <a:t>≈ 1 min</a:t>
            </a:r>
          </a:p>
        </p:txBody>
      </p:sp>
      <p:sp>
        <p:nvSpPr>
          <p:cNvPr id="26" name="TextBox 25"/>
          <p:cNvSpPr txBox="1"/>
          <p:nvPr/>
        </p:nvSpPr>
        <p:spPr>
          <a:xfrm>
            <a:off x="8321040" y="2249424"/>
            <a:ext cx="3108960" cy="548640"/>
          </a:xfrm>
          <a:prstGeom prst="rect">
            <a:avLst/>
          </a:prstGeom>
          <a:noFill/>
        </p:spPr>
        <p:txBody>
          <a:bodyPr wrap="square" anchor="t" lIns="0" rIns="0" tIns="0" bIns="0">
            <a:spAutoFit/>
          </a:bodyPr>
          <a:lstStyle/>
          <a:p>
            <a:pPr algn="l"/>
            <a:r>
              <a:rPr sz="1300" b="0">
                <a:solidFill>
                  <a:srgbClr val="1F2D3D"/>
                </a:solidFill>
                <a:latin typeface="Calibri"/>
              </a:rPr>
              <a:t>to an Approve / Reject / Escalate decision with its justification</a:t>
            </a:r>
          </a:p>
        </p:txBody>
      </p:sp>
      <p:sp>
        <p:nvSpPr>
          <p:cNvPr id="27" name="Rounded Rectangle 26"/>
          <p:cNvSpPr/>
          <p:nvPr/>
        </p:nvSpPr>
        <p:spPr>
          <a:xfrm>
            <a:off x="6309360" y="2999232"/>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3163824"/>
            <a:ext cx="1737360" cy="548640"/>
          </a:xfrm>
          <a:prstGeom prst="rect">
            <a:avLst/>
          </a:prstGeom>
          <a:noFill/>
        </p:spPr>
        <p:txBody>
          <a:bodyPr wrap="square" anchor="t" lIns="0" rIns="0" tIns="0" bIns="0">
            <a:spAutoFit/>
          </a:bodyPr>
          <a:lstStyle/>
          <a:p>
            <a:pPr algn="l"/>
            <a:r>
              <a:rPr sz="2400" b="1">
                <a:solidFill>
                  <a:srgbClr val="0F7F8A"/>
                </a:solidFill>
                <a:latin typeface="Calibri"/>
              </a:rPr>
              <a:t>≈ $18k</a:t>
            </a:r>
          </a:p>
        </p:txBody>
      </p:sp>
      <p:sp>
        <p:nvSpPr>
          <p:cNvPr id="29" name="TextBox 28"/>
          <p:cNvSpPr txBox="1"/>
          <p:nvPr/>
        </p:nvSpPr>
        <p:spPr>
          <a:xfrm>
            <a:off x="8321040" y="3236976"/>
            <a:ext cx="3108960" cy="548640"/>
          </a:xfrm>
          <a:prstGeom prst="rect">
            <a:avLst/>
          </a:prstGeom>
          <a:noFill/>
        </p:spPr>
        <p:txBody>
          <a:bodyPr wrap="square" anchor="t" lIns="0" rIns="0" tIns="0" bIns="0">
            <a:spAutoFit/>
          </a:bodyPr>
          <a:lstStyle/>
          <a:p>
            <a:pPr algn="l"/>
            <a:r>
              <a:rPr sz="1300" b="0">
                <a:solidFill>
                  <a:srgbClr val="1F2D3D"/>
                </a:solidFill>
                <a:latin typeface="Calibri"/>
              </a:rPr>
              <a:t>model spend a year at full volume (1.02M documents × $0.018)</a:t>
            </a:r>
          </a:p>
        </p:txBody>
      </p:sp>
      <p:sp>
        <p:nvSpPr>
          <p:cNvPr id="30" name="Rounded Rectangle 29"/>
          <p:cNvSpPr/>
          <p:nvPr/>
        </p:nvSpPr>
        <p:spPr>
          <a:xfrm>
            <a:off x="6309360" y="3986784"/>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60" y="4151376"/>
            <a:ext cx="1737360" cy="548640"/>
          </a:xfrm>
          <a:prstGeom prst="rect">
            <a:avLst/>
          </a:prstGeom>
          <a:noFill/>
        </p:spPr>
        <p:txBody>
          <a:bodyPr wrap="square" anchor="t" lIns="0" rIns="0" tIns="0" bIns="0">
            <a:spAutoFit/>
          </a:bodyPr>
          <a:lstStyle/>
          <a:p>
            <a:pPr algn="l"/>
            <a:r>
              <a:rPr sz="2000" b="1">
                <a:solidFill>
                  <a:srgbClr val="0F7F8A"/>
                </a:solidFill>
                <a:latin typeface="Calibri"/>
              </a:rPr>
              <a:t>Humans</a:t>
            </a:r>
          </a:p>
        </p:txBody>
      </p:sp>
      <p:sp>
        <p:nvSpPr>
          <p:cNvPr id="32" name="TextBox 31"/>
          <p:cNvSpPr txBox="1"/>
          <p:nvPr/>
        </p:nvSpPr>
        <p:spPr>
          <a:xfrm>
            <a:off x="8321040" y="4224528"/>
            <a:ext cx="3108960" cy="548640"/>
          </a:xfrm>
          <a:prstGeom prst="rect">
            <a:avLst/>
          </a:prstGeom>
          <a:noFill/>
        </p:spPr>
        <p:txBody>
          <a:bodyPr wrap="square" anchor="t" lIns="0" rIns="0" tIns="0" bIns="0">
            <a:spAutoFit/>
          </a:bodyPr>
          <a:lstStyle/>
          <a:p>
            <a:pPr algn="l"/>
            <a:r>
              <a:rPr sz="1300" b="0">
                <a:solidFill>
                  <a:srgbClr val="1F2D3D"/>
                </a:solidFill>
                <a:latin typeface="Calibri"/>
              </a:rPr>
              <a:t>still decide every uncertain or risky case, with the rule and the evidence in front of them</a:t>
            </a:r>
          </a:p>
        </p:txBody>
      </p:sp>
      <p:sp>
        <p:nvSpPr>
          <p:cNvPr id="33" name="Rounded Rectangle 32"/>
          <p:cNvSpPr/>
          <p:nvPr/>
        </p:nvSpPr>
        <p:spPr>
          <a:xfrm>
            <a:off x="6309360" y="4974336"/>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5138928"/>
            <a:ext cx="1737360" cy="548640"/>
          </a:xfrm>
          <a:prstGeom prst="rect">
            <a:avLst/>
          </a:prstGeom>
          <a:noFill/>
        </p:spPr>
        <p:txBody>
          <a:bodyPr wrap="square" anchor="t" lIns="0" rIns="0" tIns="0" bIns="0">
            <a:spAutoFit/>
          </a:bodyPr>
          <a:lstStyle/>
          <a:p>
            <a:pPr algn="l"/>
            <a:r>
              <a:rPr sz="2000" b="1">
                <a:solidFill>
                  <a:srgbClr val="0F7F8A"/>
                </a:solidFill>
                <a:latin typeface="Calibri"/>
              </a:rPr>
              <a:t>Audit-ready</a:t>
            </a:r>
          </a:p>
        </p:txBody>
      </p:sp>
      <p:sp>
        <p:nvSpPr>
          <p:cNvPr id="35" name="TextBox 34"/>
          <p:cNvSpPr txBox="1"/>
          <p:nvPr/>
        </p:nvSpPr>
        <p:spPr>
          <a:xfrm>
            <a:off x="8321040" y="5212080"/>
            <a:ext cx="3108960" cy="548640"/>
          </a:xfrm>
          <a:prstGeom prst="rect">
            <a:avLst/>
          </a:prstGeom>
          <a:noFill/>
        </p:spPr>
        <p:txBody>
          <a:bodyPr wrap="square" anchor="t" lIns="0" rIns="0" tIns="0" bIns="0">
            <a:spAutoFit/>
          </a:bodyPr>
          <a:lstStyle/>
          <a:p>
            <a:pPr algn="l"/>
            <a:r>
              <a:rPr sz="1300" b="0">
                <a:solidFill>
                  <a:srgbClr val="1F2D3D"/>
                </a:solidFill>
                <a:latin typeface="Calibri"/>
              </a:rPr>
              <a:t>every decision traceable: rule id, evidence, hash-chained log, PDF case report</a:t>
            </a:r>
          </a:p>
        </p:txBody>
      </p:sp>
      <p:sp>
        <p:nvSpPr>
          <p:cNvPr id="36" name="TextBox 35"/>
          <p:cNvSpPr txBox="1"/>
          <p:nvPr/>
        </p:nvSpPr>
        <p:spPr>
          <a:xfrm>
            <a:off x="640080" y="5989320"/>
            <a:ext cx="10881360" cy="411480"/>
          </a:xfrm>
          <a:prstGeom prst="rect">
            <a:avLst/>
          </a:prstGeom>
          <a:noFill/>
        </p:spPr>
        <p:txBody>
          <a:bodyPr wrap="square" anchor="t" lIns="0" rIns="0" tIns="0" bIns="0">
            <a:spAutoFit/>
          </a:bodyPr>
          <a:lstStyle/>
          <a:p>
            <a:pPr algn="l"/>
            <a:r>
              <a:rPr sz="1100" b="0">
                <a:solidFill>
                  <a:srgbClr val="5B6B7A"/>
                </a:solidFill>
                <a:latin typeface="Calibri"/>
              </a:rPr>
              <a:t>Savings depend on the straight-through rate, which the pilot will measure on real documents; escalated cases keep their manual cost. AWS infrastructure is pay-per-use on top of model spend.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SCOPE DELIVERED</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What you're getting, and why each piece matters to you</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4</a:t>
            </a:r>
          </a:p>
        </p:txBody>
      </p:sp>
      <p:sp>
        <p:nvSpPr>
          <p:cNvPr id="10" name="Rounded Rectangle 9"/>
          <p:cNvSpPr/>
          <p:nvPr/>
        </p:nvSpPr>
        <p:spPr>
          <a:xfrm>
            <a:off x="640080" y="1600200"/>
            <a:ext cx="3474720" cy="4617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55648"/>
            <a:ext cx="3017520" cy="365760"/>
          </a:xfrm>
          <a:prstGeom prst="rect">
            <a:avLst/>
          </a:prstGeom>
          <a:noFill/>
        </p:spPr>
        <p:txBody>
          <a:bodyPr wrap="square" anchor="t" lIns="0" rIns="0" tIns="0" bIns="0">
            <a:spAutoFit/>
          </a:bodyPr>
          <a:lstStyle/>
          <a:p>
            <a:pPr algn="l"/>
            <a:r>
              <a:rPr sz="1700" b="1">
                <a:solidFill>
                  <a:srgbClr val="0F7F8A"/>
                </a:solidFill>
                <a:latin typeface="Calibri"/>
              </a:rPr>
              <a:t>What the brief asked for</a:t>
            </a:r>
          </a:p>
        </p:txBody>
      </p:sp>
      <p:sp>
        <p:nvSpPr>
          <p:cNvPr id="12" name="TextBox 11"/>
          <p:cNvSpPr txBox="1"/>
          <p:nvPr/>
        </p:nvSpPr>
        <p:spPr>
          <a:xfrm>
            <a:off x="914400" y="2103120"/>
            <a:ext cx="3017520" cy="274320"/>
          </a:xfrm>
          <a:prstGeom prst="rect">
            <a:avLst/>
          </a:prstGeom>
          <a:noFill/>
        </p:spPr>
        <p:txBody>
          <a:bodyPr wrap="square" anchor="t" lIns="0" rIns="0" tIns="0" bIns="0">
            <a:spAutoFit/>
          </a:bodyPr>
          <a:lstStyle/>
          <a:p>
            <a:pPr algn="l"/>
            <a:r>
              <a:rPr sz="1000" b="1">
                <a:solidFill>
                  <a:srgbClr val="5B6B7A"/>
                </a:solidFill>
                <a:latin typeface="Calibri"/>
              </a:rPr>
              <a:t>ALL DONE</a:t>
            </a:r>
          </a:p>
        </p:txBody>
      </p:sp>
      <p:sp>
        <p:nvSpPr>
          <p:cNvPr id="13" name="TextBox 12"/>
          <p:cNvSpPr txBox="1"/>
          <p:nvPr/>
        </p:nvSpPr>
        <p:spPr>
          <a:xfrm>
            <a:off x="914400" y="2423160"/>
            <a:ext cx="3017520" cy="548640"/>
          </a:xfrm>
          <a:prstGeom prst="rect">
            <a:avLst/>
          </a:prstGeom>
          <a:noFill/>
        </p:spPr>
        <p:txBody>
          <a:bodyPr wrap="square" anchor="t" lIns="0" rIns="0" tIns="0" bIns="0">
            <a:spAutoFit/>
          </a:bodyPr>
          <a:lstStyle/>
          <a:p>
            <a:pPr algn="l"/>
            <a:r>
              <a:rPr sz="1200" b="1">
                <a:solidFill>
                  <a:srgbClr val="12424D"/>
                </a:solidFill>
                <a:latin typeface="Calibri"/>
              </a:rPr>
              <a:t>The core: it takes over the sorting and checking that 120 people do by hand today.</a:t>
            </a:r>
          </a:p>
        </p:txBody>
      </p:sp>
      <p:sp>
        <p:nvSpPr>
          <p:cNvPr id="14" name="TextBox 13"/>
          <p:cNvSpPr txBox="1"/>
          <p:nvPr/>
        </p:nvSpPr>
        <p:spPr>
          <a:xfrm>
            <a:off x="914400" y="3063240"/>
            <a:ext cx="3017520" cy="3063240"/>
          </a:xfrm>
          <a:prstGeom prst="rect">
            <a:avLst/>
          </a:prstGeom>
          <a:noFill/>
        </p:spPr>
        <p:txBody>
          <a:bodyPr wrap="square" lIns="0" rIns="0" tIns="0" bIns="0">
            <a:spAutoFit/>
          </a:bodyPr>
          <a:lstStyle/>
          <a:p>
            <a:pPr>
              <a:spcAft>
                <a:spcPts val="700"/>
              </a:spcAft>
            </a:pPr>
            <a:r>
              <a:rPr sz="1200" b="1">
                <a:solidFill>
                  <a:srgbClr val="1F2D3D"/>
                </a:solidFill>
                <a:latin typeface="Calibri"/>
              </a:rPr>
              <a:t>Seven agents on every document.</a:t>
            </a:r>
            <a:r>
              <a:rPr sz="1200" b="0">
                <a:solidFill>
                  <a:srgbClr val="5B6B7A"/>
                </a:solidFill>
                <a:latin typeface="Calibri"/>
              </a:rPr>
              <a:t> They read it, check identity, coverage and fraud, and propose a decision.</a:t>
            </a:r>
          </a:p>
          <a:p>
            <a:pPr>
              <a:spcAft>
                <a:spcPts val="700"/>
              </a:spcAft>
            </a:pPr>
            <a:r>
              <a:rPr sz="1200" b="1">
                <a:solidFill>
                  <a:srgbClr val="1F2D3D"/>
                </a:solidFill>
                <a:latin typeface="Calibri"/>
              </a:rPr>
              <a:t>An intake API.</a:t>
            </a:r>
            <a:r>
              <a:rPr sz="1200" b="0">
                <a:solidFill>
                  <a:srgbClr val="5B6B7A"/>
                </a:solidFill>
                <a:latin typeface="Calibri"/>
              </a:rPr>
              <a:t> Portals, scanners or email can all feed the same pipeline.</a:t>
            </a:r>
          </a:p>
          <a:p>
            <a:pPr>
              <a:spcAft>
                <a:spcPts val="700"/>
              </a:spcAft>
            </a:pPr>
            <a:r>
              <a:rPr sz="1200" b="1">
                <a:solidFill>
                  <a:srgbClr val="1F2D3D"/>
                </a:solidFill>
                <a:latin typeface="Calibri"/>
              </a:rPr>
              <a:t>Coverage checked against the real policy.</a:t>
            </a:r>
            <a:r>
              <a:rPr sz="1200" b="0">
                <a:solidFill>
                  <a:srgbClr val="5B6B7A"/>
                </a:solidFill>
                <a:latin typeface="Calibri"/>
              </a:rPr>
              <a:t> Every answer points to the clause and page.</a:t>
            </a:r>
          </a:p>
          <a:p>
            <a:pPr>
              <a:spcAft>
                <a:spcPts val="700"/>
              </a:spcAft>
            </a:pPr>
            <a:r>
              <a:rPr sz="1200" b="1">
                <a:solidFill>
                  <a:srgbClr val="1F2D3D"/>
                </a:solidFill>
                <a:latin typeface="Calibri"/>
              </a:rPr>
              <a:t>Screens for each team.</a:t>
            </a:r>
            <a:r>
              <a:rPr sz="1200" b="0">
                <a:solidFill>
                  <a:srgbClr val="5B6B7A"/>
                </a:solidFill>
                <a:latin typeface="Calibri"/>
              </a:rPr>
              <a:t> Submitters, reviewers and auditors see only their part.</a:t>
            </a:r>
          </a:p>
          <a:p>
            <a:pPr>
              <a:spcAft>
                <a:spcPts val="700"/>
              </a:spcAft>
            </a:pPr>
            <a:r>
              <a:rPr sz="1200" b="1">
                <a:solidFill>
                  <a:srgbClr val="1F2D3D"/>
                </a:solidFill>
                <a:latin typeface="Calibri"/>
              </a:rPr>
              <a:t>Accuracy measured on labelled data.</a:t>
            </a:r>
            <a:r>
              <a:rPr sz="1200" b="0">
                <a:solidFill>
                  <a:srgbClr val="5B6B7A"/>
                </a:solidFill>
                <a:latin typeface="Calibri"/>
              </a:rPr>
              <a:t> You don't have to take my word for it.</a:t>
            </a:r>
          </a:p>
        </p:txBody>
      </p:sp>
      <p:sp>
        <p:nvSpPr>
          <p:cNvPr id="15" name="Rounded Rectangle 14"/>
          <p:cNvSpPr/>
          <p:nvPr/>
        </p:nvSpPr>
        <p:spPr>
          <a:xfrm>
            <a:off x="4343400" y="1600200"/>
            <a:ext cx="3474720" cy="4617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1755648"/>
            <a:ext cx="3017520" cy="365760"/>
          </a:xfrm>
          <a:prstGeom prst="rect">
            <a:avLst/>
          </a:prstGeom>
          <a:noFill/>
        </p:spPr>
        <p:txBody>
          <a:bodyPr wrap="square" anchor="t" lIns="0" rIns="0" tIns="0" bIns="0">
            <a:spAutoFit/>
          </a:bodyPr>
          <a:lstStyle/>
          <a:p>
            <a:pPr algn="l"/>
            <a:r>
              <a:rPr sz="1700" b="1">
                <a:solidFill>
                  <a:srgbClr val="0F7F8A"/>
                </a:solidFill>
                <a:latin typeface="Calibri"/>
              </a:rPr>
              <a:t>The bonus challenges</a:t>
            </a:r>
          </a:p>
        </p:txBody>
      </p:sp>
      <p:sp>
        <p:nvSpPr>
          <p:cNvPr id="17" name="TextBox 16"/>
          <p:cNvSpPr txBox="1"/>
          <p:nvPr/>
        </p:nvSpPr>
        <p:spPr>
          <a:xfrm>
            <a:off x="4617720" y="2103120"/>
            <a:ext cx="3017520" cy="274320"/>
          </a:xfrm>
          <a:prstGeom prst="rect">
            <a:avLst/>
          </a:prstGeom>
          <a:noFill/>
        </p:spPr>
        <p:txBody>
          <a:bodyPr wrap="square" anchor="t" lIns="0" rIns="0" tIns="0" bIns="0">
            <a:spAutoFit/>
          </a:bodyPr>
          <a:lstStyle/>
          <a:p>
            <a:pPr algn="l"/>
            <a:r>
              <a:rPr sz="1000" b="1">
                <a:solidFill>
                  <a:srgbClr val="5B6B7A"/>
                </a:solidFill>
                <a:latin typeface="Calibri"/>
              </a:rPr>
              <a:t>ALL DONE</a:t>
            </a:r>
          </a:p>
        </p:txBody>
      </p:sp>
      <p:sp>
        <p:nvSpPr>
          <p:cNvPr id="18" name="TextBox 17"/>
          <p:cNvSpPr txBox="1"/>
          <p:nvPr/>
        </p:nvSpPr>
        <p:spPr>
          <a:xfrm>
            <a:off x="4617720" y="2423160"/>
            <a:ext cx="3017520" cy="548640"/>
          </a:xfrm>
          <a:prstGeom prst="rect">
            <a:avLst/>
          </a:prstGeom>
          <a:noFill/>
        </p:spPr>
        <p:txBody>
          <a:bodyPr wrap="square" anchor="t" lIns="0" rIns="0" tIns="0" bIns="0">
            <a:spAutoFit/>
          </a:bodyPr>
          <a:lstStyle/>
          <a:p>
            <a:pPr algn="l"/>
            <a:r>
              <a:rPr sz="1200" b="1">
                <a:solidFill>
                  <a:srgbClr val="12424D"/>
                </a:solidFill>
                <a:latin typeface="Calibri"/>
              </a:rPr>
              <a:t>Each one removes an objection you would hear from risk, audit or operations.</a:t>
            </a:r>
          </a:p>
        </p:txBody>
      </p:sp>
      <p:sp>
        <p:nvSpPr>
          <p:cNvPr id="19" name="TextBox 18"/>
          <p:cNvSpPr txBox="1"/>
          <p:nvPr/>
        </p:nvSpPr>
        <p:spPr>
          <a:xfrm>
            <a:off x="4617720" y="3063240"/>
            <a:ext cx="3017520" cy="3063240"/>
          </a:xfrm>
          <a:prstGeom prst="rect">
            <a:avLst/>
          </a:prstGeom>
          <a:noFill/>
        </p:spPr>
        <p:txBody>
          <a:bodyPr wrap="square" lIns="0" rIns="0" tIns="0" bIns="0">
            <a:spAutoFit/>
          </a:bodyPr>
          <a:lstStyle/>
          <a:p>
            <a:pPr>
              <a:spcAft>
                <a:spcPts val="700"/>
              </a:spcAft>
            </a:pPr>
            <a:r>
              <a:rPr sz="1200" b="1">
                <a:solidFill>
                  <a:srgbClr val="1F2D3D"/>
                </a:solidFill>
                <a:latin typeface="Calibri"/>
              </a:rPr>
              <a:t>Confidence that means something.</a:t>
            </a:r>
            <a:r>
              <a:rPr sz="1200" b="0">
                <a:solidFill>
                  <a:srgbClr val="5B6B7A"/>
                </a:solidFill>
                <a:latin typeface="Calibri"/>
              </a:rPr>
              <a:t> We can choose how much goes straight through and know the error rate.</a:t>
            </a:r>
          </a:p>
          <a:p>
            <a:pPr>
              <a:spcAft>
                <a:spcPts val="700"/>
              </a:spcAft>
            </a:pPr>
            <a:r>
              <a:rPr sz="1200" b="1">
                <a:solidFill>
                  <a:srgbClr val="1F2D3D"/>
                </a:solidFill>
                <a:latin typeface="Calibri"/>
              </a:rPr>
              <a:t>Tamper checks on ID cards.</a:t>
            </a:r>
            <a:r>
              <a:rPr sz="1200" b="0">
                <a:solidFill>
                  <a:srgbClr val="5B6B7A"/>
                </a:solidFill>
                <a:latin typeface="Calibri"/>
              </a:rPr>
              <a:t> Directly relevant to the open KYC audit findings.</a:t>
            </a:r>
          </a:p>
          <a:p>
            <a:pPr>
              <a:spcAft>
                <a:spcPts val="700"/>
              </a:spcAft>
            </a:pPr>
            <a:r>
              <a:rPr sz="1200" b="1">
                <a:solidFill>
                  <a:srgbClr val="1F2D3D"/>
                </a:solidFill>
                <a:latin typeface="Calibri"/>
              </a:rPr>
              <a:t>Spanish and Hindi.</a:t>
            </a:r>
            <a:r>
              <a:rPr sz="1200" b="0">
                <a:solidFill>
                  <a:srgbClr val="5B6B7A"/>
                </a:solidFill>
                <a:latin typeface="Calibri"/>
              </a:rPr>
              <a:t> Members who don't write in English aren't sent to the slow lane.</a:t>
            </a:r>
          </a:p>
          <a:p>
            <a:pPr>
              <a:spcAft>
                <a:spcPts val="700"/>
              </a:spcAft>
            </a:pPr>
            <a:r>
              <a:rPr sz="1200" b="1">
                <a:solidFill>
                  <a:srgbClr val="1F2D3D"/>
                </a:solidFill>
                <a:latin typeface="Calibri"/>
              </a:rPr>
              <a:t>One-click case report.</a:t>
            </a:r>
            <a:r>
              <a:rPr sz="1200" b="0">
                <a:solidFill>
                  <a:srgbClr val="5B6B7A"/>
                </a:solidFill>
                <a:latin typeface="Calibri"/>
              </a:rPr>
              <a:t> Auditors get the full record of a decision as a PDF.</a:t>
            </a:r>
          </a:p>
          <a:p>
            <a:pPr>
              <a:spcAft>
                <a:spcPts val="700"/>
              </a:spcAft>
            </a:pPr>
            <a:r>
              <a:rPr sz="1200" b="1">
                <a:solidFill>
                  <a:srgbClr val="1F2D3D"/>
                </a:solidFill>
                <a:latin typeface="Calibri"/>
              </a:rPr>
              <a:t>Every AI call traced.</a:t>
            </a:r>
            <a:r>
              <a:rPr sz="1200" b="0">
                <a:solidFill>
                  <a:srgbClr val="5B6B7A"/>
                </a:solidFill>
                <a:latin typeface="Calibri"/>
              </a:rPr>
              <a:t> When a decision is questioned, we can replay what happened and what it cost.</a:t>
            </a:r>
          </a:p>
        </p:txBody>
      </p:sp>
      <p:sp>
        <p:nvSpPr>
          <p:cNvPr id="20" name="Rounded Rectangle 19"/>
          <p:cNvSpPr/>
          <p:nvPr/>
        </p:nvSpPr>
        <p:spPr>
          <a:xfrm>
            <a:off x="8046719" y="1600200"/>
            <a:ext cx="3474720" cy="461772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39" y="1755648"/>
            <a:ext cx="3017520" cy="365760"/>
          </a:xfrm>
          <a:prstGeom prst="rect">
            <a:avLst/>
          </a:prstGeom>
          <a:noFill/>
        </p:spPr>
        <p:txBody>
          <a:bodyPr wrap="square" anchor="t" lIns="0" rIns="0" tIns="0" bIns="0">
            <a:spAutoFit/>
          </a:bodyPr>
          <a:lstStyle/>
          <a:p>
            <a:pPr algn="l"/>
            <a:r>
              <a:rPr sz="1700" b="1">
                <a:solidFill>
                  <a:srgbClr val="12424D"/>
                </a:solidFill>
                <a:latin typeface="Calibri"/>
              </a:rPr>
              <a:t>Added beyond the brief</a:t>
            </a:r>
          </a:p>
        </p:txBody>
      </p:sp>
      <p:sp>
        <p:nvSpPr>
          <p:cNvPr id="22" name="TextBox 21"/>
          <p:cNvSpPr txBox="1"/>
          <p:nvPr/>
        </p:nvSpPr>
        <p:spPr>
          <a:xfrm>
            <a:off x="8321039" y="2103120"/>
            <a:ext cx="3017520" cy="274320"/>
          </a:xfrm>
          <a:prstGeom prst="rect">
            <a:avLst/>
          </a:prstGeom>
          <a:noFill/>
        </p:spPr>
        <p:txBody>
          <a:bodyPr wrap="square" anchor="t" lIns="0" rIns="0" tIns="0" bIns="0">
            <a:spAutoFit/>
          </a:bodyPr>
          <a:lstStyle/>
          <a:p>
            <a:pPr algn="l"/>
            <a:r>
              <a:rPr sz="1000" b="1">
                <a:solidFill>
                  <a:srgbClr val="5B6B7A"/>
                </a:solidFill>
                <a:latin typeface="Calibri"/>
              </a:rPr>
              <a:t>BECAUSE OPERATIONS WILL ASK ON DAY ONE</a:t>
            </a:r>
          </a:p>
        </p:txBody>
      </p:sp>
      <p:sp>
        <p:nvSpPr>
          <p:cNvPr id="23" name="TextBox 22"/>
          <p:cNvSpPr txBox="1"/>
          <p:nvPr/>
        </p:nvSpPr>
        <p:spPr>
          <a:xfrm>
            <a:off x="8321039" y="2423160"/>
            <a:ext cx="3017520" cy="548640"/>
          </a:xfrm>
          <a:prstGeom prst="rect">
            <a:avLst/>
          </a:prstGeom>
          <a:noFill/>
        </p:spPr>
        <p:txBody>
          <a:bodyPr wrap="square" anchor="t" lIns="0" rIns="0" tIns="0" bIns="0">
            <a:spAutoFit/>
          </a:bodyPr>
          <a:lstStyle/>
          <a:p>
            <a:pPr algn="l"/>
            <a:r>
              <a:rPr sz="1200" b="1">
                <a:solidFill>
                  <a:srgbClr val="12424D"/>
                </a:solidFill>
                <a:latin typeface="Calibri"/>
              </a:rPr>
              <a:t>Things that usually turn into follow-up projects; they're already here.</a:t>
            </a:r>
          </a:p>
        </p:txBody>
      </p:sp>
      <p:sp>
        <p:nvSpPr>
          <p:cNvPr id="24" name="TextBox 23"/>
          <p:cNvSpPr txBox="1"/>
          <p:nvPr/>
        </p:nvSpPr>
        <p:spPr>
          <a:xfrm>
            <a:off x="8321039" y="3063240"/>
            <a:ext cx="3017520" cy="3063240"/>
          </a:xfrm>
          <a:prstGeom prst="rect">
            <a:avLst/>
          </a:prstGeom>
          <a:noFill/>
        </p:spPr>
        <p:txBody>
          <a:bodyPr wrap="square" lIns="0" rIns="0" tIns="0" bIns="0">
            <a:spAutoFit/>
          </a:bodyPr>
          <a:lstStyle/>
          <a:p>
            <a:pPr>
              <a:spcAft>
                <a:spcPts val="700"/>
              </a:spcAft>
            </a:pPr>
            <a:r>
              <a:rPr sz="1200" b="1">
                <a:solidFill>
                  <a:srgbClr val="1F2D3D"/>
                </a:solidFill>
                <a:latin typeface="Calibri"/>
              </a:rPr>
              <a:t>An assistant with sources.</a:t>
            </a:r>
            <a:r>
              <a:rPr sz="1200" b="0">
                <a:solidFill>
                  <a:srgbClr val="5B6B7A"/>
                </a:solidFill>
                <a:latin typeface="Calibri"/>
              </a:rPr>
              <a:t> Staff ask in plain English and only ever see what their role allows.</a:t>
            </a:r>
          </a:p>
          <a:p>
            <a:pPr>
              <a:spcAft>
                <a:spcPts val="700"/>
              </a:spcAft>
            </a:pPr>
            <a:r>
              <a:rPr sz="1200" b="1">
                <a:solidFill>
                  <a:srgbClr val="1F2D3D"/>
                </a:solidFill>
                <a:latin typeface="Calibri"/>
              </a:rPr>
              <a:t>Email intake.</a:t>
            </a:r>
            <a:r>
              <a:rPr sz="1200" b="0">
                <a:solidFill>
                  <a:srgbClr val="5B6B7A"/>
                </a:solidFill>
                <a:latin typeface="Calibri"/>
              </a:rPr>
              <a:t> Clinics already email claims; we take them as they arrive.</a:t>
            </a:r>
          </a:p>
          <a:p>
            <a:pPr>
              <a:spcAft>
                <a:spcPts val="700"/>
              </a:spcAft>
            </a:pPr>
            <a:r>
              <a:rPr sz="1200" b="1">
                <a:solidFill>
                  <a:srgbClr val="1F2D3D"/>
                </a:solidFill>
                <a:latin typeface="Calibri"/>
              </a:rPr>
              <a:t>Policy updates without engineers.</a:t>
            </a:r>
            <a:r>
              <a:rPr sz="1200" b="0">
                <a:solidFill>
                  <a:srgbClr val="5B6B7A"/>
                </a:solidFill>
                <a:latin typeface="Calibri"/>
              </a:rPr>
              <a:t> A new plan PDF is live in minutes, not a release.</a:t>
            </a:r>
          </a:p>
          <a:p>
            <a:pPr>
              <a:spcAft>
                <a:spcPts val="700"/>
              </a:spcAft>
            </a:pPr>
            <a:r>
              <a:rPr sz="1200" b="1">
                <a:solidFill>
                  <a:srgbClr val="1F2D3D"/>
                </a:solidFill>
                <a:latin typeface="Calibri"/>
              </a:rPr>
              <a:t>A quality monitor.</a:t>
            </a:r>
            <a:r>
              <a:rPr sz="1200" b="0">
                <a:solidFill>
                  <a:srgbClr val="5B6B7A"/>
                </a:solidFill>
                <a:latin typeface="Calibri"/>
              </a:rPr>
              <a:t> Shows where reviewers overrule the AI, so we fix the right rule.</a:t>
            </a:r>
          </a:p>
          <a:p>
            <a:pPr>
              <a:spcAft>
                <a:spcPts val="700"/>
              </a:spcAft>
            </a:pPr>
            <a:r>
              <a:rPr sz="1200" b="1">
                <a:solidFill>
                  <a:srgbClr val="1F2D3D"/>
                </a:solidFill>
                <a:latin typeface="Calibri"/>
              </a:rPr>
              <a:t>Quality gates on every change.</a:t>
            </a:r>
            <a:r>
              <a:rPr sz="1200" b="0">
                <a:solidFill>
                  <a:srgbClr val="5B6B7A"/>
                </a:solidFill>
                <a:latin typeface="Calibri"/>
              </a:rPr>
              <a:t> A change that lowers accuracy cannot 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HOW IT WORKS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Models read, a rule file decides, people handle the uncertain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5</a:t>
            </a:r>
          </a:p>
        </p:txBody>
      </p:sp>
      <p:sp>
        <p:nvSpPr>
          <p:cNvPr id="10" name="Pentagon 9"/>
          <p:cNvSpPr/>
          <p:nvPr/>
        </p:nvSpPr>
        <p:spPr>
          <a:xfrm>
            <a:off x="640080" y="1828800"/>
            <a:ext cx="1517904" cy="868680"/>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Upload</a:t>
            </a:r>
          </a:p>
        </p:txBody>
      </p:sp>
      <p:sp>
        <p:nvSpPr>
          <p:cNvPr id="11" name="TextBox 10"/>
          <p:cNvSpPr txBox="1"/>
          <p:nvPr/>
        </p:nvSpPr>
        <p:spPr>
          <a:xfrm>
            <a:off x="640080"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PNG · JPEG · PDF · TIFF</a:t>
            </a:r>
          </a:p>
        </p:txBody>
      </p:sp>
      <p:sp>
        <p:nvSpPr>
          <p:cNvPr id="12" name="Chevron 11"/>
          <p:cNvSpPr/>
          <p:nvPr/>
        </p:nvSpPr>
        <p:spPr>
          <a:xfrm>
            <a:off x="2249424"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Read</a:t>
            </a:r>
          </a:p>
        </p:txBody>
      </p:sp>
      <p:sp>
        <p:nvSpPr>
          <p:cNvPr id="13" name="TextBox 12"/>
          <p:cNvSpPr txBox="1"/>
          <p:nvPr/>
        </p:nvSpPr>
        <p:spPr>
          <a:xfrm>
            <a:off x="2249424"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local OCR + classifier</a:t>
            </a:r>
          </a:p>
        </p:txBody>
      </p:sp>
      <p:sp>
        <p:nvSpPr>
          <p:cNvPr id="14" name="Chevron 13"/>
          <p:cNvSpPr/>
          <p:nvPr/>
        </p:nvSpPr>
        <p:spPr>
          <a:xfrm>
            <a:off x="3858768"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Extract</a:t>
            </a:r>
          </a:p>
        </p:txBody>
      </p:sp>
      <p:sp>
        <p:nvSpPr>
          <p:cNvPr id="15" name="TextBox 14"/>
          <p:cNvSpPr txBox="1"/>
          <p:nvPr/>
        </p:nvSpPr>
        <p:spPr>
          <a:xfrm>
            <a:off x="3858768"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fields grounded on the page</a:t>
            </a:r>
          </a:p>
        </p:txBody>
      </p:sp>
      <p:sp>
        <p:nvSpPr>
          <p:cNvPr id="16" name="Chevron 15"/>
          <p:cNvSpPr/>
          <p:nvPr/>
        </p:nvSpPr>
        <p:spPr>
          <a:xfrm>
            <a:off x="5468112"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Verify</a:t>
            </a:r>
          </a:p>
        </p:txBody>
      </p:sp>
      <p:sp>
        <p:nvSpPr>
          <p:cNvPr id="17" name="TextBox 16"/>
          <p:cNvSpPr txBox="1"/>
          <p:nvPr/>
        </p:nvSpPr>
        <p:spPr>
          <a:xfrm>
            <a:off x="5468112"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KYC · claims · policy RAG</a:t>
            </a:r>
          </a:p>
        </p:txBody>
      </p:sp>
      <p:sp>
        <p:nvSpPr>
          <p:cNvPr id="18" name="Chevron 17"/>
          <p:cNvSpPr/>
          <p:nvPr/>
        </p:nvSpPr>
        <p:spPr>
          <a:xfrm>
            <a:off x="7077456"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Fraud</a:t>
            </a:r>
          </a:p>
        </p:txBody>
      </p:sp>
      <p:sp>
        <p:nvSpPr>
          <p:cNvPr id="19" name="TextBox 18"/>
          <p:cNvSpPr txBox="1"/>
          <p:nvPr/>
        </p:nvSpPr>
        <p:spPr>
          <a:xfrm>
            <a:off x="7077456"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history + anomalies</a:t>
            </a:r>
          </a:p>
        </p:txBody>
      </p:sp>
      <p:sp>
        <p:nvSpPr>
          <p:cNvPr id="20" name="Chevron 19"/>
          <p:cNvSpPr/>
          <p:nvPr/>
        </p:nvSpPr>
        <p:spPr>
          <a:xfrm>
            <a:off x="8686800"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Decide</a:t>
            </a:r>
          </a:p>
        </p:txBody>
      </p:sp>
      <p:sp>
        <p:nvSpPr>
          <p:cNvPr id="21" name="TextBox 20"/>
          <p:cNvSpPr txBox="1"/>
          <p:nvPr/>
        </p:nvSpPr>
        <p:spPr>
          <a:xfrm>
            <a:off x="8686800"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rules + justification</a:t>
            </a:r>
          </a:p>
        </p:txBody>
      </p:sp>
      <p:sp>
        <p:nvSpPr>
          <p:cNvPr id="22" name="Chevron 21"/>
          <p:cNvSpPr/>
          <p:nvPr/>
        </p:nvSpPr>
        <p:spPr>
          <a:xfrm>
            <a:off x="10296144" y="1828800"/>
            <a:ext cx="1517904" cy="868680"/>
          </a:xfrm>
          <a:prstGeom prst="chevron">
            <a:avLst/>
          </a:prstGeom>
          <a:solidFill>
            <a:srgbClr val="D68910"/>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Review</a:t>
            </a:r>
          </a:p>
        </p:txBody>
      </p:sp>
      <p:sp>
        <p:nvSpPr>
          <p:cNvPr id="23" name="TextBox 22"/>
          <p:cNvSpPr txBox="1"/>
          <p:nvPr/>
        </p:nvSpPr>
        <p:spPr>
          <a:xfrm>
            <a:off x="10296144"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four-eyes over $10k</a:t>
            </a:r>
          </a:p>
        </p:txBody>
      </p:sp>
      <p:sp>
        <p:nvSpPr>
          <p:cNvPr id="24" name="Rounded Rectangle 23"/>
          <p:cNvSpPr/>
          <p:nvPr/>
        </p:nvSpPr>
        <p:spPr>
          <a:xfrm>
            <a:off x="640080"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Deterministic decisions</a:t>
            </a:r>
          </a:p>
        </p:txBody>
      </p:sp>
      <p:sp>
        <p:nvSpPr>
          <p:cNvPr id="26" name="TextBox 25"/>
          <p:cNvSpPr txBox="1"/>
          <p:nvPr/>
        </p:nvSpPr>
        <p:spPr>
          <a:xfrm>
            <a:off x="914400"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The same facts always give the same decision, from a versioned rule file. A document that says "APPROVE" cannot approve itself.</a:t>
            </a:r>
          </a:p>
        </p:txBody>
      </p:sp>
      <p:sp>
        <p:nvSpPr>
          <p:cNvPr id="27" name="Rounded Rectangle 26"/>
          <p:cNvSpPr/>
          <p:nvPr/>
        </p:nvSpPr>
        <p:spPr>
          <a:xfrm>
            <a:off x="4389120"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63440"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Confidence from evidence</a:t>
            </a:r>
          </a:p>
        </p:txBody>
      </p:sp>
      <p:sp>
        <p:nvSpPr>
          <p:cNvPr id="29" name="TextBox 28"/>
          <p:cNvSpPr txBox="1"/>
          <p:nvPr/>
        </p:nvSpPr>
        <p:spPr>
          <a:xfrm>
            <a:off x="4663440"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Grounding on the page, agreement between checks and image quality, calibrated on held-out data. Low confidence goes to a person.</a:t>
            </a:r>
          </a:p>
        </p:txBody>
      </p:sp>
      <p:sp>
        <p:nvSpPr>
          <p:cNvPr id="30" name="Rounded Rectangle 29"/>
          <p:cNvSpPr/>
          <p:nvPr/>
        </p:nvSpPr>
        <p:spPr>
          <a:xfrm>
            <a:off x="8138159"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79"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Cheapest model that works</a:t>
            </a:r>
          </a:p>
        </p:txBody>
      </p:sp>
      <p:sp>
        <p:nvSpPr>
          <p:cNvPr id="32" name="TextBox 31"/>
          <p:cNvSpPr txBox="1"/>
          <p:nvPr/>
        </p:nvSpPr>
        <p:spPr>
          <a:xfrm>
            <a:off x="8412479"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Free local OCR first; Sonnet for reading and reasoning; Opus only to retry or double-check suspected tampering.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THE PRODUCT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What the operations team uses every day</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6</a:t>
            </a:r>
          </a:p>
        </p:txBody>
      </p:sp>
      <p:pic>
        <p:nvPicPr>
          <p:cNvPr id="10" name="Picture 9" descr="dashboard.png"/>
          <p:cNvPicPr>
            <a:picLocks noChangeAspect="1"/>
          </p:cNvPicPr>
          <p:nvPr/>
        </p:nvPicPr>
        <p:blipFill>
          <a:blip r:embed="rId2"/>
          <a:stretch>
            <a:fillRect/>
          </a:stretch>
        </p:blipFill>
        <p:spPr>
          <a:xfrm>
            <a:off x="640080" y="1600200"/>
            <a:ext cx="5394960" cy="3499434"/>
          </a:xfrm>
          <a:prstGeom prst="rect">
            <a:avLst/>
          </a:prstGeom>
          <a:ln>
            <a:solidFill>
              <a:srgbClr val="D8E4E7"/>
            </a:solidFill>
          </a:ln>
        </p:spPr>
      </p:pic>
      <p:pic>
        <p:nvPicPr>
          <p:cNvPr id="11" name="Picture 10" descr="case-detail.png"/>
          <p:cNvPicPr>
            <a:picLocks noChangeAspect="1"/>
          </p:cNvPicPr>
          <p:nvPr/>
        </p:nvPicPr>
        <p:blipFill>
          <a:blip r:embed="rId3"/>
          <a:srcRect b="28249"/>
          <a:stretch>
            <a:fillRect/>
          </a:stretch>
        </p:blipFill>
        <p:spPr>
          <a:xfrm>
            <a:off x="6172200" y="1600200"/>
            <a:ext cx="5394960" cy="3520440"/>
          </a:xfrm>
          <a:prstGeom prst="rect">
            <a:avLst/>
          </a:prstGeom>
          <a:ln>
            <a:solidFill>
              <a:srgbClr val="D8E4E7"/>
            </a:solidFill>
          </a:ln>
        </p:spPr>
      </p:pic>
      <p:sp>
        <p:nvSpPr>
          <p:cNvPr id="12" name="TextBox 11"/>
          <p:cNvSpPr txBox="1"/>
          <p:nvPr/>
        </p:nvSpPr>
        <p:spPr>
          <a:xfrm>
            <a:off x="640080" y="5257800"/>
            <a:ext cx="5394960" cy="914400"/>
          </a:xfrm>
          <a:prstGeom prst="rect">
            <a:avLst/>
          </a:prstGeom>
          <a:noFill/>
        </p:spPr>
        <p:txBody>
          <a:bodyPr wrap="square" anchor="t" lIns="0" rIns="0" tIns="0" bIns="0">
            <a:spAutoFit/>
          </a:bodyPr>
          <a:lstStyle/>
          <a:p>
            <a:pPr algn="l"/>
            <a:r>
              <a:rPr sz="1300" b="0">
                <a:solidFill>
                  <a:srgbClr val="5B6B7A"/>
                </a:solidFill>
                <a:latin typeface="Calibri"/>
              </a:rPr>
              <a:t>Dashboard: every case with its status, decision, confidence and fraud risk</a:t>
            </a:r>
          </a:p>
        </p:txBody>
      </p:sp>
      <p:sp>
        <p:nvSpPr>
          <p:cNvPr id="13" name="TextBox 12"/>
          <p:cNvSpPr txBox="1"/>
          <p:nvPr/>
        </p:nvSpPr>
        <p:spPr>
          <a:xfrm>
            <a:off x="6172200" y="5257800"/>
            <a:ext cx="5394960" cy="914400"/>
          </a:xfrm>
          <a:prstGeom prst="rect">
            <a:avLst/>
          </a:prstGeom>
          <a:noFill/>
        </p:spPr>
        <p:txBody>
          <a:bodyPr wrap="square" anchor="t" lIns="0" rIns="0" tIns="0" bIns="0">
            <a:spAutoFit/>
          </a:bodyPr>
          <a:lstStyle/>
          <a:p>
            <a:pPr algn="l"/>
            <a:r>
              <a:rPr sz="1300" b="0">
                <a:solidFill>
                  <a:srgbClr val="5B6B7A"/>
                </a:solidFill>
                <a:latin typeface="Calibri"/>
              </a:rPr>
              <a:t>Case view: live pipeline, evidence highlighted on the page, each agent's output, the decision, report and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ARCHITECTURE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Serverless on AWS, agents on Bedrock AgentCore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7</a:t>
            </a:r>
          </a:p>
        </p:txBody>
      </p:sp>
      <p:sp>
        <p:nvSpPr>
          <p:cNvPr id="10" name="Rounded Rectangle 9"/>
          <p:cNvSpPr/>
          <p:nvPr/>
        </p:nvSpPr>
        <p:spPr>
          <a:xfrm>
            <a:off x="640080" y="1828800"/>
            <a:ext cx="2377440" cy="1188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65960"/>
            <a:ext cx="2011680" cy="365760"/>
          </a:xfrm>
          <a:prstGeom prst="rect">
            <a:avLst/>
          </a:prstGeom>
          <a:noFill/>
        </p:spPr>
        <p:txBody>
          <a:bodyPr wrap="square" anchor="t" lIns="0" rIns="0" tIns="0" bIns="0">
            <a:spAutoFit/>
          </a:bodyPr>
          <a:lstStyle/>
          <a:p>
            <a:pPr algn="l"/>
            <a:r>
              <a:rPr sz="1500" b="1">
                <a:solidFill>
                  <a:srgbClr val="1F2D3D"/>
                </a:solidFill>
                <a:latin typeface="Calibri"/>
              </a:rPr>
              <a:t>Next.js UI</a:t>
            </a:r>
          </a:p>
        </p:txBody>
      </p:sp>
      <p:sp>
        <p:nvSpPr>
          <p:cNvPr id="12" name="TextBox 11"/>
          <p:cNvSpPr txBox="1"/>
          <p:nvPr/>
        </p:nvSpPr>
        <p:spPr>
          <a:xfrm>
            <a:off x="822960" y="2331720"/>
            <a:ext cx="2011680" cy="640080"/>
          </a:xfrm>
          <a:prstGeom prst="rect">
            <a:avLst/>
          </a:prstGeom>
          <a:noFill/>
        </p:spPr>
        <p:txBody>
          <a:bodyPr wrap="square" anchor="t" lIns="0" rIns="0" tIns="0" bIns="0">
            <a:spAutoFit/>
          </a:bodyPr>
          <a:lstStyle/>
          <a:p>
            <a:pPr algn="l"/>
            <a:r>
              <a:rPr sz="1100" b="0">
                <a:solidFill>
                  <a:srgbClr val="5B6B7A"/>
                </a:solidFill>
                <a:latin typeface="Calibri"/>
              </a:rPr>
              <a:t>CloudFront + S3</a:t>
            </a:r>
          </a:p>
          <a:p>
            <a:pPr algn="l"/>
            <a:r>
              <a:rPr sz="1100" b="0">
                <a:solidFill>
                  <a:srgbClr val="5B6B7A"/>
                </a:solidFill>
                <a:latin typeface="Calibri"/>
              </a:rPr>
              <a:t>6 workspaces + assistant</a:t>
            </a:r>
          </a:p>
        </p:txBody>
      </p:sp>
      <p:sp>
        <p:nvSpPr>
          <p:cNvPr id="13" name="Rounded Rectangle 12"/>
          <p:cNvSpPr/>
          <p:nvPr/>
        </p:nvSpPr>
        <p:spPr>
          <a:xfrm>
            <a:off x="3657600" y="1828800"/>
            <a:ext cx="2377440" cy="1188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0" y="1965960"/>
            <a:ext cx="2011680" cy="365760"/>
          </a:xfrm>
          <a:prstGeom prst="rect">
            <a:avLst/>
          </a:prstGeom>
          <a:noFill/>
        </p:spPr>
        <p:txBody>
          <a:bodyPr wrap="square" anchor="t" lIns="0" rIns="0" tIns="0" bIns="0">
            <a:spAutoFit/>
          </a:bodyPr>
          <a:lstStyle/>
          <a:p>
            <a:pPr algn="l"/>
            <a:r>
              <a:rPr sz="1500" b="1">
                <a:solidFill>
                  <a:srgbClr val="1F2D3D"/>
                </a:solidFill>
                <a:latin typeface="Calibri"/>
              </a:rPr>
              <a:t>FastAPI on Lambda</a:t>
            </a:r>
          </a:p>
        </p:txBody>
      </p:sp>
      <p:sp>
        <p:nvSpPr>
          <p:cNvPr id="15" name="TextBox 14"/>
          <p:cNvSpPr txBox="1"/>
          <p:nvPr/>
        </p:nvSpPr>
        <p:spPr>
          <a:xfrm>
            <a:off x="3840480" y="2331720"/>
            <a:ext cx="2011680" cy="640080"/>
          </a:xfrm>
          <a:prstGeom prst="rect">
            <a:avLst/>
          </a:prstGeom>
          <a:noFill/>
        </p:spPr>
        <p:txBody>
          <a:bodyPr wrap="square" anchor="t" lIns="0" rIns="0" tIns="0" bIns="0">
            <a:spAutoFit/>
          </a:bodyPr>
          <a:lstStyle/>
          <a:p>
            <a:pPr algn="l"/>
            <a:r>
              <a:rPr sz="1100" b="0">
                <a:solidFill>
                  <a:srgbClr val="5B6B7A"/>
                </a:solidFill>
                <a:latin typeface="Calibri"/>
              </a:rPr>
              <a:t>JWT · 5 roles · uploads</a:t>
            </a:r>
          </a:p>
          <a:p>
            <a:pPr algn="l"/>
            <a:r>
              <a:rPr sz="1100" b="0">
                <a:solidFill>
                  <a:srgbClr val="5B6B7A"/>
                </a:solidFill>
                <a:latin typeface="Calibri"/>
              </a:rPr>
              <a:t>to S3 with signed forms</a:t>
            </a:r>
          </a:p>
        </p:txBody>
      </p:sp>
      <p:sp>
        <p:nvSpPr>
          <p:cNvPr id="16" name="Rounded Rectangle 15"/>
          <p:cNvSpPr/>
          <p:nvPr/>
        </p:nvSpPr>
        <p:spPr>
          <a:xfrm>
            <a:off x="6766560" y="1600200"/>
            <a:ext cx="4754880" cy="160020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1737360"/>
            <a:ext cx="4389120" cy="365760"/>
          </a:xfrm>
          <a:prstGeom prst="rect">
            <a:avLst/>
          </a:prstGeom>
          <a:noFill/>
        </p:spPr>
        <p:txBody>
          <a:bodyPr wrap="square" anchor="t" lIns="0" rIns="0" tIns="0" bIns="0">
            <a:spAutoFit/>
          </a:bodyPr>
          <a:lstStyle/>
          <a:p>
            <a:pPr algn="l"/>
            <a:r>
              <a:rPr sz="1500" b="1">
                <a:solidFill>
                  <a:srgbClr val="FFFFFF"/>
                </a:solidFill>
                <a:latin typeface="Calibri"/>
              </a:rPr>
              <a:t>AgentCore Runtime: case pipeline</a:t>
            </a:r>
          </a:p>
        </p:txBody>
      </p:sp>
      <p:sp>
        <p:nvSpPr>
          <p:cNvPr id="18" name="TextBox 17"/>
          <p:cNvSpPr txBox="1"/>
          <p:nvPr/>
        </p:nvSpPr>
        <p:spPr>
          <a:xfrm>
            <a:off x="6949440" y="2103120"/>
            <a:ext cx="4389120" cy="1051560"/>
          </a:xfrm>
          <a:prstGeom prst="rect">
            <a:avLst/>
          </a:prstGeom>
          <a:noFill/>
        </p:spPr>
        <p:txBody>
          <a:bodyPr wrap="square" anchor="t" lIns="0" rIns="0" tIns="0" bIns="0">
            <a:spAutoFit/>
          </a:bodyPr>
          <a:lstStyle/>
          <a:p>
            <a:pPr algn="l"/>
            <a:r>
              <a:rPr sz="1100" b="0">
                <a:solidFill>
                  <a:srgbClr val="E1F2F3"/>
                </a:solidFill>
                <a:latin typeface="Calibri"/>
              </a:rPr>
              <a:t>LangGraph: perceive → classify → KYC · claims · policy RAG, with fraud in parallel → decide → human review</a:t>
            </a:r>
          </a:p>
        </p:txBody>
      </p:sp>
      <p:sp>
        <p:nvSpPr>
          <p:cNvPr id="19" name="Rounded Rectangle 18"/>
          <p:cNvSpPr/>
          <p:nvPr/>
        </p:nvSpPr>
        <p:spPr>
          <a:xfrm>
            <a:off x="6766560" y="3429000"/>
            <a:ext cx="4754880" cy="132588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0" y="3566160"/>
            <a:ext cx="4389120" cy="365760"/>
          </a:xfrm>
          <a:prstGeom prst="rect">
            <a:avLst/>
          </a:prstGeom>
          <a:noFill/>
        </p:spPr>
        <p:txBody>
          <a:bodyPr wrap="square" anchor="t" lIns="0" rIns="0" tIns="0" bIns="0">
            <a:spAutoFit/>
          </a:bodyPr>
          <a:lstStyle/>
          <a:p>
            <a:pPr algn="l"/>
            <a:r>
              <a:rPr sz="1500" b="1">
                <a:solidFill>
                  <a:srgbClr val="FFFFFF"/>
                </a:solidFill>
                <a:latin typeface="Calibri"/>
              </a:rPr>
              <a:t>AgentCore Runtime: role-aware assistant</a:t>
            </a:r>
          </a:p>
        </p:txBody>
      </p:sp>
      <p:sp>
        <p:nvSpPr>
          <p:cNvPr id="21" name="TextBox 20"/>
          <p:cNvSpPr txBox="1"/>
          <p:nvPr/>
        </p:nvSpPr>
        <p:spPr>
          <a:xfrm>
            <a:off x="6949440" y="3931920"/>
            <a:ext cx="4389120" cy="777240"/>
          </a:xfrm>
          <a:prstGeom prst="rect">
            <a:avLst/>
          </a:prstGeom>
          <a:noFill/>
        </p:spPr>
        <p:txBody>
          <a:bodyPr wrap="square" anchor="t" lIns="0" rIns="0" tIns="0" bIns="0">
            <a:spAutoFit/>
          </a:bodyPr>
          <a:lstStyle/>
          <a:p>
            <a:pPr algn="l"/>
            <a:r>
              <a:rPr sz="1100" b="0">
                <a:solidFill>
                  <a:srgbClr val="E1F2F3"/>
                </a:solidFill>
                <a:latin typeface="Calibri"/>
              </a:rPr>
              <a:t>router → access check → tools → answer with [n] citations · AgentCore Memory</a:t>
            </a:r>
          </a:p>
        </p:txBody>
      </p:sp>
      <p:sp>
        <p:nvSpPr>
          <p:cNvPr id="22" name="Rounded Rectangle 21"/>
          <p:cNvSpPr/>
          <p:nvPr/>
        </p:nvSpPr>
        <p:spPr>
          <a:xfrm>
            <a:off x="640080" y="3657600"/>
            <a:ext cx="2377440" cy="1097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794760"/>
            <a:ext cx="2011680" cy="365760"/>
          </a:xfrm>
          <a:prstGeom prst="rect">
            <a:avLst/>
          </a:prstGeom>
          <a:noFill/>
        </p:spPr>
        <p:txBody>
          <a:bodyPr wrap="square" anchor="t" lIns="0" rIns="0" tIns="0" bIns="0">
            <a:spAutoFit/>
          </a:bodyPr>
          <a:lstStyle/>
          <a:p>
            <a:pPr algn="l"/>
            <a:r>
              <a:rPr sz="1500" b="1">
                <a:solidFill>
                  <a:srgbClr val="1F2D3D"/>
                </a:solidFill>
                <a:latin typeface="Calibri"/>
              </a:rPr>
              <a:t>DynamoDB · S3</a:t>
            </a:r>
          </a:p>
        </p:txBody>
      </p:sp>
      <p:sp>
        <p:nvSpPr>
          <p:cNvPr id="24" name="TextBox 23"/>
          <p:cNvSpPr txBox="1"/>
          <p:nvPr/>
        </p:nvSpPr>
        <p:spPr>
          <a:xfrm>
            <a:off x="822960" y="4160520"/>
            <a:ext cx="2011680" cy="548640"/>
          </a:xfrm>
          <a:prstGeom prst="rect">
            <a:avLst/>
          </a:prstGeom>
          <a:noFill/>
        </p:spPr>
        <p:txBody>
          <a:bodyPr wrap="square" anchor="t" lIns="0" rIns="0" tIns="0" bIns="0">
            <a:spAutoFit/>
          </a:bodyPr>
          <a:lstStyle/>
          <a:p>
            <a:pPr algn="l"/>
            <a:r>
              <a:rPr sz="1100" b="0">
                <a:solidFill>
                  <a:srgbClr val="5B6B7A"/>
                </a:solidFill>
                <a:latin typeface="Calibri"/>
              </a:rPr>
              <a:t>cases · audit chain · spend</a:t>
            </a:r>
          </a:p>
          <a:p>
            <a:pPr algn="l"/>
            <a:r>
              <a:rPr sz="1100" b="0">
                <a:solidFill>
                  <a:srgbClr val="5B6B7A"/>
                </a:solidFill>
                <a:latin typeface="Calibri"/>
              </a:rPr>
              <a:t>ledger · documents</a:t>
            </a:r>
          </a:p>
        </p:txBody>
      </p:sp>
      <p:sp>
        <p:nvSpPr>
          <p:cNvPr id="25" name="Rounded Rectangle 24"/>
          <p:cNvSpPr/>
          <p:nvPr/>
        </p:nvSpPr>
        <p:spPr>
          <a:xfrm>
            <a:off x="3657600" y="3657600"/>
            <a:ext cx="2377440" cy="1097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0" y="3794760"/>
            <a:ext cx="2011680" cy="365760"/>
          </a:xfrm>
          <a:prstGeom prst="rect">
            <a:avLst/>
          </a:prstGeom>
          <a:noFill/>
        </p:spPr>
        <p:txBody>
          <a:bodyPr wrap="square" anchor="t" lIns="0" rIns="0" tIns="0" bIns="0">
            <a:spAutoFit/>
          </a:bodyPr>
          <a:lstStyle/>
          <a:p>
            <a:pPr algn="l"/>
            <a:r>
              <a:rPr sz="1500" b="1">
                <a:solidFill>
                  <a:srgbClr val="1F2D3D"/>
                </a:solidFill>
                <a:latin typeface="Calibri"/>
              </a:rPr>
              <a:t>Claude</a:t>
            </a:r>
          </a:p>
        </p:txBody>
      </p:sp>
      <p:sp>
        <p:nvSpPr>
          <p:cNvPr id="27" name="TextBox 26"/>
          <p:cNvSpPr txBox="1"/>
          <p:nvPr/>
        </p:nvSpPr>
        <p:spPr>
          <a:xfrm>
            <a:off x="3840480" y="4160520"/>
            <a:ext cx="2011680" cy="548640"/>
          </a:xfrm>
          <a:prstGeom prst="rect">
            <a:avLst/>
          </a:prstGeom>
          <a:noFill/>
        </p:spPr>
        <p:txBody>
          <a:bodyPr wrap="square" anchor="t" lIns="0" rIns="0" tIns="0" bIns="0">
            <a:spAutoFit/>
          </a:bodyPr>
          <a:lstStyle/>
          <a:p>
            <a:pPr algn="l"/>
            <a:r>
              <a:rPr sz="1100" b="0">
                <a:solidFill>
                  <a:srgbClr val="5B6B7A"/>
                </a:solidFill>
                <a:latin typeface="Calibri"/>
              </a:rPr>
              <a:t>Sonnet 5.5: read, reason, write</a:t>
            </a:r>
          </a:p>
          <a:p>
            <a:pPr algn="l"/>
            <a:r>
              <a:rPr sz="1100" b="0">
                <a:solidFill>
                  <a:srgbClr val="5B6B7A"/>
                </a:solidFill>
                <a:latin typeface="Calibri"/>
              </a:rPr>
              <a:t>Opus 5.5: retries, tamper check</a:t>
            </a:r>
          </a:p>
        </p:txBody>
      </p:sp>
      <p:sp>
        <p:nvSpPr>
          <p:cNvPr id="28" name="Rounded Rectangle 27"/>
          <p:cNvSpPr/>
          <p:nvPr/>
        </p:nvSpPr>
        <p:spPr>
          <a:xfrm>
            <a:off x="6766560" y="4983480"/>
            <a:ext cx="4754880" cy="10515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5120640"/>
            <a:ext cx="4389120" cy="365760"/>
          </a:xfrm>
          <a:prstGeom prst="rect">
            <a:avLst/>
          </a:prstGeom>
          <a:noFill/>
        </p:spPr>
        <p:txBody>
          <a:bodyPr wrap="square" anchor="t" lIns="0" rIns="0" tIns="0" bIns="0">
            <a:spAutoFit/>
          </a:bodyPr>
          <a:lstStyle/>
          <a:p>
            <a:pPr algn="l"/>
            <a:r>
              <a:rPr sz="1500" b="1">
                <a:solidFill>
                  <a:srgbClr val="1F2D3D"/>
                </a:solidFill>
                <a:latin typeface="Calibri"/>
              </a:rPr>
              <a:t>Local models, no API cost</a:t>
            </a:r>
          </a:p>
        </p:txBody>
      </p:sp>
      <p:sp>
        <p:nvSpPr>
          <p:cNvPr id="30" name="TextBox 29"/>
          <p:cNvSpPr txBox="1"/>
          <p:nvPr/>
        </p:nvSpPr>
        <p:spPr>
          <a:xfrm>
            <a:off x="6949440" y="5486400"/>
            <a:ext cx="4389120" cy="502920"/>
          </a:xfrm>
          <a:prstGeom prst="rect">
            <a:avLst/>
          </a:prstGeom>
          <a:noFill/>
        </p:spPr>
        <p:txBody>
          <a:bodyPr wrap="square" anchor="t" lIns="0" rIns="0" tIns="0" bIns="0">
            <a:spAutoFit/>
          </a:bodyPr>
          <a:lstStyle/>
          <a:p>
            <a:pPr algn="l"/>
            <a:r>
              <a:rPr sz="1100" b="0">
                <a:solidFill>
                  <a:srgbClr val="5B6B7A"/>
                </a:solidFill>
                <a:latin typeface="Calibri"/>
              </a:rPr>
              <a:t>RapidOCR (OCR) · bge-small + BM25 → RRF → jina reranker in Qdrant · ELA + typography forensics</a:t>
            </a:r>
          </a:p>
        </p:txBody>
      </p:sp>
      <p:cxnSp>
        <p:nvCxnSpPr>
          <p:cNvPr id="31" name="Connector 30"/>
          <p:cNvCxnSpPr/>
          <p:nvPr/>
        </p:nvCxnSpPr>
        <p:spPr>
          <a:xfrm>
            <a:off x="3017520" y="2423160"/>
            <a:ext cx="64008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035040" y="2286000"/>
            <a:ext cx="73152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040" y="2651760"/>
            <a:ext cx="731520" cy="137160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40080" y="5074920"/>
            <a:ext cx="5852160" cy="1005840"/>
          </a:xfrm>
          <a:prstGeom prst="rect">
            <a:avLst/>
          </a:prstGeom>
          <a:noFill/>
        </p:spPr>
        <p:txBody>
          <a:bodyPr wrap="square" anchor="t" lIns="0" rIns="0" tIns="0" bIns="0">
            <a:spAutoFit/>
          </a:bodyPr>
          <a:lstStyle/>
          <a:p>
            <a:pPr algn="l"/>
            <a:r>
              <a:rPr sz="1300" b="0">
                <a:solidFill>
                  <a:srgbClr val="1F2D3D"/>
                </a:solidFill>
                <a:latin typeface="Calibri"/>
              </a:rPr>
              <a:t>One CloudFormation stack · ARM64 image built in CodeBuild · secrets in SSM</a:t>
            </a:r>
          </a:p>
          <a:p>
            <a:pPr algn="l"/>
            <a:r>
              <a:rPr sz="1300" b="0">
                <a:solidFill>
                  <a:srgbClr val="1F2D3D"/>
                </a:solidFill>
                <a:latin typeface="Calibri"/>
              </a:rPr>
              <a:t>No servers to patch · pay-per-use only: ≈ $1.25/month idle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RESULTS · HELD-OUT SPLIT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Quality measured on data the system never saw</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8</a:t>
            </a:r>
          </a:p>
        </p:txBody>
      </p:sp>
      <p:sp>
        <p:nvSpPr>
          <p:cNvPr id="10" name="Rounded Rectangle 9"/>
          <p:cNvSpPr/>
          <p:nvPr/>
        </p:nvSpPr>
        <p:spPr>
          <a:xfrm>
            <a:off x="64008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2" name="TextBox 11"/>
          <p:cNvSpPr txBox="1"/>
          <p:nvPr/>
        </p:nvSpPr>
        <p:spPr>
          <a:xfrm>
            <a:off x="86868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classification</a:t>
            </a:r>
          </a:p>
        </p:txBody>
      </p:sp>
      <p:sp>
        <p:nvSpPr>
          <p:cNvPr id="13" name="TextBox 12"/>
          <p:cNvSpPr txBox="1"/>
          <p:nvPr/>
        </p:nvSpPr>
        <p:spPr>
          <a:xfrm>
            <a:off x="86868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6 document types</a:t>
            </a:r>
          </a:p>
        </p:txBody>
      </p:sp>
      <p:sp>
        <p:nvSpPr>
          <p:cNvPr id="14" name="Rounded Rectangle 13"/>
          <p:cNvSpPr/>
          <p:nvPr/>
        </p:nvSpPr>
        <p:spPr>
          <a:xfrm>
            <a:off x="342900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6" name="TextBox 15"/>
          <p:cNvSpPr txBox="1"/>
          <p:nvPr/>
        </p:nvSpPr>
        <p:spPr>
          <a:xfrm>
            <a:off x="365760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claim-field extraction</a:t>
            </a:r>
          </a:p>
        </p:txBody>
      </p:sp>
      <p:sp>
        <p:nvSpPr>
          <p:cNvPr id="17" name="TextBox 16"/>
          <p:cNvSpPr txBox="1"/>
          <p:nvPr/>
        </p:nvSpPr>
        <p:spPr>
          <a:xfrm>
            <a:off x="365760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ICD · CPT · amounts · provider</a:t>
            </a:r>
          </a:p>
        </p:txBody>
      </p:sp>
      <p:sp>
        <p:nvSpPr>
          <p:cNvPr id="18" name="Rounded Rectangle 17"/>
          <p:cNvSpPr/>
          <p:nvPr/>
        </p:nvSpPr>
        <p:spPr>
          <a:xfrm>
            <a:off x="621792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0" name="TextBox 19"/>
          <p:cNvSpPr txBox="1"/>
          <p:nvPr/>
        </p:nvSpPr>
        <p:spPr>
          <a:xfrm>
            <a:off x="644652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policy retrieval R@3</a:t>
            </a:r>
          </a:p>
        </p:txBody>
      </p:sp>
      <p:sp>
        <p:nvSpPr>
          <p:cNvPr id="21" name="TextBox 20"/>
          <p:cNvSpPr txBox="1"/>
          <p:nvPr/>
        </p:nvSpPr>
        <p:spPr>
          <a:xfrm>
            <a:off x="644652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right clause in the top 3</a:t>
            </a:r>
          </a:p>
        </p:txBody>
      </p:sp>
      <p:sp>
        <p:nvSpPr>
          <p:cNvPr id="22" name="Rounded Rectangle 21"/>
          <p:cNvSpPr/>
          <p:nvPr/>
        </p:nvSpPr>
        <p:spPr>
          <a:xfrm>
            <a:off x="9006839"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4" name="TextBox 23"/>
          <p:cNvSpPr txBox="1"/>
          <p:nvPr/>
        </p:nvSpPr>
        <p:spPr>
          <a:xfrm>
            <a:off x="9235439"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decisions (visible labels)</a:t>
            </a:r>
          </a:p>
        </p:txBody>
      </p:sp>
      <p:sp>
        <p:nvSpPr>
          <p:cNvPr id="25" name="TextBox 24"/>
          <p:cNvSpPr txBox="1"/>
          <p:nvPr/>
        </p:nvSpPr>
        <p:spPr>
          <a:xfrm>
            <a:off x="9235439"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96.2% on all labels*</a:t>
            </a:r>
          </a:p>
        </p:txBody>
      </p:sp>
      <p:sp>
        <p:nvSpPr>
          <p:cNvPr id="26" name="Rounded Rectangle 25"/>
          <p:cNvSpPr/>
          <p:nvPr/>
        </p:nvSpPr>
        <p:spPr>
          <a:xfrm>
            <a:off x="64008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886200"/>
            <a:ext cx="2103120" cy="731520"/>
          </a:xfrm>
          <a:prstGeom prst="rect">
            <a:avLst/>
          </a:prstGeom>
          <a:noFill/>
        </p:spPr>
        <p:txBody>
          <a:bodyPr wrap="square" anchor="t" lIns="0" rIns="0" tIns="0" bIns="0">
            <a:spAutoFit/>
          </a:bodyPr>
          <a:lstStyle/>
          <a:p>
            <a:pPr algn="l"/>
            <a:r>
              <a:rPr sz="3400" b="1">
                <a:solidFill>
                  <a:srgbClr val="0F7F8A"/>
                </a:solidFill>
                <a:latin typeface="Calibri"/>
              </a:rPr>
              <a:t>$0.08</a:t>
            </a:r>
          </a:p>
        </p:txBody>
      </p:sp>
      <p:sp>
        <p:nvSpPr>
          <p:cNvPr id="28" name="TextBox 27"/>
          <p:cNvSpPr txBox="1"/>
          <p:nvPr/>
        </p:nvSpPr>
        <p:spPr>
          <a:xfrm>
            <a:off x="86868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model cost per case</a:t>
            </a:r>
          </a:p>
        </p:txBody>
      </p:sp>
      <p:sp>
        <p:nvSpPr>
          <p:cNvPr id="29" name="TextBox 28"/>
          <p:cNvSpPr txBox="1"/>
          <p:nvPr/>
        </p:nvSpPr>
        <p:spPr>
          <a:xfrm>
            <a:off x="86868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 $0.02 per document vs ≈ $18 manual**</a:t>
            </a:r>
          </a:p>
        </p:txBody>
      </p:sp>
      <p:sp>
        <p:nvSpPr>
          <p:cNvPr id="30" name="Rounded Rectangle 29"/>
          <p:cNvSpPr/>
          <p:nvPr/>
        </p:nvSpPr>
        <p:spPr>
          <a:xfrm>
            <a:off x="342900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0" y="388620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32" name="TextBox 31"/>
          <p:cNvSpPr txBox="1"/>
          <p:nvPr/>
        </p:nvSpPr>
        <p:spPr>
          <a:xfrm>
            <a:off x="365760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unseen generator seed</a:t>
            </a:r>
          </a:p>
        </p:txBody>
      </p:sp>
      <p:sp>
        <p:nvSpPr>
          <p:cNvPr id="33" name="TextBox 32"/>
          <p:cNvSpPr txBox="1"/>
          <p:nvPr/>
        </p:nvSpPr>
        <p:spPr>
          <a:xfrm>
            <a:off x="365760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99.4% with tampering drawn in</a:t>
            </a:r>
          </a:p>
        </p:txBody>
      </p:sp>
      <p:sp>
        <p:nvSpPr>
          <p:cNvPr id="34" name="Rounded Rectangle 33"/>
          <p:cNvSpPr/>
          <p:nvPr/>
        </p:nvSpPr>
        <p:spPr>
          <a:xfrm>
            <a:off x="621792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886200"/>
            <a:ext cx="2103120" cy="731520"/>
          </a:xfrm>
          <a:prstGeom prst="rect">
            <a:avLst/>
          </a:prstGeom>
          <a:noFill/>
        </p:spPr>
        <p:txBody>
          <a:bodyPr wrap="square" anchor="t" lIns="0" rIns="0" tIns="0" bIns="0">
            <a:spAutoFit/>
          </a:bodyPr>
          <a:lstStyle/>
          <a:p>
            <a:pPr algn="l"/>
            <a:r>
              <a:rPr sz="3400" b="1">
                <a:solidFill>
                  <a:srgbClr val="2E8B57"/>
                </a:solidFill>
                <a:latin typeface="Calibri"/>
              </a:rPr>
              <a:t>0</a:t>
            </a:r>
          </a:p>
        </p:txBody>
      </p:sp>
      <p:sp>
        <p:nvSpPr>
          <p:cNvPr id="36" name="TextBox 35"/>
          <p:cNvSpPr txBox="1"/>
          <p:nvPr/>
        </p:nvSpPr>
        <p:spPr>
          <a:xfrm>
            <a:off x="644652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prompt-injection flips</a:t>
            </a:r>
          </a:p>
        </p:txBody>
      </p:sp>
      <p:sp>
        <p:nvSpPr>
          <p:cNvPr id="37" name="TextBox 36"/>
          <p:cNvSpPr txBox="1"/>
          <p:nvPr/>
        </p:nvSpPr>
        <p:spPr>
          <a:xfrm>
            <a:off x="644652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7 adversarial documents</a:t>
            </a:r>
          </a:p>
        </p:txBody>
      </p:sp>
      <p:sp>
        <p:nvSpPr>
          <p:cNvPr id="38" name="Rounded Rectangle 37"/>
          <p:cNvSpPr/>
          <p:nvPr/>
        </p:nvSpPr>
        <p:spPr>
          <a:xfrm>
            <a:off x="9006839"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35439" y="3886200"/>
            <a:ext cx="2103120" cy="731520"/>
          </a:xfrm>
          <a:prstGeom prst="rect">
            <a:avLst/>
          </a:prstGeom>
          <a:noFill/>
        </p:spPr>
        <p:txBody>
          <a:bodyPr wrap="square" anchor="t" lIns="0" rIns="0" tIns="0" bIns="0">
            <a:spAutoFit/>
          </a:bodyPr>
          <a:lstStyle/>
          <a:p>
            <a:pPr algn="l"/>
            <a:r>
              <a:rPr sz="3400" b="1">
                <a:solidFill>
                  <a:srgbClr val="2E8B57"/>
                </a:solidFill>
                <a:latin typeface="Calibri"/>
              </a:rPr>
              <a:t>21 / 21</a:t>
            </a:r>
          </a:p>
        </p:txBody>
      </p:sp>
      <p:sp>
        <p:nvSpPr>
          <p:cNvPr id="40" name="TextBox 39"/>
          <p:cNvSpPr txBox="1"/>
          <p:nvPr/>
        </p:nvSpPr>
        <p:spPr>
          <a:xfrm>
            <a:off x="9235439"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quality gates in CI</a:t>
            </a:r>
          </a:p>
        </p:txBody>
      </p:sp>
      <p:sp>
        <p:nvSpPr>
          <p:cNvPr id="41" name="TextBox 40"/>
          <p:cNvSpPr txBox="1"/>
          <p:nvPr/>
        </p:nvSpPr>
        <p:spPr>
          <a:xfrm>
            <a:off x="9235439"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accuracy · safety · cost thresholds</a:t>
            </a:r>
          </a:p>
        </p:txBody>
      </p:sp>
      <p:sp>
        <p:nvSpPr>
          <p:cNvPr id="42" name="TextBox 41"/>
          <p:cNvSpPr txBox="1"/>
          <p:nvPr/>
        </p:nvSpPr>
        <p:spPr>
          <a:xfrm>
            <a:off x="640080" y="5715000"/>
            <a:ext cx="10972800" cy="640080"/>
          </a:xfrm>
          <a:prstGeom prst="rect">
            <a:avLst/>
          </a:prstGeom>
          <a:noFill/>
        </p:spPr>
        <p:txBody>
          <a:bodyPr wrap="square" anchor="t" lIns="0" rIns="0" tIns="0" bIns="0">
            <a:spAutoFit/>
          </a:bodyPr>
          <a:lstStyle/>
          <a:p>
            <a:pPr algn="l"/>
            <a:r>
              <a:rPr sz="1100" b="0">
                <a:solidFill>
                  <a:srgbClr val="5B6B7A"/>
                </a:solidFill>
                <a:latin typeface="Calibri"/>
              </a:rPr>
              <a:t>* The dataset records a few labels its generator never draws on the page (e.g. 'tampered' IDs); no system can see those.   ** Model spend only; escalated cases still get human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SECURITY AND COMPLIANCE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Security and compliance controls are built in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9</a:t>
            </a:r>
          </a:p>
        </p:txBody>
      </p:sp>
      <p:sp>
        <p:nvSpPr>
          <p:cNvPr id="10" name="Rounded Rectangle 9"/>
          <p:cNvSpPr/>
          <p:nvPr/>
        </p:nvSpPr>
        <p:spPr>
          <a:xfrm>
            <a:off x="640080" y="169164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196596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1892808"/>
            <a:ext cx="4572000" cy="365760"/>
          </a:xfrm>
          <a:prstGeom prst="rect">
            <a:avLst/>
          </a:prstGeom>
          <a:noFill/>
        </p:spPr>
        <p:txBody>
          <a:bodyPr wrap="square" anchor="t" lIns="0" rIns="0" tIns="0" bIns="0">
            <a:spAutoFit/>
          </a:bodyPr>
          <a:lstStyle/>
          <a:p>
            <a:pPr algn="l"/>
            <a:r>
              <a:rPr sz="1600" b="1">
                <a:solidFill>
                  <a:srgbClr val="1F2D3D"/>
                </a:solidFill>
                <a:latin typeface="Calibri"/>
              </a:rPr>
              <a:t>Least privilege, everywhere</a:t>
            </a:r>
          </a:p>
        </p:txBody>
      </p:sp>
      <p:sp>
        <p:nvSpPr>
          <p:cNvPr id="13" name="TextBox 12"/>
          <p:cNvSpPr txBox="1"/>
          <p:nvPr/>
        </p:nvSpPr>
        <p:spPr>
          <a:xfrm>
            <a:off x="1280160" y="2258568"/>
            <a:ext cx="4572000" cy="685800"/>
          </a:xfrm>
          <a:prstGeom prst="rect">
            <a:avLst/>
          </a:prstGeom>
          <a:noFill/>
        </p:spPr>
        <p:txBody>
          <a:bodyPr wrap="square" anchor="t" lIns="0" rIns="0" tIns="0" bIns="0">
            <a:spAutoFit/>
          </a:bodyPr>
          <a:lstStyle/>
          <a:p>
            <a:pPr algn="l"/>
            <a:r>
              <a:rPr sz="1200" b="0">
                <a:solidFill>
                  <a:srgbClr val="5B6B7A"/>
                </a:solidFill>
                <a:latin typeface="Calibri"/>
              </a:rPr>
              <a:t>One permission matrix drives the API, the UI and the assistant. Each AWS function has its own least-privilege role.</a:t>
            </a:r>
          </a:p>
        </p:txBody>
      </p:sp>
      <p:sp>
        <p:nvSpPr>
          <p:cNvPr id="14" name="Rounded Rectangle 13"/>
          <p:cNvSpPr/>
          <p:nvPr/>
        </p:nvSpPr>
        <p:spPr>
          <a:xfrm>
            <a:off x="6217920" y="169164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6520" y="196596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1892808"/>
            <a:ext cx="4572000" cy="365760"/>
          </a:xfrm>
          <a:prstGeom prst="rect">
            <a:avLst/>
          </a:prstGeom>
          <a:noFill/>
        </p:spPr>
        <p:txBody>
          <a:bodyPr wrap="square" anchor="t" lIns="0" rIns="0" tIns="0" bIns="0">
            <a:spAutoFit/>
          </a:bodyPr>
          <a:lstStyle/>
          <a:p>
            <a:pPr algn="l"/>
            <a:r>
              <a:rPr sz="1600" b="1">
                <a:solidFill>
                  <a:srgbClr val="1F2D3D"/>
                </a:solidFill>
                <a:latin typeface="Calibri"/>
              </a:rPr>
              <a:t>Four-eyes on large overrides</a:t>
            </a:r>
          </a:p>
        </p:txBody>
      </p:sp>
      <p:sp>
        <p:nvSpPr>
          <p:cNvPr id="17" name="TextBox 16"/>
          <p:cNvSpPr txBox="1"/>
          <p:nvPr/>
        </p:nvSpPr>
        <p:spPr>
          <a:xfrm>
            <a:off x="6858000" y="2258568"/>
            <a:ext cx="4572000" cy="685800"/>
          </a:xfrm>
          <a:prstGeom prst="rect">
            <a:avLst/>
          </a:prstGeom>
          <a:noFill/>
        </p:spPr>
        <p:txBody>
          <a:bodyPr wrap="square" anchor="t" lIns="0" rIns="0" tIns="0" bIns="0">
            <a:spAutoFit/>
          </a:bodyPr>
          <a:lstStyle/>
          <a:p>
            <a:pPr algn="l"/>
            <a:r>
              <a:rPr sz="1200" b="0">
                <a:solidFill>
                  <a:srgbClr val="5B6B7A"/>
                </a:solidFill>
                <a:latin typeface="Calibri"/>
              </a:rPr>
              <a:t>Overrides above $10,000 need a second, senior reviewer; nobody approves their own request.</a:t>
            </a:r>
          </a:p>
        </p:txBody>
      </p:sp>
      <p:sp>
        <p:nvSpPr>
          <p:cNvPr id="18" name="Rounded Rectangle 17"/>
          <p:cNvSpPr/>
          <p:nvPr/>
        </p:nvSpPr>
        <p:spPr>
          <a:xfrm>
            <a:off x="640080" y="315468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680" y="342900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0160" y="3355848"/>
            <a:ext cx="4572000" cy="365760"/>
          </a:xfrm>
          <a:prstGeom prst="rect">
            <a:avLst/>
          </a:prstGeom>
          <a:noFill/>
        </p:spPr>
        <p:txBody>
          <a:bodyPr wrap="square" anchor="t" lIns="0" rIns="0" tIns="0" bIns="0">
            <a:spAutoFit/>
          </a:bodyPr>
          <a:lstStyle/>
          <a:p>
            <a:pPr algn="l"/>
            <a:r>
              <a:rPr sz="1600" b="1">
                <a:solidFill>
                  <a:srgbClr val="1F2D3D"/>
                </a:solidFill>
                <a:latin typeface="Calibri"/>
              </a:rPr>
              <a:t>Tamper-evident audit trail</a:t>
            </a:r>
          </a:p>
        </p:txBody>
      </p:sp>
      <p:sp>
        <p:nvSpPr>
          <p:cNvPr id="21" name="TextBox 20"/>
          <p:cNvSpPr txBox="1"/>
          <p:nvPr/>
        </p:nvSpPr>
        <p:spPr>
          <a:xfrm>
            <a:off x="1280160" y="3721608"/>
            <a:ext cx="4572000" cy="685800"/>
          </a:xfrm>
          <a:prstGeom prst="rect">
            <a:avLst/>
          </a:prstGeom>
          <a:noFill/>
        </p:spPr>
        <p:txBody>
          <a:bodyPr wrap="square" anchor="t" lIns="0" rIns="0" tIns="0" bIns="0">
            <a:spAutoFit/>
          </a:bodyPr>
          <a:lstStyle/>
          <a:p>
            <a:pPr algn="l"/>
            <a:r>
              <a:rPr sz="1200" b="0">
                <a:solidFill>
                  <a:srgbClr val="5B6B7A"/>
                </a:solidFill>
                <a:latin typeface="Calibri"/>
              </a:rPr>
              <a:t>Every login, view, decision, override and blocked question is hash-chained; edits are detectable.</a:t>
            </a:r>
          </a:p>
        </p:txBody>
      </p:sp>
      <p:sp>
        <p:nvSpPr>
          <p:cNvPr id="22" name="Rounded Rectangle 21"/>
          <p:cNvSpPr/>
          <p:nvPr/>
        </p:nvSpPr>
        <p:spPr>
          <a:xfrm>
            <a:off x="6217920" y="315468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46520" y="342900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355848"/>
            <a:ext cx="4572000" cy="365760"/>
          </a:xfrm>
          <a:prstGeom prst="rect">
            <a:avLst/>
          </a:prstGeom>
          <a:noFill/>
        </p:spPr>
        <p:txBody>
          <a:bodyPr wrap="square" anchor="t" lIns="0" rIns="0" tIns="0" bIns="0">
            <a:spAutoFit/>
          </a:bodyPr>
          <a:lstStyle/>
          <a:p>
            <a:pPr algn="l"/>
            <a:r>
              <a:rPr sz="1600" b="1">
                <a:solidFill>
                  <a:srgbClr val="1F2D3D"/>
                </a:solidFill>
                <a:latin typeface="Calibri"/>
              </a:rPr>
              <a:t>Injection-resistant decisions</a:t>
            </a:r>
          </a:p>
        </p:txBody>
      </p:sp>
      <p:sp>
        <p:nvSpPr>
          <p:cNvPr id="25" name="TextBox 24"/>
          <p:cNvSpPr txBox="1"/>
          <p:nvPr/>
        </p:nvSpPr>
        <p:spPr>
          <a:xfrm>
            <a:off x="6858000" y="3721608"/>
            <a:ext cx="4572000" cy="685800"/>
          </a:xfrm>
          <a:prstGeom prst="rect">
            <a:avLst/>
          </a:prstGeom>
          <a:noFill/>
        </p:spPr>
        <p:txBody>
          <a:bodyPr wrap="square" anchor="t" lIns="0" rIns="0" tIns="0" bIns="0">
            <a:spAutoFit/>
          </a:bodyPr>
          <a:lstStyle/>
          <a:p>
            <a:pPr algn="l"/>
            <a:r>
              <a:rPr sz="1200" b="0">
                <a:solidFill>
                  <a:srgbClr val="5B6B7A"/>
                </a:solidFill>
                <a:latin typeface="Calibri"/>
              </a:rPr>
              <a:t>Document text is treated as data. Red team: 0 decision flips; a poisoned policy PDF held.</a:t>
            </a:r>
          </a:p>
        </p:txBody>
      </p:sp>
      <p:sp>
        <p:nvSpPr>
          <p:cNvPr id="26" name="Rounded Rectangle 25"/>
          <p:cNvSpPr/>
          <p:nvPr/>
        </p:nvSpPr>
        <p:spPr>
          <a:xfrm>
            <a:off x="640080" y="461772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68680" y="489204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4818888"/>
            <a:ext cx="4572000" cy="365760"/>
          </a:xfrm>
          <a:prstGeom prst="rect">
            <a:avLst/>
          </a:prstGeom>
          <a:noFill/>
        </p:spPr>
        <p:txBody>
          <a:bodyPr wrap="square" anchor="t" lIns="0" rIns="0" tIns="0" bIns="0">
            <a:spAutoFit/>
          </a:bodyPr>
          <a:lstStyle/>
          <a:p>
            <a:pPr algn="l"/>
            <a:r>
              <a:rPr sz="1600" b="1">
                <a:solidFill>
                  <a:srgbClr val="1F2D3D"/>
                </a:solidFill>
                <a:latin typeface="Calibri"/>
              </a:rPr>
              <a:t>PHI protection</a:t>
            </a:r>
          </a:p>
        </p:txBody>
      </p:sp>
      <p:sp>
        <p:nvSpPr>
          <p:cNvPr id="29" name="TextBox 28"/>
          <p:cNvSpPr txBox="1"/>
          <p:nvPr/>
        </p:nvSpPr>
        <p:spPr>
          <a:xfrm>
            <a:off x="1280160" y="5184648"/>
            <a:ext cx="4572000" cy="685800"/>
          </a:xfrm>
          <a:prstGeom prst="rect">
            <a:avLst/>
          </a:prstGeom>
          <a:noFill/>
        </p:spPr>
        <p:txBody>
          <a:bodyPr wrap="square" anchor="t" lIns="0" rIns="0" tIns="0" bIns="0">
            <a:spAutoFit/>
          </a:bodyPr>
          <a:lstStyle/>
          <a:p>
            <a:pPr algn="l"/>
            <a:r>
              <a:rPr sz="1200" b="0">
                <a:solidFill>
                  <a:srgbClr val="5B6B7A"/>
                </a:solidFill>
                <a:latin typeface="Calibri"/>
              </a:rPr>
              <a:t>Redacted from logs, traces and assistant memory; secrets only in SSM, never in code.</a:t>
            </a:r>
          </a:p>
        </p:txBody>
      </p:sp>
      <p:sp>
        <p:nvSpPr>
          <p:cNvPr id="30" name="Rounded Rectangle 29"/>
          <p:cNvSpPr/>
          <p:nvPr/>
        </p:nvSpPr>
        <p:spPr>
          <a:xfrm>
            <a:off x="6217920" y="461772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46520" y="489204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4818888"/>
            <a:ext cx="4572000" cy="365760"/>
          </a:xfrm>
          <a:prstGeom prst="rect">
            <a:avLst/>
          </a:prstGeom>
          <a:noFill/>
        </p:spPr>
        <p:txBody>
          <a:bodyPr wrap="square" anchor="t" lIns="0" rIns="0" tIns="0" bIns="0">
            <a:spAutoFit/>
          </a:bodyPr>
          <a:lstStyle/>
          <a:p>
            <a:pPr algn="l"/>
            <a:r>
              <a:rPr sz="1600" b="1">
                <a:solidFill>
                  <a:srgbClr val="1F2D3D"/>
                </a:solidFill>
                <a:latin typeface="Calibri"/>
              </a:rPr>
              <a:t>Spend guardrails</a:t>
            </a:r>
          </a:p>
        </p:txBody>
      </p:sp>
      <p:sp>
        <p:nvSpPr>
          <p:cNvPr id="33" name="TextBox 32"/>
          <p:cNvSpPr txBox="1"/>
          <p:nvPr/>
        </p:nvSpPr>
        <p:spPr>
          <a:xfrm>
            <a:off x="6858000" y="5184648"/>
            <a:ext cx="4572000" cy="685800"/>
          </a:xfrm>
          <a:prstGeom prst="rect">
            <a:avLst/>
          </a:prstGeom>
          <a:noFill/>
        </p:spPr>
        <p:txBody>
          <a:bodyPr wrap="square" anchor="t" lIns="0" rIns="0" tIns="0" bIns="0">
            <a:spAutoFit/>
          </a:bodyPr>
          <a:lstStyle/>
          <a:p>
            <a:pPr algn="l"/>
            <a:r>
              <a:rPr sz="1200" b="0">
                <a:solidFill>
                  <a:srgbClr val="5B6B7A"/>
                </a:solidFill>
                <a:latin typeface="Calibri"/>
              </a:rPr>
              <a:t>Hard model-spend caps (total and daily) enforced in code, plus an AWS Budget alert.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OPERATIONS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Running it: observable, tested on every change, cost-capped</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10</a:t>
            </a:r>
          </a:p>
        </p:txBody>
      </p:sp>
      <p:sp>
        <p:nvSpPr>
          <p:cNvPr id="10" name="Rounded Rectangle 9"/>
          <p:cNvSpPr/>
          <p:nvPr/>
        </p:nvSpPr>
        <p:spPr>
          <a:xfrm>
            <a:off x="640080" y="169164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92024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892808"/>
            <a:ext cx="4892040" cy="365760"/>
          </a:xfrm>
          <a:prstGeom prst="rect">
            <a:avLst/>
          </a:prstGeom>
          <a:noFill/>
        </p:spPr>
        <p:txBody>
          <a:bodyPr wrap="square" anchor="t" lIns="0" rIns="0" tIns="0" bIns="0">
            <a:spAutoFit/>
          </a:bodyPr>
          <a:lstStyle/>
          <a:p>
            <a:pPr algn="l"/>
            <a:r>
              <a:rPr sz="1600" b="1">
                <a:solidFill>
                  <a:srgbClr val="1F2D3D"/>
                </a:solidFill>
                <a:latin typeface="Calibri"/>
              </a:rPr>
              <a:t>Observability</a:t>
            </a:r>
          </a:p>
        </p:txBody>
      </p:sp>
      <p:sp>
        <p:nvSpPr>
          <p:cNvPr id="13" name="TextBox 12"/>
          <p:cNvSpPr txBox="1"/>
          <p:nvPr/>
        </p:nvSpPr>
        <p:spPr>
          <a:xfrm>
            <a:off x="914400" y="2286000"/>
            <a:ext cx="4892040" cy="1280160"/>
          </a:xfrm>
          <a:prstGeom prst="rect">
            <a:avLst/>
          </a:prstGeom>
          <a:noFill/>
        </p:spPr>
        <p:txBody>
          <a:bodyPr wrap="square" anchor="t" lIns="0" rIns="0" tIns="0" bIns="0">
            <a:spAutoFit/>
          </a:bodyPr>
          <a:lstStyle/>
          <a:p>
            <a:pPr algn="l"/>
            <a:r>
              <a:rPr sz="1300" b="0">
                <a:solidFill>
                  <a:srgbClr val="5B6B7A"/>
                </a:solidFill>
                <a:latin typeface="Calibri"/>
              </a:rPr>
              <a:t>A LangSmith trace per case: every agent call with tokens, latency and cost. CloudWatch logs kept 14 days. An AI quality monitor shows override rates by rule and AI versus final decisions.</a:t>
            </a:r>
          </a:p>
        </p:txBody>
      </p:sp>
      <p:sp>
        <p:nvSpPr>
          <p:cNvPr id="14" name="Rounded Rectangle 13"/>
          <p:cNvSpPr/>
          <p:nvPr/>
        </p:nvSpPr>
        <p:spPr>
          <a:xfrm>
            <a:off x="6217920" y="169164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2024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892808"/>
            <a:ext cx="4892040" cy="365760"/>
          </a:xfrm>
          <a:prstGeom prst="rect">
            <a:avLst/>
          </a:prstGeom>
          <a:noFill/>
        </p:spPr>
        <p:txBody>
          <a:bodyPr wrap="square" anchor="t" lIns="0" rIns="0" tIns="0" bIns="0">
            <a:spAutoFit/>
          </a:bodyPr>
          <a:lstStyle/>
          <a:p>
            <a:pPr algn="l"/>
            <a:r>
              <a:rPr sz="1600" b="1">
                <a:solidFill>
                  <a:srgbClr val="1F2D3D"/>
                </a:solidFill>
                <a:latin typeface="Calibri"/>
              </a:rPr>
              <a:t>Release safety</a:t>
            </a:r>
          </a:p>
        </p:txBody>
      </p:sp>
      <p:sp>
        <p:nvSpPr>
          <p:cNvPr id="17" name="TextBox 16"/>
          <p:cNvSpPr txBox="1"/>
          <p:nvPr/>
        </p:nvSpPr>
        <p:spPr>
          <a:xfrm>
            <a:off x="6492240" y="2286000"/>
            <a:ext cx="4892040" cy="1280160"/>
          </a:xfrm>
          <a:prstGeom prst="rect">
            <a:avLst/>
          </a:prstGeom>
          <a:noFill/>
        </p:spPr>
        <p:txBody>
          <a:bodyPr wrap="square" anchor="t" lIns="0" rIns="0" tIns="0" bIns="0">
            <a:spAutoFit/>
          </a:bodyPr>
          <a:lstStyle/>
          <a:p>
            <a:pPr algn="l"/>
            <a:r>
              <a:rPr sz="1300" b="0">
                <a:solidFill>
                  <a:srgbClr val="5B6B7A"/>
                </a:solidFill>
                <a:latin typeface="Calibri"/>
              </a:rPr>
              <a:t>GitHub Actions on every push: lint, 261 tests on SQLite and DynamoDB, 21 quality gates on accuracy, safety and cost. Images built in CodeBuild; one command deploys or tears down.</a:t>
            </a:r>
          </a:p>
        </p:txBody>
      </p:sp>
      <p:sp>
        <p:nvSpPr>
          <p:cNvPr id="18" name="Rounded Rectangle 17"/>
          <p:cNvSpPr/>
          <p:nvPr/>
        </p:nvSpPr>
        <p:spPr>
          <a:xfrm>
            <a:off x="640080" y="393192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16052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33088"/>
            <a:ext cx="4892040" cy="365760"/>
          </a:xfrm>
          <a:prstGeom prst="rect">
            <a:avLst/>
          </a:prstGeom>
          <a:noFill/>
        </p:spPr>
        <p:txBody>
          <a:bodyPr wrap="square" anchor="t" lIns="0" rIns="0" tIns="0" bIns="0">
            <a:spAutoFit/>
          </a:bodyPr>
          <a:lstStyle/>
          <a:p>
            <a:pPr algn="l"/>
            <a:r>
              <a:rPr sz="1600" b="1">
                <a:solidFill>
                  <a:srgbClr val="1F2D3D"/>
                </a:solidFill>
                <a:latin typeface="Calibri"/>
              </a:rPr>
              <a:t>Cost control</a:t>
            </a:r>
          </a:p>
        </p:txBody>
      </p:sp>
      <p:sp>
        <p:nvSpPr>
          <p:cNvPr id="21" name="TextBox 20"/>
          <p:cNvSpPr txBox="1"/>
          <p:nvPr/>
        </p:nvSpPr>
        <p:spPr>
          <a:xfrm>
            <a:off x="914400" y="4526280"/>
            <a:ext cx="4892040" cy="1280160"/>
          </a:xfrm>
          <a:prstGeom prst="rect">
            <a:avLst/>
          </a:prstGeom>
          <a:noFill/>
        </p:spPr>
        <p:txBody>
          <a:bodyPr wrap="square" anchor="t" lIns="0" rIns="0" tIns="0" bIns="0">
            <a:spAutoFit/>
          </a:bodyPr>
          <a:lstStyle/>
          <a:p>
            <a:pPr algn="l"/>
            <a:r>
              <a:rPr sz="1300" b="0">
                <a:solidFill>
                  <a:srgbClr val="5B6B7A"/>
                </a:solidFill>
                <a:latin typeface="Calibri"/>
              </a:rPr>
              <a:t>Pay-per-use only: Lambda, AgentCore, DynamoDB on-demand, S3. About $1.25 a month idle. Budget alert plus hard model-spend caps that stop calls before a limit is crossed.</a:t>
            </a:r>
          </a:p>
        </p:txBody>
      </p:sp>
      <p:sp>
        <p:nvSpPr>
          <p:cNvPr id="22" name="Rounded Rectangle 21"/>
          <p:cNvSpPr/>
          <p:nvPr/>
        </p:nvSpPr>
        <p:spPr>
          <a:xfrm>
            <a:off x="6217920" y="393192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16052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133088"/>
            <a:ext cx="4892040" cy="365760"/>
          </a:xfrm>
          <a:prstGeom prst="rect">
            <a:avLst/>
          </a:prstGeom>
          <a:noFill/>
        </p:spPr>
        <p:txBody>
          <a:bodyPr wrap="square" anchor="t" lIns="0" rIns="0" tIns="0" bIns="0">
            <a:spAutoFit/>
          </a:bodyPr>
          <a:lstStyle/>
          <a:p>
            <a:pPr algn="l"/>
            <a:r>
              <a:rPr sz="1600" b="1">
                <a:solidFill>
                  <a:srgbClr val="1F2D3D"/>
                </a:solidFill>
                <a:latin typeface="Calibri"/>
              </a:rPr>
              <a:t>Data lifecycle</a:t>
            </a:r>
          </a:p>
        </p:txBody>
      </p:sp>
      <p:sp>
        <p:nvSpPr>
          <p:cNvPr id="25" name="TextBox 24"/>
          <p:cNvSpPr txBox="1"/>
          <p:nvPr/>
        </p:nvSpPr>
        <p:spPr>
          <a:xfrm>
            <a:off x="6492240" y="4526280"/>
            <a:ext cx="4892040" cy="1280160"/>
          </a:xfrm>
          <a:prstGeom prst="rect">
            <a:avLst/>
          </a:prstGeom>
          <a:noFill/>
        </p:spPr>
        <p:txBody>
          <a:bodyPr wrap="square" anchor="t" lIns="0" rIns="0" tIns="0" bIns="0">
            <a:spAutoFit/>
          </a:bodyPr>
          <a:lstStyle/>
          <a:p>
            <a:pPr algn="l"/>
            <a:r>
              <a:rPr sz="1300" b="0">
                <a:solidFill>
                  <a:srgbClr val="5B6B7A"/>
                </a:solidFill>
                <a:latin typeface="Calibri"/>
              </a:rPr>
              <a:t>Uploaded case files expire after 60 days, temporary uploads after 1 day. PHI is redacted from logs and traces. Policies can be updated by an admin without a release.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ENGINEERING DECISIONS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Every optimisation was measured before it shipped</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11</a:t>
            </a:r>
          </a:p>
        </p:txBody>
      </p:sp>
      <p:graphicFrame>
        <p:nvGraphicFramePr>
          <p:cNvPr id="10" name="Table 9"/>
          <p:cNvGraphicFramePr>
            <a:graphicFrameLocks noGrp="1"/>
          </p:cNvGraphicFramePr>
          <p:nvPr/>
        </p:nvGraphicFramePr>
        <p:xfrm>
          <a:off x="640080" y="1691640"/>
          <a:ext cx="10881360" cy="4023360"/>
        </p:xfrm>
        <a:graphic>
          <a:graphicData uri="http://schemas.openxmlformats.org/drawingml/2006/table">
            <a:tbl>
              <a:tblPr firstRow="1" bandRow="1">
                <a:tableStyleId>{5C22544A-7EE6-4342-B048-85BDC9FD1C3A}</a:tableStyleId>
              </a:tblPr>
              <a:tblGrid>
                <a:gridCol w="5120640"/>
                <a:gridCol w="3657600"/>
                <a:gridCol w="2103120"/>
              </a:tblGrid>
              <a:tr h="574765">
                <a:tc>
                  <a:txBody>
                    <a:bodyPr/>
                    <a:lstStyle/>
                    <a:p>
                      <a:r>
                        <a:rPr sz="1400" b="1">
                          <a:solidFill>
                            <a:srgbClr val="FFFFFF"/>
                          </a:solidFill>
                          <a:latin typeface="Calibri"/>
                        </a:rPr>
                        <a:t>Change</a:t>
                      </a:r>
                    </a:p>
                  </a:txBody>
                  <a:tcPr anchor="ctr">
                    <a:solidFill>
                      <a:srgbClr val="0F7F8A"/>
                    </a:solidFill>
                  </a:tcPr>
                </a:tc>
                <a:tc>
                  <a:txBody>
                    <a:bodyPr/>
                    <a:lstStyle/>
                    <a:p>
                      <a:r>
                        <a:rPr sz="1400" b="1">
                          <a:solidFill>
                            <a:srgbClr val="FFFFFF"/>
                          </a:solidFill>
                          <a:latin typeface="Calibri"/>
                        </a:rPr>
                        <a:t>Measured effect</a:t>
                      </a:r>
                    </a:p>
                  </a:txBody>
                  <a:tcPr anchor="ctr">
                    <a:solidFill>
                      <a:srgbClr val="0F7F8A"/>
                    </a:solidFill>
                  </a:tcPr>
                </a:tc>
                <a:tc>
                  <a:txBody>
                    <a:bodyPr/>
                    <a:lstStyle/>
                    <a:p>
                      <a:r>
                        <a:rPr sz="1400" b="1">
                          <a:solidFill>
                            <a:srgbClr val="FFFFFF"/>
                          </a:solidFill>
                          <a:latin typeface="Calibri"/>
                        </a:rPr>
                        <a:t>Accuracy</a:t>
                      </a:r>
                    </a:p>
                  </a:txBody>
                  <a:tcPr anchor="ctr">
                    <a:solidFill>
                      <a:srgbClr val="0F7F8A"/>
                    </a:solidFill>
                  </a:tcPr>
                </a:tc>
              </a:tr>
              <a:tr h="574765">
                <a:tc>
                  <a:txBody>
                    <a:bodyPr/>
                    <a:lstStyle/>
                    <a:p>
                      <a:r>
                        <a:rPr sz="1400" b="1">
                          <a:solidFill>
                            <a:srgbClr val="1F2D3D"/>
                          </a:solidFill>
                          <a:latin typeface="Calibri"/>
                        </a:rPr>
                        <a:t>OCR first: vision model only when OCR isn't enough</a:t>
                      </a:r>
                    </a:p>
                  </a:txBody>
                  <a:tcPr anchor="ctr">
                    <a:solidFill>
                      <a:srgbClr val="FFFFFF"/>
                    </a:solidFill>
                  </a:tcPr>
                </a:tc>
                <a:tc>
                  <a:txBody>
                    <a:bodyPr/>
                    <a:lstStyle/>
                    <a:p>
                      <a:r>
                        <a:rPr sz="1400" b="0">
                          <a:solidFill>
                            <a:srgbClr val="1F2D3D"/>
                          </a:solidFill>
                          <a:latin typeface="Calibri"/>
                        </a:rPr>
                        <a:t>−25% cost per case</a:t>
                      </a:r>
                    </a:p>
                  </a:txBody>
                  <a:tcPr anchor="ctr">
                    <a:solidFill>
                      <a:srgbClr val="FFFFFF"/>
                    </a:solidFill>
                  </a:tcPr>
                </a:tc>
                <a:tc>
                  <a:txBody>
                    <a:bodyPr/>
                    <a:lstStyle/>
                    <a:p>
                      <a:r>
                        <a:rPr sz="1400" b="0">
                          <a:solidFill>
                            <a:srgbClr val="1F2D3D"/>
                          </a:solidFill>
                          <a:latin typeface="Calibri"/>
                        </a:rPr>
                        <a:t>unchanged</a:t>
                      </a:r>
                    </a:p>
                  </a:txBody>
                  <a:tcPr anchor="ctr">
                    <a:solidFill>
                      <a:srgbClr val="FFFFFF"/>
                    </a:solidFill>
                  </a:tcPr>
                </a:tc>
              </a:tr>
              <a:tr h="574765">
                <a:tc>
                  <a:txBody>
                    <a:bodyPr/>
                    <a:lstStyle/>
                    <a:p>
                      <a:r>
                        <a:rPr sz="1400" b="1">
                          <a:solidFill>
                            <a:srgbClr val="1F2D3D"/>
                          </a:solidFill>
                          <a:latin typeface="Calibri"/>
                        </a:rPr>
                        <a:t>Sonnet instead of Opus for policy and fraud</a:t>
                      </a:r>
                    </a:p>
                  </a:txBody>
                  <a:tcPr anchor="ctr">
                    <a:solidFill>
                      <a:srgbClr val="F3F8F9"/>
                    </a:solidFill>
                  </a:tcPr>
                </a:tc>
                <a:tc>
                  <a:txBody>
                    <a:bodyPr/>
                    <a:lstStyle/>
                    <a:p>
                      <a:r>
                        <a:rPr sz="1400" b="0">
                          <a:solidFill>
                            <a:srgbClr val="1F2D3D"/>
                          </a:solidFill>
                          <a:latin typeface="Calibri"/>
                        </a:rPr>
                        <a:t>−36% cost per case ($0.13 → $0.08)</a:t>
                      </a:r>
                    </a:p>
                  </a:txBody>
                  <a:tcPr anchor="ctr">
                    <a:solidFill>
                      <a:srgbClr val="F3F8F9"/>
                    </a:solidFill>
                  </a:tcPr>
                </a:tc>
                <a:tc>
                  <a:txBody>
                    <a:bodyPr/>
                    <a:lstStyle/>
                    <a:p>
                      <a:r>
                        <a:rPr sz="1400" b="0">
                          <a:solidFill>
                            <a:srgbClr val="1F2D3D"/>
                          </a:solidFill>
                          <a:latin typeface="Calibri"/>
                        </a:rPr>
                        <a:t>identical decisions</a:t>
                      </a:r>
                    </a:p>
                  </a:txBody>
                  <a:tcPr anchor="ctr">
                    <a:solidFill>
                      <a:srgbClr val="F3F8F9"/>
                    </a:solidFill>
                  </a:tcPr>
                </a:tc>
              </a:tr>
              <a:tr h="574765">
                <a:tc>
                  <a:txBody>
                    <a:bodyPr/>
                    <a:lstStyle/>
                    <a:p>
                      <a:r>
                        <a:rPr sz="1400" b="1">
                          <a:solidFill>
                            <a:srgbClr val="1F2D3D"/>
                          </a:solidFill>
                          <a:latin typeface="Calibri"/>
                        </a:rPr>
                        <a:t>7× smaller reranker (fits the 2 GB AgentCore image)</a:t>
                      </a:r>
                    </a:p>
                  </a:txBody>
                  <a:tcPr anchor="ctr">
                    <a:solidFill>
                      <a:srgbClr val="FFFFFF"/>
                    </a:solidFill>
                  </a:tcPr>
                </a:tc>
                <a:tc>
                  <a:txBody>
                    <a:bodyPr/>
                    <a:lstStyle/>
                    <a:p>
                      <a:r>
                        <a:rPr sz="1400" b="0">
                          <a:solidFill>
                            <a:srgbClr val="1F2D3D"/>
                          </a:solidFill>
                          <a:latin typeface="Calibri"/>
                        </a:rPr>
                        <a:t>MRR 0.963 → 1.000</a:t>
                      </a:r>
                    </a:p>
                  </a:txBody>
                  <a:tcPr anchor="ctr">
                    <a:solidFill>
                      <a:srgbClr val="FFFFFF"/>
                    </a:solidFill>
                  </a:tcPr>
                </a:tc>
                <a:tc>
                  <a:txBody>
                    <a:bodyPr/>
                    <a:lstStyle/>
                    <a:p>
                      <a:r>
                        <a:rPr sz="1400" b="0">
                          <a:solidFill>
                            <a:srgbClr val="1F2D3D"/>
                          </a:solidFill>
                          <a:latin typeface="Calibri"/>
                        </a:rPr>
                        <a:t>better</a:t>
                      </a:r>
                    </a:p>
                  </a:txBody>
                  <a:tcPr anchor="ctr">
                    <a:solidFill>
                      <a:srgbClr val="FFFFFF"/>
                    </a:solidFill>
                  </a:tcPr>
                </a:tc>
              </a:tr>
              <a:tr h="574765">
                <a:tc>
                  <a:txBody>
                    <a:bodyPr/>
                    <a:lstStyle/>
                    <a:p>
                      <a:r>
                        <a:rPr sz="1400" b="1">
                          <a:solidFill>
                            <a:srgbClr val="1F2D3D"/>
                          </a:solidFill>
                          <a:latin typeface="Calibri"/>
                        </a:rPr>
                        <a:t>Fraud check beside the specialists; length-sorted batching</a:t>
                      </a:r>
                    </a:p>
                  </a:txBody>
                  <a:tcPr anchor="ctr">
                    <a:solidFill>
                      <a:srgbClr val="F3F8F9"/>
                    </a:solidFill>
                  </a:tcPr>
                </a:tc>
                <a:tc>
                  <a:txBody>
                    <a:bodyPr/>
                    <a:lstStyle/>
                    <a:p>
                      <a:r>
                        <a:rPr sz="1400" b="0">
                          <a:solidFill>
                            <a:srgbClr val="1F2D3D"/>
                          </a:solidFill>
                          <a:latin typeface="Calibri"/>
                        </a:rPr>
                        <a:t>index build 4.4 s → 1.8 s, search 0.5 s → 0.14 s</a:t>
                      </a:r>
                    </a:p>
                  </a:txBody>
                  <a:tcPr anchor="ctr">
                    <a:solidFill>
                      <a:srgbClr val="F3F8F9"/>
                    </a:solidFill>
                  </a:tcPr>
                </a:tc>
                <a:tc>
                  <a:txBody>
                    <a:bodyPr/>
                    <a:lstStyle/>
                    <a:p>
                      <a:r>
                        <a:rPr sz="1400" b="0">
                          <a:solidFill>
                            <a:srgbClr val="1F2D3D"/>
                          </a:solidFill>
                          <a:latin typeface="Calibri"/>
                        </a:rPr>
                        <a:t>unchanged</a:t>
                      </a:r>
                    </a:p>
                  </a:txBody>
                  <a:tcPr anchor="ctr">
                    <a:solidFill>
                      <a:srgbClr val="F3F8F9"/>
                    </a:solidFill>
                  </a:tcPr>
                </a:tc>
              </a:tr>
              <a:tr h="574765">
                <a:tc>
                  <a:txBody>
                    <a:bodyPr/>
                    <a:lstStyle/>
                    <a:p>
                      <a:r>
                        <a:rPr sz="1400" b="1">
                          <a:solidFill>
                            <a:srgbClr val="1F2D3D"/>
                          </a:solidFill>
                          <a:latin typeface="Calibri"/>
                        </a:rPr>
                        <a:t>Lazy imports + keep-warm ping</a:t>
                      </a:r>
                    </a:p>
                  </a:txBody>
                  <a:tcPr anchor="ctr">
                    <a:solidFill>
                      <a:srgbClr val="FFFFFF"/>
                    </a:solidFill>
                  </a:tcPr>
                </a:tc>
                <a:tc>
                  <a:txBody>
                    <a:bodyPr/>
                    <a:lstStyle/>
                    <a:p>
                      <a:r>
                        <a:rPr sz="1400" b="0">
                          <a:solidFill>
                            <a:srgbClr val="1F2D3D"/>
                          </a:solidFill>
                          <a:latin typeface="Calibri"/>
                        </a:rPr>
                        <a:t>sign-in ≈ 15 s → under 1 s</a:t>
                      </a:r>
                    </a:p>
                  </a:txBody>
                  <a:tcPr anchor="ctr">
                    <a:solidFill>
                      <a:srgbClr val="FFFFFF"/>
                    </a:solidFill>
                  </a:tcPr>
                </a:tc>
                <a:tc>
                  <a:txBody>
                    <a:bodyPr/>
                    <a:lstStyle/>
                    <a:p>
                      <a:r>
                        <a:rPr sz="1400" b="0">
                          <a:solidFill>
                            <a:srgbClr val="1F2D3D"/>
                          </a:solidFill>
                          <a:latin typeface="Calibri"/>
                        </a:rPr>
                        <a:t>n/a</a:t>
                      </a:r>
                    </a:p>
                  </a:txBody>
                  <a:tcPr anchor="ctr">
                    <a:solidFill>
                      <a:srgbClr val="FFFFFF"/>
                    </a:solidFill>
                  </a:tcPr>
                </a:tc>
              </a:tr>
              <a:tr h="574770">
                <a:tc>
                  <a:txBody>
                    <a:bodyPr/>
                    <a:lstStyle/>
                    <a:p>
                      <a:r>
                        <a:rPr sz="1400" b="1">
                          <a:solidFill>
                            <a:srgbClr val="1F2D3D"/>
                          </a:solidFill>
                          <a:latin typeface="Calibri"/>
                        </a:rPr>
                        <a:t>Text-only extraction (tested, rejected)</a:t>
                      </a:r>
                    </a:p>
                  </a:txBody>
                  <a:tcPr anchor="ctr">
                    <a:solidFill>
                      <a:srgbClr val="F3F8F9"/>
                    </a:solidFill>
                  </a:tcPr>
                </a:tc>
                <a:tc>
                  <a:txBody>
                    <a:bodyPr/>
                    <a:lstStyle/>
                    <a:p>
                      <a:r>
                        <a:rPr sz="1400" b="0">
                          <a:solidFill>
                            <a:srgbClr val="1F2D3D"/>
                          </a:solidFill>
                          <a:latin typeface="Calibri"/>
                        </a:rPr>
                        <a:t>−4% cost</a:t>
                      </a:r>
                    </a:p>
                  </a:txBody>
                  <a:tcPr anchor="ctr">
                    <a:solidFill>
                      <a:srgbClr val="F3F8F9"/>
                    </a:solidFill>
                  </a:tcPr>
                </a:tc>
                <a:tc>
                  <a:txBody>
                    <a:bodyPr/>
                    <a:lstStyle/>
                    <a:p>
                      <a:r>
                        <a:rPr sz="1400" b="0">
                          <a:solidFill>
                            <a:srgbClr val="C0392B"/>
                          </a:solidFill>
                          <a:latin typeface="Calibri"/>
                        </a:rPr>
                        <a:t>−4 pts → not shipped</a:t>
                      </a:r>
                    </a:p>
                  </a:txBody>
                  <a:tcPr anchor="ctr">
                    <a:solidFill>
                      <a:srgbClr val="F3F8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RISKS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Known risks, and how we close them before go-live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12</a:t>
            </a:r>
          </a:p>
        </p:txBody>
      </p:sp>
      <p:graphicFrame>
        <p:nvGraphicFramePr>
          <p:cNvPr id="10" name="Table 9"/>
          <p:cNvGraphicFramePr>
            <a:graphicFrameLocks noGrp="1"/>
          </p:cNvGraphicFramePr>
          <p:nvPr/>
        </p:nvGraphicFramePr>
        <p:xfrm>
          <a:off x="640080" y="1691640"/>
          <a:ext cx="10881360" cy="4389120"/>
        </p:xfrm>
        <a:graphic>
          <a:graphicData uri="http://schemas.openxmlformats.org/drawingml/2006/table">
            <a:tbl>
              <a:tblPr firstRow="1" bandRow="1">
                <a:tableStyleId>{5C22544A-7EE6-4342-B048-85BDC9FD1C3A}</a:tableStyleId>
              </a:tblPr>
              <a:tblGrid>
                <a:gridCol w="3017520"/>
                <a:gridCol w="3566160"/>
                <a:gridCol w="4297680"/>
              </a:tblGrid>
              <a:tr h="627017">
                <a:tc>
                  <a:txBody>
                    <a:bodyPr/>
                    <a:lstStyle/>
                    <a:p>
                      <a:r>
                        <a:rPr sz="1200" b="1">
                          <a:solidFill>
                            <a:srgbClr val="FFFFFF"/>
                          </a:solidFill>
                          <a:latin typeface="Calibri"/>
                        </a:rPr>
                        <a:t>Risk</a:t>
                      </a:r>
                    </a:p>
                  </a:txBody>
                  <a:tcPr anchor="ctr">
                    <a:solidFill>
                      <a:srgbClr val="0F7F8A"/>
                    </a:solidFill>
                  </a:tcPr>
                </a:tc>
                <a:tc>
                  <a:txBody>
                    <a:bodyPr/>
                    <a:lstStyle/>
                    <a:p>
                      <a:r>
                        <a:rPr sz="1200" b="1">
                          <a:solidFill>
                            <a:srgbClr val="FFFFFF"/>
                          </a:solidFill>
                          <a:latin typeface="Calibri"/>
                        </a:rPr>
                        <a:t>What could happen</a:t>
                      </a:r>
                    </a:p>
                  </a:txBody>
                  <a:tcPr anchor="ctr">
                    <a:solidFill>
                      <a:srgbClr val="0F7F8A"/>
                    </a:solidFill>
                  </a:tcPr>
                </a:tc>
                <a:tc>
                  <a:txBody>
                    <a:bodyPr/>
                    <a:lstStyle/>
                    <a:p>
                      <a:r>
                        <a:rPr sz="1200" b="1">
                          <a:solidFill>
                            <a:srgbClr val="FFFFFF"/>
                          </a:solidFill>
                          <a:latin typeface="Calibri"/>
                        </a:rPr>
                        <a:t>Mitigation</a:t>
                      </a:r>
                    </a:p>
                  </a:txBody>
                  <a:tcPr anchor="ctr">
                    <a:solidFill>
                      <a:srgbClr val="0F7F8A"/>
                    </a:solidFill>
                  </a:tcPr>
                </a:tc>
              </a:tr>
              <a:tr h="627017">
                <a:tc>
                  <a:txBody>
                    <a:bodyPr/>
                    <a:lstStyle/>
                    <a:p>
                      <a:r>
                        <a:rPr sz="1200" b="1">
                          <a:solidFill>
                            <a:srgbClr val="1F2D3D"/>
                          </a:solidFill>
                          <a:latin typeface="Calibri"/>
                        </a:rPr>
                        <a:t>Only synthetic documents tested</a:t>
                      </a:r>
                    </a:p>
                  </a:txBody>
                  <a:tcPr anchor="ctr">
                    <a:solidFill>
                      <a:srgbClr val="FFFFFF"/>
                    </a:solidFill>
                  </a:tcPr>
                </a:tc>
                <a:tc>
                  <a:txBody>
                    <a:bodyPr/>
                    <a:lstStyle/>
                    <a:p>
                      <a:r>
                        <a:rPr sz="1200" b="0">
                          <a:solidFill>
                            <a:srgbClr val="1F2D3D"/>
                          </a:solidFill>
                          <a:latin typeface="Calibri"/>
                        </a:rPr>
                        <a:t>Real scans (fax noise, skew, multi-page) read worse</a:t>
                      </a:r>
                    </a:p>
                  </a:txBody>
                  <a:tcPr anchor="ctr">
                    <a:solidFill>
                      <a:srgbClr val="FFFFFF"/>
                    </a:solidFill>
                  </a:tcPr>
                </a:tc>
                <a:tc>
                  <a:txBody>
                    <a:bodyPr/>
                    <a:lstStyle/>
                    <a:p>
                      <a:r>
                        <a:rPr sz="1200" b="0">
                          <a:solidFill>
                            <a:srgbClr val="1F2D3D"/>
                          </a:solidFill>
                          <a:latin typeface="Calibri"/>
                        </a:rPr>
                        <a:t>Shadow pilot on de-identified real scans; go-live gated on agreement with reviewers</a:t>
                      </a:r>
                    </a:p>
                  </a:txBody>
                  <a:tcPr anchor="ctr">
                    <a:solidFill>
                      <a:srgbClr val="FFFFFF"/>
                    </a:solidFill>
                  </a:tcPr>
                </a:tc>
              </a:tr>
              <a:tr h="627017">
                <a:tc>
                  <a:txBody>
                    <a:bodyPr/>
                    <a:lstStyle/>
                    <a:p>
                      <a:r>
                        <a:rPr sz="1200" b="1">
                          <a:solidFill>
                            <a:srgbClr val="1F2D3D"/>
                          </a:solidFill>
                          <a:latin typeface="Calibri"/>
                        </a:rPr>
                        <a:t>Subtle forged IDs</a:t>
                      </a:r>
                    </a:p>
                  </a:txBody>
                  <a:tcPr anchor="ctr">
                    <a:solidFill>
                      <a:srgbClr val="F3F8F9"/>
                    </a:solidFill>
                  </a:tcPr>
                </a:tc>
                <a:tc>
                  <a:txBody>
                    <a:bodyPr/>
                    <a:lstStyle/>
                    <a:p>
                      <a:r>
                        <a:rPr sz="1200" b="0">
                          <a:solidFill>
                            <a:srgbClr val="1F2D3D"/>
                          </a:solidFill>
                          <a:latin typeface="Calibri"/>
                        </a:rPr>
                        <a:t>1 of 3 forged IDs missed on the stress-test set</a:t>
                      </a:r>
                    </a:p>
                  </a:txBody>
                  <a:tcPr anchor="ctr">
                    <a:solidFill>
                      <a:srgbClr val="F3F8F9"/>
                    </a:solidFill>
                  </a:tcPr>
                </a:tc>
                <a:tc>
                  <a:txBody>
                    <a:bodyPr/>
                    <a:lstStyle/>
                    <a:p>
                      <a:r>
                        <a:rPr sz="1200" b="0">
                          <a:solidFill>
                            <a:srgbClr val="1F2D3D"/>
                          </a:solidFill>
                          <a:latin typeface="Calibri"/>
                        </a:rPr>
                        <a:t>Suspicious IDs escalate rather than approve; add an ID-verification service</a:t>
                      </a:r>
                    </a:p>
                  </a:txBody>
                  <a:tcPr anchor="ctr">
                    <a:solidFill>
                      <a:srgbClr val="F3F8F9"/>
                    </a:solidFill>
                  </a:tcPr>
                </a:tc>
              </a:tr>
              <a:tr h="627017">
                <a:tc>
                  <a:txBody>
                    <a:bodyPr/>
                    <a:lstStyle/>
                    <a:p>
                      <a:r>
                        <a:rPr sz="1200" b="1">
                          <a:solidFill>
                            <a:srgbClr val="1F2D3D"/>
                          </a:solidFill>
                          <a:latin typeface="Calibri"/>
                        </a:rPr>
                        <a:t>PHI sent to an external model API</a:t>
                      </a:r>
                    </a:p>
                  </a:txBody>
                  <a:tcPr anchor="ctr">
                    <a:solidFill>
                      <a:srgbClr val="FFFFFF"/>
                    </a:solidFill>
                  </a:tcPr>
                </a:tc>
                <a:tc>
                  <a:txBody>
                    <a:bodyPr/>
                    <a:lstStyle/>
                    <a:p>
                      <a:r>
                        <a:rPr sz="1200" b="0">
                          <a:solidFill>
                            <a:srgbClr val="1F2D3D"/>
                          </a:solidFill>
                          <a:latin typeface="Calibri"/>
                        </a:rPr>
                        <a:t>Compliance exposure</a:t>
                      </a:r>
                    </a:p>
                  </a:txBody>
                  <a:tcPr anchor="ctr">
                    <a:solidFill>
                      <a:srgbClr val="FFFFFF"/>
                    </a:solidFill>
                  </a:tcPr>
                </a:tc>
                <a:tc>
                  <a:txBody>
                    <a:bodyPr/>
                    <a:lstStyle/>
                    <a:p>
                      <a:r>
                        <a:rPr sz="1200" b="0">
                          <a:solidFill>
                            <a:srgbClr val="1F2D3D"/>
                          </a:solidFill>
                          <a:latin typeface="Calibri"/>
                        </a:rPr>
                        <a:t>Call Claude through Amazon Bedrock inside our AWS account, subject to security review</a:t>
                      </a:r>
                    </a:p>
                  </a:txBody>
                  <a:tcPr anchor="ctr">
                    <a:solidFill>
                      <a:srgbClr val="FFFFFF"/>
                    </a:solidFill>
                  </a:tcPr>
                </a:tc>
              </a:tr>
              <a:tr h="627017">
                <a:tc>
                  <a:txBody>
                    <a:bodyPr/>
                    <a:lstStyle/>
                    <a:p>
                      <a:r>
                        <a:rPr sz="1200" b="1">
                          <a:solidFill>
                            <a:srgbClr val="1F2D3D"/>
                          </a:solidFill>
                          <a:latin typeface="Calibri"/>
                        </a:rPr>
                        <a:t>Volume beyond demo scale</a:t>
                      </a:r>
                    </a:p>
                  </a:txBody>
                  <a:tcPr anchor="ctr">
                    <a:solidFill>
                      <a:srgbClr val="F3F8F9"/>
                    </a:solidFill>
                  </a:tcPr>
                </a:tc>
                <a:tc>
                  <a:txBody>
                    <a:bodyPr/>
                    <a:lstStyle/>
                    <a:p>
                      <a:r>
                        <a:rPr sz="1200" b="0">
                          <a:solidFill>
                            <a:srgbClr val="1F2D3D"/>
                          </a:solidFill>
                          <a:latin typeface="Calibri"/>
                        </a:rPr>
                        <a:t>Duplicate checks and lists read every case</a:t>
                      </a:r>
                    </a:p>
                  </a:txBody>
                  <a:tcPr anchor="ctr">
                    <a:solidFill>
                      <a:srgbClr val="F3F8F9"/>
                    </a:solidFill>
                  </a:tcPr>
                </a:tc>
                <a:tc>
                  <a:txBody>
                    <a:bodyPr/>
                    <a:lstStyle/>
                    <a:p>
                      <a:r>
                        <a:rPr sz="1200" b="0">
                          <a:solidFill>
                            <a:srgbClr val="1F2D3D"/>
                          </a:solidFill>
                          <a:latin typeface="Calibri"/>
                        </a:rPr>
                        <a:t>Keyed duplicate index, status index and running counters (designed)</a:t>
                      </a:r>
                    </a:p>
                  </a:txBody>
                  <a:tcPr anchor="ctr">
                    <a:solidFill>
                      <a:srgbClr val="F3F8F9"/>
                    </a:solidFill>
                  </a:tcPr>
                </a:tc>
              </a:tr>
              <a:tr h="627017">
                <a:tc>
                  <a:txBody>
                    <a:bodyPr/>
                    <a:lstStyle/>
                    <a:p>
                      <a:r>
                        <a:rPr sz="1200" b="1">
                          <a:solidFill>
                            <a:srgbClr val="1F2D3D"/>
                          </a:solidFill>
                          <a:latin typeface="Calibri"/>
                        </a:rPr>
                        <a:t>Cold starts after idle</a:t>
                      </a:r>
                    </a:p>
                  </a:txBody>
                  <a:tcPr anchor="ctr">
                    <a:solidFill>
                      <a:srgbClr val="FFFFFF"/>
                    </a:solidFill>
                  </a:tcPr>
                </a:tc>
                <a:tc>
                  <a:txBody>
                    <a:bodyPr/>
                    <a:lstStyle/>
                    <a:p>
                      <a:r>
                        <a:rPr sz="1200" b="0">
                          <a:solidFill>
                            <a:srgbClr val="1F2D3D"/>
                          </a:solidFill>
                          <a:latin typeface="Calibri"/>
                        </a:rPr>
                        <a:t>First action can take 10–30 s</a:t>
                      </a:r>
                    </a:p>
                  </a:txBody>
                  <a:tcPr anchor="ctr">
                    <a:solidFill>
                      <a:srgbClr val="FFFFFF"/>
                    </a:solidFill>
                  </a:tcPr>
                </a:tc>
                <a:tc>
                  <a:txBody>
                    <a:bodyPr/>
                    <a:lstStyle/>
                    <a:p>
                      <a:r>
                        <a:rPr sz="1200" b="0">
                          <a:solidFill>
                            <a:srgbClr val="1F2D3D"/>
                          </a:solidFill>
                          <a:latin typeface="Calibri"/>
                        </a:rPr>
                        <a:t>Keep a small warm pool of agent sessions in business hours</a:t>
                      </a:r>
                    </a:p>
                  </a:txBody>
                  <a:tcPr anchor="ctr">
                    <a:solidFill>
                      <a:srgbClr val="FFFFFF"/>
                    </a:solidFill>
                  </a:tcPr>
                </a:tc>
              </a:tr>
              <a:tr h="627018">
                <a:tc>
                  <a:txBody>
                    <a:bodyPr/>
                    <a:lstStyle/>
                    <a:p>
                      <a:r>
                        <a:rPr sz="1200" b="1">
                          <a:solidFill>
                            <a:srgbClr val="1F2D3D"/>
                          </a:solidFill>
                          <a:latin typeface="Calibri"/>
                        </a:rPr>
                        <a:t>Model updates</a:t>
                      </a:r>
                    </a:p>
                  </a:txBody>
                  <a:tcPr anchor="ctr">
                    <a:solidFill>
                      <a:srgbClr val="F3F8F9"/>
                    </a:solidFill>
                  </a:tcPr>
                </a:tc>
                <a:tc>
                  <a:txBody>
                    <a:bodyPr/>
                    <a:lstStyle/>
                    <a:p>
                      <a:r>
                        <a:rPr sz="1200" b="0">
                          <a:solidFill>
                            <a:srgbClr val="1F2D3D"/>
                          </a:solidFill>
                          <a:latin typeface="Calibri"/>
                        </a:rPr>
                        <a:t>Behaviour changes with a new model version</a:t>
                      </a:r>
                    </a:p>
                  </a:txBody>
                  <a:tcPr anchor="ctr">
                    <a:solidFill>
                      <a:srgbClr val="F3F8F9"/>
                    </a:solidFill>
                  </a:tcPr>
                </a:tc>
                <a:tc>
                  <a:txBody>
                    <a:bodyPr/>
                    <a:lstStyle/>
                    <a:p>
                      <a:r>
                        <a:rPr sz="1200" b="0">
                          <a:solidFill>
                            <a:srgbClr val="1F2D3D"/>
                          </a:solidFill>
                          <a:latin typeface="Calibri"/>
                        </a:rPr>
                        <a:t>Routing in one file; the 21 quality gates must pass before any switch</a:t>
                      </a:r>
                    </a:p>
                  </a:txBody>
                  <a:tcPr anchor="ctr">
                    <a:solidFill>
                      <a:srgbClr val="F3F8F9"/>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NEXT STEPS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Recommendation: a shadow pilot, then a staged go-live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13</a:t>
            </a:r>
          </a:p>
        </p:txBody>
      </p:sp>
      <p:sp>
        <p:nvSpPr>
          <p:cNvPr id="10" name="Rounded Rectangle 9"/>
          <p:cNvSpPr/>
          <p:nvPr/>
        </p:nvSpPr>
        <p:spPr>
          <a:xfrm>
            <a:off x="640080"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1 · Shadow pilot</a:t>
            </a:r>
          </a:p>
        </p:txBody>
      </p:sp>
      <p:sp>
        <p:nvSpPr>
          <p:cNvPr id="12" name="TextBox 11"/>
          <p:cNvSpPr txBox="1"/>
          <p:nvPr/>
        </p:nvSpPr>
        <p:spPr>
          <a:xfrm>
            <a:off x="914400"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proposed: 6 weeks</a:t>
            </a:r>
          </a:p>
        </p:txBody>
      </p:sp>
      <p:sp>
        <p:nvSpPr>
          <p:cNvPr id="13" name="TextBox 12"/>
          <p:cNvSpPr txBox="1"/>
          <p:nvPr/>
        </p:nvSpPr>
        <p:spPr>
          <a:xfrm>
            <a:off x="914400"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Runs beside one reviewer team on de-identified real scans; members are not affected. Model spend ≈ $18 per 1,000 documents.</a:t>
            </a:r>
          </a:p>
        </p:txBody>
      </p:sp>
      <p:sp>
        <p:nvSpPr>
          <p:cNvPr id="14" name="TextBox 13"/>
          <p:cNvSpPr txBox="1"/>
          <p:nvPr/>
        </p:nvSpPr>
        <p:spPr>
          <a:xfrm>
            <a:off x="914400"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Exit: agrees with reviewers on ≥ 95% of 1,000+ documents; no PHI incidents</a:t>
            </a:r>
          </a:p>
        </p:txBody>
      </p:sp>
      <p:sp>
        <p:nvSpPr>
          <p:cNvPr id="15" name="Rounded Rectangle 14"/>
          <p:cNvSpPr/>
          <p:nvPr/>
        </p:nvSpPr>
        <p:spPr>
          <a:xfrm>
            <a:off x="4343400"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2 · Assisted decisions</a:t>
            </a:r>
          </a:p>
        </p:txBody>
      </p:sp>
      <p:sp>
        <p:nvSpPr>
          <p:cNvPr id="17" name="TextBox 16"/>
          <p:cNvSpPr txBox="1"/>
          <p:nvPr/>
        </p:nvSpPr>
        <p:spPr>
          <a:xfrm>
            <a:off x="4617720"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after phase 1</a:t>
            </a:r>
          </a:p>
        </p:txBody>
      </p:sp>
      <p:sp>
        <p:nvSpPr>
          <p:cNvPr id="18" name="TextBox 17"/>
          <p:cNvSpPr txBox="1"/>
          <p:nvPr/>
        </p:nvSpPr>
        <p:spPr>
          <a:xfrm>
            <a:off x="4617720"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The AI decides; reviewers confirm every rejection. Company SSO and Bedrock model access in place.</a:t>
            </a:r>
          </a:p>
        </p:txBody>
      </p:sp>
      <p:sp>
        <p:nvSpPr>
          <p:cNvPr id="19" name="TextBox 18"/>
          <p:cNvSpPr txBox="1"/>
          <p:nvPr/>
        </p:nvSpPr>
        <p:spPr>
          <a:xfrm>
            <a:off x="4617720"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Exit: reviewer override rate under 5% in the quality monitor</a:t>
            </a:r>
          </a:p>
        </p:txBody>
      </p:sp>
      <p:sp>
        <p:nvSpPr>
          <p:cNvPr id="20" name="Rounded Rectangle 19"/>
          <p:cNvSpPr/>
          <p:nvPr/>
        </p:nvSpPr>
        <p:spPr>
          <a:xfrm>
            <a:off x="8046719"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39"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3 · Straight-through</a:t>
            </a:r>
          </a:p>
        </p:txBody>
      </p:sp>
      <p:sp>
        <p:nvSpPr>
          <p:cNvPr id="22" name="TextBox 21"/>
          <p:cNvSpPr txBox="1"/>
          <p:nvPr/>
        </p:nvSpPr>
        <p:spPr>
          <a:xfrm>
            <a:off x="8321039"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after phase 2</a:t>
            </a:r>
          </a:p>
        </p:txBody>
      </p:sp>
      <p:sp>
        <p:nvSpPr>
          <p:cNvPr id="23" name="TextBox 22"/>
          <p:cNvSpPr txBox="1"/>
          <p:nvPr/>
        </p:nvSpPr>
        <p:spPr>
          <a:xfrm>
            <a:off x="8321039"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Clean approvals complete automatically; escalations and four-eyes stay human. Scale fixes and warm pool live.</a:t>
            </a:r>
          </a:p>
        </p:txBody>
      </p:sp>
      <p:sp>
        <p:nvSpPr>
          <p:cNvPr id="24" name="TextBox 23"/>
          <p:cNvSpPr txBox="1"/>
          <p:nvPr/>
        </p:nvSpPr>
        <p:spPr>
          <a:xfrm>
            <a:off x="8321039"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Ongoing: quality gates and monitor reviewed monthly</a:t>
            </a:r>
          </a:p>
        </p:txBody>
      </p:sp>
      <p:sp>
        <p:nvSpPr>
          <p:cNvPr id="25" name="Rounded Rectangle 24"/>
          <p:cNvSpPr/>
          <p:nvPr/>
        </p:nvSpPr>
        <p:spPr>
          <a:xfrm>
            <a:off x="640080" y="4983480"/>
            <a:ext cx="10881360" cy="1234440"/>
          </a:xfrm>
          <a:prstGeom prst="roundRect">
            <a:avLst>
              <a:gd name="adj" fmla="val 8000"/>
            </a:avLst>
          </a:prstGeom>
          <a:solidFill>
            <a:srgbClr val="1242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120640"/>
            <a:ext cx="10424160" cy="365760"/>
          </a:xfrm>
          <a:prstGeom prst="rect">
            <a:avLst/>
          </a:prstGeom>
          <a:noFill/>
        </p:spPr>
        <p:txBody>
          <a:bodyPr wrap="square" anchor="t" lIns="0" rIns="0" tIns="0" bIns="0">
            <a:spAutoFit/>
          </a:bodyPr>
          <a:lstStyle/>
          <a:p>
            <a:pPr algn="l"/>
            <a:r>
              <a:rPr sz="1600" b="1">
                <a:solidFill>
                  <a:srgbClr val="FFFFFF"/>
                </a:solidFill>
                <a:latin typeface="Calibri"/>
              </a:rPr>
              <a:t>Decisions I need today</a:t>
            </a:r>
          </a:p>
        </p:txBody>
      </p:sp>
      <p:sp>
        <p:nvSpPr>
          <p:cNvPr id="27" name="TextBox 26"/>
          <p:cNvSpPr txBox="1"/>
          <p:nvPr/>
        </p:nvSpPr>
        <p:spPr>
          <a:xfrm>
            <a:off x="914400" y="5486400"/>
            <a:ext cx="10424160" cy="731520"/>
          </a:xfrm>
          <a:prstGeom prst="rect">
            <a:avLst/>
          </a:prstGeom>
          <a:noFill/>
        </p:spPr>
        <p:txBody>
          <a:bodyPr wrap="square" anchor="t" lIns="0" rIns="0" tIns="0" bIns="0">
            <a:spAutoFit/>
          </a:bodyPr>
          <a:lstStyle/>
          <a:p>
            <a:pPr algn="l"/>
            <a:r>
              <a:rPr sz="1400" b="0">
                <a:solidFill>
                  <a:srgbClr val="E1F2F3"/>
                </a:solidFill>
                <a:latin typeface="Calibri"/>
              </a:rPr>
              <a:t>1. Approve the shadow pilot and name the operations team.   2. Start the security review for Claude on Amazon Bedrock.   3. Assign an owner for company SSO integration.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APPENDIX · ROLE-AWARE ASSISTANT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Ask the system, within your role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14</a:t>
            </a:r>
          </a:p>
        </p:txBody>
      </p:sp>
      <p:pic>
        <p:nvPicPr>
          <p:cNvPr id="10" name="Picture 9" descr="assistant.png"/>
          <p:cNvPicPr>
            <a:picLocks noChangeAspect="1"/>
          </p:cNvPicPr>
          <p:nvPr/>
        </p:nvPicPr>
        <p:blipFill>
          <a:blip r:embed="rId2"/>
          <a:stretch>
            <a:fillRect/>
          </a:stretch>
        </p:blipFill>
        <p:spPr>
          <a:xfrm>
            <a:off x="5760720" y="1600200"/>
            <a:ext cx="5806440" cy="3766339"/>
          </a:xfrm>
          <a:prstGeom prst="rect">
            <a:avLst/>
          </a:prstGeom>
          <a:ln>
            <a:solidFill>
              <a:srgbClr val="D8E4E7"/>
            </a:solidFill>
          </a:ln>
        </p:spPr>
      </p:pic>
      <p:sp>
        <p:nvSpPr>
          <p:cNvPr id="11" name="TextBox 10"/>
          <p:cNvSpPr txBox="1"/>
          <p:nvPr/>
        </p:nvSpPr>
        <p:spPr>
          <a:xfrm>
            <a:off x="640080" y="1691640"/>
            <a:ext cx="4846320" cy="365760"/>
          </a:xfrm>
          <a:prstGeom prst="rect">
            <a:avLst/>
          </a:prstGeom>
          <a:noFill/>
        </p:spPr>
        <p:txBody>
          <a:bodyPr wrap="square" anchor="t" lIns="0" rIns="0" tIns="0" bIns="0">
            <a:spAutoFit/>
          </a:bodyPr>
          <a:lstStyle/>
          <a:p>
            <a:pPr algn="l"/>
            <a:r>
              <a:rPr sz="1600" b="1">
                <a:solidFill>
                  <a:srgbClr val="1F2D3D"/>
                </a:solidFill>
                <a:latin typeface="Calibri"/>
              </a:rPr>
              <a:t>Answers with citations</a:t>
            </a:r>
          </a:p>
        </p:txBody>
      </p:sp>
      <p:sp>
        <p:nvSpPr>
          <p:cNvPr id="12" name="TextBox 11"/>
          <p:cNvSpPr txBox="1"/>
          <p:nvPr/>
        </p:nvSpPr>
        <p:spPr>
          <a:xfrm>
            <a:off x="640080" y="2057400"/>
            <a:ext cx="4846320" cy="640080"/>
          </a:xfrm>
          <a:prstGeom prst="rect">
            <a:avLst/>
          </a:prstGeom>
          <a:noFill/>
        </p:spPr>
        <p:txBody>
          <a:bodyPr wrap="square" anchor="t" lIns="0" rIns="0" tIns="0" bIns="0">
            <a:spAutoFit/>
          </a:bodyPr>
          <a:lstStyle/>
          <a:p>
            <a:pPr algn="l"/>
            <a:r>
              <a:rPr sz="1200" b="0">
                <a:solidFill>
                  <a:srgbClr val="5B6B7A"/>
                </a:solidFill>
                <a:latin typeface="Calibri"/>
              </a:rPr>
              <a:t>Policy clause and page, case evidence, audit entries, each as a numbered link.</a:t>
            </a:r>
          </a:p>
        </p:txBody>
      </p:sp>
      <p:sp>
        <p:nvSpPr>
          <p:cNvPr id="13" name="TextBox 12"/>
          <p:cNvSpPr txBox="1"/>
          <p:nvPr/>
        </p:nvSpPr>
        <p:spPr>
          <a:xfrm>
            <a:off x="640080" y="2715768"/>
            <a:ext cx="4846320" cy="365760"/>
          </a:xfrm>
          <a:prstGeom prst="rect">
            <a:avLst/>
          </a:prstGeom>
          <a:noFill/>
        </p:spPr>
        <p:txBody>
          <a:bodyPr wrap="square" anchor="t" lIns="0" rIns="0" tIns="0" bIns="0">
            <a:spAutoFit/>
          </a:bodyPr>
          <a:lstStyle/>
          <a:p>
            <a:pPr algn="l"/>
            <a:r>
              <a:rPr sz="1600" b="1">
                <a:solidFill>
                  <a:srgbClr val="1F2D3D"/>
                </a:solidFill>
                <a:latin typeface="Calibri"/>
              </a:rPr>
              <a:t>Blocked by role, at the data</a:t>
            </a:r>
          </a:p>
        </p:txBody>
      </p:sp>
      <p:sp>
        <p:nvSpPr>
          <p:cNvPr id="14" name="TextBox 13"/>
          <p:cNvSpPr txBox="1"/>
          <p:nvPr/>
        </p:nvSpPr>
        <p:spPr>
          <a:xfrm>
            <a:off x="640080" y="3081528"/>
            <a:ext cx="4846320" cy="640080"/>
          </a:xfrm>
          <a:prstGeom prst="rect">
            <a:avLst/>
          </a:prstGeom>
          <a:noFill/>
        </p:spPr>
        <p:txBody>
          <a:bodyPr wrap="square" anchor="t" lIns="0" rIns="0" tIns="0" bIns="0">
            <a:spAutoFit/>
          </a:bodyPr>
          <a:lstStyle/>
          <a:p>
            <a:pPr algn="l"/>
            <a:r>
              <a:rPr sz="1200" b="0">
                <a:solidFill>
                  <a:srgbClr val="5B6B7A"/>
                </a:solidFill>
                <a:latin typeface="Calibri"/>
              </a:rPr>
              <a:t>Policy search, case tools and a per-role read-only SQL database enforce access; the model never sees what you may not.</a:t>
            </a:r>
          </a:p>
        </p:txBody>
      </p:sp>
      <p:sp>
        <p:nvSpPr>
          <p:cNvPr id="15" name="TextBox 14"/>
          <p:cNvSpPr txBox="1"/>
          <p:nvPr/>
        </p:nvSpPr>
        <p:spPr>
          <a:xfrm>
            <a:off x="640080" y="3739896"/>
            <a:ext cx="4846320" cy="365760"/>
          </a:xfrm>
          <a:prstGeom prst="rect">
            <a:avLst/>
          </a:prstGeom>
          <a:noFill/>
        </p:spPr>
        <p:txBody>
          <a:bodyPr wrap="square" anchor="t" lIns="0" rIns="0" tIns="0" bIns="0">
            <a:spAutoFit/>
          </a:bodyPr>
          <a:lstStyle/>
          <a:p>
            <a:pPr algn="l"/>
            <a:r>
              <a:rPr sz="1600" b="1">
                <a:solidFill>
                  <a:srgbClr val="1F2D3D"/>
                </a:solidFill>
                <a:latin typeface="Calibri"/>
              </a:rPr>
              <a:t>Remembers, privately</a:t>
            </a:r>
          </a:p>
        </p:txBody>
      </p:sp>
      <p:sp>
        <p:nvSpPr>
          <p:cNvPr id="16" name="TextBox 15"/>
          <p:cNvSpPr txBox="1"/>
          <p:nvPr/>
        </p:nvSpPr>
        <p:spPr>
          <a:xfrm>
            <a:off x="640080" y="4105656"/>
            <a:ext cx="4846320" cy="640080"/>
          </a:xfrm>
          <a:prstGeom prst="rect">
            <a:avLst/>
          </a:prstGeom>
          <a:noFill/>
        </p:spPr>
        <p:txBody>
          <a:bodyPr wrap="square" anchor="t" lIns="0" rIns="0" tIns="0" bIns="0">
            <a:spAutoFit/>
          </a:bodyPr>
          <a:lstStyle/>
          <a:p>
            <a:pPr algn="l"/>
            <a:r>
              <a:rPr sz="1200" b="0">
                <a:solidFill>
                  <a:srgbClr val="5B6B7A"/>
                </a:solidFill>
                <a:latin typeface="Calibri"/>
              </a:rPr>
              <a:t>Follow-ups and per-user memory on AgentCore Memory; health data redacted; one-click clear.</a:t>
            </a:r>
          </a:p>
        </p:txBody>
      </p:sp>
      <p:sp>
        <p:nvSpPr>
          <p:cNvPr id="17" name="TextBox 16"/>
          <p:cNvSpPr txBox="1"/>
          <p:nvPr/>
        </p:nvSpPr>
        <p:spPr>
          <a:xfrm>
            <a:off x="640080" y="4764024"/>
            <a:ext cx="4846320" cy="365760"/>
          </a:xfrm>
          <a:prstGeom prst="rect">
            <a:avLst/>
          </a:prstGeom>
          <a:noFill/>
        </p:spPr>
        <p:txBody>
          <a:bodyPr wrap="square" anchor="t" lIns="0" rIns="0" tIns="0" bIns="0">
            <a:spAutoFit/>
          </a:bodyPr>
          <a:lstStyle/>
          <a:p>
            <a:pPr algn="l"/>
            <a:r>
              <a:rPr sz="1600" b="1">
                <a:solidFill>
                  <a:srgbClr val="0F7F8A"/>
                </a:solidFill>
                <a:latin typeface="Calibri"/>
              </a:rPr>
              <a:t>100% on 35 labelled questions</a:t>
            </a:r>
          </a:p>
        </p:txBody>
      </p:sp>
      <p:sp>
        <p:nvSpPr>
          <p:cNvPr id="18" name="TextBox 17"/>
          <p:cNvSpPr txBox="1"/>
          <p:nvPr/>
        </p:nvSpPr>
        <p:spPr>
          <a:xfrm>
            <a:off x="640080" y="5129784"/>
            <a:ext cx="4846320" cy="640080"/>
          </a:xfrm>
          <a:prstGeom prst="rect">
            <a:avLst/>
          </a:prstGeom>
          <a:noFill/>
        </p:spPr>
        <p:txBody>
          <a:bodyPr wrap="square" anchor="t" lIns="0" rIns="0" tIns="0" bIns="0">
            <a:spAutoFit/>
          </a:bodyPr>
          <a:lstStyle/>
          <a:p>
            <a:pPr algn="l"/>
            <a:r>
              <a:rPr sz="1200" b="0">
                <a:solidFill>
                  <a:srgbClr val="5B6B7A"/>
                </a:solidFill>
                <a:latin typeface="Calibri"/>
              </a:rPr>
              <a:t>refusals, routing, facts, citations · red team 10 attacks, 0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